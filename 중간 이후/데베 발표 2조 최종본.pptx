
<file path=[Content_Types].xml><?xml version="1.0" encoding="utf-8"?>
<Types xmlns="http://schemas.openxmlformats.org/package/2006/content-types"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03" r:id="rId1"/>
    <p:sldMasterId id="2147483648" r:id="rId2"/>
  </p:sldMasterIdLst>
  <p:sldIdLst>
    <p:sldId id="313" r:id="rId3"/>
    <p:sldId id="257" r:id="rId4"/>
    <p:sldId id="258" r:id="rId5"/>
    <p:sldId id="311" r:id="rId6"/>
    <p:sldId id="312" r:id="rId7"/>
    <p:sldId id="310" r:id="rId8"/>
    <p:sldId id="282" r:id="rId9"/>
    <p:sldId id="301" r:id="rId10"/>
    <p:sldId id="302" r:id="rId11"/>
    <p:sldId id="307" r:id="rId12"/>
    <p:sldId id="261" r:id="rId13"/>
    <p:sldId id="305" r:id="rId14"/>
    <p:sldId id="285" r:id="rId15"/>
    <p:sldId id="304" r:id="rId16"/>
    <p:sldId id="308" r:id="rId17"/>
    <p:sldId id="309" r:id="rId18"/>
    <p:sldId id="331" r:id="rId19"/>
    <p:sldId id="303" r:id="rId20"/>
    <p:sldId id="265" r:id="rId21"/>
    <p:sldId id="314" r:id="rId22"/>
    <p:sldId id="316" r:id="rId23"/>
    <p:sldId id="317" r:id="rId24"/>
    <p:sldId id="319" r:id="rId25"/>
    <p:sldId id="320" r:id="rId26"/>
    <p:sldId id="315" r:id="rId27"/>
    <p:sldId id="318" r:id="rId28"/>
    <p:sldId id="321" r:id="rId29"/>
    <p:sldId id="332" r:id="rId30"/>
    <p:sldId id="322" r:id="rId31"/>
    <p:sldId id="269" r:id="rId32"/>
    <p:sldId id="324" r:id="rId33"/>
    <p:sldId id="323" r:id="rId34"/>
    <p:sldId id="327" r:id="rId35"/>
    <p:sldId id="326" r:id="rId36"/>
    <p:sldId id="325" r:id="rId37"/>
    <p:sldId id="329" r:id="rId38"/>
    <p:sldId id="330" r:id="rId39"/>
    <p:sldId id="328" r:id="rId40"/>
    <p:sldId id="273" r:id="rId41"/>
  </p:sldIdLst>
  <p:sldSz cx="12192000" cy="6858000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류연동(2014110015)" initials="류" lastIdx="1" clrIdx="0">
    <p:extLst>
      <p:ext uri="{19B8F6BF-5375-455C-9EA6-DF929625EA0E}">
        <p15:presenceInfo xmlns:p15="http://schemas.microsoft.com/office/powerpoint/2012/main" userId="류연동(2014110015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6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" y="102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65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8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6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4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2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8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7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0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9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2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83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0176D6-1C36-4F9F-B4DC-DAFDBD28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F2532-DFA4-4AF0-9253-34A41E2E331F}" type="datetimeFigureOut">
              <a:rPr lang="ko-KR" altLang="en-US" smtClean="0"/>
              <a:pPr/>
              <a:t>2020-12-07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A9CFF1-3D09-4E3F-9708-02A4E3B89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44F12-61D6-4030-B5CE-F8DB5BA6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6F58D-3BEC-4268-AD57-053B889792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10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2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83" r:id="rId6"/>
    <p:sldLayoutId id="2147483979" r:id="rId7"/>
    <p:sldLayoutId id="2147483980" r:id="rId8"/>
    <p:sldLayoutId id="2147483981" r:id="rId9"/>
    <p:sldLayoutId id="2147483982" r:id="rId10"/>
    <p:sldLayoutId id="21474839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BD80CD-DC1C-4A0C-ADD1-B0BCB0FF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C7E6A7-D88E-4A4A-AA55-7527AFD26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401EA6-6867-4BC0-9C4B-E0F94E5C3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F2532-DFA4-4AF0-9253-34A41E2E331F}" type="datetimeFigureOut">
              <a:rPr lang="ko-KR" altLang="en-US" smtClean="0"/>
              <a:pPr/>
              <a:t>2020-12-07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92013D-9CCC-45E5-AA51-B21611A4E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8E4E0-10F3-45EA-970E-01B0DACD0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6F58D-3BEC-4268-AD57-053B889792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65ED75-0D14-468B-9227-6EFA0BE74E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6673" y="267850"/>
            <a:ext cx="393262" cy="39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6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bmp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jp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at is a database? - Computer Business Review">
            <a:extLst>
              <a:ext uri="{FF2B5EF4-FFF2-40B4-BE49-F238E27FC236}">
                <a16:creationId xmlns:a16="http://schemas.microsoft.com/office/drawing/2014/main" id="{50B64068-368A-4405-BEE7-58ECD7353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4129"/>
            <a:ext cx="12192000" cy="6952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5">
            <a:extLst>
              <a:ext uri="{FF2B5EF4-FFF2-40B4-BE49-F238E27FC236}">
                <a16:creationId xmlns:a16="http://schemas.microsoft.com/office/drawing/2014/main" id="{3140AE14-2F0A-4035-BC7B-29C2209051CA}"/>
              </a:ext>
            </a:extLst>
          </p:cNvPr>
          <p:cNvSpPr txBox="1">
            <a:spLocks/>
          </p:cNvSpPr>
          <p:nvPr/>
        </p:nvSpPr>
        <p:spPr>
          <a:xfrm>
            <a:off x="2458963" y="389965"/>
            <a:ext cx="8150766" cy="1828800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5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T’way</a:t>
            </a:r>
            <a:r>
              <a:rPr lang="en-US" altLang="ko-KR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Airline Service</a:t>
            </a:r>
          </a:p>
          <a:p>
            <a:pPr algn="ctr"/>
            <a:r>
              <a:rPr lang="en-US" altLang="ko-KR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</a:t>
            </a:r>
            <a:r>
              <a:rPr lang="ko-KR" altLang="en-US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Base Design</a:t>
            </a:r>
            <a:endParaRPr lang="ko-KR" altLang="en-US" sz="5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6EE7A9DF-94F0-4330-A889-04DA2D4ED272}"/>
              </a:ext>
            </a:extLst>
          </p:cNvPr>
          <p:cNvSpPr txBox="1">
            <a:spLocks/>
          </p:cNvSpPr>
          <p:nvPr/>
        </p:nvSpPr>
        <p:spPr>
          <a:xfrm>
            <a:off x="7193625" y="3769800"/>
            <a:ext cx="4748993" cy="2920406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algn="ctr">
              <a:lnSpc>
                <a:spcPct val="100000"/>
              </a:lnSpc>
              <a:defRPr/>
            </a:pPr>
            <a:r>
              <a:rPr lang="en-US" altLang="ko-KR" sz="2200" b="1" dirty="0"/>
              <a:t>2</a:t>
            </a:r>
            <a:r>
              <a:rPr lang="ko-KR" altLang="en-US" sz="2200" b="1" dirty="0"/>
              <a:t>조</a:t>
            </a:r>
          </a:p>
          <a:p>
            <a:pPr marL="342900" algn="r">
              <a:lnSpc>
                <a:spcPct val="100000"/>
              </a:lnSpc>
              <a:buFont typeface="Arial"/>
              <a:buChar char="•"/>
              <a:defRPr/>
            </a:pPr>
            <a:r>
              <a:rPr lang="ko-KR" altLang="en-US" sz="2200" b="1" dirty="0"/>
              <a:t>조장  </a:t>
            </a:r>
            <a:r>
              <a:rPr lang="en-US" altLang="ko-KR" sz="2200" b="1" dirty="0"/>
              <a:t>:  </a:t>
            </a:r>
            <a:r>
              <a:rPr lang="ko-KR" altLang="en-US" sz="2200" b="1" dirty="0"/>
              <a:t>컴퓨터공학전공 </a:t>
            </a:r>
            <a:r>
              <a:rPr lang="en-US" altLang="ko-KR" sz="2200" b="1" dirty="0"/>
              <a:t>2</a:t>
            </a:r>
            <a:r>
              <a:rPr lang="ko-KR" altLang="en-US" sz="2200" b="1" dirty="0"/>
              <a:t>학년 </a:t>
            </a:r>
            <a:r>
              <a:rPr lang="ko-KR" altLang="en-US" sz="2200" b="1" dirty="0" err="1"/>
              <a:t>권순호</a:t>
            </a:r>
            <a:r>
              <a:rPr lang="en-US" altLang="ko-KR" sz="2200" b="1" dirty="0"/>
              <a:t> </a:t>
            </a:r>
          </a:p>
          <a:p>
            <a:pPr marL="342900" algn="r">
              <a:lnSpc>
                <a:spcPct val="100000"/>
              </a:lnSpc>
              <a:buFont typeface="Arial"/>
              <a:buChar char="•"/>
              <a:defRPr/>
            </a:pPr>
            <a:r>
              <a:rPr lang="ko-KR" altLang="en-US" sz="2200" b="1" dirty="0"/>
              <a:t>조원  </a:t>
            </a:r>
            <a:r>
              <a:rPr lang="en-US" altLang="ko-KR" sz="2200" b="1" dirty="0"/>
              <a:t>:       </a:t>
            </a:r>
            <a:r>
              <a:rPr lang="ko-KR" altLang="en-US" sz="2200" b="1" dirty="0"/>
              <a:t>기계공학과    </a:t>
            </a:r>
            <a:r>
              <a:rPr lang="en-US" altLang="ko-KR" sz="2200" b="1" dirty="0"/>
              <a:t>3</a:t>
            </a:r>
            <a:r>
              <a:rPr lang="ko-KR" altLang="en-US" sz="2200" b="1" dirty="0"/>
              <a:t>학년</a:t>
            </a:r>
            <a:r>
              <a:rPr lang="en-US" altLang="ko-KR" sz="2200" b="1" dirty="0"/>
              <a:t> </a:t>
            </a:r>
            <a:r>
              <a:rPr lang="ko-KR" altLang="en-US" sz="2200" b="1" dirty="0"/>
              <a:t>류연동</a:t>
            </a:r>
          </a:p>
          <a:p>
            <a:pPr marL="0" indent="0" algn="r">
              <a:lnSpc>
                <a:spcPct val="100000"/>
              </a:lnSpc>
              <a:buNone/>
              <a:defRPr/>
            </a:pPr>
            <a:r>
              <a:rPr lang="ko-KR" altLang="en-US" sz="2200" b="1" dirty="0"/>
              <a:t>컴퓨터공학전공 </a:t>
            </a:r>
            <a:r>
              <a:rPr lang="en-US" altLang="ko-KR" sz="2200" b="1" dirty="0"/>
              <a:t>2</a:t>
            </a:r>
            <a:r>
              <a:rPr lang="ko-KR" altLang="en-US" sz="2200" b="1" dirty="0"/>
              <a:t>학년 </a:t>
            </a:r>
            <a:r>
              <a:rPr lang="ko-KR" altLang="en-US" sz="2200" b="1" dirty="0" err="1"/>
              <a:t>배준일</a:t>
            </a:r>
            <a:endParaRPr lang="ko-KR" altLang="en-US" sz="2200" b="1" dirty="0"/>
          </a:p>
          <a:p>
            <a:pPr marL="0" indent="0" algn="r">
              <a:lnSpc>
                <a:spcPct val="100000"/>
              </a:lnSpc>
              <a:buNone/>
              <a:defRPr/>
            </a:pPr>
            <a:r>
              <a:rPr lang="ko-KR" altLang="en-US" sz="2200" b="1" dirty="0"/>
              <a:t>컴퓨터공학전공 </a:t>
            </a:r>
            <a:r>
              <a:rPr lang="en-US" altLang="ko-KR" sz="2200" b="1" dirty="0"/>
              <a:t>2</a:t>
            </a:r>
            <a:r>
              <a:rPr lang="ko-KR" altLang="en-US" sz="2200" b="1" dirty="0"/>
              <a:t>학년 유승주</a:t>
            </a:r>
          </a:p>
          <a:p>
            <a:pPr marL="0" indent="0" algn="r">
              <a:lnSpc>
                <a:spcPct val="100000"/>
              </a:lnSpc>
              <a:buNone/>
              <a:defRPr/>
            </a:pPr>
            <a:r>
              <a:rPr lang="ko-KR" altLang="en-US" sz="2200" b="1" dirty="0"/>
              <a:t>컴퓨터공학전공 </a:t>
            </a:r>
            <a:r>
              <a:rPr lang="en-US" altLang="ko-KR" sz="2200" b="1" dirty="0"/>
              <a:t>2</a:t>
            </a:r>
            <a:r>
              <a:rPr lang="ko-KR" altLang="en-US" sz="2200" b="1" dirty="0"/>
              <a:t>학년 정우영</a:t>
            </a:r>
          </a:p>
          <a:p>
            <a:pPr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 dirty="0"/>
          </a:p>
          <a:p>
            <a:pPr marL="342900"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 dirty="0"/>
          </a:p>
          <a:p>
            <a:pPr algn="r">
              <a:lnSpc>
                <a:spcPct val="100000"/>
              </a:lnSpc>
              <a:buFont typeface="Arial"/>
              <a:buChar char="•"/>
              <a:defRPr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81218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0DE4A-27B0-4433-8BB2-A4D0E1BB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69116"/>
            <a:ext cx="10506456" cy="1010264"/>
          </a:xfrm>
        </p:spPr>
        <p:txBody>
          <a:bodyPr anchor="ctr">
            <a:normAutofit/>
          </a:bodyPr>
          <a:lstStyle/>
          <a:p>
            <a:pPr algn="ctr"/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4811CBA-0275-46C7-A2AD-33AF615EEE30}"/>
              </a:ext>
            </a:extLst>
          </p:cNvPr>
          <p:cNvSpPr/>
          <p:nvPr/>
        </p:nvSpPr>
        <p:spPr>
          <a:xfrm rot="10800000">
            <a:off x="10296529" y="0"/>
            <a:ext cx="1942599" cy="2041236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784A55-7430-4AF2-901C-B6F2D91C79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8485379" y="6357885"/>
            <a:ext cx="2862325" cy="482803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D3E3A71-4502-4718-97A5-F0158F1C452E}"/>
              </a:ext>
            </a:extLst>
          </p:cNvPr>
          <p:cNvSpPr/>
          <p:nvPr/>
        </p:nvSpPr>
        <p:spPr>
          <a:xfrm>
            <a:off x="5538012" y="5206781"/>
            <a:ext cx="5224922" cy="871750"/>
          </a:xfrm>
          <a:prstGeom prst="roundRect">
            <a:avLst>
              <a:gd name="adj" fmla="val 10000"/>
            </a:avLst>
          </a:prstGeom>
          <a:solidFill>
            <a:schemeClr val="accent5">
              <a:hueOff val="0"/>
              <a:satOff val="0"/>
              <a:lumOff val="0"/>
              <a:alphaOff val="0"/>
            </a:schemeClr>
          </a:solidFill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0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rgbClr r="0" g="0" b="0"/>
          </a:fontRef>
        </p:style>
        <p:txBody>
          <a:bodyPr/>
          <a:lstStyle/>
          <a:p>
            <a:endParaRPr lang="ko-KR" altLang="en-US" dirty="0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76017242-A9F1-4BA4-818A-BDD702D5699A}"/>
              </a:ext>
            </a:extLst>
          </p:cNvPr>
          <p:cNvGrpSpPr/>
          <p:nvPr/>
        </p:nvGrpSpPr>
        <p:grpSpPr>
          <a:xfrm>
            <a:off x="1102675" y="1341826"/>
            <a:ext cx="10027023" cy="3972944"/>
            <a:chOff x="1205695" y="594916"/>
            <a:chExt cx="10027023" cy="3972944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7E5DDF99-2263-4C34-8F3B-BF825AA7451B}"/>
                </a:ext>
              </a:extLst>
            </p:cNvPr>
            <p:cNvSpPr/>
            <p:nvPr/>
          </p:nvSpPr>
          <p:spPr>
            <a:xfrm>
              <a:off x="1205695" y="594916"/>
              <a:ext cx="10027023" cy="3972944"/>
            </a:xfrm>
            <a:prstGeom prst="rect">
              <a:avLst/>
            </a:prstGeom>
            <a:ln>
              <a:noFill/>
            </a:ln>
          </p:spPr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EDCD1CA2-772E-4074-8F5A-F6AF8E9B0C43}"/>
                </a:ext>
              </a:extLst>
            </p:cNvPr>
            <p:cNvSpPr/>
            <p:nvPr/>
          </p:nvSpPr>
          <p:spPr>
            <a:xfrm>
              <a:off x="1242239" y="608160"/>
              <a:ext cx="3916053" cy="920053"/>
            </a:xfrm>
            <a:prstGeom prst="roundRect">
              <a:avLst>
                <a:gd name="adj" fmla="val 10000"/>
              </a:avLst>
            </a:prstGeom>
            <a:solidFill>
              <a:srgbClr val="7030A0"/>
            </a:solidFill>
            <a:effectLst>
              <a:innerShdw blurRad="114300">
                <a:prstClr val="black"/>
              </a:innerShdw>
            </a:effectLst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" name="직사각형 77" descr="교사">
              <a:extLst>
                <a:ext uri="{FF2B5EF4-FFF2-40B4-BE49-F238E27FC236}">
                  <a16:creationId xmlns:a16="http://schemas.microsoft.com/office/drawing/2014/main" id="{F4EB63E3-4B7F-45F5-9281-29EF56F3DF47}"/>
                </a:ext>
              </a:extLst>
            </p:cNvPr>
            <p:cNvSpPr/>
            <p:nvPr/>
          </p:nvSpPr>
          <p:spPr>
            <a:xfrm>
              <a:off x="1315209" y="766799"/>
              <a:ext cx="601761" cy="601761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A2CBF6AC-D3D5-4F45-AF93-15D9092FC8BC}"/>
                </a:ext>
              </a:extLst>
            </p:cNvPr>
            <p:cNvSpPr/>
            <p:nvPr/>
          </p:nvSpPr>
          <p:spPr>
            <a:xfrm>
              <a:off x="2118565" y="700336"/>
              <a:ext cx="7404658" cy="726096"/>
            </a:xfrm>
            <a:custGeom>
              <a:avLst/>
              <a:gdLst>
                <a:gd name="connsiteX0" fmla="*/ 0 w 7404658"/>
                <a:gd name="connsiteY0" fmla="*/ 0 h 726096"/>
                <a:gd name="connsiteX1" fmla="*/ 7404658 w 7404658"/>
                <a:gd name="connsiteY1" fmla="*/ 0 h 726096"/>
                <a:gd name="connsiteX2" fmla="*/ 7404658 w 7404658"/>
                <a:gd name="connsiteY2" fmla="*/ 726096 h 726096"/>
                <a:gd name="connsiteX3" fmla="*/ 0 w 7404658"/>
                <a:gd name="connsiteY3" fmla="*/ 726096 h 726096"/>
                <a:gd name="connsiteX4" fmla="*/ 0 w 7404658"/>
                <a:gd name="connsiteY4" fmla="*/ 0 h 72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04658" h="726096">
                  <a:moveTo>
                    <a:pt x="0" y="0"/>
                  </a:moveTo>
                  <a:lnTo>
                    <a:pt x="7404658" y="0"/>
                  </a:lnTo>
                  <a:lnTo>
                    <a:pt x="7404658" y="726096"/>
                  </a:lnTo>
                  <a:lnTo>
                    <a:pt x="0" y="72609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5793" tIns="115793" rIns="115793" bIns="115793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2200" b="1" kern="1200" dirty="0"/>
                <a:t>개념적 설계</a:t>
              </a:r>
              <a:endParaRPr lang="en-US" sz="2200" b="1" kern="1200" dirty="0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632864C4-FE56-40A3-91E0-D215C0D61A8F}"/>
                </a:ext>
              </a:extLst>
            </p:cNvPr>
            <p:cNvSpPr/>
            <p:nvPr/>
          </p:nvSpPr>
          <p:spPr>
            <a:xfrm>
              <a:off x="1205706" y="1750150"/>
              <a:ext cx="3933973" cy="1236542"/>
            </a:xfrm>
            <a:prstGeom prst="roundRect">
              <a:avLst>
                <a:gd name="adj" fmla="val 10000"/>
              </a:avLst>
            </a:prstGeom>
            <a:effectLst>
              <a:innerShdw blurRad="114300">
                <a:prstClr val="black"/>
              </a:innerShdw>
            </a:effectLst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/>
          </p:style>
        </p:sp>
        <p:sp>
          <p:nvSpPr>
            <p:cNvPr id="81" name="직사각형 80" descr="확인 표시">
              <a:extLst>
                <a:ext uri="{FF2B5EF4-FFF2-40B4-BE49-F238E27FC236}">
                  <a16:creationId xmlns:a16="http://schemas.microsoft.com/office/drawing/2014/main" id="{EF9C14B6-84F2-49FE-93DC-BD7D193FBB1E}"/>
                </a:ext>
              </a:extLst>
            </p:cNvPr>
            <p:cNvSpPr/>
            <p:nvPr/>
          </p:nvSpPr>
          <p:spPr>
            <a:xfrm>
              <a:off x="1346452" y="2093949"/>
              <a:ext cx="601761" cy="601761"/>
            </a:xfrm>
            <a:prstGeom prst="rect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074CA638-BAEB-4DB1-A7B3-04C28208F84E}"/>
                </a:ext>
              </a:extLst>
            </p:cNvPr>
            <p:cNvSpPr/>
            <p:nvPr/>
          </p:nvSpPr>
          <p:spPr>
            <a:xfrm>
              <a:off x="2163389" y="1847392"/>
              <a:ext cx="8189238" cy="1094111"/>
            </a:xfrm>
            <a:custGeom>
              <a:avLst/>
              <a:gdLst>
                <a:gd name="connsiteX0" fmla="*/ 0 w 8189238"/>
                <a:gd name="connsiteY0" fmla="*/ 0 h 1094111"/>
                <a:gd name="connsiteX1" fmla="*/ 8189238 w 8189238"/>
                <a:gd name="connsiteY1" fmla="*/ 0 h 1094111"/>
                <a:gd name="connsiteX2" fmla="*/ 8189238 w 8189238"/>
                <a:gd name="connsiteY2" fmla="*/ 1094111 h 1094111"/>
                <a:gd name="connsiteX3" fmla="*/ 0 w 8189238"/>
                <a:gd name="connsiteY3" fmla="*/ 1094111 h 1094111"/>
                <a:gd name="connsiteX4" fmla="*/ 0 w 8189238"/>
                <a:gd name="connsiteY4" fmla="*/ 0 h 109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9238" h="1094111">
                  <a:moveTo>
                    <a:pt x="0" y="0"/>
                  </a:moveTo>
                  <a:lnTo>
                    <a:pt x="8189238" y="0"/>
                  </a:lnTo>
                  <a:lnTo>
                    <a:pt x="8189238" y="1094111"/>
                  </a:lnTo>
                  <a:lnTo>
                    <a:pt x="0" y="109411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5793" tIns="115793" rIns="115793" bIns="115793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2200" b="1" kern="1200" dirty="0"/>
                <a:t>논리적 설계</a:t>
              </a:r>
              <a:endParaRPr lang="en-US" sz="2200" b="1" kern="1200" dirty="0"/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5982C743-BC4E-467C-A2F8-CF914812488B}"/>
                </a:ext>
              </a:extLst>
            </p:cNvPr>
            <p:cNvSpPr/>
            <p:nvPr/>
          </p:nvSpPr>
          <p:spPr>
            <a:xfrm>
              <a:off x="1205695" y="3175151"/>
              <a:ext cx="3946435" cy="1094111"/>
            </a:xfrm>
            <a:prstGeom prst="roundRect">
              <a:avLst>
                <a:gd name="adj" fmla="val 10000"/>
              </a:avLst>
            </a:prstGeom>
            <a:solidFill>
              <a:srgbClr val="0070C0"/>
            </a:solidFill>
            <a:effectLst>
              <a:innerShdw blurRad="114300">
                <a:prstClr val="black"/>
              </a:innerShdw>
            </a:effectLst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" name="직사각형 83" descr="트로피">
              <a:extLst>
                <a:ext uri="{FF2B5EF4-FFF2-40B4-BE49-F238E27FC236}">
                  <a16:creationId xmlns:a16="http://schemas.microsoft.com/office/drawing/2014/main" id="{CF64CDB7-74FA-493F-99A1-166FA2C2F1EF}"/>
                </a:ext>
              </a:extLst>
            </p:cNvPr>
            <p:cNvSpPr/>
            <p:nvPr/>
          </p:nvSpPr>
          <p:spPr>
            <a:xfrm>
              <a:off x="1301675" y="3522748"/>
              <a:ext cx="601761" cy="601761"/>
            </a:xfrm>
            <a:prstGeom prst="rect">
              <a:avLst/>
            </a:prstGeom>
            <a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31321BEC-5B11-415B-86F0-B1570780C393}"/>
                </a:ext>
              </a:extLst>
            </p:cNvPr>
            <p:cNvSpPr/>
            <p:nvPr/>
          </p:nvSpPr>
          <p:spPr>
            <a:xfrm>
              <a:off x="2239849" y="3221793"/>
              <a:ext cx="8763324" cy="1094111"/>
            </a:xfrm>
            <a:custGeom>
              <a:avLst/>
              <a:gdLst>
                <a:gd name="connsiteX0" fmla="*/ 0 w 8763324"/>
                <a:gd name="connsiteY0" fmla="*/ 0 h 1094111"/>
                <a:gd name="connsiteX1" fmla="*/ 8763324 w 8763324"/>
                <a:gd name="connsiteY1" fmla="*/ 0 h 1094111"/>
                <a:gd name="connsiteX2" fmla="*/ 8763324 w 8763324"/>
                <a:gd name="connsiteY2" fmla="*/ 1094111 h 1094111"/>
                <a:gd name="connsiteX3" fmla="*/ 0 w 8763324"/>
                <a:gd name="connsiteY3" fmla="*/ 1094111 h 1094111"/>
                <a:gd name="connsiteX4" fmla="*/ 0 w 8763324"/>
                <a:gd name="connsiteY4" fmla="*/ 0 h 109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3324" h="1094111">
                  <a:moveTo>
                    <a:pt x="0" y="0"/>
                  </a:moveTo>
                  <a:lnTo>
                    <a:pt x="8763324" y="0"/>
                  </a:lnTo>
                  <a:lnTo>
                    <a:pt x="8763324" y="1094111"/>
                  </a:lnTo>
                  <a:lnTo>
                    <a:pt x="0" y="109411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5793" tIns="115793" rIns="115793" bIns="115793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2200" b="1" i="0" kern="1200" dirty="0"/>
                <a:t>물리적 설계</a:t>
              </a:r>
              <a:endParaRPr lang="en-US" sz="2200" b="1" i="0" kern="1200" dirty="0"/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10130A1B-73D5-4DA5-964A-7FABEF265137}"/>
              </a:ext>
            </a:extLst>
          </p:cNvPr>
          <p:cNvGrpSpPr/>
          <p:nvPr/>
        </p:nvGrpSpPr>
        <p:grpSpPr>
          <a:xfrm>
            <a:off x="5525985" y="1333052"/>
            <a:ext cx="5861805" cy="3642075"/>
            <a:chOff x="5383956" y="603559"/>
            <a:chExt cx="5861805" cy="3642075"/>
          </a:xfrm>
        </p:grpSpPr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8EC55D7A-38F6-4604-955A-E63B9D01EE0C}"/>
                </a:ext>
              </a:extLst>
            </p:cNvPr>
            <p:cNvGrpSpPr/>
            <p:nvPr/>
          </p:nvGrpSpPr>
          <p:grpSpPr>
            <a:xfrm>
              <a:off x="5383956" y="3151523"/>
              <a:ext cx="5861805" cy="1094111"/>
              <a:chOff x="5379487" y="3182920"/>
              <a:chExt cx="5861805" cy="1094111"/>
            </a:xfrm>
          </p:grpSpPr>
          <p:sp>
            <p:nvSpPr>
              <p:cNvPr id="97" name="사각형: 둥근 모서리 96">
                <a:extLst>
                  <a:ext uri="{FF2B5EF4-FFF2-40B4-BE49-F238E27FC236}">
                    <a16:creationId xmlns:a16="http://schemas.microsoft.com/office/drawing/2014/main" id="{488755E3-E7A5-4F76-B2E7-6128C88ABA31}"/>
                  </a:ext>
                </a:extLst>
              </p:cNvPr>
              <p:cNvSpPr/>
              <p:nvPr/>
            </p:nvSpPr>
            <p:spPr>
              <a:xfrm>
                <a:off x="5379487" y="3182920"/>
                <a:ext cx="5212948" cy="1094111"/>
              </a:xfrm>
              <a:prstGeom prst="roundRect">
                <a:avLst>
                  <a:gd name="adj" fmla="val 10000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6B85F4-5139-4200-9C80-126C2A85FB45}"/>
                  </a:ext>
                </a:extLst>
              </p:cNvPr>
              <p:cNvSpPr txBox="1"/>
              <p:nvPr/>
            </p:nvSpPr>
            <p:spPr>
              <a:xfrm>
                <a:off x="5660762" y="3239661"/>
                <a:ext cx="5580530" cy="962123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ko-KR" altLang="en-US" sz="2000" dirty="0">
                    <a:solidFill>
                      <a:schemeClr val="bg1"/>
                    </a:solidFill>
                  </a:rPr>
                  <a:t>테이블 정의 및 구현 방법</a:t>
                </a:r>
                <a:endParaRPr lang="en-US" altLang="ko-KR" sz="2000" dirty="0">
                  <a:solidFill>
                    <a:schemeClr val="bg1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ko-KR" altLang="en-US" sz="2000" dirty="0">
                    <a:solidFill>
                      <a:schemeClr val="bg1"/>
                    </a:solidFill>
                  </a:rPr>
                  <a:t>인덱스 정의</a:t>
                </a:r>
              </a:p>
            </p:txBody>
          </p:sp>
        </p:grp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EE07386B-BBAC-47EB-B977-D027AD34774B}"/>
                </a:ext>
              </a:extLst>
            </p:cNvPr>
            <p:cNvGrpSpPr/>
            <p:nvPr/>
          </p:nvGrpSpPr>
          <p:grpSpPr>
            <a:xfrm>
              <a:off x="5403728" y="603559"/>
              <a:ext cx="5840576" cy="962123"/>
              <a:chOff x="5381783" y="1587068"/>
              <a:chExt cx="5840576" cy="1136249"/>
            </a:xfrm>
          </p:grpSpPr>
          <p:sp>
            <p:nvSpPr>
              <p:cNvPr id="100" name="사각형: 둥근 모서리 99">
                <a:extLst>
                  <a:ext uri="{FF2B5EF4-FFF2-40B4-BE49-F238E27FC236}">
                    <a16:creationId xmlns:a16="http://schemas.microsoft.com/office/drawing/2014/main" id="{DD80FBB2-B8FA-434F-8629-40A4D432D982}"/>
                  </a:ext>
                </a:extLst>
              </p:cNvPr>
              <p:cNvSpPr/>
              <p:nvPr/>
            </p:nvSpPr>
            <p:spPr>
              <a:xfrm>
                <a:off x="5381783" y="1599935"/>
                <a:ext cx="5212948" cy="1099702"/>
              </a:xfrm>
              <a:prstGeom prst="roundRect">
                <a:avLst>
                  <a:gd name="adj" fmla="val 10000"/>
                </a:avLst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C2F0AC7-A984-495E-BE3E-39C41FF78B93}"/>
                  </a:ext>
                </a:extLst>
              </p:cNvPr>
              <p:cNvSpPr txBox="1"/>
              <p:nvPr/>
            </p:nvSpPr>
            <p:spPr>
              <a:xfrm>
                <a:off x="5641829" y="1587068"/>
                <a:ext cx="5580530" cy="1136249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altLang="ko-KR" sz="2000" dirty="0">
                    <a:solidFill>
                      <a:schemeClr val="bg1"/>
                    </a:solidFill>
                  </a:rPr>
                  <a:t>System</a:t>
                </a:r>
                <a:r>
                  <a:rPr lang="ko-KR" altLang="en-US" sz="2000" dirty="0">
                    <a:solidFill>
                      <a:schemeClr val="bg1"/>
                    </a:solidFill>
                  </a:rPr>
                  <a:t> 및 요구사항 분석</a:t>
                </a:r>
                <a:endParaRPr lang="en-US" altLang="ko-KR" sz="2000" dirty="0">
                  <a:solidFill>
                    <a:schemeClr val="bg1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altLang="ko-KR" sz="2000" dirty="0">
                    <a:solidFill>
                      <a:schemeClr val="bg1"/>
                    </a:solidFill>
                  </a:rPr>
                  <a:t>ER </a:t>
                </a:r>
                <a:r>
                  <a:rPr lang="ko-KR" altLang="en-US" sz="2000" dirty="0">
                    <a:solidFill>
                      <a:schemeClr val="bg1"/>
                    </a:solidFill>
                  </a:rPr>
                  <a:t>다이어그램</a:t>
                </a:r>
              </a:p>
            </p:txBody>
          </p:sp>
        </p:grp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F13A5757-3B37-49A4-ABB3-00075DD92289}"/>
                </a:ext>
              </a:extLst>
            </p:cNvPr>
            <p:cNvGrpSpPr/>
            <p:nvPr/>
          </p:nvGrpSpPr>
          <p:grpSpPr>
            <a:xfrm>
              <a:off x="5401970" y="1634401"/>
              <a:ext cx="5827666" cy="1423788"/>
              <a:chOff x="5397501" y="1665798"/>
              <a:chExt cx="5827666" cy="1423788"/>
            </a:xfrm>
          </p:grpSpPr>
          <p:sp>
            <p:nvSpPr>
              <p:cNvPr id="103" name="사각형: 둥근 모서리 102">
                <a:extLst>
                  <a:ext uri="{FF2B5EF4-FFF2-40B4-BE49-F238E27FC236}">
                    <a16:creationId xmlns:a16="http://schemas.microsoft.com/office/drawing/2014/main" id="{319A5185-A1FB-4FC3-A128-36BBDDA90A8D}"/>
                  </a:ext>
                </a:extLst>
              </p:cNvPr>
              <p:cNvSpPr/>
              <p:nvPr/>
            </p:nvSpPr>
            <p:spPr>
              <a:xfrm>
                <a:off x="5397501" y="1798491"/>
                <a:ext cx="5212948" cy="1236542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chemeClr val="tx1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1DD8DAF-5C88-4E66-9A90-D52F458D0D26}"/>
                  </a:ext>
                </a:extLst>
              </p:cNvPr>
              <p:cNvSpPr txBox="1"/>
              <p:nvPr/>
            </p:nvSpPr>
            <p:spPr>
              <a:xfrm>
                <a:off x="5644637" y="1665798"/>
                <a:ext cx="5580530" cy="1423788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altLang="ko-KR" sz="2000" dirty="0">
                    <a:solidFill>
                      <a:schemeClr val="bg1"/>
                    </a:solidFill>
                  </a:rPr>
                  <a:t>ER-</a:t>
                </a:r>
                <a:r>
                  <a:rPr lang="ko-KR" altLang="en-US" sz="2000" dirty="0">
                    <a:solidFill>
                      <a:schemeClr val="bg1"/>
                    </a:solidFill>
                  </a:rPr>
                  <a:t>릴레이션 사상</a:t>
                </a:r>
                <a:endParaRPr lang="en-US" altLang="ko-KR" sz="2000" dirty="0">
                  <a:solidFill>
                    <a:schemeClr val="bg1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ko-KR" altLang="en-US" sz="2000" dirty="0">
                    <a:solidFill>
                      <a:schemeClr val="bg1"/>
                    </a:solidFill>
                  </a:rPr>
                  <a:t>정규화 과정 및 적용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ko-KR" altLang="en-US" sz="2000" dirty="0">
                    <a:solidFill>
                      <a:schemeClr val="bg1"/>
                    </a:solidFill>
                  </a:rPr>
                  <a:t>논리적 스키마 구현</a:t>
                </a:r>
              </a:p>
            </p:txBody>
          </p:sp>
        </p:grp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3E5722EB-EBAA-4A73-8291-9E9BFEACFF30}"/>
              </a:ext>
            </a:extLst>
          </p:cNvPr>
          <p:cNvGrpSpPr/>
          <p:nvPr/>
        </p:nvGrpSpPr>
        <p:grpSpPr>
          <a:xfrm>
            <a:off x="1102675" y="2907652"/>
            <a:ext cx="9721018" cy="3295939"/>
            <a:chOff x="1205695" y="2252121"/>
            <a:chExt cx="9721018" cy="3295939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3530E1A7-6680-42E6-9CF7-829C2BF69870}"/>
                </a:ext>
              </a:extLst>
            </p:cNvPr>
            <p:cNvGrpSpPr/>
            <p:nvPr/>
          </p:nvGrpSpPr>
          <p:grpSpPr>
            <a:xfrm>
              <a:off x="1205695" y="4549552"/>
              <a:ext cx="3954141" cy="871749"/>
              <a:chOff x="1205695" y="4549552"/>
              <a:chExt cx="3954141" cy="871749"/>
            </a:xfrm>
          </p:grpSpPr>
          <p:sp>
            <p:nvSpPr>
              <p:cNvPr id="110" name="사각형: 둥근 모서리 109">
                <a:extLst>
                  <a:ext uri="{FF2B5EF4-FFF2-40B4-BE49-F238E27FC236}">
                    <a16:creationId xmlns:a16="http://schemas.microsoft.com/office/drawing/2014/main" id="{AA151458-67F0-410E-A739-6FF9D24F92B3}"/>
                  </a:ext>
                </a:extLst>
              </p:cNvPr>
              <p:cNvSpPr/>
              <p:nvPr/>
            </p:nvSpPr>
            <p:spPr>
              <a:xfrm>
                <a:off x="1205695" y="4549552"/>
                <a:ext cx="3954141" cy="871749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hueOff val="0"/>
                  <a:satOff val="0"/>
                  <a:lumOff val="0"/>
                  <a:alphaOff val="0"/>
                </a:schemeClr>
              </a:solidFill>
              <a:ln>
                <a:solidFill>
                  <a:schemeClr val="tx1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0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rgbClr r="0" g="0" b="0"/>
              </a:fontRef>
            </p:style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7279C2BC-5413-4DD7-A8BF-178ED27BCF1A}"/>
                  </a:ext>
                </a:extLst>
              </p:cNvPr>
              <p:cNvSpPr/>
              <p:nvPr/>
            </p:nvSpPr>
            <p:spPr>
              <a:xfrm>
                <a:off x="1395825" y="4813809"/>
                <a:ext cx="521145" cy="4311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12700" cap="flat" cmpd="sng" algn="ctr">
                <a:noFill/>
                <a:prstDash val="solid"/>
                <a:miter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2A35E723-8FA8-405F-B9E1-50A3E6E23A54}"/>
                </a:ext>
              </a:extLst>
            </p:cNvPr>
            <p:cNvGrpSpPr/>
            <p:nvPr/>
          </p:nvGrpSpPr>
          <p:grpSpPr>
            <a:xfrm>
              <a:off x="1653083" y="2252121"/>
              <a:ext cx="9273630" cy="3295939"/>
              <a:chOff x="1263698" y="2495791"/>
              <a:chExt cx="9273630" cy="3295939"/>
            </a:xfrm>
          </p:grpSpPr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47F98E18-3E04-4BDF-A01E-F54253124700}"/>
                  </a:ext>
                </a:extLst>
              </p:cNvPr>
              <p:cNvSpPr/>
              <p:nvPr/>
            </p:nvSpPr>
            <p:spPr>
              <a:xfrm>
                <a:off x="1263698" y="2495791"/>
                <a:ext cx="8763324" cy="1094111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bg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0B2D7E1-94EE-403B-9DCC-DF46BF7BADCD}"/>
                  </a:ext>
                </a:extLst>
              </p:cNvPr>
              <p:cNvSpPr txBox="1"/>
              <p:nvPr/>
            </p:nvSpPr>
            <p:spPr>
              <a:xfrm>
                <a:off x="1774004" y="4697619"/>
                <a:ext cx="8763324" cy="109411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bg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5793" tIns="115793" rIns="115793" bIns="115793" numCol="1" spcCol="1270" anchor="ctr" anchorCtr="0">
                <a:noAutofit/>
              </a:bodyPr>
              <a:lstStyle/>
              <a:p>
                <a:pPr marL="0" lvl="0" indent="0" algn="l" defTabSz="97790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ko-KR" altLang="en-US" sz="2200" b="1" i="0" kern="1200" dirty="0"/>
                  <a:t>트랜잭션 구현</a:t>
                </a:r>
                <a:endParaRPr lang="en-US" sz="2200" b="1" i="0" kern="1200" dirty="0"/>
              </a:p>
            </p:txBody>
          </p:sp>
        </p:grp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B387C4E0-816E-4E34-B40E-3007630BFCB1}"/>
              </a:ext>
            </a:extLst>
          </p:cNvPr>
          <p:cNvSpPr txBox="1"/>
          <p:nvPr/>
        </p:nvSpPr>
        <p:spPr>
          <a:xfrm>
            <a:off x="5805803" y="5114709"/>
            <a:ext cx="5580530" cy="962123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chemeClr val="bg1"/>
                </a:solidFill>
              </a:rPr>
              <a:t>트랜잭션 </a:t>
            </a:r>
            <a:r>
              <a:rPr lang="en-US" altLang="ko-KR" sz="2000" dirty="0">
                <a:solidFill>
                  <a:schemeClr val="bg1"/>
                </a:solidFill>
              </a:rPr>
              <a:t>SQL </a:t>
            </a:r>
            <a:r>
              <a:rPr lang="ko-KR" altLang="en-US" sz="2000" dirty="0" err="1">
                <a:solidFill>
                  <a:schemeClr val="bg1"/>
                </a:solidFill>
              </a:rPr>
              <a:t>질의문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chemeClr val="bg1"/>
                </a:solidFill>
              </a:rPr>
              <a:t>질의 결과</a:t>
            </a:r>
          </a:p>
        </p:txBody>
      </p:sp>
    </p:spTree>
    <p:extLst>
      <p:ext uri="{BB962C8B-B14F-4D97-AF65-F5344CB8AC3E}">
        <p14:creationId xmlns:p14="http://schemas.microsoft.com/office/powerpoint/2010/main" val="194313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886" y="1469522"/>
            <a:ext cx="4979894" cy="3383832"/>
          </a:xfrm>
        </p:spPr>
        <p:txBody>
          <a:bodyPr>
            <a:normAutofit/>
          </a:bodyPr>
          <a:lstStyle/>
          <a:p>
            <a:pPr algn="ctr"/>
            <a:r>
              <a:rPr lang="ko-KR" altLang="en-US" sz="6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개념적 설계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61A5BA-9035-41D8-9B33-D70AABE3F72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005872" y="1879269"/>
            <a:ext cx="3383832" cy="338383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08DD80B-9F59-4461-9FFA-0F7D779242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0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E28E628-B5F5-454D-A051-1B7BD533EE36}"/>
              </a:ext>
            </a:extLst>
          </p:cNvPr>
          <p:cNvSpPr txBox="1"/>
          <p:nvPr/>
        </p:nvSpPr>
        <p:spPr>
          <a:xfrm>
            <a:off x="6682154" y="1327188"/>
            <a:ext cx="5130468" cy="46110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dirty="0"/>
              <a:t>해당 항공사는 국내 </a:t>
            </a:r>
            <a:r>
              <a:rPr lang="en-US" altLang="ko-KR" dirty="0"/>
              <a:t>8</a:t>
            </a:r>
            <a:r>
              <a:rPr lang="ko-KR" altLang="en-US" dirty="0"/>
              <a:t>개의 주요 공항에 입주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dirty="0"/>
              <a:t>항공사는 다양한 서비스를 소비자에게 제공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dirty="0" err="1"/>
              <a:t>티웨이</a:t>
            </a:r>
            <a:r>
              <a:rPr lang="ko-KR" altLang="en-US" dirty="0"/>
              <a:t> 항공사는 마일리지</a:t>
            </a:r>
            <a:r>
              <a:rPr lang="en-US" altLang="ko-KR" dirty="0"/>
              <a:t>/</a:t>
            </a:r>
            <a:r>
              <a:rPr lang="ko-KR" altLang="en-US" dirty="0"/>
              <a:t>포인트 프로그램 제공을 하지 않는다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dirty="0"/>
              <a:t>거의 유일하게 결제시한 연장서비스를 제공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 dirty="0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dirty="0"/>
              <a:t>국제선의 도착지가 아시아 쪽에 </a:t>
            </a:r>
            <a:r>
              <a:rPr lang="ko-KR" altLang="en-US" dirty="0" err="1"/>
              <a:t>한정되어있는</a:t>
            </a:r>
            <a:r>
              <a:rPr lang="ko-KR" altLang="en-US" dirty="0"/>
              <a:t> 대신 </a:t>
            </a:r>
            <a:r>
              <a:rPr lang="ko-KR" altLang="en-US" dirty="0" err="1"/>
              <a:t>저가항공사답게</a:t>
            </a:r>
            <a:r>
              <a:rPr lang="ko-KR" altLang="en-US" dirty="0"/>
              <a:t> 가격이 저렴</a:t>
            </a:r>
            <a:r>
              <a:rPr lang="en-US" altLang="ko-KR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4" y="616923"/>
            <a:ext cx="2883375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Tway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 항공사 분석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개념적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18" name="그림 17" descr="테이블이(가) 표시된 사진  자동 생성된 설명">
            <a:extLst>
              <a:ext uri="{FF2B5EF4-FFF2-40B4-BE49-F238E27FC236}">
                <a16:creationId xmlns:a16="http://schemas.microsoft.com/office/drawing/2014/main" id="{3A0F74F1-0BC4-443A-AB26-0F1493F995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9378" y="1702283"/>
            <a:ext cx="6076868" cy="3427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 descr="테이블이(가) 표시된 사진  자동 생성된 설명">
            <a:extLst>
              <a:ext uri="{FF2B5EF4-FFF2-40B4-BE49-F238E27FC236}">
                <a16:creationId xmlns:a16="http://schemas.microsoft.com/office/drawing/2014/main" id="{F8A1FAFC-EFF4-4961-B9C2-DD72332A39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058081" y="3979346"/>
            <a:ext cx="2398165" cy="25743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8C6C593-0A5C-4A73-ACEF-DB37A319FC4E}"/>
              </a:ext>
            </a:extLst>
          </p:cNvPr>
          <p:cNvSpPr txBox="1"/>
          <p:nvPr/>
        </p:nvSpPr>
        <p:spPr>
          <a:xfrm>
            <a:off x="852578" y="5155717"/>
            <a:ext cx="5130468" cy="45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/>
              <a:t>( T’Way </a:t>
            </a:r>
            <a:r>
              <a:rPr lang="ko-KR" altLang="en-US"/>
              <a:t>항공사 메인 페이지 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3485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0" y="614368"/>
            <a:ext cx="2883375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Tway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 항공사 분석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개념적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0C264036-BE11-4FAD-BDFA-460FE908D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327" y="-28001"/>
            <a:ext cx="621000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E9F28E9-AABC-4C32-B1ED-2B0BE247CFBB}"/>
              </a:ext>
            </a:extLst>
          </p:cNvPr>
          <p:cNvSpPr/>
          <p:nvPr/>
        </p:nvSpPr>
        <p:spPr>
          <a:xfrm>
            <a:off x="2823883" y="4168588"/>
            <a:ext cx="2883375" cy="76648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149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4" y="616923"/>
            <a:ext cx="2883375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dirty="0" err="1">
                <a:solidFill>
                  <a:prstClr val="black"/>
                </a:solidFill>
                <a:latin typeface="Arial"/>
              </a:rPr>
              <a:t>Tway</a:t>
            </a:r>
            <a:r>
              <a:rPr lang="ko-KR" altLang="en-US" sz="2400" b="1" dirty="0">
                <a:solidFill>
                  <a:prstClr val="black"/>
                </a:solidFill>
                <a:latin typeface="Arial"/>
              </a:rPr>
              <a:t> 항공사 분석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개념적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9B9DC97-D438-4A5E-8B89-FC62000BD827}"/>
              </a:ext>
            </a:extLst>
          </p:cNvPr>
          <p:cNvSpPr txBox="1">
            <a:spLocks/>
          </p:cNvSpPr>
          <p:nvPr/>
        </p:nvSpPr>
        <p:spPr>
          <a:xfrm>
            <a:off x="3551966" y="257967"/>
            <a:ext cx="10168128" cy="1179576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dirty="0"/>
              <a:t>보유 기체 분석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73317-7C8D-421E-9CAC-2C3AAD01F149}"/>
              </a:ext>
            </a:extLst>
          </p:cNvPr>
          <p:cNvSpPr txBox="1"/>
          <p:nvPr/>
        </p:nvSpPr>
        <p:spPr>
          <a:xfrm>
            <a:off x="5873262" y="2422055"/>
            <a:ext cx="5130468" cy="28338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/>
              <a:t>해당 항공사가 운행 중인 항공기는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/>
              <a:t>BOEING 737 – 800 Series – 24</a:t>
            </a:r>
            <a:r>
              <a:rPr lang="ko-KR" altLang="en-US" dirty="0"/>
              <a:t>대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/>
              <a:t>BOEING 737 – MAX 8 Series – 3</a:t>
            </a:r>
            <a:r>
              <a:rPr lang="ko-KR" altLang="en-US" dirty="0"/>
              <a:t>대</a:t>
            </a: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dirty="0"/>
              <a:t>총 </a:t>
            </a:r>
            <a:r>
              <a:rPr lang="en-US" altLang="ko-KR" dirty="0"/>
              <a:t>27</a:t>
            </a:r>
            <a:r>
              <a:rPr lang="ko-KR" altLang="en-US" dirty="0"/>
              <a:t>대의 항공기를 보유하고 있으며</a:t>
            </a:r>
            <a:r>
              <a:rPr lang="en-US" altLang="ko-KR" dirty="0"/>
              <a:t>,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dirty="0"/>
              <a:t>각 항공기는 </a:t>
            </a:r>
            <a:r>
              <a:rPr lang="ko-KR" altLang="en-US" u="sng" dirty="0"/>
              <a:t>고유한 번호를 부여하여 관리한다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" name="그림 12" descr="테이블이(가) 표시된 사진  자동 생성된 설명">
            <a:extLst>
              <a:ext uri="{FF2B5EF4-FFF2-40B4-BE49-F238E27FC236}">
                <a16:creationId xmlns:a16="http://schemas.microsoft.com/office/drawing/2014/main" id="{45CA6E6D-2B71-4066-A622-D668E821EF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06748" y="1539342"/>
            <a:ext cx="3207848" cy="51472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4777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4" y="616923"/>
            <a:ext cx="461111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요구사항 명세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데이터 요구사항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effectLst/>
              </a:rPr>
              <a:t>개념적 설계</a:t>
            </a:r>
            <a:endParaRPr lang="ko-KR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D7122-7FC4-481B-A8B5-C90BB8F0A4EC}"/>
              </a:ext>
            </a:extLst>
          </p:cNvPr>
          <p:cNvSpPr txBox="1"/>
          <p:nvPr/>
        </p:nvSpPr>
        <p:spPr>
          <a:xfrm>
            <a:off x="1199252" y="2262092"/>
            <a:ext cx="9793495" cy="3277820"/>
          </a:xfrm>
          <a:prstGeom prst="rect">
            <a:avLst/>
          </a:prstGeom>
          <a:noFill/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</a:t>
            </a:r>
            <a:r>
              <a:rPr lang="ko-KR" altLang="en-US" kern="0" spc="-70" dirty="0">
                <a:solidFill>
                  <a:srgbClr val="000000"/>
                </a:solidFill>
                <a:latin typeface="휴먼명조"/>
                <a:ea typeface="휴먼명조"/>
              </a:rPr>
              <a:t> </a:t>
            </a:r>
            <a:r>
              <a:rPr lang="en-US" altLang="ko-KR" dirty="0"/>
              <a:t>T-way </a:t>
            </a:r>
            <a:r>
              <a:rPr lang="ko-KR" altLang="en-US" dirty="0"/>
              <a:t>항공사가 있는 공항의 경영자</a:t>
            </a:r>
            <a:r>
              <a:rPr lang="en-US" altLang="ko-KR" dirty="0"/>
              <a:t>(Director)</a:t>
            </a:r>
            <a:r>
              <a:rPr lang="ko-KR" altLang="en-US" dirty="0"/>
              <a:t>는 각 한 명이 관리한다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>
              <a:lnSpc>
                <a:spcPct val="15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부서는 한 명의 책임자</a:t>
            </a:r>
            <a:r>
              <a:rPr lang="en-US" altLang="ko-KR" dirty="0"/>
              <a:t>(Manager)</a:t>
            </a:r>
            <a:r>
              <a:rPr lang="ko-KR" altLang="en-US" dirty="0"/>
              <a:t>가 직원 및 서비스를 관리한다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공항에 위치한 각각의 </a:t>
            </a:r>
            <a:r>
              <a:rPr lang="en-US" altLang="ko-KR" dirty="0"/>
              <a:t>T-way </a:t>
            </a:r>
            <a:r>
              <a:rPr lang="ko-KR" altLang="en-US" dirty="0"/>
              <a:t>항공사가 해당하는 전체의 서비스를 관리한다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모든 손님은 손님</a:t>
            </a:r>
            <a:r>
              <a:rPr lang="en-US" altLang="ko-KR" dirty="0"/>
              <a:t>ID</a:t>
            </a:r>
            <a:r>
              <a:rPr lang="ko-KR" altLang="en-US" dirty="0"/>
              <a:t>를 부여하여 식별하며</a:t>
            </a:r>
            <a:r>
              <a:rPr lang="en-US" altLang="ko-KR" dirty="0"/>
              <a:t>,</a:t>
            </a:r>
            <a:r>
              <a:rPr lang="ko-KR" altLang="en-US" dirty="0"/>
              <a:t> 성명</a:t>
            </a:r>
            <a:r>
              <a:rPr lang="en-US" altLang="ko-KR" dirty="0"/>
              <a:t>,</a:t>
            </a:r>
            <a:r>
              <a:rPr lang="ko-KR" altLang="en-US" dirty="0"/>
              <a:t> 여권번호</a:t>
            </a:r>
            <a:r>
              <a:rPr lang="en-US" altLang="ko-KR" dirty="0"/>
              <a:t>,</a:t>
            </a:r>
            <a:r>
              <a:rPr lang="ko-KR" altLang="en-US" dirty="0"/>
              <a:t> 예약번호를 가진다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모든 사원은 사원</a:t>
            </a:r>
            <a:r>
              <a:rPr lang="en-US" altLang="ko-KR" dirty="0"/>
              <a:t>ID</a:t>
            </a:r>
            <a:r>
              <a:rPr lang="ko-KR" altLang="en-US" dirty="0"/>
              <a:t>를 부여하여 식별하며</a:t>
            </a:r>
            <a:r>
              <a:rPr lang="en-US" altLang="ko-KR" dirty="0"/>
              <a:t>,</a:t>
            </a:r>
            <a:r>
              <a:rPr lang="ko-KR" altLang="en-US" dirty="0"/>
              <a:t> 담당 업무</a:t>
            </a:r>
            <a:r>
              <a:rPr lang="en-US" altLang="ko-KR" dirty="0"/>
              <a:t>,</a:t>
            </a:r>
            <a:r>
              <a:rPr lang="ko-KR" altLang="en-US" dirty="0"/>
              <a:t> 성별</a:t>
            </a:r>
            <a:r>
              <a:rPr lang="en-US" altLang="ko-KR" dirty="0"/>
              <a:t>,</a:t>
            </a:r>
            <a:r>
              <a:rPr lang="ko-KR" altLang="en-US" dirty="0"/>
              <a:t> 성명 등을 가진다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모든 예매권은 예매</a:t>
            </a:r>
            <a:r>
              <a:rPr lang="en-US" altLang="ko-KR" dirty="0"/>
              <a:t> ID</a:t>
            </a:r>
            <a:r>
              <a:rPr lang="ko-KR" altLang="en-US" dirty="0"/>
              <a:t>를 부여하여 식별하며</a:t>
            </a:r>
            <a:r>
              <a:rPr lang="en-US" altLang="ko-KR" dirty="0"/>
              <a:t>,</a:t>
            </a:r>
            <a:r>
              <a:rPr lang="ko-KR" altLang="en-US" dirty="0"/>
              <a:t> 담당 업무</a:t>
            </a:r>
            <a:r>
              <a:rPr lang="en-US" altLang="ko-KR" dirty="0"/>
              <a:t>,</a:t>
            </a:r>
            <a:r>
              <a:rPr lang="ko-KR" altLang="en-US" dirty="0"/>
              <a:t> 성별</a:t>
            </a:r>
            <a:r>
              <a:rPr lang="en-US" altLang="ko-KR" dirty="0"/>
              <a:t>,</a:t>
            </a:r>
            <a:r>
              <a:rPr lang="ko-KR" altLang="en-US" dirty="0"/>
              <a:t> 성명</a:t>
            </a:r>
            <a:r>
              <a:rPr lang="en-US" altLang="ko-KR" dirty="0"/>
              <a:t>,</a:t>
            </a:r>
            <a:r>
              <a:rPr lang="ko-KR" altLang="en-US" dirty="0"/>
              <a:t> 직급 등을 가진다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4394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4" y="616923"/>
            <a:ext cx="461111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요구사항 명세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데이터 요구사항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effectLst/>
              </a:rPr>
              <a:t>개념적 설계</a:t>
            </a:r>
            <a:endParaRPr lang="ko-KR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6FA26-C86B-4CCD-B149-27B47FEF810B}"/>
              </a:ext>
            </a:extLst>
          </p:cNvPr>
          <p:cNvSpPr txBox="1"/>
          <p:nvPr/>
        </p:nvSpPr>
        <p:spPr>
          <a:xfrm>
            <a:off x="1199252" y="1934642"/>
            <a:ext cx="9793495" cy="3890489"/>
          </a:xfrm>
          <a:prstGeom prst="rect">
            <a:avLst/>
          </a:prstGeom>
          <a:noFill/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모든 면세 상품들은 상품번호를 부여하여 식별하며 상품 번호와 가격 등을 가진다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5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모든 기내식은 예약번호를 부여하여 식별하며 예약 날짜와 음식 코드 등을 가진다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20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항공기들은 </a:t>
            </a:r>
            <a:r>
              <a:rPr lang="ko-KR" altLang="en-US" dirty="0" err="1"/>
              <a:t>티웨이</a:t>
            </a:r>
            <a:r>
              <a:rPr lang="ko-KR" altLang="en-US" dirty="0"/>
              <a:t> 항공사에 모두 </a:t>
            </a:r>
            <a:r>
              <a:rPr lang="ko-KR" altLang="en-US" dirty="0" err="1"/>
              <a:t>속해있다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20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항공기는 한 명의 기장을 배치하며</a:t>
            </a:r>
            <a:r>
              <a:rPr lang="en-US" altLang="ko-KR" dirty="0"/>
              <a:t>, </a:t>
            </a:r>
            <a:r>
              <a:rPr lang="ko-KR" altLang="en-US" dirty="0"/>
              <a:t>기장에 의해 항공기가 운행되어진다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2376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5" y="616923"/>
            <a:ext cx="433402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요구사항 명세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기능 요구사항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effectLst/>
              </a:rPr>
              <a:t>개념적 설계</a:t>
            </a:r>
            <a:endParaRPr lang="ko-KR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AB12B5-F696-4E82-BB39-9D0F954A00F3}"/>
              </a:ext>
            </a:extLst>
          </p:cNvPr>
          <p:cNvSpPr txBox="1"/>
          <p:nvPr/>
        </p:nvSpPr>
        <p:spPr>
          <a:xfrm>
            <a:off x="815028" y="1444482"/>
            <a:ext cx="10561943" cy="4742260"/>
          </a:xfrm>
          <a:prstGeom prst="rect">
            <a:avLst/>
          </a:prstGeom>
          <a:noFill/>
          <a:ln w="1270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경영자</a:t>
            </a:r>
            <a:r>
              <a:rPr lang="en-US" altLang="ko-KR" dirty="0"/>
              <a:t>(Director)</a:t>
            </a:r>
            <a:r>
              <a:rPr lang="ko-KR" altLang="en-US" dirty="0"/>
              <a:t>는 소비자의 예약 등 권리를 제외한 모든 권한을 갖을 수 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3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3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부서의 책임자</a:t>
            </a:r>
            <a:r>
              <a:rPr lang="en-US" altLang="ko-KR" dirty="0"/>
              <a:t>(Manager)</a:t>
            </a:r>
            <a:r>
              <a:rPr lang="ko-KR" altLang="en-US" dirty="0"/>
              <a:t>는 부서의 모든 권한을 갖으며 직원의 급여를 조정할 수 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3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3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부서의 직원은 재고관리</a:t>
            </a:r>
            <a:r>
              <a:rPr lang="en-US" altLang="ko-KR" dirty="0"/>
              <a:t>(</a:t>
            </a:r>
            <a:r>
              <a:rPr lang="ko-KR" altLang="en-US" dirty="0"/>
              <a:t>기내식</a:t>
            </a:r>
            <a:r>
              <a:rPr lang="en-US" altLang="ko-KR" dirty="0"/>
              <a:t>)</a:t>
            </a:r>
            <a:r>
              <a:rPr lang="ko-KR" altLang="en-US" dirty="0"/>
              <a:t>를 할 수 있으며</a:t>
            </a:r>
            <a:r>
              <a:rPr lang="en-US" altLang="ko-KR" dirty="0"/>
              <a:t>, </a:t>
            </a:r>
            <a:r>
              <a:rPr lang="ko-KR" altLang="en-US" dirty="0"/>
              <a:t>재고가 있는 경우 소비자로부터 예약될 수 있다</a:t>
            </a:r>
            <a:r>
              <a:rPr lang="en-US" altLang="ko-KR" dirty="0"/>
              <a:t>.</a:t>
            </a:r>
            <a:r>
              <a:rPr lang="ko-KR" altLang="en-US" dirty="0"/>
              <a:t>      </a:t>
            </a:r>
          </a:p>
          <a:p>
            <a:pPr marL="342900" indent="-342900">
              <a:lnSpc>
                <a:spcPct val="13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3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소비자는 자신의 예약 정보 및 재고를 확인할 수 있는 권한을 갖는다</a:t>
            </a:r>
            <a:r>
              <a:rPr lang="en-US" altLang="ko-KR" dirty="0"/>
              <a:t>.</a:t>
            </a:r>
          </a:p>
          <a:p>
            <a:pPr marL="333000" indent="-333000">
              <a:lnSpc>
                <a:spcPct val="13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3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소비자는 원하는 서비스의 정보를 확인하고 선택할 수 있다</a:t>
            </a:r>
            <a:r>
              <a:rPr lang="en-US" altLang="ko-KR" dirty="0"/>
              <a:t>.</a:t>
            </a:r>
          </a:p>
          <a:p>
            <a:pPr marL="333000" indent="-333000">
              <a:lnSpc>
                <a:spcPct val="130000"/>
              </a:lnSpc>
              <a:buAutoNum type="arabicPeriod"/>
              <a:defRPr/>
            </a:pPr>
            <a:endParaRPr lang="en-US" altLang="ko-KR" dirty="0"/>
          </a:p>
          <a:p>
            <a:pPr>
              <a:lnSpc>
                <a:spcPct val="13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소비자는 추가적인 과정</a:t>
            </a:r>
            <a:r>
              <a:rPr lang="en-US" altLang="ko-KR" dirty="0"/>
              <a:t>(</a:t>
            </a:r>
            <a:r>
              <a:rPr lang="ko-KR" altLang="en-US" dirty="0"/>
              <a:t>예약 변경</a:t>
            </a:r>
            <a:r>
              <a:rPr lang="en-US" altLang="ko-KR" dirty="0"/>
              <a:t>,</a:t>
            </a:r>
            <a:r>
              <a:rPr lang="ko-KR" altLang="en-US" dirty="0"/>
              <a:t> 추가 구매 등</a:t>
            </a:r>
            <a:r>
              <a:rPr lang="en-US" altLang="ko-KR" dirty="0"/>
              <a:t>)</a:t>
            </a:r>
            <a:r>
              <a:rPr lang="ko-KR" altLang="en-US" dirty="0"/>
              <a:t>을 통해 기능을 다시 선택할 수 있다</a:t>
            </a:r>
            <a:r>
              <a:rPr lang="en-US" altLang="ko-KR" dirty="0"/>
              <a:t>.</a:t>
            </a:r>
          </a:p>
          <a:p>
            <a:pPr>
              <a:lnSpc>
                <a:spcPct val="130000"/>
              </a:lnSpc>
              <a:defRPr/>
            </a:pPr>
            <a:endParaRPr lang="en-US" altLang="ko-KR" dirty="0"/>
          </a:p>
          <a:p>
            <a:pPr>
              <a:lnSpc>
                <a:spcPct val="130000"/>
              </a:lnSpc>
              <a:defRPr/>
            </a:pPr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각 경영자</a:t>
            </a:r>
            <a:r>
              <a:rPr lang="en-US" altLang="ko-KR" dirty="0"/>
              <a:t>(Director)</a:t>
            </a:r>
            <a:r>
              <a:rPr lang="ko-KR" altLang="en-US" dirty="0"/>
              <a:t>는 직원을 채용하여 인원을 보충할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5882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2554" y="616923"/>
            <a:ext cx="26743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최종</a:t>
            </a:r>
            <a:r>
              <a:rPr lang="en-US" altLang="ko-KR" sz="2400" b="1" dirty="0"/>
              <a:t>ER Diagram</a:t>
            </a:r>
            <a:endParaRPr lang="ko-KR" altLang="en-US" sz="24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effectLst/>
              </a:rPr>
              <a:t>개념적 설계</a:t>
            </a:r>
            <a:endParaRPr lang="ko-KR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>
            <a:off x="6018849" y="1032869"/>
            <a:ext cx="616608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2A3C94C2-89F3-49F9-8250-ABE8C736C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434" y="135578"/>
            <a:ext cx="6403671" cy="642870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29378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128" y="2219149"/>
            <a:ext cx="5122837" cy="1968732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3600" dirty="0">
                <a:effectLst/>
              </a:rPr>
              <a:t>논리적 설계</a:t>
            </a:r>
            <a:endParaRPr lang="ko-KR" altLang="en-US" sz="66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5" name="직사각형 4" descr="확인 표시">
            <a:extLst>
              <a:ext uri="{FF2B5EF4-FFF2-40B4-BE49-F238E27FC236}">
                <a16:creationId xmlns:a16="http://schemas.microsoft.com/office/drawing/2014/main" id="{86097E7F-79C6-4651-BD73-F42A569CF4EB}"/>
              </a:ext>
            </a:extLst>
          </p:cNvPr>
          <p:cNvSpPr/>
          <p:nvPr/>
        </p:nvSpPr>
        <p:spPr>
          <a:xfrm>
            <a:off x="7699236" y="1771532"/>
            <a:ext cx="2955511" cy="2641442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64159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37E38EB-8A82-49DF-A24C-5B22A723F812}"/>
              </a:ext>
            </a:extLst>
          </p:cNvPr>
          <p:cNvCxnSpPr>
            <a:cxnSpLocks/>
            <a:stCxn id="30" idx="2"/>
            <a:endCxn id="49" idx="0"/>
          </p:cNvCxnSpPr>
          <p:nvPr/>
        </p:nvCxnSpPr>
        <p:spPr>
          <a:xfrm>
            <a:off x="5724436" y="2433066"/>
            <a:ext cx="2184" cy="122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563F2CA-2DD9-4973-B0D4-A8687A634DB7}"/>
              </a:ext>
            </a:extLst>
          </p:cNvPr>
          <p:cNvCxnSpPr>
            <a:cxnSpLocks/>
            <a:endCxn id="34" idx="5"/>
          </p:cNvCxnSpPr>
          <p:nvPr/>
        </p:nvCxnSpPr>
        <p:spPr>
          <a:xfrm flipH="1" flipV="1">
            <a:off x="4376133" y="1617021"/>
            <a:ext cx="1121509" cy="5555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63504" y="597873"/>
            <a:ext cx="273183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ER-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릴레이션 사상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00CF323-BC86-4403-871B-6B93ABE0E770}"/>
              </a:ext>
            </a:extLst>
          </p:cNvPr>
          <p:cNvSpPr/>
          <p:nvPr/>
        </p:nvSpPr>
        <p:spPr>
          <a:xfrm>
            <a:off x="4916995" y="1239274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232257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공항이름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3458FE6-40AF-44B1-9BB1-F2FF8BBBBAA9}"/>
              </a:ext>
            </a:extLst>
          </p:cNvPr>
          <p:cNvSpPr/>
          <p:nvPr/>
        </p:nvSpPr>
        <p:spPr>
          <a:xfrm>
            <a:off x="5265488" y="1988449"/>
            <a:ext cx="917895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232257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공항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002C4E3-C3B5-446E-9645-FFAFE7FD1123}"/>
              </a:ext>
            </a:extLst>
          </p:cNvPr>
          <p:cNvCxnSpPr>
            <a:stCxn id="28" idx="4"/>
            <a:endCxn id="30" idx="0"/>
          </p:cNvCxnSpPr>
          <p:nvPr/>
        </p:nvCxnSpPr>
        <p:spPr>
          <a:xfrm>
            <a:off x="5724436" y="1683891"/>
            <a:ext cx="0" cy="304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08C5DF01-7F66-4037-AAF5-5540167A4AB9}"/>
              </a:ext>
            </a:extLst>
          </p:cNvPr>
          <p:cNvSpPr/>
          <p:nvPr/>
        </p:nvSpPr>
        <p:spPr>
          <a:xfrm>
            <a:off x="2895342" y="1974006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232257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전화번호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80D5F3E-59C6-47CC-A447-E7AB6F28F93C}"/>
              </a:ext>
            </a:extLst>
          </p:cNvPr>
          <p:cNvCxnSpPr>
            <a:cxnSpLocks/>
            <a:stCxn id="30" idx="1"/>
            <a:endCxn id="32" idx="6"/>
          </p:cNvCxnSpPr>
          <p:nvPr/>
        </p:nvCxnSpPr>
        <p:spPr>
          <a:xfrm flipH="1" flipV="1">
            <a:off x="4623474" y="2196315"/>
            <a:ext cx="642014" cy="144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702D25B4-E988-48D7-A7E6-01421146F1C7}"/>
              </a:ext>
            </a:extLst>
          </p:cNvPr>
          <p:cNvSpPr/>
          <p:nvPr/>
        </p:nvSpPr>
        <p:spPr>
          <a:xfrm>
            <a:off x="2901080" y="1237516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232257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cs typeface="+mn-cs"/>
              </a:rPr>
              <a:t>소속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041AA78-B6BD-4691-B5E8-E43BA62BAA62}"/>
              </a:ext>
            </a:extLst>
          </p:cNvPr>
          <p:cNvCxnSpPr/>
          <p:nvPr/>
        </p:nvCxnSpPr>
        <p:spPr>
          <a:xfrm>
            <a:off x="5193355" y="1589881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E73FC9A3-A920-4C57-83B6-B426116DF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00807"/>
              </p:ext>
            </p:extLst>
          </p:nvPr>
        </p:nvGraphicFramePr>
        <p:xfrm>
          <a:off x="6853499" y="1509492"/>
          <a:ext cx="3531103" cy="994791"/>
        </p:xfrm>
        <a:graphic>
          <a:graphicData uri="http://schemas.openxmlformats.org/drawingml/2006/table">
            <a:tbl>
              <a:tblPr/>
              <a:tblGrid>
                <a:gridCol w="930477">
                  <a:extLst>
                    <a:ext uri="{9D8B030D-6E8A-4147-A177-3AD203B41FA5}">
                      <a16:colId xmlns:a16="http://schemas.microsoft.com/office/drawing/2014/main" val="2334687102"/>
                    </a:ext>
                  </a:extLst>
                </a:gridCol>
                <a:gridCol w="1217526">
                  <a:extLst>
                    <a:ext uri="{9D8B030D-6E8A-4147-A177-3AD203B41FA5}">
                      <a16:colId xmlns:a16="http://schemas.microsoft.com/office/drawing/2014/main" val="2185173450"/>
                    </a:ext>
                  </a:extLst>
                </a:gridCol>
                <a:gridCol w="1383100">
                  <a:extLst>
                    <a:ext uri="{9D8B030D-6E8A-4147-A177-3AD203B41FA5}">
                      <a16:colId xmlns:a16="http://schemas.microsoft.com/office/drawing/2014/main" val="1761660206"/>
                    </a:ext>
                  </a:extLst>
                </a:gridCol>
              </a:tblGrid>
              <a:tr h="302227">
                <a:tc gridSpan="3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Airport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539183"/>
                  </a:ext>
                </a:extLst>
              </a:tr>
              <a:tr h="302227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aptname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aptnumber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corporation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391488"/>
                  </a:ext>
                </a:extLst>
              </a:tr>
              <a:tr h="3514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K1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817253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7D54B3AD-70E9-42F7-A381-DB51535EC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487379"/>
              </p:ext>
            </p:extLst>
          </p:nvPr>
        </p:nvGraphicFramePr>
        <p:xfrm>
          <a:off x="6934501" y="3263548"/>
          <a:ext cx="2349948" cy="968415"/>
        </p:xfrm>
        <a:graphic>
          <a:graphicData uri="http://schemas.openxmlformats.org/drawingml/2006/table">
            <a:tbl>
              <a:tblPr/>
              <a:tblGrid>
                <a:gridCol w="1174974">
                  <a:extLst>
                    <a:ext uri="{9D8B030D-6E8A-4147-A177-3AD203B41FA5}">
                      <a16:colId xmlns:a16="http://schemas.microsoft.com/office/drawing/2014/main" val="3206460731"/>
                    </a:ext>
                  </a:extLst>
                </a:gridCol>
                <a:gridCol w="1174974">
                  <a:extLst>
                    <a:ext uri="{9D8B030D-6E8A-4147-A177-3AD203B41FA5}">
                      <a16:colId xmlns:a16="http://schemas.microsoft.com/office/drawing/2014/main" val="1409833570"/>
                    </a:ext>
                  </a:extLst>
                </a:gridCol>
              </a:tblGrid>
              <a:tr h="322805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Tway_airline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682995"/>
                  </a:ext>
                </a:extLst>
              </a:tr>
              <a:tr h="32280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ceo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airport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71376"/>
                  </a:ext>
                </a:extLst>
              </a:tr>
              <a:tr h="32280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K2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K1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4896788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C0AD9F2C-8090-4313-AB23-EF12DC430105}"/>
              </a:ext>
            </a:extLst>
          </p:cNvPr>
          <p:cNvSpPr txBox="1"/>
          <p:nvPr/>
        </p:nvSpPr>
        <p:spPr>
          <a:xfrm>
            <a:off x="3816772" y="5159434"/>
            <a:ext cx="5044840" cy="9169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9144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Airport (</a:t>
            </a:r>
            <a:r>
              <a:rPr kumimoji="0" lang="en-US" altLang="ko-KR" sz="18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aptname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, </a:t>
            </a:r>
            <a:r>
              <a:rPr kumimoji="0" lang="en-US" altLang="ko-K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aptnumber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, corporation)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함초롬바탕" panose="02030604000101010101" pitchFamily="18" charset="-127"/>
              <a:cs typeface="+mn-cs"/>
            </a:endParaRPr>
          </a:p>
          <a:p>
            <a:pPr marL="0" marR="0" lvl="0" indent="0" algn="just" defTabSz="914400" rtl="0" eaLnBrk="1" fontAlgn="base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Tway_airline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 (</a:t>
            </a:r>
            <a:r>
              <a:rPr kumimoji="0" lang="en-US" altLang="ko-KR" sz="1800" b="0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ceo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n-cs"/>
              </a:rPr>
              <a:t>, airport)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함초롬바탕" panose="02030604000101010101" pitchFamily="18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E659817-4457-4E01-BAF5-3A913443DEFE}"/>
              </a:ext>
            </a:extLst>
          </p:cNvPr>
          <p:cNvCxnSpPr/>
          <p:nvPr/>
        </p:nvCxnSpPr>
        <p:spPr>
          <a:xfrm>
            <a:off x="5695296" y="2433066"/>
            <a:ext cx="291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466BA40-F010-48A6-87A3-9CFC6A99B81A}"/>
              </a:ext>
            </a:extLst>
          </p:cNvPr>
          <p:cNvCxnSpPr>
            <a:cxnSpLocks/>
          </p:cNvCxnSpPr>
          <p:nvPr/>
        </p:nvCxnSpPr>
        <p:spPr>
          <a:xfrm>
            <a:off x="5617596" y="2499306"/>
            <a:ext cx="2270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E29ADEF-EBD0-4887-8E59-6CBFEC744C81}"/>
              </a:ext>
            </a:extLst>
          </p:cNvPr>
          <p:cNvCxnSpPr>
            <a:cxnSpLocks/>
          </p:cNvCxnSpPr>
          <p:nvPr/>
        </p:nvCxnSpPr>
        <p:spPr>
          <a:xfrm>
            <a:off x="5622079" y="2584471"/>
            <a:ext cx="2270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ACF6527-1BED-4EFE-8F34-51161F6350D3}"/>
              </a:ext>
            </a:extLst>
          </p:cNvPr>
          <p:cNvGrpSpPr/>
          <p:nvPr/>
        </p:nvGrpSpPr>
        <p:grpSpPr>
          <a:xfrm>
            <a:off x="3003706" y="3263548"/>
            <a:ext cx="3239536" cy="1340051"/>
            <a:chOff x="3157962" y="3925662"/>
            <a:chExt cx="3239536" cy="1340051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7D3A8CE8-BD8E-44CC-AC8F-A7B99EE1C2FA}"/>
                </a:ext>
              </a:extLst>
            </p:cNvPr>
            <p:cNvCxnSpPr>
              <a:cxnSpLocks/>
              <a:stCxn id="49" idx="1"/>
              <a:endCxn id="39" idx="7"/>
            </p:cNvCxnSpPr>
            <p:nvPr/>
          </p:nvCxnSpPr>
          <p:spPr>
            <a:xfrm flipH="1">
              <a:off x="4654498" y="4662152"/>
              <a:ext cx="709756" cy="2240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8E21344-8FF8-42EE-94D9-42EF02D71BF8}"/>
                </a:ext>
              </a:extLst>
            </p:cNvPr>
            <p:cNvSpPr/>
            <p:nvPr/>
          </p:nvSpPr>
          <p:spPr>
            <a:xfrm>
              <a:off x="3157962" y="4821096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marL="0" marR="0" lvl="0" indent="0" algn="ctr" defTabSz="232257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공항이름</a:t>
              </a: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48164CAA-CC69-4E54-906E-61215E2C7657}"/>
                </a:ext>
              </a:extLst>
            </p:cNvPr>
            <p:cNvCxnSpPr>
              <a:cxnSpLocks/>
              <a:stCxn id="49" idx="1"/>
              <a:endCxn id="41" idx="5"/>
            </p:cNvCxnSpPr>
            <p:nvPr/>
          </p:nvCxnSpPr>
          <p:spPr>
            <a:xfrm flipH="1" flipV="1">
              <a:off x="4586318" y="4305166"/>
              <a:ext cx="777936" cy="3569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69D7E208-B597-4187-A7E0-574F33E8D37D}"/>
                </a:ext>
              </a:extLst>
            </p:cNvPr>
            <p:cNvSpPr/>
            <p:nvPr/>
          </p:nvSpPr>
          <p:spPr>
            <a:xfrm>
              <a:off x="3457949" y="3925662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marL="0" marR="0" lvl="0" indent="0" algn="ctr" defTabSz="232257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경영자</a:t>
              </a: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6EB2A083-3345-43F2-ABE1-646ED7B053D4}"/>
                </a:ext>
              </a:extLst>
            </p:cNvPr>
            <p:cNvCxnSpPr/>
            <p:nvPr/>
          </p:nvCxnSpPr>
          <p:spPr>
            <a:xfrm>
              <a:off x="3682482" y="4250481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0D9EA25-EE4D-469B-9341-7CDBDE30E8A6}"/>
                </a:ext>
              </a:extLst>
            </p:cNvPr>
            <p:cNvSpPr/>
            <p:nvPr/>
          </p:nvSpPr>
          <p:spPr>
            <a:xfrm>
              <a:off x="5364254" y="4318203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marL="0" marR="0" lvl="0" indent="0" algn="ctr" defTabSz="232257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rPr>
                <a:t>티웨이 항공사</a:t>
              </a: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F18A5B25-D376-4AAD-A44F-336A912FD029}"/>
                </a:ext>
              </a:extLst>
            </p:cNvPr>
            <p:cNvCxnSpPr>
              <a:cxnSpLocks/>
            </p:cNvCxnSpPr>
            <p:nvPr/>
          </p:nvCxnSpPr>
          <p:spPr>
            <a:xfrm>
              <a:off x="5765096" y="4250481"/>
              <a:ext cx="2270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05324F7D-E665-48DC-94AB-936A07C2C532}"/>
                </a:ext>
              </a:extLst>
            </p:cNvPr>
            <p:cNvCxnSpPr>
              <a:cxnSpLocks/>
            </p:cNvCxnSpPr>
            <p:nvPr/>
          </p:nvCxnSpPr>
          <p:spPr>
            <a:xfrm>
              <a:off x="5765095" y="4185546"/>
              <a:ext cx="2270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다이아몬드 43">
            <a:extLst>
              <a:ext uri="{FF2B5EF4-FFF2-40B4-BE49-F238E27FC236}">
                <a16:creationId xmlns:a16="http://schemas.microsoft.com/office/drawing/2014/main" id="{0080FC68-D646-451D-82D0-240F387E0B34}"/>
              </a:ext>
            </a:extLst>
          </p:cNvPr>
          <p:cNvSpPr/>
          <p:nvPr/>
        </p:nvSpPr>
        <p:spPr>
          <a:xfrm>
            <a:off x="4944944" y="2681831"/>
            <a:ext cx="1575208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입주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1451F-E54C-4777-B7BD-1795983F2DB9}"/>
              </a:ext>
            </a:extLst>
          </p:cNvPr>
          <p:cNvSpPr txBox="1"/>
          <p:nvPr/>
        </p:nvSpPr>
        <p:spPr>
          <a:xfrm>
            <a:off x="7507705" y="547076"/>
            <a:ext cx="435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진 </a:t>
            </a:r>
            <a:r>
              <a:rPr lang="en-US" altLang="ko-KR" dirty="0"/>
              <a:t>1:1 </a:t>
            </a:r>
            <a:r>
              <a:rPr lang="ko-KR" altLang="en-US" dirty="0"/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2789429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63504" y="597873"/>
            <a:ext cx="273183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ER-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릴레이션 사상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AD9F2C-8090-4313-AB23-EF12DC430105}"/>
              </a:ext>
            </a:extLst>
          </p:cNvPr>
          <p:cNvSpPr txBox="1"/>
          <p:nvPr/>
        </p:nvSpPr>
        <p:spPr>
          <a:xfrm>
            <a:off x="704843" y="5279549"/>
            <a:ext cx="7969122" cy="12192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Tway_airline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ceo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airport)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EMPNAME, TITLE, DEPTNAME, MANAGER, SALARY)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graphicFrame>
        <p:nvGraphicFramePr>
          <p:cNvPr id="197" name="표 196">
            <a:extLst>
              <a:ext uri="{FF2B5EF4-FFF2-40B4-BE49-F238E27FC236}">
                <a16:creationId xmlns:a16="http://schemas.microsoft.com/office/drawing/2014/main" id="{5F7273E7-8689-466C-AF94-7F93C24E6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149830"/>
              </p:ext>
            </p:extLst>
          </p:nvPr>
        </p:nvGraphicFramePr>
        <p:xfrm>
          <a:off x="5967305" y="3280555"/>
          <a:ext cx="4891195" cy="819468"/>
        </p:xfrm>
        <a:graphic>
          <a:graphicData uri="http://schemas.openxmlformats.org/drawingml/2006/table">
            <a:tbl>
              <a:tblPr/>
              <a:tblGrid>
                <a:gridCol w="732433">
                  <a:extLst>
                    <a:ext uri="{9D8B030D-6E8A-4147-A177-3AD203B41FA5}">
                      <a16:colId xmlns:a16="http://schemas.microsoft.com/office/drawing/2014/main" val="2907056058"/>
                    </a:ext>
                  </a:extLst>
                </a:gridCol>
                <a:gridCol w="966319">
                  <a:extLst>
                    <a:ext uri="{9D8B030D-6E8A-4147-A177-3AD203B41FA5}">
                      <a16:colId xmlns:a16="http://schemas.microsoft.com/office/drawing/2014/main" val="2980013354"/>
                    </a:ext>
                  </a:extLst>
                </a:gridCol>
                <a:gridCol w="651466">
                  <a:extLst>
                    <a:ext uri="{9D8B030D-6E8A-4147-A177-3AD203B41FA5}">
                      <a16:colId xmlns:a16="http://schemas.microsoft.com/office/drawing/2014/main" val="3341959218"/>
                    </a:ext>
                  </a:extLst>
                </a:gridCol>
                <a:gridCol w="993531">
                  <a:extLst>
                    <a:ext uri="{9D8B030D-6E8A-4147-A177-3AD203B41FA5}">
                      <a16:colId xmlns:a16="http://schemas.microsoft.com/office/drawing/2014/main" val="722208340"/>
                    </a:ext>
                  </a:extLst>
                </a:gridCol>
                <a:gridCol w="817684">
                  <a:extLst>
                    <a:ext uri="{9D8B030D-6E8A-4147-A177-3AD203B41FA5}">
                      <a16:colId xmlns:a16="http://schemas.microsoft.com/office/drawing/2014/main" val="4072740991"/>
                    </a:ext>
                  </a:extLst>
                </a:gridCol>
                <a:gridCol w="729762">
                  <a:extLst>
                    <a:ext uri="{9D8B030D-6E8A-4147-A177-3AD203B41FA5}">
                      <a16:colId xmlns:a16="http://schemas.microsoft.com/office/drawing/2014/main" val="29215955"/>
                    </a:ext>
                  </a:extLst>
                </a:gridCol>
              </a:tblGrid>
              <a:tr h="209550">
                <a:tc gridSpan="5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Tway_EMPLOYEE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46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DEPTNAME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MANGER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SALARY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6663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K1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955574"/>
                  </a:ext>
                </a:extLst>
              </a:tr>
            </a:tbl>
          </a:graphicData>
        </a:graphic>
      </p:graphicFrame>
      <p:graphicFrame>
        <p:nvGraphicFramePr>
          <p:cNvPr id="199" name="표 198">
            <a:extLst>
              <a:ext uri="{FF2B5EF4-FFF2-40B4-BE49-F238E27FC236}">
                <a16:creationId xmlns:a16="http://schemas.microsoft.com/office/drawing/2014/main" id="{CB68AA01-02F0-491F-AE7C-95767DF02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139163"/>
              </p:ext>
            </p:extLst>
          </p:nvPr>
        </p:nvGraphicFramePr>
        <p:xfrm>
          <a:off x="6615802" y="1538350"/>
          <a:ext cx="2058162" cy="777240"/>
        </p:xfrm>
        <a:graphic>
          <a:graphicData uri="http://schemas.openxmlformats.org/drawingml/2006/table">
            <a:tbl>
              <a:tblPr/>
              <a:tblGrid>
                <a:gridCol w="1029081">
                  <a:extLst>
                    <a:ext uri="{9D8B030D-6E8A-4147-A177-3AD203B41FA5}">
                      <a16:colId xmlns:a16="http://schemas.microsoft.com/office/drawing/2014/main" val="1830842277"/>
                    </a:ext>
                  </a:extLst>
                </a:gridCol>
                <a:gridCol w="1029081">
                  <a:extLst>
                    <a:ext uri="{9D8B030D-6E8A-4147-A177-3AD203B41FA5}">
                      <a16:colId xmlns:a16="http://schemas.microsoft.com/office/drawing/2014/main" val="1223495835"/>
                    </a:ext>
                  </a:extLst>
                </a:gridCol>
              </a:tblGrid>
              <a:tr h="209550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Tway_airline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851745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airport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1758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K1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719588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587A8F53-C61A-4E76-99B2-F421C2F63E33}"/>
              </a:ext>
            </a:extLst>
          </p:cNvPr>
          <p:cNvGrpSpPr/>
          <p:nvPr/>
        </p:nvGrpSpPr>
        <p:grpSpPr>
          <a:xfrm>
            <a:off x="2118506" y="876614"/>
            <a:ext cx="3804259" cy="4298329"/>
            <a:chOff x="2118506" y="876614"/>
            <a:chExt cx="3804259" cy="4298329"/>
          </a:xfrm>
        </p:grpSpPr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6E6583D3-D200-49D9-B857-6F93B556C1DD}"/>
                </a:ext>
              </a:extLst>
            </p:cNvPr>
            <p:cNvCxnSpPr>
              <a:cxnSpLocks/>
              <a:stCxn id="121" idx="3"/>
              <a:endCxn id="123" idx="6"/>
            </p:cNvCxnSpPr>
            <p:nvPr/>
          </p:nvCxnSpPr>
          <p:spPr>
            <a:xfrm flipH="1">
              <a:off x="3557661" y="3779098"/>
              <a:ext cx="2127330" cy="3084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C01AFED-BEAE-435A-8922-6888DE1BA54C}"/>
                </a:ext>
              </a:extLst>
            </p:cNvPr>
            <p:cNvCxnSpPr>
              <a:cxnSpLocks/>
              <a:stCxn id="121" idx="1"/>
              <a:endCxn id="126" idx="6"/>
            </p:cNvCxnSpPr>
            <p:nvPr/>
          </p:nvCxnSpPr>
          <p:spPr>
            <a:xfrm flipH="1" flipV="1">
              <a:off x="3517396" y="3502864"/>
              <a:ext cx="931093" cy="2762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A576EAF8-AD64-486B-8D4B-9047BD0C0683}"/>
                </a:ext>
              </a:extLst>
            </p:cNvPr>
            <p:cNvCxnSpPr>
              <a:cxnSpLocks/>
              <a:stCxn id="121" idx="0"/>
              <a:endCxn id="128" idx="4"/>
            </p:cNvCxnSpPr>
            <p:nvPr/>
          </p:nvCxnSpPr>
          <p:spPr>
            <a:xfrm flipH="1">
              <a:off x="3308129" y="3556789"/>
              <a:ext cx="1758611" cy="16120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05948FB7-125C-4695-AC7C-4AA3EA9EAA08}"/>
                </a:ext>
              </a:extLst>
            </p:cNvPr>
            <p:cNvCxnSpPr>
              <a:cxnSpLocks/>
              <a:stCxn id="121" idx="2"/>
              <a:endCxn id="131" idx="0"/>
            </p:cNvCxnSpPr>
            <p:nvPr/>
          </p:nvCxnSpPr>
          <p:spPr>
            <a:xfrm flipH="1">
              <a:off x="5058117" y="4001406"/>
              <a:ext cx="8623" cy="7289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346EB8E3-5655-4E98-9A70-531E342E0806}"/>
                </a:ext>
              </a:extLst>
            </p:cNvPr>
            <p:cNvCxnSpPr>
              <a:cxnSpLocks/>
              <a:stCxn id="121" idx="2"/>
              <a:endCxn id="136" idx="5"/>
            </p:cNvCxnSpPr>
            <p:nvPr/>
          </p:nvCxnSpPr>
          <p:spPr>
            <a:xfrm flipH="1" flipV="1">
              <a:off x="3457438" y="3017103"/>
              <a:ext cx="1609302" cy="9843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C1FAC141-80FD-42FD-8D3D-F46FC3622C71}"/>
                </a:ext>
              </a:extLst>
            </p:cNvPr>
            <p:cNvSpPr/>
            <p:nvPr/>
          </p:nvSpPr>
          <p:spPr>
            <a:xfrm>
              <a:off x="4542956" y="1649139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/>
                <a:t>티웨이 항공사</a:t>
              </a:r>
            </a:p>
          </p:txBody>
        </p: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A4211619-EEC1-44A4-BB8D-DA4A1B5AC87F}"/>
                </a:ext>
              </a:extLst>
            </p:cNvPr>
            <p:cNvCxnSpPr>
              <a:cxnSpLocks/>
              <a:stCxn id="113" idx="1"/>
              <a:endCxn id="115" idx="6"/>
            </p:cNvCxnSpPr>
            <p:nvPr/>
          </p:nvCxnSpPr>
          <p:spPr>
            <a:xfrm flipH="1">
              <a:off x="4224959" y="1993088"/>
              <a:ext cx="317997" cy="2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23DE58FE-C3C4-4CFF-B0BA-2C2063B02CCE}"/>
                </a:ext>
              </a:extLst>
            </p:cNvPr>
            <p:cNvSpPr/>
            <p:nvPr/>
          </p:nvSpPr>
          <p:spPr>
            <a:xfrm>
              <a:off x="2471658" y="1771067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>
                  <a:solidFill>
                    <a:schemeClr val="tx1"/>
                  </a:solidFill>
                </a:rPr>
                <a:t>공항이름</a:t>
              </a: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B4B0EEEE-7CDE-413F-8551-D76F1171E875}"/>
                </a:ext>
              </a:extLst>
            </p:cNvPr>
            <p:cNvCxnSpPr>
              <a:stCxn id="113" idx="0"/>
              <a:endCxn id="117" idx="4"/>
            </p:cNvCxnSpPr>
            <p:nvPr/>
          </p:nvCxnSpPr>
          <p:spPr>
            <a:xfrm flipH="1" flipV="1">
              <a:off x="5058117" y="1321231"/>
              <a:ext cx="1461" cy="3279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0C693283-5FBE-45C7-BDF7-0F051A836AEB}"/>
                </a:ext>
              </a:extLst>
            </p:cNvPr>
            <p:cNvSpPr/>
            <p:nvPr/>
          </p:nvSpPr>
          <p:spPr>
            <a:xfrm>
              <a:off x="4397134" y="87661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경영자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3BA7D096-C357-4AF3-A79F-A2A7A1EFBE07}"/>
                </a:ext>
              </a:extLst>
            </p:cNvPr>
            <p:cNvCxnSpPr>
              <a:cxnSpLocks/>
              <a:stCxn id="113" idx="2"/>
              <a:endCxn id="121" idx="0"/>
            </p:cNvCxnSpPr>
            <p:nvPr/>
          </p:nvCxnSpPr>
          <p:spPr>
            <a:xfrm>
              <a:off x="5059578" y="2337037"/>
              <a:ext cx="7162" cy="121975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7EB035F2-3198-488C-A59F-793BB88D5E7F}"/>
                </a:ext>
              </a:extLst>
            </p:cNvPr>
            <p:cNvSpPr/>
            <p:nvPr/>
          </p:nvSpPr>
          <p:spPr>
            <a:xfrm>
              <a:off x="4448489" y="3556789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/>
                <a:t>직원</a:t>
              </a:r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014FC075-8EA6-4EB9-88BC-D62EA6A32F58}"/>
                </a:ext>
              </a:extLst>
            </p:cNvPr>
            <p:cNvSpPr/>
            <p:nvPr/>
          </p:nvSpPr>
          <p:spPr>
            <a:xfrm>
              <a:off x="2118506" y="3865251"/>
              <a:ext cx="143915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직원 번호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75E46A55-DE9B-48C0-B0CE-46EE165A8643}"/>
                </a:ext>
              </a:extLst>
            </p:cNvPr>
            <p:cNvCxnSpPr/>
            <p:nvPr/>
          </p:nvCxnSpPr>
          <p:spPr>
            <a:xfrm>
              <a:off x="2460413" y="4231523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8A298DB1-6878-4ACE-A7F6-04BFEC1AF4BC}"/>
                </a:ext>
              </a:extLst>
            </p:cNvPr>
            <p:cNvSpPr/>
            <p:nvPr/>
          </p:nvSpPr>
          <p:spPr>
            <a:xfrm>
              <a:off x="2195430" y="3280555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급여</a:t>
              </a: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9B0003B9-B090-4770-B999-CF07050404C0}"/>
                </a:ext>
              </a:extLst>
            </p:cNvPr>
            <p:cNvSpPr/>
            <p:nvPr/>
          </p:nvSpPr>
          <p:spPr>
            <a:xfrm>
              <a:off x="2647146" y="4724236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직책</a:t>
              </a:r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C684F35C-CAC7-4DE8-97DE-34B7C15C1FB7}"/>
                </a:ext>
              </a:extLst>
            </p:cNvPr>
            <p:cNvCxnSpPr/>
            <p:nvPr/>
          </p:nvCxnSpPr>
          <p:spPr>
            <a:xfrm>
              <a:off x="4675972" y="1225872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1AC651E7-CA39-45B2-8333-001C95A735EA}"/>
                </a:ext>
              </a:extLst>
            </p:cNvPr>
            <p:cNvSpPr/>
            <p:nvPr/>
          </p:nvSpPr>
          <p:spPr>
            <a:xfrm>
              <a:off x="4397134" y="4730326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관리자</a:t>
              </a:r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41EB6D44-58C9-40B8-96DB-037B1A441D29}"/>
                </a:ext>
              </a:extLst>
            </p:cNvPr>
            <p:cNvSpPr/>
            <p:nvPr/>
          </p:nvSpPr>
          <p:spPr>
            <a:xfrm>
              <a:off x="2184606" y="2637599"/>
              <a:ext cx="149121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/>
                <a:t>부서</a:t>
              </a:r>
            </a:p>
          </p:txBody>
        </p:sp>
        <p:sp>
          <p:nvSpPr>
            <p:cNvPr id="202" name="다이아몬드 201">
              <a:extLst>
                <a:ext uri="{FF2B5EF4-FFF2-40B4-BE49-F238E27FC236}">
                  <a16:creationId xmlns:a16="http://schemas.microsoft.com/office/drawing/2014/main" id="{F60CD119-1902-4A6E-B578-FD3EC6512023}"/>
                </a:ext>
              </a:extLst>
            </p:cNvPr>
            <p:cNvSpPr/>
            <p:nvPr/>
          </p:nvSpPr>
          <p:spPr>
            <a:xfrm>
              <a:off x="4210715" y="2580657"/>
              <a:ext cx="1712050" cy="746621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/>
                <a:t>채용</a:t>
              </a:r>
            </a:p>
          </p:txBody>
        </p: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41F586E-8AA6-4AD1-865F-90B1F1D2C950}"/>
                </a:ext>
              </a:extLst>
            </p:cNvPr>
            <p:cNvCxnSpPr/>
            <p:nvPr/>
          </p:nvCxnSpPr>
          <p:spPr>
            <a:xfrm>
              <a:off x="4911078" y="3402419"/>
              <a:ext cx="33259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A3748DE3-EC2C-411D-BD7A-D207A5FBC593}"/>
                </a:ext>
              </a:extLst>
            </p:cNvPr>
            <p:cNvCxnSpPr>
              <a:cxnSpLocks/>
            </p:cNvCxnSpPr>
            <p:nvPr/>
          </p:nvCxnSpPr>
          <p:spPr>
            <a:xfrm>
              <a:off x="5066740" y="3402419"/>
              <a:ext cx="176928" cy="154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5C255C46-A583-456B-B34D-A4E59BDBB4A7}"/>
                </a:ext>
              </a:extLst>
            </p:cNvPr>
            <p:cNvCxnSpPr/>
            <p:nvPr/>
          </p:nvCxnSpPr>
          <p:spPr>
            <a:xfrm flipH="1">
              <a:off x="4911078" y="3402419"/>
              <a:ext cx="155662" cy="154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B8C70C48-648F-44AC-A009-AE1E7D3C350C}"/>
                </a:ext>
              </a:extLst>
            </p:cNvPr>
            <p:cNvSpPr/>
            <p:nvPr/>
          </p:nvSpPr>
          <p:spPr>
            <a:xfrm>
              <a:off x="4973964" y="2415243"/>
              <a:ext cx="185551" cy="9718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94FA3179-894F-4124-856C-16DF55EBF23E}"/>
                </a:ext>
              </a:extLst>
            </p:cNvPr>
            <p:cNvCxnSpPr/>
            <p:nvPr/>
          </p:nvCxnSpPr>
          <p:spPr>
            <a:xfrm>
              <a:off x="4942234" y="2383344"/>
              <a:ext cx="2413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9C7D3C2B-4319-439A-8682-5092CF1DAC33}"/>
              </a:ext>
            </a:extLst>
          </p:cNvPr>
          <p:cNvSpPr txBox="1"/>
          <p:nvPr/>
        </p:nvSpPr>
        <p:spPr>
          <a:xfrm>
            <a:off x="7507705" y="547076"/>
            <a:ext cx="435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진 </a:t>
            </a:r>
            <a:r>
              <a:rPr lang="en-US" altLang="ko-KR" dirty="0"/>
              <a:t>1:N </a:t>
            </a:r>
            <a:r>
              <a:rPr lang="ko-KR" altLang="en-US" dirty="0"/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413427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CA806DCE-42DB-4C16-8874-78B474A2A281}"/>
              </a:ext>
            </a:extLst>
          </p:cNvPr>
          <p:cNvCxnSpPr>
            <a:cxnSpLocks/>
          </p:cNvCxnSpPr>
          <p:nvPr/>
        </p:nvCxnSpPr>
        <p:spPr>
          <a:xfrm>
            <a:off x="5174563" y="4053507"/>
            <a:ext cx="109615" cy="168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2775E58E-CF2B-4E5F-B680-67B1BD1F796D}"/>
              </a:ext>
            </a:extLst>
          </p:cNvPr>
          <p:cNvCxnSpPr/>
          <p:nvPr/>
        </p:nvCxnSpPr>
        <p:spPr>
          <a:xfrm flipV="1">
            <a:off x="5663452" y="1233544"/>
            <a:ext cx="933189" cy="14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A212F2E7-9B59-4F16-BD9E-C4AF175E7533}"/>
              </a:ext>
            </a:extLst>
          </p:cNvPr>
          <p:cNvCxnSpPr>
            <a:cxnSpLocks/>
            <a:endCxn id="130" idx="4"/>
          </p:cNvCxnSpPr>
          <p:nvPr/>
        </p:nvCxnSpPr>
        <p:spPr>
          <a:xfrm flipV="1">
            <a:off x="5380045" y="493152"/>
            <a:ext cx="657540" cy="6324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E8CFA05C-5934-4A2E-994A-A17B0559E36F}"/>
              </a:ext>
            </a:extLst>
          </p:cNvPr>
          <p:cNvCxnSpPr/>
          <p:nvPr/>
        </p:nvCxnSpPr>
        <p:spPr>
          <a:xfrm flipV="1">
            <a:off x="3888047" y="1243299"/>
            <a:ext cx="933189" cy="14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87150" y="148532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AD9F2C-8090-4313-AB23-EF12DC430105}"/>
              </a:ext>
            </a:extLst>
          </p:cNvPr>
          <p:cNvSpPr txBox="1"/>
          <p:nvPr/>
        </p:nvSpPr>
        <p:spPr>
          <a:xfrm>
            <a:off x="945066" y="5437599"/>
            <a:ext cx="10736499" cy="161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item_rv_NO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item_name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price, quantity,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item_sold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R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Customer(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passport_no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,name,id,food_rv_num,airplane_rv_num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dutyfreeitem_rv_num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</a:p>
          <a:p>
            <a:pPr marR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Airticket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res_no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airplane,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arrive_where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	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destination,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seat_num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seat_class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arrvie_date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price)</a:t>
            </a:r>
          </a:p>
          <a:p>
            <a:pPr algn="just" fontAlgn="base">
              <a:lnSpc>
                <a:spcPct val="120000"/>
              </a:lnSpc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Airplanefood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	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foodRvNum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food_num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order_date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price, quantity, </a:t>
            </a: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food_sold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C19F9B5-91A7-4BE7-8EBA-44EC346065AA}"/>
              </a:ext>
            </a:extLst>
          </p:cNvPr>
          <p:cNvSpPr/>
          <p:nvPr/>
        </p:nvSpPr>
        <p:spPr>
          <a:xfrm>
            <a:off x="4539111" y="991206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소비자</a:t>
            </a: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C57C46EC-B218-4EC2-82DF-2C4F720B124A}"/>
              </a:ext>
            </a:extLst>
          </p:cNvPr>
          <p:cNvGrpSpPr/>
          <p:nvPr/>
        </p:nvGrpSpPr>
        <p:grpSpPr>
          <a:xfrm>
            <a:off x="3796265" y="91838"/>
            <a:ext cx="1536192" cy="444617"/>
            <a:chOff x="9413889" y="2615453"/>
            <a:chExt cx="1536192" cy="444617"/>
          </a:xfrm>
        </p:grpSpPr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E3D6B7DA-3D5A-445A-8A59-235DD3178E0E}"/>
                </a:ext>
              </a:extLst>
            </p:cNvPr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여권 번호</a:t>
              </a:r>
            </a:p>
          </p:txBody>
        </p: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00C27608-A9CA-4F01-8AC3-E10756272490}"/>
                </a:ext>
              </a:extLst>
            </p:cNvPr>
            <p:cNvCxnSpPr/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800C64A2-DC3E-43CF-AEA0-A0875A53BD8C}"/>
              </a:ext>
            </a:extLst>
          </p:cNvPr>
          <p:cNvCxnSpPr>
            <a:cxnSpLocks/>
            <a:stCxn id="126" idx="4"/>
            <a:endCxn id="124" idx="0"/>
          </p:cNvCxnSpPr>
          <p:nvPr/>
        </p:nvCxnSpPr>
        <p:spPr>
          <a:xfrm>
            <a:off x="4564361" y="536455"/>
            <a:ext cx="593001" cy="4547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타원 129">
            <a:extLst>
              <a:ext uri="{FF2B5EF4-FFF2-40B4-BE49-F238E27FC236}">
                <a16:creationId xmlns:a16="http://schemas.microsoft.com/office/drawing/2014/main" id="{96C80236-3C22-4880-A023-BB63552D9F32}"/>
              </a:ext>
            </a:extLst>
          </p:cNvPr>
          <p:cNvSpPr/>
          <p:nvPr/>
        </p:nvSpPr>
        <p:spPr>
          <a:xfrm>
            <a:off x="5376602" y="48535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이름</a:t>
            </a: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6FEF6B3C-7136-4A9A-98DD-45C6B0BD1535}"/>
              </a:ext>
            </a:extLst>
          </p:cNvPr>
          <p:cNvCxnSpPr>
            <a:cxnSpLocks/>
            <a:stCxn id="124" idx="1"/>
            <a:endCxn id="132" idx="5"/>
          </p:cNvCxnSpPr>
          <p:nvPr/>
        </p:nvCxnSpPr>
        <p:spPr>
          <a:xfrm flipH="1" flipV="1">
            <a:off x="3608434" y="585380"/>
            <a:ext cx="930677" cy="6281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타원 131">
            <a:extLst>
              <a:ext uri="{FF2B5EF4-FFF2-40B4-BE49-F238E27FC236}">
                <a16:creationId xmlns:a16="http://schemas.microsoft.com/office/drawing/2014/main" id="{F864D823-5B91-437B-96AA-CE70391122F7}"/>
              </a:ext>
            </a:extLst>
          </p:cNvPr>
          <p:cNvSpPr/>
          <p:nvPr/>
        </p:nvSpPr>
        <p:spPr>
          <a:xfrm>
            <a:off x="2938207" y="205876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/>
              <a:t>ID</a:t>
            </a:r>
            <a:endParaRPr lang="ko-KR" altLang="en-US" sz="1400"/>
          </a:p>
        </p:txBody>
      </p: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9D7FDDEE-8FAA-41E7-937D-7A390CCAB9C2}"/>
              </a:ext>
            </a:extLst>
          </p:cNvPr>
          <p:cNvCxnSpPr>
            <a:cxnSpLocks/>
            <a:stCxn id="134" idx="3"/>
            <a:endCxn id="144" idx="2"/>
          </p:cNvCxnSpPr>
          <p:nvPr/>
        </p:nvCxnSpPr>
        <p:spPr>
          <a:xfrm>
            <a:off x="9617596" y="2667103"/>
            <a:ext cx="922194" cy="4219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CEC4FAB8-2703-4D8D-A519-6DC445B9FB20}"/>
              </a:ext>
            </a:extLst>
          </p:cNvPr>
          <p:cNvSpPr/>
          <p:nvPr/>
        </p:nvSpPr>
        <p:spPr>
          <a:xfrm>
            <a:off x="8381094" y="2388861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항공권</a:t>
            </a: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7AAE999A-EC65-419C-8245-44E7B1AB62CB}"/>
              </a:ext>
            </a:extLst>
          </p:cNvPr>
          <p:cNvCxnSpPr>
            <a:cxnSpLocks/>
            <a:stCxn id="134" idx="3"/>
            <a:endCxn id="141" idx="3"/>
          </p:cNvCxnSpPr>
          <p:nvPr/>
        </p:nvCxnSpPr>
        <p:spPr>
          <a:xfrm flipV="1">
            <a:off x="9617596" y="1700865"/>
            <a:ext cx="1375615" cy="9662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B93875CE-63D2-4AE8-B38D-8DB1404DA921}"/>
              </a:ext>
            </a:extLst>
          </p:cNvPr>
          <p:cNvCxnSpPr>
            <a:cxnSpLocks/>
            <a:stCxn id="134" idx="3"/>
            <a:endCxn id="142" idx="3"/>
          </p:cNvCxnSpPr>
          <p:nvPr/>
        </p:nvCxnSpPr>
        <p:spPr>
          <a:xfrm flipV="1">
            <a:off x="9617596" y="2223744"/>
            <a:ext cx="1216004" cy="4433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45E50AE5-5C91-4D1B-BFE2-6C61B1863371}"/>
              </a:ext>
            </a:extLst>
          </p:cNvPr>
          <p:cNvCxnSpPr>
            <a:cxnSpLocks/>
            <a:stCxn id="143" idx="4"/>
            <a:endCxn id="134" idx="0"/>
          </p:cNvCxnSpPr>
          <p:nvPr/>
        </p:nvCxnSpPr>
        <p:spPr>
          <a:xfrm>
            <a:off x="8878856" y="1228007"/>
            <a:ext cx="120489" cy="11608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85E09B40-D7D5-4F13-9982-7378CC5D72C6}"/>
              </a:ext>
            </a:extLst>
          </p:cNvPr>
          <p:cNvCxnSpPr>
            <a:cxnSpLocks/>
            <a:stCxn id="134" idx="0"/>
            <a:endCxn id="145" idx="4"/>
          </p:cNvCxnSpPr>
          <p:nvPr/>
        </p:nvCxnSpPr>
        <p:spPr>
          <a:xfrm flipV="1">
            <a:off x="8999345" y="637520"/>
            <a:ext cx="979181" cy="17513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124F6019-6B07-4736-B3C3-5EC4A8ACCC74}"/>
              </a:ext>
            </a:extLst>
          </p:cNvPr>
          <p:cNvCxnSpPr>
            <a:cxnSpLocks/>
            <a:stCxn id="134" idx="0"/>
            <a:endCxn id="147" idx="3"/>
          </p:cNvCxnSpPr>
          <p:nvPr/>
        </p:nvCxnSpPr>
        <p:spPr>
          <a:xfrm flipV="1">
            <a:off x="8999345" y="537309"/>
            <a:ext cx="1941815" cy="18515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C41A30BB-9CA9-43E0-92E4-40FD67B31AAE}"/>
              </a:ext>
            </a:extLst>
          </p:cNvPr>
          <p:cNvCxnSpPr>
            <a:cxnSpLocks/>
            <a:stCxn id="134" idx="0"/>
            <a:endCxn id="146" idx="4"/>
          </p:cNvCxnSpPr>
          <p:nvPr/>
        </p:nvCxnSpPr>
        <p:spPr>
          <a:xfrm flipV="1">
            <a:off x="8999345" y="1125426"/>
            <a:ext cx="2261521" cy="12634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타원 140">
            <a:extLst>
              <a:ext uri="{FF2B5EF4-FFF2-40B4-BE49-F238E27FC236}">
                <a16:creationId xmlns:a16="http://schemas.microsoft.com/office/drawing/2014/main" id="{7670976D-E88D-4731-94CF-F97C2C5A6E40}"/>
              </a:ext>
            </a:extLst>
          </p:cNvPr>
          <p:cNvSpPr/>
          <p:nvPr/>
        </p:nvSpPr>
        <p:spPr>
          <a:xfrm>
            <a:off x="10831284" y="1321361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도착지</a:t>
            </a: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79B206F9-70C4-40AF-AE3C-1C283FA39ABF}"/>
              </a:ext>
            </a:extLst>
          </p:cNvPr>
          <p:cNvSpPr/>
          <p:nvPr/>
        </p:nvSpPr>
        <p:spPr>
          <a:xfrm>
            <a:off x="10617979" y="1844240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출발지</a:t>
            </a:r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DE4DB4EE-4092-40D1-ABC8-E4D89EE97995}"/>
              </a:ext>
            </a:extLst>
          </p:cNvPr>
          <p:cNvSpPr/>
          <p:nvPr/>
        </p:nvSpPr>
        <p:spPr>
          <a:xfrm>
            <a:off x="8071280" y="783390"/>
            <a:ext cx="161515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rgbClr val="00B050"/>
                </a:solidFill>
              </a:rPr>
              <a:t>항공기 번호</a:t>
            </a: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559232AF-06A3-48E9-B939-5DF4FCB8E356}"/>
              </a:ext>
            </a:extLst>
          </p:cNvPr>
          <p:cNvSpPr/>
          <p:nvPr/>
        </p:nvSpPr>
        <p:spPr>
          <a:xfrm>
            <a:off x="9291051" y="192903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좌석 번호</a:t>
            </a: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727DD82F-51AB-4E9A-9EF3-E1F0FE767708}"/>
              </a:ext>
            </a:extLst>
          </p:cNvPr>
          <p:cNvSpPr/>
          <p:nvPr/>
        </p:nvSpPr>
        <p:spPr>
          <a:xfrm>
            <a:off x="10584738" y="680809"/>
            <a:ext cx="135225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좌석 등급</a:t>
            </a: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E0AA7E12-253F-4DEF-9F24-A232AA9DC474}"/>
              </a:ext>
            </a:extLst>
          </p:cNvPr>
          <p:cNvSpPr/>
          <p:nvPr/>
        </p:nvSpPr>
        <p:spPr>
          <a:xfrm>
            <a:off x="10826167" y="157805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/>
              <a:t>날짜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537469-40DB-445B-A29C-DFE6E8F24551}"/>
              </a:ext>
            </a:extLst>
          </p:cNvPr>
          <p:cNvGrpSpPr/>
          <p:nvPr/>
        </p:nvGrpSpPr>
        <p:grpSpPr>
          <a:xfrm>
            <a:off x="10539790" y="2866740"/>
            <a:ext cx="1429622" cy="444617"/>
            <a:chOff x="7521443" y="4982791"/>
            <a:chExt cx="1429622" cy="444617"/>
          </a:xfrm>
        </p:grpSpPr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E2F7AF9F-05D8-4C8D-9C0C-E1EBDC651E64}"/>
                </a:ext>
              </a:extLst>
            </p:cNvPr>
            <p:cNvSpPr/>
            <p:nvPr/>
          </p:nvSpPr>
          <p:spPr>
            <a:xfrm>
              <a:off x="7521443" y="4982791"/>
              <a:ext cx="142962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예약 번호</a:t>
              </a:r>
            </a:p>
          </p:txBody>
        </p: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D7AB76C-6CCB-4514-BB4F-CCE1C12638F6}"/>
                </a:ext>
              </a:extLst>
            </p:cNvPr>
            <p:cNvCxnSpPr/>
            <p:nvPr/>
          </p:nvCxnSpPr>
          <p:spPr>
            <a:xfrm>
              <a:off x="7888534" y="5326571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3A377794-75F4-44AF-BF4A-5E5D5F2158AC}"/>
              </a:ext>
            </a:extLst>
          </p:cNvPr>
          <p:cNvCxnSpPr>
            <a:cxnSpLocks/>
            <a:stCxn id="124" idx="2"/>
            <a:endCxn id="150" idx="0"/>
          </p:cNvCxnSpPr>
          <p:nvPr/>
        </p:nvCxnSpPr>
        <p:spPr>
          <a:xfrm>
            <a:off x="5157362" y="1435823"/>
            <a:ext cx="9162" cy="8579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다이아몬드 149">
            <a:extLst>
              <a:ext uri="{FF2B5EF4-FFF2-40B4-BE49-F238E27FC236}">
                <a16:creationId xmlns:a16="http://schemas.microsoft.com/office/drawing/2014/main" id="{50B92C83-770D-40E7-8C23-9A707A30D086}"/>
              </a:ext>
            </a:extLst>
          </p:cNvPr>
          <p:cNvSpPr/>
          <p:nvPr/>
        </p:nvSpPr>
        <p:spPr>
          <a:xfrm>
            <a:off x="4354642" y="2293793"/>
            <a:ext cx="1623763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구매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0D5302C5-F6E5-47B6-9A7E-498BD3BAEC66}"/>
              </a:ext>
            </a:extLst>
          </p:cNvPr>
          <p:cNvSpPr/>
          <p:nvPr/>
        </p:nvSpPr>
        <p:spPr>
          <a:xfrm>
            <a:off x="2099729" y="2444795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면세 상품</a:t>
            </a: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D9D3D9DE-29E2-44AA-B362-F39471D38213}"/>
              </a:ext>
            </a:extLst>
          </p:cNvPr>
          <p:cNvCxnSpPr>
            <a:cxnSpLocks/>
            <a:stCxn id="150" idx="1"/>
            <a:endCxn id="151" idx="3"/>
          </p:cNvCxnSpPr>
          <p:nvPr/>
        </p:nvCxnSpPr>
        <p:spPr>
          <a:xfrm flipH="1">
            <a:off x="3336231" y="2667104"/>
            <a:ext cx="10184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828C86F8-B043-4D54-A983-76F875B6512E}"/>
              </a:ext>
            </a:extLst>
          </p:cNvPr>
          <p:cNvCxnSpPr>
            <a:cxnSpLocks/>
            <a:stCxn id="150" idx="2"/>
            <a:endCxn id="154" idx="0"/>
          </p:cNvCxnSpPr>
          <p:nvPr/>
        </p:nvCxnSpPr>
        <p:spPr>
          <a:xfrm>
            <a:off x="5166524" y="3040414"/>
            <a:ext cx="0" cy="11542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68EE0E7E-A58B-46AC-A2EF-9A75032F505C}"/>
              </a:ext>
            </a:extLst>
          </p:cNvPr>
          <p:cNvSpPr/>
          <p:nvPr/>
        </p:nvSpPr>
        <p:spPr>
          <a:xfrm>
            <a:off x="4548273" y="4194622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/>
              <a:t>기내식</a:t>
            </a: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94BBDBE0-14AE-4927-B457-9074E7BDD6A4}"/>
              </a:ext>
            </a:extLst>
          </p:cNvPr>
          <p:cNvCxnSpPr>
            <a:cxnSpLocks/>
            <a:stCxn id="154" idx="2"/>
            <a:endCxn id="156" idx="0"/>
          </p:cNvCxnSpPr>
          <p:nvPr/>
        </p:nvCxnSpPr>
        <p:spPr>
          <a:xfrm flipH="1">
            <a:off x="4914316" y="4639239"/>
            <a:ext cx="252208" cy="3192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A70E154A-2727-41C4-80EC-6A346EC8879B}"/>
              </a:ext>
            </a:extLst>
          </p:cNvPr>
          <p:cNvCxnSpPr>
            <a:cxnSpLocks/>
            <a:stCxn id="151" idx="1"/>
            <a:endCxn id="159" idx="6"/>
          </p:cNvCxnSpPr>
          <p:nvPr/>
        </p:nvCxnSpPr>
        <p:spPr>
          <a:xfrm flipH="1" flipV="1">
            <a:off x="1763430" y="2657276"/>
            <a:ext cx="336299" cy="9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77AA4ED4-6941-41D4-9449-8D5EA500456D}"/>
              </a:ext>
            </a:extLst>
          </p:cNvPr>
          <p:cNvGrpSpPr/>
          <p:nvPr/>
        </p:nvGrpSpPr>
        <p:grpSpPr>
          <a:xfrm>
            <a:off x="366592" y="2434967"/>
            <a:ext cx="1396838" cy="444618"/>
            <a:chOff x="395061" y="4140377"/>
            <a:chExt cx="1396838" cy="444618"/>
          </a:xfrm>
        </p:grpSpPr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2A9FBF06-3460-4110-95B2-03E99192C5B8}"/>
                </a:ext>
              </a:extLst>
            </p:cNvPr>
            <p:cNvSpPr/>
            <p:nvPr/>
          </p:nvSpPr>
          <p:spPr>
            <a:xfrm>
              <a:off x="395061" y="4140377"/>
              <a:ext cx="1396838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상품 번호</a:t>
              </a:r>
              <a:endParaRPr lang="ko-KR" altLang="en-US" sz="1400" dirty="0"/>
            </a:p>
          </p:txBody>
        </p: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F4CA59DC-6C38-4011-8D5D-6F122510E137}"/>
                </a:ext>
              </a:extLst>
            </p:cNvPr>
            <p:cNvCxnSpPr/>
            <p:nvPr/>
          </p:nvCxnSpPr>
          <p:spPr>
            <a:xfrm>
              <a:off x="591538" y="4494309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D3563473-FF1A-4144-B0F5-BAD4FFBA9528}"/>
              </a:ext>
            </a:extLst>
          </p:cNvPr>
          <p:cNvCxnSpPr>
            <a:cxnSpLocks/>
            <a:stCxn id="151" idx="0"/>
            <a:endCxn id="162" idx="5"/>
          </p:cNvCxnSpPr>
          <p:nvPr/>
        </p:nvCxnSpPr>
        <p:spPr>
          <a:xfrm flipH="1" flipV="1">
            <a:off x="1466169" y="2205262"/>
            <a:ext cx="1251811" cy="239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타원 161">
            <a:extLst>
              <a:ext uri="{FF2B5EF4-FFF2-40B4-BE49-F238E27FC236}">
                <a16:creationId xmlns:a16="http://schemas.microsoft.com/office/drawing/2014/main" id="{ACFF38DC-EF4D-41E8-B47E-7E796C841777}"/>
              </a:ext>
            </a:extLst>
          </p:cNvPr>
          <p:cNvSpPr/>
          <p:nvPr/>
        </p:nvSpPr>
        <p:spPr>
          <a:xfrm>
            <a:off x="-8884" y="1825757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면세품 명칭</a:t>
            </a:r>
          </a:p>
        </p:txBody>
      </p: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65324735-C2F1-42D9-942D-07F35E1C8670}"/>
              </a:ext>
            </a:extLst>
          </p:cNvPr>
          <p:cNvCxnSpPr>
            <a:cxnSpLocks/>
            <a:stCxn id="154" idx="2"/>
            <a:endCxn id="164" idx="0"/>
          </p:cNvCxnSpPr>
          <p:nvPr/>
        </p:nvCxnSpPr>
        <p:spPr>
          <a:xfrm flipH="1">
            <a:off x="3394526" y="4639239"/>
            <a:ext cx="1771998" cy="3439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타원 163">
            <a:extLst>
              <a:ext uri="{FF2B5EF4-FFF2-40B4-BE49-F238E27FC236}">
                <a16:creationId xmlns:a16="http://schemas.microsoft.com/office/drawing/2014/main" id="{473768EC-06B1-40D4-84DD-A23ECDDBBC7C}"/>
              </a:ext>
            </a:extLst>
          </p:cNvPr>
          <p:cNvSpPr/>
          <p:nvPr/>
        </p:nvSpPr>
        <p:spPr>
          <a:xfrm>
            <a:off x="2530460" y="4983230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음식 이름</a:t>
            </a:r>
          </a:p>
        </p:txBody>
      </p: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240EF47A-A7A6-4339-8FAC-5F6E777FD83D}"/>
              </a:ext>
            </a:extLst>
          </p:cNvPr>
          <p:cNvCxnSpPr>
            <a:cxnSpLocks/>
            <a:stCxn id="154" idx="1"/>
            <a:endCxn id="166" idx="6"/>
          </p:cNvCxnSpPr>
          <p:nvPr/>
        </p:nvCxnSpPr>
        <p:spPr>
          <a:xfrm flipH="1">
            <a:off x="2639514" y="4416931"/>
            <a:ext cx="1908759" cy="87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타원 165">
            <a:extLst>
              <a:ext uri="{FF2B5EF4-FFF2-40B4-BE49-F238E27FC236}">
                <a16:creationId xmlns:a16="http://schemas.microsoft.com/office/drawing/2014/main" id="{F8541603-EC1F-492F-BC13-753FF9B49BD8}"/>
              </a:ext>
            </a:extLst>
          </p:cNvPr>
          <p:cNvSpPr/>
          <p:nvPr/>
        </p:nvSpPr>
        <p:spPr>
          <a:xfrm>
            <a:off x="911382" y="4281831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날짜</a:t>
            </a: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10DE8B74-E175-40F0-A13A-019D900EDF37}"/>
              </a:ext>
            </a:extLst>
          </p:cNvPr>
          <p:cNvCxnSpPr>
            <a:cxnSpLocks/>
            <a:stCxn id="150" idx="3"/>
            <a:endCxn id="134" idx="1"/>
          </p:cNvCxnSpPr>
          <p:nvPr/>
        </p:nvCxnSpPr>
        <p:spPr>
          <a:xfrm flipV="1">
            <a:off x="5978405" y="2667103"/>
            <a:ext cx="240268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타원 169">
            <a:extLst>
              <a:ext uri="{FF2B5EF4-FFF2-40B4-BE49-F238E27FC236}">
                <a16:creationId xmlns:a16="http://schemas.microsoft.com/office/drawing/2014/main" id="{291A491D-C4E8-47A5-944A-E649AA363C99}"/>
              </a:ext>
            </a:extLst>
          </p:cNvPr>
          <p:cNvSpPr/>
          <p:nvPr/>
        </p:nvSpPr>
        <p:spPr>
          <a:xfrm>
            <a:off x="6089039" y="4441490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</a:rPr>
              <a:t>가격</a:t>
            </a:r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45251D7C-9E2B-4B0E-9EE6-C056BDAC68BD}"/>
              </a:ext>
            </a:extLst>
          </p:cNvPr>
          <p:cNvCxnSpPr>
            <a:cxnSpLocks/>
            <a:stCxn id="154" idx="3"/>
            <a:endCxn id="170" idx="1"/>
          </p:cNvCxnSpPr>
          <p:nvPr/>
        </p:nvCxnSpPr>
        <p:spPr>
          <a:xfrm>
            <a:off x="5784775" y="4416931"/>
            <a:ext cx="505621" cy="896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C549936-8631-4D8C-A794-1B72F261C5DD}"/>
              </a:ext>
            </a:extLst>
          </p:cNvPr>
          <p:cNvGrpSpPr/>
          <p:nvPr/>
        </p:nvGrpSpPr>
        <p:grpSpPr>
          <a:xfrm>
            <a:off x="4253333" y="4958509"/>
            <a:ext cx="1321966" cy="444617"/>
            <a:chOff x="4181456" y="4863389"/>
            <a:chExt cx="1321966" cy="444617"/>
          </a:xfrm>
        </p:grpSpPr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8CED5DD5-FB0A-4BEA-9F20-76B73ED4B910}"/>
                </a:ext>
              </a:extLst>
            </p:cNvPr>
            <p:cNvSpPr/>
            <p:nvPr/>
          </p:nvSpPr>
          <p:spPr>
            <a:xfrm>
              <a:off x="4181456" y="486338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>
                  <a:solidFill>
                    <a:schemeClr val="tx1"/>
                  </a:solidFill>
                </a:rPr>
                <a:t>예약번호</a:t>
              </a:r>
            </a:p>
          </p:txBody>
        </p: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30F78BA1-8488-4719-8E9D-A2326F5126CF}"/>
                </a:ext>
              </a:extLst>
            </p:cNvPr>
            <p:cNvCxnSpPr/>
            <p:nvPr/>
          </p:nvCxnSpPr>
          <p:spPr>
            <a:xfrm>
              <a:off x="4380307" y="5233540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4E3AD574-3E1F-42B8-A6B8-381F1A341DAB}"/>
              </a:ext>
            </a:extLst>
          </p:cNvPr>
          <p:cNvCxnSpPr>
            <a:cxnSpLocks/>
            <a:stCxn id="154" idx="3"/>
            <a:endCxn id="104" idx="3"/>
          </p:cNvCxnSpPr>
          <p:nvPr/>
        </p:nvCxnSpPr>
        <p:spPr>
          <a:xfrm flipV="1">
            <a:off x="5784775" y="4304755"/>
            <a:ext cx="406687" cy="112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타원 103">
            <a:extLst>
              <a:ext uri="{FF2B5EF4-FFF2-40B4-BE49-F238E27FC236}">
                <a16:creationId xmlns:a16="http://schemas.microsoft.com/office/drawing/2014/main" id="{59E87D7D-CD0D-41B3-9C5B-DFCCCDD18D3F}"/>
              </a:ext>
            </a:extLst>
          </p:cNvPr>
          <p:cNvSpPr/>
          <p:nvPr/>
        </p:nvSpPr>
        <p:spPr>
          <a:xfrm>
            <a:off x="5938383" y="3925250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수량</a:t>
            </a: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B76221FA-A9AB-4C90-BE7A-5BC6B8BBCC5A}"/>
              </a:ext>
            </a:extLst>
          </p:cNvPr>
          <p:cNvSpPr/>
          <p:nvPr/>
        </p:nvSpPr>
        <p:spPr>
          <a:xfrm>
            <a:off x="1044748" y="4902519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예약 </a:t>
            </a:r>
            <a:r>
              <a:rPr lang="ko-KR" altLang="en-US" sz="1400" dirty="0" err="1">
                <a:solidFill>
                  <a:schemeClr val="tx1"/>
                </a:solidFill>
              </a:rPr>
              <a:t>갯수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399E013-5901-46D7-B9B8-70CF9C5426EE}"/>
              </a:ext>
            </a:extLst>
          </p:cNvPr>
          <p:cNvCxnSpPr>
            <a:cxnSpLocks/>
            <a:stCxn id="154" idx="1"/>
            <a:endCxn id="110" idx="7"/>
          </p:cNvCxnSpPr>
          <p:nvPr/>
        </p:nvCxnSpPr>
        <p:spPr>
          <a:xfrm flipH="1">
            <a:off x="2301481" y="4416931"/>
            <a:ext cx="2246792" cy="5507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타원 177">
            <a:extLst>
              <a:ext uri="{FF2B5EF4-FFF2-40B4-BE49-F238E27FC236}">
                <a16:creationId xmlns:a16="http://schemas.microsoft.com/office/drawing/2014/main" id="{3E68F858-1A9A-4F8C-9499-32984248E06E}"/>
              </a:ext>
            </a:extLst>
          </p:cNvPr>
          <p:cNvSpPr/>
          <p:nvPr/>
        </p:nvSpPr>
        <p:spPr>
          <a:xfrm>
            <a:off x="163065" y="3120683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수량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B9E070BC-BE12-4603-A0B4-29884E617763}"/>
              </a:ext>
            </a:extLst>
          </p:cNvPr>
          <p:cNvCxnSpPr>
            <a:cxnSpLocks/>
            <a:stCxn id="151" idx="2"/>
            <a:endCxn id="178" idx="7"/>
          </p:cNvCxnSpPr>
          <p:nvPr/>
        </p:nvCxnSpPr>
        <p:spPr>
          <a:xfrm flipH="1">
            <a:off x="1638118" y="2889412"/>
            <a:ext cx="1079862" cy="296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3" name="표 112">
            <a:extLst>
              <a:ext uri="{FF2B5EF4-FFF2-40B4-BE49-F238E27FC236}">
                <a16:creationId xmlns:a16="http://schemas.microsoft.com/office/drawing/2014/main" id="{88D3328D-4DF8-4993-B7C4-709FB4F61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259462"/>
              </p:ext>
            </p:extLst>
          </p:nvPr>
        </p:nvGraphicFramePr>
        <p:xfrm>
          <a:off x="205259" y="3372908"/>
          <a:ext cx="3961426" cy="777240"/>
        </p:xfrm>
        <a:graphic>
          <a:graphicData uri="http://schemas.openxmlformats.org/drawingml/2006/table">
            <a:tbl>
              <a:tblPr/>
              <a:tblGrid>
                <a:gridCol w="907485">
                  <a:extLst>
                    <a:ext uri="{9D8B030D-6E8A-4147-A177-3AD203B41FA5}">
                      <a16:colId xmlns:a16="http://schemas.microsoft.com/office/drawing/2014/main" val="151558550"/>
                    </a:ext>
                  </a:extLst>
                </a:gridCol>
                <a:gridCol w="907485">
                  <a:extLst>
                    <a:ext uri="{9D8B030D-6E8A-4147-A177-3AD203B41FA5}">
                      <a16:colId xmlns:a16="http://schemas.microsoft.com/office/drawing/2014/main" val="3877944740"/>
                    </a:ext>
                  </a:extLst>
                </a:gridCol>
                <a:gridCol w="523486">
                  <a:extLst>
                    <a:ext uri="{9D8B030D-6E8A-4147-A177-3AD203B41FA5}">
                      <a16:colId xmlns:a16="http://schemas.microsoft.com/office/drawing/2014/main" val="874026790"/>
                    </a:ext>
                  </a:extLst>
                </a:gridCol>
                <a:gridCol w="715485">
                  <a:extLst>
                    <a:ext uri="{9D8B030D-6E8A-4147-A177-3AD203B41FA5}">
                      <a16:colId xmlns:a16="http://schemas.microsoft.com/office/drawing/2014/main" val="3673598552"/>
                    </a:ext>
                  </a:extLst>
                </a:gridCol>
                <a:gridCol w="907485">
                  <a:extLst>
                    <a:ext uri="{9D8B030D-6E8A-4147-A177-3AD203B41FA5}">
                      <a16:colId xmlns:a16="http://schemas.microsoft.com/office/drawing/2014/main" val="260919961"/>
                    </a:ext>
                  </a:extLst>
                </a:gridCol>
              </a:tblGrid>
              <a:tr h="209550">
                <a:tc gridSpan="5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DutyfreeItem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978342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item_rv_no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quantity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item_sold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273316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K4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599285"/>
                  </a:ext>
                </a:extLst>
              </a:tr>
            </a:tbl>
          </a:graphicData>
        </a:graphic>
      </p:graphicFrame>
      <p:sp>
        <p:nvSpPr>
          <p:cNvPr id="179" name="TextBox 178">
            <a:extLst>
              <a:ext uri="{FF2B5EF4-FFF2-40B4-BE49-F238E27FC236}">
                <a16:creationId xmlns:a16="http://schemas.microsoft.com/office/drawing/2014/main" id="{03D65A89-AD1A-4738-A365-96C2BAAA6949}"/>
              </a:ext>
            </a:extLst>
          </p:cNvPr>
          <p:cNvSpPr txBox="1"/>
          <p:nvPr/>
        </p:nvSpPr>
        <p:spPr>
          <a:xfrm>
            <a:off x="163504" y="597873"/>
            <a:ext cx="273183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ER-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릴레이션 사상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8F3C73BF-0D5C-406C-AAB6-E452E5A75A6F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24D1BB4-3A0B-4B47-9182-D1487844A46C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CABAE57F-ABC6-4680-8EB3-131906265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26432"/>
              </p:ext>
            </p:extLst>
          </p:nvPr>
        </p:nvGraphicFramePr>
        <p:xfrm>
          <a:off x="6695878" y="4608380"/>
          <a:ext cx="5508616" cy="819468"/>
        </p:xfrm>
        <a:graphic>
          <a:graphicData uri="http://schemas.openxmlformats.org/drawingml/2006/table">
            <a:tbl>
              <a:tblPr/>
              <a:tblGrid>
                <a:gridCol w="1065022">
                  <a:extLst>
                    <a:ext uri="{9D8B030D-6E8A-4147-A177-3AD203B41FA5}">
                      <a16:colId xmlns:a16="http://schemas.microsoft.com/office/drawing/2014/main" val="2718059495"/>
                    </a:ext>
                  </a:extLst>
                </a:gridCol>
                <a:gridCol w="849376">
                  <a:extLst>
                    <a:ext uri="{9D8B030D-6E8A-4147-A177-3AD203B41FA5}">
                      <a16:colId xmlns:a16="http://schemas.microsoft.com/office/drawing/2014/main" val="611118355"/>
                    </a:ext>
                  </a:extLst>
                </a:gridCol>
                <a:gridCol w="1029081">
                  <a:extLst>
                    <a:ext uri="{9D8B030D-6E8A-4147-A177-3AD203B41FA5}">
                      <a16:colId xmlns:a16="http://schemas.microsoft.com/office/drawing/2014/main" val="1022884943"/>
                    </a:ext>
                  </a:extLst>
                </a:gridCol>
                <a:gridCol w="639622">
                  <a:extLst>
                    <a:ext uri="{9D8B030D-6E8A-4147-A177-3AD203B41FA5}">
                      <a16:colId xmlns:a16="http://schemas.microsoft.com/office/drawing/2014/main" val="316015069"/>
                    </a:ext>
                  </a:extLst>
                </a:gridCol>
                <a:gridCol w="905608">
                  <a:extLst>
                    <a:ext uri="{9D8B030D-6E8A-4147-A177-3AD203B41FA5}">
                      <a16:colId xmlns:a16="http://schemas.microsoft.com/office/drawing/2014/main" val="1256717172"/>
                    </a:ext>
                  </a:extLst>
                </a:gridCol>
                <a:gridCol w="1019907">
                  <a:extLst>
                    <a:ext uri="{9D8B030D-6E8A-4147-A177-3AD203B41FA5}">
                      <a16:colId xmlns:a16="http://schemas.microsoft.com/office/drawing/2014/main" val="3403922681"/>
                    </a:ext>
                  </a:extLst>
                </a:gridCol>
              </a:tblGrid>
              <a:tr h="209550">
                <a:tc gridSpan="6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Airplanefood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01123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 kern="0" spc="0" dirty="0" err="1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foodRvNum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food_num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order_date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quantity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food_sold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135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314692"/>
                  </a:ext>
                </a:extLst>
              </a:tr>
            </a:tbl>
          </a:graphicData>
        </a:graphic>
      </p:graphicFrame>
      <p:graphicFrame>
        <p:nvGraphicFramePr>
          <p:cNvPr id="195" name="표 194">
            <a:extLst>
              <a:ext uri="{FF2B5EF4-FFF2-40B4-BE49-F238E27FC236}">
                <a16:creationId xmlns:a16="http://schemas.microsoft.com/office/drawing/2014/main" id="{16B28FD7-311B-4068-8A31-71AED087C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056345"/>
              </p:ext>
            </p:extLst>
          </p:nvPr>
        </p:nvGraphicFramePr>
        <p:xfrm>
          <a:off x="3192656" y="1380556"/>
          <a:ext cx="5635051" cy="819468"/>
        </p:xfrm>
        <a:graphic>
          <a:graphicData uri="http://schemas.openxmlformats.org/drawingml/2006/table">
            <a:tbl>
              <a:tblPr/>
              <a:tblGrid>
                <a:gridCol w="963288">
                  <a:extLst>
                    <a:ext uri="{9D8B030D-6E8A-4147-A177-3AD203B41FA5}">
                      <a16:colId xmlns:a16="http://schemas.microsoft.com/office/drawing/2014/main" val="4249525724"/>
                    </a:ext>
                  </a:extLst>
                </a:gridCol>
                <a:gridCol w="627900">
                  <a:extLst>
                    <a:ext uri="{9D8B030D-6E8A-4147-A177-3AD203B41FA5}">
                      <a16:colId xmlns:a16="http://schemas.microsoft.com/office/drawing/2014/main" val="4109019722"/>
                    </a:ext>
                  </a:extLst>
                </a:gridCol>
                <a:gridCol w="394435">
                  <a:extLst>
                    <a:ext uri="{9D8B030D-6E8A-4147-A177-3AD203B41FA5}">
                      <a16:colId xmlns:a16="http://schemas.microsoft.com/office/drawing/2014/main" val="4191438968"/>
                    </a:ext>
                  </a:extLst>
                </a:gridCol>
                <a:gridCol w="1021127">
                  <a:extLst>
                    <a:ext uri="{9D8B030D-6E8A-4147-A177-3AD203B41FA5}">
                      <a16:colId xmlns:a16="http://schemas.microsoft.com/office/drawing/2014/main" val="3677217537"/>
                    </a:ext>
                  </a:extLst>
                </a:gridCol>
                <a:gridCol w="1230923">
                  <a:extLst>
                    <a:ext uri="{9D8B030D-6E8A-4147-A177-3AD203B41FA5}">
                      <a16:colId xmlns:a16="http://schemas.microsoft.com/office/drawing/2014/main" val="3722295295"/>
                    </a:ext>
                  </a:extLst>
                </a:gridCol>
                <a:gridCol w="1397378">
                  <a:extLst>
                    <a:ext uri="{9D8B030D-6E8A-4147-A177-3AD203B41FA5}">
                      <a16:colId xmlns:a16="http://schemas.microsoft.com/office/drawing/2014/main" val="413672477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Customer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70547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Passport_no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food_rv_num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airplane_rv_num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dutyfree_rv_num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3755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K1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K3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K4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478442"/>
                  </a:ext>
                </a:extLst>
              </a:tr>
            </a:tbl>
          </a:graphicData>
        </a:graphic>
      </p:graphicFrame>
      <p:graphicFrame>
        <p:nvGraphicFramePr>
          <p:cNvPr id="196" name="표 195">
            <a:extLst>
              <a:ext uri="{FF2B5EF4-FFF2-40B4-BE49-F238E27FC236}">
                <a16:creationId xmlns:a16="http://schemas.microsoft.com/office/drawing/2014/main" id="{57BEA5C6-6631-4462-B4B0-578C606C8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59122"/>
              </p:ext>
            </p:extLst>
          </p:nvPr>
        </p:nvGraphicFramePr>
        <p:xfrm>
          <a:off x="5516713" y="3110257"/>
          <a:ext cx="6260538" cy="777240"/>
        </p:xfrm>
        <a:graphic>
          <a:graphicData uri="http://schemas.openxmlformats.org/drawingml/2006/table">
            <a:tbl>
              <a:tblPr/>
              <a:tblGrid>
                <a:gridCol w="611445">
                  <a:extLst>
                    <a:ext uri="{9D8B030D-6E8A-4147-A177-3AD203B41FA5}">
                      <a16:colId xmlns:a16="http://schemas.microsoft.com/office/drawing/2014/main" val="496407519"/>
                    </a:ext>
                  </a:extLst>
                </a:gridCol>
                <a:gridCol w="689673">
                  <a:extLst>
                    <a:ext uri="{9D8B030D-6E8A-4147-A177-3AD203B41FA5}">
                      <a16:colId xmlns:a16="http://schemas.microsoft.com/office/drawing/2014/main" val="3505886636"/>
                    </a:ext>
                  </a:extLst>
                </a:gridCol>
                <a:gridCol w="699075">
                  <a:extLst>
                    <a:ext uri="{9D8B030D-6E8A-4147-A177-3AD203B41FA5}">
                      <a16:colId xmlns:a16="http://schemas.microsoft.com/office/drawing/2014/main" val="528056634"/>
                    </a:ext>
                  </a:extLst>
                </a:gridCol>
                <a:gridCol w="874059">
                  <a:extLst>
                    <a:ext uri="{9D8B030D-6E8A-4147-A177-3AD203B41FA5}">
                      <a16:colId xmlns:a16="http://schemas.microsoft.com/office/drawing/2014/main" val="645807884"/>
                    </a:ext>
                  </a:extLst>
                </a:gridCol>
                <a:gridCol w="887506">
                  <a:extLst>
                    <a:ext uri="{9D8B030D-6E8A-4147-A177-3AD203B41FA5}">
                      <a16:colId xmlns:a16="http://schemas.microsoft.com/office/drawing/2014/main" val="1837881709"/>
                    </a:ext>
                  </a:extLst>
                </a:gridCol>
                <a:gridCol w="833717">
                  <a:extLst>
                    <a:ext uri="{9D8B030D-6E8A-4147-A177-3AD203B41FA5}">
                      <a16:colId xmlns:a16="http://schemas.microsoft.com/office/drawing/2014/main" val="3296605489"/>
                    </a:ext>
                  </a:extLst>
                </a:gridCol>
                <a:gridCol w="1170959">
                  <a:extLst>
                    <a:ext uri="{9D8B030D-6E8A-4147-A177-3AD203B41FA5}">
                      <a16:colId xmlns:a16="http://schemas.microsoft.com/office/drawing/2014/main" val="181694256"/>
                    </a:ext>
                  </a:extLst>
                </a:gridCol>
                <a:gridCol w="494104">
                  <a:extLst>
                    <a:ext uri="{9D8B030D-6E8A-4147-A177-3AD203B41FA5}">
                      <a16:colId xmlns:a16="http://schemas.microsoft.com/office/drawing/2014/main" val="3095478533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Airticket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4439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res_no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arrival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departure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seat_num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seat_class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departure_date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310607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K3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337052"/>
                  </a:ext>
                </a:extLst>
              </a:tr>
            </a:tbl>
          </a:graphicData>
        </a:graphic>
      </p:graphicFrame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C620281C-4ABC-4EED-9DA7-FA303CC104C7}"/>
              </a:ext>
            </a:extLst>
          </p:cNvPr>
          <p:cNvCxnSpPr/>
          <p:nvPr/>
        </p:nvCxnSpPr>
        <p:spPr>
          <a:xfrm>
            <a:off x="3336231" y="2523392"/>
            <a:ext cx="165929" cy="143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E423F2A9-EDDD-4A57-AB2E-DFB8F4D1E1E0}"/>
              </a:ext>
            </a:extLst>
          </p:cNvPr>
          <p:cNvCxnSpPr>
            <a:cxnSpLocks/>
          </p:cNvCxnSpPr>
          <p:nvPr/>
        </p:nvCxnSpPr>
        <p:spPr>
          <a:xfrm flipV="1">
            <a:off x="3336231" y="2672863"/>
            <a:ext cx="163107" cy="116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타원 223">
            <a:extLst>
              <a:ext uri="{FF2B5EF4-FFF2-40B4-BE49-F238E27FC236}">
                <a16:creationId xmlns:a16="http://schemas.microsoft.com/office/drawing/2014/main" id="{8C84DB21-E274-4393-8220-AF83D4E9C3A4}"/>
              </a:ext>
            </a:extLst>
          </p:cNvPr>
          <p:cNvSpPr/>
          <p:nvPr/>
        </p:nvSpPr>
        <p:spPr>
          <a:xfrm>
            <a:off x="3530891" y="2613607"/>
            <a:ext cx="103545" cy="1054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E8189078-0AE0-4EA6-874B-68518D5BBBCF}"/>
              </a:ext>
            </a:extLst>
          </p:cNvPr>
          <p:cNvCxnSpPr/>
          <p:nvPr/>
        </p:nvCxnSpPr>
        <p:spPr>
          <a:xfrm>
            <a:off x="5060279" y="1485901"/>
            <a:ext cx="2238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타원 227">
            <a:extLst>
              <a:ext uri="{FF2B5EF4-FFF2-40B4-BE49-F238E27FC236}">
                <a16:creationId xmlns:a16="http://schemas.microsoft.com/office/drawing/2014/main" id="{7F8A1FB7-5ED2-4CBF-BDD1-9A57EB8232F9}"/>
              </a:ext>
            </a:extLst>
          </p:cNvPr>
          <p:cNvSpPr/>
          <p:nvPr/>
        </p:nvSpPr>
        <p:spPr>
          <a:xfrm>
            <a:off x="5118986" y="1508593"/>
            <a:ext cx="103545" cy="1054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20936576-69B3-4FD2-9BB4-416829AAEBB2}"/>
              </a:ext>
            </a:extLst>
          </p:cNvPr>
          <p:cNvCxnSpPr>
            <a:cxnSpLocks/>
          </p:cNvCxnSpPr>
          <p:nvPr/>
        </p:nvCxnSpPr>
        <p:spPr>
          <a:xfrm flipV="1">
            <a:off x="8212015" y="2523392"/>
            <a:ext cx="169079" cy="1338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1438BE58-5BA2-42EE-9AAB-6EF68C0A2357}"/>
              </a:ext>
            </a:extLst>
          </p:cNvPr>
          <p:cNvCxnSpPr>
            <a:cxnSpLocks/>
          </p:cNvCxnSpPr>
          <p:nvPr/>
        </p:nvCxnSpPr>
        <p:spPr>
          <a:xfrm>
            <a:off x="8212015" y="2669991"/>
            <a:ext cx="169079" cy="143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268E6F0F-892E-4A82-9C2D-2DFB22EBA074}"/>
              </a:ext>
            </a:extLst>
          </p:cNvPr>
          <p:cNvCxnSpPr>
            <a:cxnSpLocks/>
            <a:endCxn id="247" idx="3"/>
          </p:cNvCxnSpPr>
          <p:nvPr/>
        </p:nvCxnSpPr>
        <p:spPr>
          <a:xfrm flipV="1">
            <a:off x="5770201" y="792013"/>
            <a:ext cx="826440" cy="286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타원 246">
            <a:extLst>
              <a:ext uri="{FF2B5EF4-FFF2-40B4-BE49-F238E27FC236}">
                <a16:creationId xmlns:a16="http://schemas.microsoft.com/office/drawing/2014/main" id="{33010F22-AECA-42D9-85DB-4E8DE865365F}"/>
              </a:ext>
            </a:extLst>
          </p:cNvPr>
          <p:cNvSpPr/>
          <p:nvPr/>
        </p:nvSpPr>
        <p:spPr>
          <a:xfrm>
            <a:off x="6366248" y="412509"/>
            <a:ext cx="157322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음식 예약 번호</a:t>
            </a:r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65975A0B-FE6C-4EF2-879A-1DE973E6E2C5}"/>
              </a:ext>
            </a:extLst>
          </p:cNvPr>
          <p:cNvSpPr/>
          <p:nvPr/>
        </p:nvSpPr>
        <p:spPr>
          <a:xfrm>
            <a:off x="2432343" y="998914"/>
            <a:ext cx="1657777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항공권 예약 번호</a:t>
            </a:r>
          </a:p>
        </p:txBody>
      </p:sp>
      <p:sp>
        <p:nvSpPr>
          <p:cNvPr id="261" name="타원 260">
            <a:extLst>
              <a:ext uri="{FF2B5EF4-FFF2-40B4-BE49-F238E27FC236}">
                <a16:creationId xmlns:a16="http://schemas.microsoft.com/office/drawing/2014/main" id="{27D071F2-E00F-4DFC-8B46-63FA45FDCFB3}"/>
              </a:ext>
            </a:extLst>
          </p:cNvPr>
          <p:cNvSpPr/>
          <p:nvPr/>
        </p:nvSpPr>
        <p:spPr>
          <a:xfrm>
            <a:off x="6135058" y="1016582"/>
            <a:ext cx="1657777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면세품 예약 번호</a:t>
            </a:r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BDB68FB7-5301-40ED-950F-7822352A7763}"/>
              </a:ext>
            </a:extLst>
          </p:cNvPr>
          <p:cNvSpPr/>
          <p:nvPr/>
        </p:nvSpPr>
        <p:spPr>
          <a:xfrm>
            <a:off x="5122790" y="3934574"/>
            <a:ext cx="103545" cy="1054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3" name="타원 262">
            <a:extLst>
              <a:ext uri="{FF2B5EF4-FFF2-40B4-BE49-F238E27FC236}">
                <a16:creationId xmlns:a16="http://schemas.microsoft.com/office/drawing/2014/main" id="{DCB34C0A-1745-4448-82B7-63617632A8AA}"/>
              </a:ext>
            </a:extLst>
          </p:cNvPr>
          <p:cNvSpPr/>
          <p:nvPr/>
        </p:nvSpPr>
        <p:spPr>
          <a:xfrm>
            <a:off x="8040388" y="2605191"/>
            <a:ext cx="103545" cy="1054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CBC63F5B-A114-421D-9908-DBB069F43453}"/>
              </a:ext>
            </a:extLst>
          </p:cNvPr>
          <p:cNvCxnSpPr>
            <a:cxnSpLocks/>
          </p:cNvCxnSpPr>
          <p:nvPr/>
        </p:nvCxnSpPr>
        <p:spPr>
          <a:xfrm flipH="1">
            <a:off x="5060279" y="4040060"/>
            <a:ext cx="114284" cy="154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85F0E1D1-A637-4505-9AC1-54B361F32879}"/>
              </a:ext>
            </a:extLst>
          </p:cNvPr>
          <p:cNvCxnSpPr>
            <a:stCxn id="154" idx="2"/>
          </p:cNvCxnSpPr>
          <p:nvPr/>
        </p:nvCxnSpPr>
        <p:spPr>
          <a:xfrm>
            <a:off x="5166524" y="4639239"/>
            <a:ext cx="1024938" cy="443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타원 269">
            <a:extLst>
              <a:ext uri="{FF2B5EF4-FFF2-40B4-BE49-F238E27FC236}">
                <a16:creationId xmlns:a16="http://schemas.microsoft.com/office/drawing/2014/main" id="{030CEE65-FA87-4461-878C-3020CB130F95}"/>
              </a:ext>
            </a:extLst>
          </p:cNvPr>
          <p:cNvSpPr/>
          <p:nvPr/>
        </p:nvSpPr>
        <p:spPr>
          <a:xfrm>
            <a:off x="5524624" y="5108415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</a:rPr>
              <a:t>판매량</a:t>
            </a:r>
          </a:p>
        </p:txBody>
      </p:sp>
      <p:sp>
        <p:nvSpPr>
          <p:cNvPr id="277" name="타원 276">
            <a:extLst>
              <a:ext uri="{FF2B5EF4-FFF2-40B4-BE49-F238E27FC236}">
                <a16:creationId xmlns:a16="http://schemas.microsoft.com/office/drawing/2014/main" id="{F51FCFC2-C9A3-44B7-AF78-AC087428565C}"/>
              </a:ext>
            </a:extLst>
          </p:cNvPr>
          <p:cNvSpPr/>
          <p:nvPr/>
        </p:nvSpPr>
        <p:spPr>
          <a:xfrm>
            <a:off x="10566703" y="2343824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가격</a:t>
            </a:r>
          </a:p>
        </p:txBody>
      </p:sp>
      <p:cxnSp>
        <p:nvCxnSpPr>
          <p:cNvPr id="285" name="직선 연결선 284">
            <a:extLst>
              <a:ext uri="{FF2B5EF4-FFF2-40B4-BE49-F238E27FC236}">
                <a16:creationId xmlns:a16="http://schemas.microsoft.com/office/drawing/2014/main" id="{59653F5E-5550-41B6-9652-508079D7BF5A}"/>
              </a:ext>
            </a:extLst>
          </p:cNvPr>
          <p:cNvCxnSpPr>
            <a:stCxn id="277" idx="2"/>
            <a:endCxn id="134" idx="3"/>
          </p:cNvCxnSpPr>
          <p:nvPr/>
        </p:nvCxnSpPr>
        <p:spPr>
          <a:xfrm flipH="1">
            <a:off x="9617596" y="2566133"/>
            <a:ext cx="949107" cy="100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9E8F854B-E4C6-4F02-91ED-EB88C4225E42}"/>
              </a:ext>
            </a:extLst>
          </p:cNvPr>
          <p:cNvCxnSpPr>
            <a:stCxn id="151" idx="2"/>
          </p:cNvCxnSpPr>
          <p:nvPr/>
        </p:nvCxnSpPr>
        <p:spPr>
          <a:xfrm>
            <a:off x="2717980" y="2889412"/>
            <a:ext cx="612837" cy="32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타원 290">
            <a:extLst>
              <a:ext uri="{FF2B5EF4-FFF2-40B4-BE49-F238E27FC236}">
                <a16:creationId xmlns:a16="http://schemas.microsoft.com/office/drawing/2014/main" id="{DF161AB6-C893-4214-8D30-9D9479A7B556}"/>
              </a:ext>
            </a:extLst>
          </p:cNvPr>
          <p:cNvSpPr/>
          <p:nvPr/>
        </p:nvSpPr>
        <p:spPr>
          <a:xfrm>
            <a:off x="2707051" y="3111720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</a:rPr>
              <a:t>판매량</a:t>
            </a:r>
          </a:p>
        </p:txBody>
      </p:sp>
      <p:sp>
        <p:nvSpPr>
          <p:cNvPr id="292" name="타원 291">
            <a:extLst>
              <a:ext uri="{FF2B5EF4-FFF2-40B4-BE49-F238E27FC236}">
                <a16:creationId xmlns:a16="http://schemas.microsoft.com/office/drawing/2014/main" id="{41BAB106-5302-4A6C-9949-645DF59410F4}"/>
              </a:ext>
            </a:extLst>
          </p:cNvPr>
          <p:cNvSpPr/>
          <p:nvPr/>
        </p:nvSpPr>
        <p:spPr>
          <a:xfrm>
            <a:off x="1638118" y="1622667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가격</a:t>
            </a:r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8FDA5815-0914-4D43-BC85-8EB5595BC0C8}"/>
              </a:ext>
            </a:extLst>
          </p:cNvPr>
          <p:cNvCxnSpPr>
            <a:stCxn id="292" idx="4"/>
            <a:endCxn id="151" idx="0"/>
          </p:cNvCxnSpPr>
          <p:nvPr/>
        </p:nvCxnSpPr>
        <p:spPr>
          <a:xfrm>
            <a:off x="2374296" y="2067284"/>
            <a:ext cx="343684" cy="377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B2E61E66-FC68-47ED-8EAC-1EC4EA3FA3BA}"/>
              </a:ext>
            </a:extLst>
          </p:cNvPr>
          <p:cNvSpPr txBox="1"/>
          <p:nvPr/>
        </p:nvSpPr>
        <p:spPr>
          <a:xfrm>
            <a:off x="7612717" y="130419"/>
            <a:ext cx="435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1: N </a:t>
            </a:r>
            <a:r>
              <a:rPr lang="ko-KR" altLang="en-US" dirty="0"/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600229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63504" y="597873"/>
            <a:ext cx="273183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ER-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릴레이션 사상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AD9F2C-8090-4313-AB23-EF12DC430105}"/>
              </a:ext>
            </a:extLst>
          </p:cNvPr>
          <p:cNvSpPr txBox="1"/>
          <p:nvPr/>
        </p:nvSpPr>
        <p:spPr>
          <a:xfrm>
            <a:off x="1885320" y="5464134"/>
            <a:ext cx="4117577" cy="8252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Tway_airline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lang="en-US" altLang="ko-KR" sz="16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ceo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airport)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Airplane(</a:t>
            </a:r>
            <a:r>
              <a:rPr lang="en-US" altLang="ko-KR" sz="1600" u="sng" kern="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Flight_no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Captain, Attendant)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graphicFrame>
        <p:nvGraphicFramePr>
          <p:cNvPr id="199" name="표 198">
            <a:extLst>
              <a:ext uri="{FF2B5EF4-FFF2-40B4-BE49-F238E27FC236}">
                <a16:creationId xmlns:a16="http://schemas.microsoft.com/office/drawing/2014/main" id="{CB68AA01-02F0-491F-AE7C-95767DF02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311462"/>
              </p:ext>
            </p:extLst>
          </p:nvPr>
        </p:nvGraphicFramePr>
        <p:xfrm>
          <a:off x="6615802" y="1538350"/>
          <a:ext cx="2058162" cy="777240"/>
        </p:xfrm>
        <a:graphic>
          <a:graphicData uri="http://schemas.openxmlformats.org/drawingml/2006/table">
            <a:tbl>
              <a:tblPr/>
              <a:tblGrid>
                <a:gridCol w="1029081">
                  <a:extLst>
                    <a:ext uri="{9D8B030D-6E8A-4147-A177-3AD203B41FA5}">
                      <a16:colId xmlns:a16="http://schemas.microsoft.com/office/drawing/2014/main" val="1830842277"/>
                    </a:ext>
                  </a:extLst>
                </a:gridCol>
                <a:gridCol w="1029081">
                  <a:extLst>
                    <a:ext uri="{9D8B030D-6E8A-4147-A177-3AD203B41FA5}">
                      <a16:colId xmlns:a16="http://schemas.microsoft.com/office/drawing/2014/main" val="1223495835"/>
                    </a:ext>
                  </a:extLst>
                </a:gridCol>
              </a:tblGrid>
              <a:tr h="209550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Tway_airline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851745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airport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1758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K1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719588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587A8F53-C61A-4E76-99B2-F421C2F63E33}"/>
              </a:ext>
            </a:extLst>
          </p:cNvPr>
          <p:cNvGrpSpPr/>
          <p:nvPr/>
        </p:nvGrpSpPr>
        <p:grpSpPr>
          <a:xfrm>
            <a:off x="2248595" y="981220"/>
            <a:ext cx="3718710" cy="4298329"/>
            <a:chOff x="2204055" y="876614"/>
            <a:chExt cx="3718710" cy="4298329"/>
          </a:xfrm>
        </p:grpSpPr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6E6583D3-D200-49D9-B857-6F93B556C1DD}"/>
                </a:ext>
              </a:extLst>
            </p:cNvPr>
            <p:cNvCxnSpPr>
              <a:cxnSpLocks/>
              <a:stCxn id="121" idx="2"/>
              <a:endCxn id="123" idx="6"/>
            </p:cNvCxnSpPr>
            <p:nvPr/>
          </p:nvCxnSpPr>
          <p:spPr>
            <a:xfrm flipH="1">
              <a:off x="3899569" y="4001406"/>
              <a:ext cx="1167171" cy="6505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C01AFED-BEAE-435A-8922-6888DE1BA54C}"/>
                </a:ext>
              </a:extLst>
            </p:cNvPr>
            <p:cNvCxnSpPr>
              <a:cxnSpLocks/>
              <a:stCxn id="121" idx="1"/>
              <a:endCxn id="126" idx="6"/>
            </p:cNvCxnSpPr>
            <p:nvPr/>
          </p:nvCxnSpPr>
          <p:spPr>
            <a:xfrm flipH="1">
              <a:off x="3546768" y="3779098"/>
              <a:ext cx="901721" cy="4613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05948FB7-125C-4695-AC7C-4AA3EA9EAA08}"/>
                </a:ext>
              </a:extLst>
            </p:cNvPr>
            <p:cNvCxnSpPr>
              <a:cxnSpLocks/>
              <a:stCxn id="121" idx="2"/>
              <a:endCxn id="131" idx="0"/>
            </p:cNvCxnSpPr>
            <p:nvPr/>
          </p:nvCxnSpPr>
          <p:spPr>
            <a:xfrm flipH="1">
              <a:off x="5058117" y="4001406"/>
              <a:ext cx="8623" cy="7289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C1FAC141-80FD-42FD-8D3D-F46FC3622C71}"/>
                </a:ext>
              </a:extLst>
            </p:cNvPr>
            <p:cNvSpPr/>
            <p:nvPr/>
          </p:nvSpPr>
          <p:spPr>
            <a:xfrm>
              <a:off x="4542956" y="1649139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/>
                <a:t>티웨이 항공사</a:t>
              </a:r>
            </a:p>
          </p:txBody>
        </p: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A4211619-EEC1-44A4-BB8D-DA4A1B5AC87F}"/>
                </a:ext>
              </a:extLst>
            </p:cNvPr>
            <p:cNvCxnSpPr>
              <a:cxnSpLocks/>
              <a:stCxn id="113" idx="1"/>
              <a:endCxn id="115" idx="6"/>
            </p:cNvCxnSpPr>
            <p:nvPr/>
          </p:nvCxnSpPr>
          <p:spPr>
            <a:xfrm flipH="1">
              <a:off x="4224959" y="1993088"/>
              <a:ext cx="317997" cy="2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23DE58FE-C3C4-4CFF-B0BA-2C2063B02CCE}"/>
                </a:ext>
              </a:extLst>
            </p:cNvPr>
            <p:cNvSpPr/>
            <p:nvPr/>
          </p:nvSpPr>
          <p:spPr>
            <a:xfrm>
              <a:off x="2471658" y="1771067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>
                  <a:solidFill>
                    <a:schemeClr val="tx1"/>
                  </a:solidFill>
                </a:rPr>
                <a:t>공항이름</a:t>
              </a: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B4B0EEEE-7CDE-413F-8551-D76F1171E875}"/>
                </a:ext>
              </a:extLst>
            </p:cNvPr>
            <p:cNvCxnSpPr>
              <a:stCxn id="113" idx="0"/>
              <a:endCxn id="117" idx="4"/>
            </p:cNvCxnSpPr>
            <p:nvPr/>
          </p:nvCxnSpPr>
          <p:spPr>
            <a:xfrm flipH="1" flipV="1">
              <a:off x="5058117" y="1321231"/>
              <a:ext cx="1461" cy="3279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0C693283-5FBE-45C7-BDF7-0F051A836AEB}"/>
                </a:ext>
              </a:extLst>
            </p:cNvPr>
            <p:cNvSpPr/>
            <p:nvPr/>
          </p:nvSpPr>
          <p:spPr>
            <a:xfrm>
              <a:off x="4397134" y="87661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경영자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3BA7D096-C357-4AF3-A79F-A2A7A1EFBE07}"/>
                </a:ext>
              </a:extLst>
            </p:cNvPr>
            <p:cNvCxnSpPr>
              <a:cxnSpLocks/>
              <a:stCxn id="113" idx="2"/>
              <a:endCxn id="121" idx="0"/>
            </p:cNvCxnSpPr>
            <p:nvPr/>
          </p:nvCxnSpPr>
          <p:spPr>
            <a:xfrm>
              <a:off x="5059578" y="2337037"/>
              <a:ext cx="7162" cy="121975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7EB035F2-3198-488C-A59F-793BB88D5E7F}"/>
                </a:ext>
              </a:extLst>
            </p:cNvPr>
            <p:cNvSpPr/>
            <p:nvPr/>
          </p:nvSpPr>
          <p:spPr>
            <a:xfrm>
              <a:off x="4448489" y="3556789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dirty="0"/>
                <a:t>항공기</a:t>
              </a:r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014FC075-8EA6-4EB9-88BC-D62EA6A32F58}"/>
                </a:ext>
              </a:extLst>
            </p:cNvPr>
            <p:cNvSpPr/>
            <p:nvPr/>
          </p:nvSpPr>
          <p:spPr>
            <a:xfrm>
              <a:off x="2204055" y="4429608"/>
              <a:ext cx="169551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항공기 번호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75E46A55-DE9B-48C0-B0CE-46EE165A8643}"/>
                </a:ext>
              </a:extLst>
            </p:cNvPr>
            <p:cNvCxnSpPr/>
            <p:nvPr/>
          </p:nvCxnSpPr>
          <p:spPr>
            <a:xfrm>
              <a:off x="2588448" y="4776843"/>
              <a:ext cx="95832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8A298DB1-6878-4ACE-A7F6-04BFEC1AF4BC}"/>
                </a:ext>
              </a:extLst>
            </p:cNvPr>
            <p:cNvSpPr/>
            <p:nvPr/>
          </p:nvSpPr>
          <p:spPr>
            <a:xfrm>
              <a:off x="2224802" y="3602925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기장</a:t>
              </a:r>
              <a:endParaRPr lang="ko-KR" altLang="en-US" sz="1400" dirty="0"/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C684F35C-CAC7-4DE8-97DE-34B7C15C1FB7}"/>
                </a:ext>
              </a:extLst>
            </p:cNvPr>
            <p:cNvCxnSpPr/>
            <p:nvPr/>
          </p:nvCxnSpPr>
          <p:spPr>
            <a:xfrm>
              <a:off x="4675972" y="1225872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1AC651E7-CA39-45B2-8333-001C95A735EA}"/>
                </a:ext>
              </a:extLst>
            </p:cNvPr>
            <p:cNvSpPr/>
            <p:nvPr/>
          </p:nvSpPr>
          <p:spPr>
            <a:xfrm>
              <a:off x="4397134" y="4730326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/>
                <a:t>승무원</a:t>
              </a:r>
            </a:p>
          </p:txBody>
        </p:sp>
        <p:sp>
          <p:nvSpPr>
            <p:cNvPr id="202" name="다이아몬드 201">
              <a:extLst>
                <a:ext uri="{FF2B5EF4-FFF2-40B4-BE49-F238E27FC236}">
                  <a16:creationId xmlns:a16="http://schemas.microsoft.com/office/drawing/2014/main" id="{F60CD119-1902-4A6E-B578-FD3EC6512023}"/>
                </a:ext>
              </a:extLst>
            </p:cNvPr>
            <p:cNvSpPr/>
            <p:nvPr/>
          </p:nvSpPr>
          <p:spPr>
            <a:xfrm>
              <a:off x="4210715" y="2580657"/>
              <a:ext cx="1712050" cy="746621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/>
                <a:t>소유</a:t>
              </a:r>
            </a:p>
          </p:txBody>
        </p: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41F586E-8AA6-4AD1-865F-90B1F1D2C950}"/>
                </a:ext>
              </a:extLst>
            </p:cNvPr>
            <p:cNvCxnSpPr/>
            <p:nvPr/>
          </p:nvCxnSpPr>
          <p:spPr>
            <a:xfrm>
              <a:off x="4911078" y="3402419"/>
              <a:ext cx="33259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A3748DE3-EC2C-411D-BD7A-D207A5FBC593}"/>
                </a:ext>
              </a:extLst>
            </p:cNvPr>
            <p:cNvCxnSpPr>
              <a:cxnSpLocks/>
            </p:cNvCxnSpPr>
            <p:nvPr/>
          </p:nvCxnSpPr>
          <p:spPr>
            <a:xfrm>
              <a:off x="5066740" y="3402419"/>
              <a:ext cx="176928" cy="154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5C255C46-A583-456B-B34D-A4E59BDBB4A7}"/>
                </a:ext>
              </a:extLst>
            </p:cNvPr>
            <p:cNvCxnSpPr/>
            <p:nvPr/>
          </p:nvCxnSpPr>
          <p:spPr>
            <a:xfrm flipH="1">
              <a:off x="4911078" y="3402419"/>
              <a:ext cx="155662" cy="154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B8C70C48-648F-44AC-A009-AE1E7D3C350C}"/>
                </a:ext>
              </a:extLst>
            </p:cNvPr>
            <p:cNvSpPr/>
            <p:nvPr/>
          </p:nvSpPr>
          <p:spPr>
            <a:xfrm>
              <a:off x="4973964" y="2415243"/>
              <a:ext cx="185551" cy="9718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94FA3179-894F-4124-856C-16DF55EBF23E}"/>
                </a:ext>
              </a:extLst>
            </p:cNvPr>
            <p:cNvCxnSpPr/>
            <p:nvPr/>
          </p:nvCxnSpPr>
          <p:spPr>
            <a:xfrm>
              <a:off x="4942234" y="2383344"/>
              <a:ext cx="2413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D3EFCF2-2F4D-4904-8399-89C424445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221720"/>
              </p:ext>
            </p:extLst>
          </p:nvPr>
        </p:nvGraphicFramePr>
        <p:xfrm>
          <a:off x="6631252" y="3507025"/>
          <a:ext cx="2512187" cy="819468"/>
        </p:xfrm>
        <a:graphic>
          <a:graphicData uri="http://schemas.openxmlformats.org/drawingml/2006/table">
            <a:tbl>
              <a:tblPr/>
              <a:tblGrid>
                <a:gridCol w="777494">
                  <a:extLst>
                    <a:ext uri="{9D8B030D-6E8A-4147-A177-3AD203B41FA5}">
                      <a16:colId xmlns:a16="http://schemas.microsoft.com/office/drawing/2014/main" val="2112103358"/>
                    </a:ext>
                  </a:extLst>
                </a:gridCol>
                <a:gridCol w="849376">
                  <a:extLst>
                    <a:ext uri="{9D8B030D-6E8A-4147-A177-3AD203B41FA5}">
                      <a16:colId xmlns:a16="http://schemas.microsoft.com/office/drawing/2014/main" val="4045499462"/>
                    </a:ext>
                  </a:extLst>
                </a:gridCol>
                <a:gridCol w="885317">
                  <a:extLst>
                    <a:ext uri="{9D8B030D-6E8A-4147-A177-3AD203B41FA5}">
                      <a16:colId xmlns:a16="http://schemas.microsoft.com/office/drawing/2014/main" val="2723981844"/>
                    </a:ext>
                  </a:extLst>
                </a:gridCol>
              </a:tblGrid>
              <a:tr h="209550">
                <a:tc gridSpan="3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7283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Flight_no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Captain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Attendant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551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K2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888792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40EE4F8E-4032-4BE1-8099-A22C43A11E75}"/>
              </a:ext>
            </a:extLst>
          </p:cNvPr>
          <p:cNvSpPr txBox="1"/>
          <p:nvPr/>
        </p:nvSpPr>
        <p:spPr>
          <a:xfrm>
            <a:off x="7507705" y="547076"/>
            <a:ext cx="435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진 </a:t>
            </a:r>
            <a:r>
              <a:rPr lang="en-US" altLang="ko-KR" dirty="0"/>
              <a:t>1:N </a:t>
            </a:r>
            <a:r>
              <a:rPr lang="ko-KR" altLang="en-US" dirty="0"/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207486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7">
            <a:extLst>
              <a:ext uri="{FF2B5EF4-FFF2-40B4-BE49-F238E27FC236}">
                <a16:creationId xmlns:a16="http://schemas.microsoft.com/office/drawing/2014/main" id="{2F3A8817-B632-4356-8B89-09ADF64CB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04" y="149025"/>
            <a:ext cx="6144208" cy="471560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63504" y="597873"/>
            <a:ext cx="273183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ER-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릴레이션 사상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AD9F2C-8090-4313-AB23-EF12DC430105}"/>
              </a:ext>
            </a:extLst>
          </p:cNvPr>
          <p:cNvSpPr txBox="1"/>
          <p:nvPr/>
        </p:nvSpPr>
        <p:spPr>
          <a:xfrm>
            <a:off x="182554" y="5494640"/>
            <a:ext cx="10763258" cy="91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(</a:t>
            </a:r>
            <a:r>
              <a:rPr lang="en-US" altLang="ko-KR" sz="1800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EMPNAME, TITLE, DEPTNAME, MANAGER, SALARY)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Customer (</a:t>
            </a:r>
            <a:r>
              <a:rPr lang="en-US" altLang="ko-KR" sz="1800" u="sng" kern="0" spc="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passport_no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name,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id,food_rv_num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dutyfreeitem_rv_num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4E1D49C-B51E-463D-9014-799E4C8EA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816545"/>
              </p:ext>
            </p:extLst>
          </p:nvPr>
        </p:nvGraphicFramePr>
        <p:xfrm>
          <a:off x="6299962" y="2168264"/>
          <a:ext cx="5168138" cy="987108"/>
        </p:xfrm>
        <a:graphic>
          <a:graphicData uri="http://schemas.openxmlformats.org/drawingml/2006/table">
            <a:tbl>
              <a:tblPr/>
              <a:tblGrid>
                <a:gridCol w="777494">
                  <a:extLst>
                    <a:ext uri="{9D8B030D-6E8A-4147-A177-3AD203B41FA5}">
                      <a16:colId xmlns:a16="http://schemas.microsoft.com/office/drawing/2014/main" val="1870844128"/>
                    </a:ext>
                  </a:extLst>
                </a:gridCol>
                <a:gridCol w="1018794">
                  <a:extLst>
                    <a:ext uri="{9D8B030D-6E8A-4147-A177-3AD203B41FA5}">
                      <a16:colId xmlns:a16="http://schemas.microsoft.com/office/drawing/2014/main" val="1217811630"/>
                    </a:ext>
                  </a:extLst>
                </a:gridCol>
                <a:gridCol w="715899">
                  <a:extLst>
                    <a:ext uri="{9D8B030D-6E8A-4147-A177-3AD203B41FA5}">
                      <a16:colId xmlns:a16="http://schemas.microsoft.com/office/drawing/2014/main" val="4054122321"/>
                    </a:ext>
                  </a:extLst>
                </a:gridCol>
                <a:gridCol w="885317">
                  <a:extLst>
                    <a:ext uri="{9D8B030D-6E8A-4147-A177-3AD203B41FA5}">
                      <a16:colId xmlns:a16="http://schemas.microsoft.com/office/drawing/2014/main" val="978869039"/>
                    </a:ext>
                  </a:extLst>
                </a:gridCol>
                <a:gridCol w="885317">
                  <a:extLst>
                    <a:ext uri="{9D8B030D-6E8A-4147-A177-3AD203B41FA5}">
                      <a16:colId xmlns:a16="http://schemas.microsoft.com/office/drawing/2014/main" val="745482729"/>
                    </a:ext>
                  </a:extLst>
                </a:gridCol>
                <a:gridCol w="885317">
                  <a:extLst>
                    <a:ext uri="{9D8B030D-6E8A-4147-A177-3AD203B41FA5}">
                      <a16:colId xmlns:a16="http://schemas.microsoft.com/office/drawing/2014/main" val="3265615609"/>
                    </a:ext>
                  </a:extLst>
                </a:gridCol>
              </a:tblGrid>
              <a:tr h="209550">
                <a:tc gridSpan="6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Tway_Employee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56635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 kern="0" spc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DEPTNAME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MANAGER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SALARY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09131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29770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89C2F28-8EAC-4C8F-A4A0-B34DD3B14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005108"/>
              </p:ext>
            </p:extLst>
          </p:nvPr>
        </p:nvGraphicFramePr>
        <p:xfrm>
          <a:off x="6356675" y="4555907"/>
          <a:ext cx="5764093" cy="987108"/>
        </p:xfrm>
        <a:graphic>
          <a:graphicData uri="http://schemas.openxmlformats.org/drawingml/2006/table">
            <a:tbl>
              <a:tblPr/>
              <a:tblGrid>
                <a:gridCol w="957199">
                  <a:extLst>
                    <a:ext uri="{9D8B030D-6E8A-4147-A177-3AD203B41FA5}">
                      <a16:colId xmlns:a16="http://schemas.microsoft.com/office/drawing/2014/main" val="3853085458"/>
                    </a:ext>
                  </a:extLst>
                </a:gridCol>
                <a:gridCol w="489966">
                  <a:extLst>
                    <a:ext uri="{9D8B030D-6E8A-4147-A177-3AD203B41FA5}">
                      <a16:colId xmlns:a16="http://schemas.microsoft.com/office/drawing/2014/main" val="1213767547"/>
                    </a:ext>
                  </a:extLst>
                </a:gridCol>
                <a:gridCol w="525907">
                  <a:extLst>
                    <a:ext uri="{9D8B030D-6E8A-4147-A177-3AD203B41FA5}">
                      <a16:colId xmlns:a16="http://schemas.microsoft.com/office/drawing/2014/main" val="2611111494"/>
                    </a:ext>
                  </a:extLst>
                </a:gridCol>
                <a:gridCol w="1208786">
                  <a:extLst>
                    <a:ext uri="{9D8B030D-6E8A-4147-A177-3AD203B41FA5}">
                      <a16:colId xmlns:a16="http://schemas.microsoft.com/office/drawing/2014/main" val="41379323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894573417"/>
                    </a:ext>
                  </a:extLst>
                </a:gridCol>
                <a:gridCol w="1326205">
                  <a:extLst>
                    <a:ext uri="{9D8B030D-6E8A-4147-A177-3AD203B41FA5}">
                      <a16:colId xmlns:a16="http://schemas.microsoft.com/office/drawing/2014/main" val="3171348732"/>
                    </a:ext>
                  </a:extLst>
                </a:gridCol>
              </a:tblGrid>
              <a:tr h="209550">
                <a:tc gridSpan="6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Customer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5133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 kern="0" spc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Passport_no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food_rv_num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airplane_rv_num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dutyfree_rv_num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8025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70586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BC9C03A-67E5-4357-AB83-4B92FDE9C53A}"/>
              </a:ext>
            </a:extLst>
          </p:cNvPr>
          <p:cNvSpPr txBox="1"/>
          <p:nvPr/>
        </p:nvSpPr>
        <p:spPr>
          <a:xfrm>
            <a:off x="8281862" y="547248"/>
            <a:ext cx="435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진 </a:t>
            </a:r>
            <a:r>
              <a:rPr lang="en-US" altLang="ko-KR" dirty="0"/>
              <a:t>1:N </a:t>
            </a:r>
            <a:r>
              <a:rPr lang="ko-KR" altLang="en-US" dirty="0"/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3480703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995" y="597873"/>
            <a:ext cx="1808508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정규화 작업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1B24B24-D73F-4456-8F57-261AA5A1E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544626"/>
              </p:ext>
            </p:extLst>
          </p:nvPr>
        </p:nvGraphicFramePr>
        <p:xfrm>
          <a:off x="154250" y="4003835"/>
          <a:ext cx="5690091" cy="457200"/>
        </p:xfrm>
        <a:graphic>
          <a:graphicData uri="http://schemas.openxmlformats.org/drawingml/2006/table">
            <a:tbl>
              <a:tblPr/>
              <a:tblGrid>
                <a:gridCol w="555732">
                  <a:extLst>
                    <a:ext uri="{9D8B030D-6E8A-4147-A177-3AD203B41FA5}">
                      <a16:colId xmlns:a16="http://schemas.microsoft.com/office/drawing/2014/main" val="496407519"/>
                    </a:ext>
                  </a:extLst>
                </a:gridCol>
                <a:gridCol w="626832">
                  <a:extLst>
                    <a:ext uri="{9D8B030D-6E8A-4147-A177-3AD203B41FA5}">
                      <a16:colId xmlns:a16="http://schemas.microsoft.com/office/drawing/2014/main" val="3505886636"/>
                    </a:ext>
                  </a:extLst>
                </a:gridCol>
                <a:gridCol w="635377">
                  <a:extLst>
                    <a:ext uri="{9D8B030D-6E8A-4147-A177-3AD203B41FA5}">
                      <a16:colId xmlns:a16="http://schemas.microsoft.com/office/drawing/2014/main" val="528056634"/>
                    </a:ext>
                  </a:extLst>
                </a:gridCol>
                <a:gridCol w="794416">
                  <a:extLst>
                    <a:ext uri="{9D8B030D-6E8A-4147-A177-3AD203B41FA5}">
                      <a16:colId xmlns:a16="http://schemas.microsoft.com/office/drawing/2014/main" val="645807884"/>
                    </a:ext>
                  </a:extLst>
                </a:gridCol>
                <a:gridCol w="806638">
                  <a:extLst>
                    <a:ext uri="{9D8B030D-6E8A-4147-A177-3AD203B41FA5}">
                      <a16:colId xmlns:a16="http://schemas.microsoft.com/office/drawing/2014/main" val="1837881709"/>
                    </a:ext>
                  </a:extLst>
                </a:gridCol>
                <a:gridCol w="772312">
                  <a:extLst>
                    <a:ext uri="{9D8B030D-6E8A-4147-A177-3AD203B41FA5}">
                      <a16:colId xmlns:a16="http://schemas.microsoft.com/office/drawing/2014/main" val="3296605489"/>
                    </a:ext>
                  </a:extLst>
                </a:gridCol>
                <a:gridCol w="1049702">
                  <a:extLst>
                    <a:ext uri="{9D8B030D-6E8A-4147-A177-3AD203B41FA5}">
                      <a16:colId xmlns:a16="http://schemas.microsoft.com/office/drawing/2014/main" val="181694256"/>
                    </a:ext>
                  </a:extLst>
                </a:gridCol>
                <a:gridCol w="449082">
                  <a:extLst>
                    <a:ext uri="{9D8B030D-6E8A-4147-A177-3AD203B41FA5}">
                      <a16:colId xmlns:a16="http://schemas.microsoft.com/office/drawing/2014/main" val="3095478533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Airticket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4439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u="sng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res_no</a:t>
                      </a:r>
                      <a:endParaRPr lang="en-US" sz="900" u="sng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arrival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departure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seat_num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seat_class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departure_date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310607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E3AC44-262B-4474-8D88-FBB806CD5C22}"/>
              </a:ext>
            </a:extLst>
          </p:cNvPr>
          <p:cNvSpPr/>
          <p:nvPr/>
        </p:nvSpPr>
        <p:spPr>
          <a:xfrm>
            <a:off x="4842218" y="2090233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96C76EB-1926-4BB3-BC5F-CD49AEFA1232}"/>
              </a:ext>
            </a:extLst>
          </p:cNvPr>
          <p:cNvGrpSpPr/>
          <p:nvPr/>
        </p:nvGrpSpPr>
        <p:grpSpPr>
          <a:xfrm>
            <a:off x="795909" y="1674412"/>
            <a:ext cx="5114140" cy="1960169"/>
            <a:chOff x="38885" y="3078556"/>
            <a:chExt cx="5074006" cy="2982476"/>
          </a:xfrm>
        </p:grpSpPr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7D2F241-AE86-455D-95D0-8A98DBCB6486}"/>
                </a:ext>
              </a:extLst>
            </p:cNvPr>
            <p:cNvCxnSpPr>
              <a:cxnSpLocks/>
              <a:stCxn id="74" idx="0"/>
              <a:endCxn id="81" idx="7"/>
            </p:cNvCxnSpPr>
            <p:nvPr/>
          </p:nvCxnSpPr>
          <p:spPr>
            <a:xfrm flipH="1">
              <a:off x="1096289" y="4330562"/>
              <a:ext cx="1258124" cy="12722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5EC5CEA5-C64D-4BAE-BC8D-D5A11DF57CA1}"/>
                </a:ext>
              </a:extLst>
            </p:cNvPr>
            <p:cNvCxnSpPr>
              <a:cxnSpLocks/>
              <a:stCxn id="74" idx="2"/>
              <a:endCxn id="80" idx="3"/>
            </p:cNvCxnSpPr>
            <p:nvPr/>
          </p:nvCxnSpPr>
          <p:spPr>
            <a:xfrm flipV="1">
              <a:off x="2354413" y="4044208"/>
              <a:ext cx="1604255" cy="84283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82A62D79-BCFD-4E6E-9853-229171A95639}"/>
                </a:ext>
              </a:extLst>
            </p:cNvPr>
            <p:cNvCxnSpPr>
              <a:cxnSpLocks/>
              <a:stCxn id="74" idx="0"/>
              <a:endCxn id="77" idx="1"/>
            </p:cNvCxnSpPr>
            <p:nvPr/>
          </p:nvCxnSpPr>
          <p:spPr>
            <a:xfrm>
              <a:off x="2354413" y="4330562"/>
              <a:ext cx="1486678" cy="11060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65D9945A-45DF-4928-B69D-B960BD53AD6D}"/>
                </a:ext>
              </a:extLst>
            </p:cNvPr>
            <p:cNvCxnSpPr>
              <a:cxnSpLocks/>
              <a:stCxn id="78" idx="4"/>
              <a:endCxn id="74" idx="2"/>
            </p:cNvCxnSpPr>
            <p:nvPr/>
          </p:nvCxnSpPr>
          <p:spPr>
            <a:xfrm>
              <a:off x="1140729" y="3558391"/>
              <a:ext cx="1213684" cy="13286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58EC52C5-CDCF-49B0-A4CA-13D6123B5922}"/>
                </a:ext>
              </a:extLst>
            </p:cNvPr>
            <p:cNvCxnSpPr>
              <a:cxnSpLocks/>
              <a:stCxn id="74" idx="2"/>
              <a:endCxn id="79" idx="4"/>
            </p:cNvCxnSpPr>
            <p:nvPr/>
          </p:nvCxnSpPr>
          <p:spPr>
            <a:xfrm flipV="1">
              <a:off x="2354413" y="3523173"/>
              <a:ext cx="897730" cy="136387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16D51962-0C87-4E73-8E85-14507C2C2A9B}"/>
                </a:ext>
              </a:extLst>
            </p:cNvPr>
            <p:cNvCxnSpPr>
              <a:cxnSpLocks/>
              <a:stCxn id="74" idx="1"/>
              <a:endCxn id="85" idx="6"/>
            </p:cNvCxnSpPr>
            <p:nvPr/>
          </p:nvCxnSpPr>
          <p:spPr>
            <a:xfrm flipH="1">
              <a:off x="1468507" y="4608804"/>
              <a:ext cx="267655" cy="1313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DD2221F0-8953-463A-9371-BA06F6235038}"/>
                </a:ext>
              </a:extLst>
            </p:cNvPr>
            <p:cNvSpPr/>
            <p:nvPr/>
          </p:nvSpPr>
          <p:spPr>
            <a:xfrm>
              <a:off x="1736162" y="4330562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/>
                <a:t>항공권</a:t>
              </a: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403E85B4-0CED-474F-8F40-8063F768A5CD}"/>
                </a:ext>
              </a:extLst>
            </p:cNvPr>
            <p:cNvCxnSpPr>
              <a:cxnSpLocks/>
              <a:stCxn id="74" idx="3"/>
              <a:endCxn id="76" idx="2"/>
            </p:cNvCxnSpPr>
            <p:nvPr/>
          </p:nvCxnSpPr>
          <p:spPr>
            <a:xfrm>
              <a:off x="2972664" y="4608804"/>
              <a:ext cx="861025" cy="156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E0DA5681-350E-493D-AE98-D9032886BFEC}"/>
                </a:ext>
              </a:extLst>
            </p:cNvPr>
            <p:cNvSpPr/>
            <p:nvPr/>
          </p:nvSpPr>
          <p:spPr>
            <a:xfrm>
              <a:off x="3833689" y="4402129"/>
              <a:ext cx="110571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도착지</a:t>
              </a: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7AD6EF4B-E04B-413F-AC8D-0AAC8B01D860}"/>
                </a:ext>
              </a:extLst>
            </p:cNvPr>
            <p:cNvSpPr/>
            <p:nvPr/>
          </p:nvSpPr>
          <p:spPr>
            <a:xfrm>
              <a:off x="3625470" y="5371509"/>
              <a:ext cx="147235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/>
                <a:t>출발지</a:t>
              </a:r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E848AA9E-2B7D-457E-A13B-6BB125F8B80D}"/>
                </a:ext>
              </a:extLst>
            </p:cNvPr>
            <p:cNvSpPr/>
            <p:nvPr/>
          </p:nvSpPr>
          <p:spPr>
            <a:xfrm>
              <a:off x="333153" y="3113774"/>
              <a:ext cx="161515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>
                  <a:solidFill>
                    <a:srgbClr val="00B050"/>
                  </a:solidFill>
                </a:rPr>
                <a:t>항공기 번호</a:t>
              </a: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CEF4010B-ED6E-474F-959F-B45DA57482BA}"/>
                </a:ext>
              </a:extLst>
            </p:cNvPr>
            <p:cNvSpPr/>
            <p:nvPr/>
          </p:nvSpPr>
          <p:spPr>
            <a:xfrm>
              <a:off x="2564668" y="3078556"/>
              <a:ext cx="137495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좌석 번호</a:t>
              </a: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043A0519-93DD-4B8D-9A98-50315B31C257}"/>
                </a:ext>
              </a:extLst>
            </p:cNvPr>
            <p:cNvSpPr/>
            <p:nvPr/>
          </p:nvSpPr>
          <p:spPr>
            <a:xfrm>
              <a:off x="3760635" y="3664704"/>
              <a:ext cx="135225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좌석 등급</a:t>
              </a: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A1061C72-D95D-483C-97A0-BC6B95722E65}"/>
                </a:ext>
              </a:extLst>
            </p:cNvPr>
            <p:cNvSpPr/>
            <p:nvPr/>
          </p:nvSpPr>
          <p:spPr>
            <a:xfrm>
              <a:off x="426062" y="5537707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/>
                <a:t>날짜</a:t>
              </a:r>
            </a:p>
          </p:txBody>
        </p: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97B7306F-722A-46CF-BC9B-477E01148DAF}"/>
                </a:ext>
              </a:extLst>
            </p:cNvPr>
            <p:cNvGrpSpPr/>
            <p:nvPr/>
          </p:nvGrpSpPr>
          <p:grpSpPr>
            <a:xfrm>
              <a:off x="38885" y="4399627"/>
              <a:ext cx="1429622" cy="444617"/>
              <a:chOff x="7521443" y="4982791"/>
              <a:chExt cx="1429622" cy="444617"/>
            </a:xfrm>
          </p:grpSpPr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0DC15D5A-6A80-456E-BD3B-E77BECE257A9}"/>
                  </a:ext>
                </a:extLst>
              </p:cNvPr>
              <p:cNvSpPr/>
              <p:nvPr/>
            </p:nvSpPr>
            <p:spPr>
              <a:xfrm>
                <a:off x="7521443" y="4982791"/>
                <a:ext cx="1429622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ko-KR" altLang="en-US" sz="1400"/>
                  <a:t>예약 번호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03E39339-E3ED-4B14-8A84-11042C10AC43}"/>
                  </a:ext>
                </a:extLst>
              </p:cNvPr>
              <p:cNvCxnSpPr/>
              <p:nvPr/>
            </p:nvCxnSpPr>
            <p:spPr>
              <a:xfrm>
                <a:off x="7888534" y="5326571"/>
                <a:ext cx="792000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E5FD2D1A-A924-4D37-BF4D-3DFCB58E1D5F}"/>
                </a:ext>
              </a:extLst>
            </p:cNvPr>
            <p:cNvSpPr/>
            <p:nvPr/>
          </p:nvSpPr>
          <p:spPr>
            <a:xfrm>
              <a:off x="1618235" y="5616415"/>
              <a:ext cx="147235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dirty="0"/>
                <a:t>가격</a:t>
              </a: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643FB946-C545-48E9-B899-A2EA3A53333D}"/>
                </a:ext>
              </a:extLst>
            </p:cNvPr>
            <p:cNvCxnSpPr>
              <a:cxnSpLocks/>
              <a:stCxn id="83" idx="0"/>
              <a:endCxn id="74" idx="2"/>
            </p:cNvCxnSpPr>
            <p:nvPr/>
          </p:nvCxnSpPr>
          <p:spPr>
            <a:xfrm flipV="1">
              <a:off x="2354413" y="4887045"/>
              <a:ext cx="0" cy="72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D8032D9A-0076-4279-B40A-CFB1BD2393A0}"/>
              </a:ext>
            </a:extLst>
          </p:cNvPr>
          <p:cNvSpPr txBox="1"/>
          <p:nvPr/>
        </p:nvSpPr>
        <p:spPr>
          <a:xfrm>
            <a:off x="6664568" y="1523361"/>
            <a:ext cx="51176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kern="0" spc="-70" dirty="0">
                <a:solidFill>
                  <a:srgbClr val="000000"/>
                </a:solidFill>
                <a:latin typeface="Calibri" panose="020F0502020204030204" pitchFamily="34" charset="0"/>
                <a:ea typeface="휴먼명조"/>
                <a:cs typeface="Calibri" panose="020F0502020204030204" pitchFamily="34" charset="0"/>
              </a:rPr>
              <a:t>○ </a:t>
            </a:r>
            <a:r>
              <a:rPr lang="ko-KR" altLang="en-US" dirty="0"/>
              <a:t>좌석 번호가 좌석 등급을 결정하여               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갱신 이상을 해결해야 한다</a:t>
            </a:r>
            <a:r>
              <a:rPr lang="en-US" altLang="ko-KR" dirty="0"/>
              <a:t>. (</a:t>
            </a:r>
            <a:r>
              <a:rPr lang="ko-KR" altLang="en-US" dirty="0" err="1"/>
              <a:t>이행적</a:t>
            </a:r>
            <a:r>
              <a:rPr lang="ko-KR" altLang="en-US" dirty="0"/>
              <a:t> 종속성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갱신 이상을 해결하기 위하여 무손실 분해 진행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C9230419-1E19-41AA-833A-027F329F1FA3}"/>
              </a:ext>
            </a:extLst>
          </p:cNvPr>
          <p:cNvCxnSpPr>
            <a:cxnSpLocks/>
          </p:cNvCxnSpPr>
          <p:nvPr/>
        </p:nvCxnSpPr>
        <p:spPr>
          <a:xfrm>
            <a:off x="3217336" y="4522079"/>
            <a:ext cx="7218" cy="326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7C30364D-CA7D-498F-B4B7-60C90D060FE8}"/>
              </a:ext>
            </a:extLst>
          </p:cNvPr>
          <p:cNvCxnSpPr/>
          <p:nvPr/>
        </p:nvCxnSpPr>
        <p:spPr>
          <a:xfrm>
            <a:off x="3226861" y="4848225"/>
            <a:ext cx="874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D4A39D17-381B-4516-8171-13B39CC3E3ED}"/>
              </a:ext>
            </a:extLst>
          </p:cNvPr>
          <p:cNvCxnSpPr>
            <a:cxnSpLocks/>
          </p:cNvCxnSpPr>
          <p:nvPr/>
        </p:nvCxnSpPr>
        <p:spPr>
          <a:xfrm flipV="1">
            <a:off x="4101654" y="4522080"/>
            <a:ext cx="1" cy="326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EBE9032-739B-4BC5-BB0F-4A357DBF490A}"/>
              </a:ext>
            </a:extLst>
          </p:cNvPr>
          <p:cNvSpPr/>
          <p:nvPr/>
        </p:nvSpPr>
        <p:spPr>
          <a:xfrm>
            <a:off x="76200" y="1431013"/>
            <a:ext cx="5871832" cy="386488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화살표: 오른쪽 101">
            <a:extLst>
              <a:ext uri="{FF2B5EF4-FFF2-40B4-BE49-F238E27FC236}">
                <a16:creationId xmlns:a16="http://schemas.microsoft.com/office/drawing/2014/main" id="{A5421508-1326-43EC-9706-74161BEF4306}"/>
              </a:ext>
            </a:extLst>
          </p:cNvPr>
          <p:cNvSpPr/>
          <p:nvPr/>
        </p:nvSpPr>
        <p:spPr>
          <a:xfrm>
            <a:off x="5998270" y="2834873"/>
            <a:ext cx="686248" cy="5539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7AAC4739-6DF4-4360-B1E8-3BBBAD640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004222"/>
              </p:ext>
            </p:extLst>
          </p:nvPr>
        </p:nvGraphicFramePr>
        <p:xfrm>
          <a:off x="6381152" y="4246299"/>
          <a:ext cx="5157073" cy="822960"/>
        </p:xfrm>
        <a:graphic>
          <a:graphicData uri="http://schemas.openxmlformats.org/drawingml/2006/table">
            <a:tbl>
              <a:tblPr/>
              <a:tblGrid>
                <a:gridCol w="546831">
                  <a:extLst>
                    <a:ext uri="{9D8B030D-6E8A-4147-A177-3AD203B41FA5}">
                      <a16:colId xmlns:a16="http://schemas.microsoft.com/office/drawing/2014/main" val="496407519"/>
                    </a:ext>
                  </a:extLst>
                </a:gridCol>
                <a:gridCol w="616792">
                  <a:extLst>
                    <a:ext uri="{9D8B030D-6E8A-4147-A177-3AD203B41FA5}">
                      <a16:colId xmlns:a16="http://schemas.microsoft.com/office/drawing/2014/main" val="3505886636"/>
                    </a:ext>
                  </a:extLst>
                </a:gridCol>
                <a:gridCol w="625202">
                  <a:extLst>
                    <a:ext uri="{9D8B030D-6E8A-4147-A177-3AD203B41FA5}">
                      <a16:colId xmlns:a16="http://schemas.microsoft.com/office/drawing/2014/main" val="528056634"/>
                    </a:ext>
                  </a:extLst>
                </a:gridCol>
                <a:gridCol w="781694">
                  <a:extLst>
                    <a:ext uri="{9D8B030D-6E8A-4147-A177-3AD203B41FA5}">
                      <a16:colId xmlns:a16="http://schemas.microsoft.com/office/drawing/2014/main" val="645807884"/>
                    </a:ext>
                  </a:extLst>
                </a:gridCol>
                <a:gridCol w="793719">
                  <a:extLst>
                    <a:ext uri="{9D8B030D-6E8A-4147-A177-3AD203B41FA5}">
                      <a16:colId xmlns:a16="http://schemas.microsoft.com/office/drawing/2014/main" val="1837881709"/>
                    </a:ext>
                  </a:extLst>
                </a:gridCol>
                <a:gridCol w="745616">
                  <a:extLst>
                    <a:ext uri="{9D8B030D-6E8A-4147-A177-3AD203B41FA5}">
                      <a16:colId xmlns:a16="http://schemas.microsoft.com/office/drawing/2014/main" val="3296605489"/>
                    </a:ext>
                  </a:extLst>
                </a:gridCol>
                <a:gridCol w="1047219">
                  <a:extLst>
                    <a:ext uri="{9D8B030D-6E8A-4147-A177-3AD203B41FA5}">
                      <a16:colId xmlns:a16="http://schemas.microsoft.com/office/drawing/2014/main" val="181694256"/>
                    </a:ext>
                  </a:extLst>
                </a:gridCol>
              </a:tblGrid>
              <a:tr h="0">
                <a:tc gridSpan="7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Airticket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4439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res_no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airplane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arrival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departure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seat_num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departure_date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310607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K2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K1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337052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6254CE14-23E7-49FA-B2B6-47040288B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659410"/>
              </p:ext>
            </p:extLst>
          </p:nvPr>
        </p:nvGraphicFramePr>
        <p:xfrm>
          <a:off x="7877615" y="3303497"/>
          <a:ext cx="2058162" cy="777240"/>
        </p:xfrm>
        <a:graphic>
          <a:graphicData uri="http://schemas.openxmlformats.org/drawingml/2006/table">
            <a:tbl>
              <a:tblPr/>
              <a:tblGrid>
                <a:gridCol w="1029081">
                  <a:extLst>
                    <a:ext uri="{9D8B030D-6E8A-4147-A177-3AD203B41FA5}">
                      <a16:colId xmlns:a16="http://schemas.microsoft.com/office/drawing/2014/main" val="1830842277"/>
                    </a:ext>
                  </a:extLst>
                </a:gridCol>
                <a:gridCol w="1029081">
                  <a:extLst>
                    <a:ext uri="{9D8B030D-6E8A-4147-A177-3AD203B41FA5}">
                      <a16:colId xmlns:a16="http://schemas.microsoft.com/office/drawing/2014/main" val="1223495835"/>
                    </a:ext>
                  </a:extLst>
                </a:gridCol>
              </a:tblGrid>
              <a:tr h="209550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Seat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851745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seat_num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Seat_class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1758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K1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719588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42D695C2-BEE5-4F80-B2E5-B8C63BC75EAC}"/>
              </a:ext>
            </a:extLst>
          </p:cNvPr>
          <p:cNvSpPr txBox="1"/>
          <p:nvPr/>
        </p:nvSpPr>
        <p:spPr>
          <a:xfrm>
            <a:off x="7507705" y="547076"/>
            <a:ext cx="435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제 </a:t>
            </a:r>
            <a:r>
              <a:rPr lang="en-US" altLang="ko-KR" dirty="0"/>
              <a:t>2</a:t>
            </a:r>
            <a:r>
              <a:rPr lang="ko-KR" altLang="en-US" dirty="0"/>
              <a:t>정규형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6DBB765-8152-4B3C-84F4-AA61EE85D1DE}"/>
              </a:ext>
            </a:extLst>
          </p:cNvPr>
          <p:cNvSpPr txBox="1"/>
          <p:nvPr/>
        </p:nvSpPr>
        <p:spPr>
          <a:xfrm>
            <a:off x="1165903" y="5538868"/>
            <a:ext cx="1042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최종적으로 결정자는 기본키를 제외하고</a:t>
            </a:r>
            <a:r>
              <a:rPr lang="en-US" altLang="ko-KR" dirty="0"/>
              <a:t> </a:t>
            </a:r>
            <a:r>
              <a:rPr lang="ko-KR" altLang="en-US" dirty="0"/>
              <a:t>존재하지 않는다</a:t>
            </a:r>
            <a:r>
              <a:rPr lang="en-US" altLang="ko-KR" dirty="0"/>
              <a:t>. </a:t>
            </a:r>
            <a:r>
              <a:rPr lang="ko-KR" altLang="en-US" dirty="0"/>
              <a:t>이에 따라 제 </a:t>
            </a:r>
            <a:r>
              <a:rPr lang="en-US" altLang="ko-KR" dirty="0"/>
              <a:t>3</a:t>
            </a:r>
            <a:r>
              <a:rPr lang="ko-KR" altLang="en-US" dirty="0"/>
              <a:t>정규형</a:t>
            </a:r>
            <a:r>
              <a:rPr lang="en-US" altLang="ko-KR" dirty="0"/>
              <a:t>, BCNF</a:t>
            </a:r>
            <a:r>
              <a:rPr lang="ko-KR" altLang="en-US" dirty="0"/>
              <a:t>를 만족</a:t>
            </a:r>
          </a:p>
        </p:txBody>
      </p:sp>
    </p:spTree>
    <p:extLst>
      <p:ext uri="{BB962C8B-B14F-4D97-AF65-F5344CB8AC3E}">
        <p14:creationId xmlns:p14="http://schemas.microsoft.com/office/powerpoint/2010/main" val="2671853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248B4F5-CFCA-45CB-9F09-2E7A6BC79573}"/>
              </a:ext>
            </a:extLst>
          </p:cNvPr>
          <p:cNvCxnSpPr/>
          <p:nvPr/>
        </p:nvCxnSpPr>
        <p:spPr>
          <a:xfrm>
            <a:off x="3084809" y="3543300"/>
            <a:ext cx="8792" cy="381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008" y="607592"/>
            <a:ext cx="2116284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스키마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29444CA-0BA3-4C18-BF3A-9A7C3DA77EFD}"/>
              </a:ext>
            </a:extLst>
          </p:cNvPr>
          <p:cNvCxnSpPr/>
          <p:nvPr/>
        </p:nvCxnSpPr>
        <p:spPr>
          <a:xfrm>
            <a:off x="4749486" y="5050692"/>
            <a:ext cx="285260" cy="133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228257D-38A1-40DC-A510-168B6A41E286}"/>
              </a:ext>
            </a:extLst>
          </p:cNvPr>
          <p:cNvCxnSpPr/>
          <p:nvPr/>
        </p:nvCxnSpPr>
        <p:spPr>
          <a:xfrm flipV="1">
            <a:off x="4770979" y="4887057"/>
            <a:ext cx="276467" cy="163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69F7AA6-E212-4FC8-B139-FC4F984FC8C0}"/>
              </a:ext>
            </a:extLst>
          </p:cNvPr>
          <p:cNvCxnSpPr/>
          <p:nvPr/>
        </p:nvCxnSpPr>
        <p:spPr>
          <a:xfrm flipV="1">
            <a:off x="6626644" y="3543300"/>
            <a:ext cx="1034561" cy="76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CF0A4C6-F7FD-4082-BE59-DF25975AF571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862920" y="2507244"/>
            <a:ext cx="54351" cy="13319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6F49D9C-D753-447E-9616-D67C2231DA74}"/>
              </a:ext>
            </a:extLst>
          </p:cNvPr>
          <p:cNvCxnSpPr>
            <a:cxnSpLocks/>
          </p:cNvCxnSpPr>
          <p:nvPr/>
        </p:nvCxnSpPr>
        <p:spPr>
          <a:xfrm>
            <a:off x="3918124" y="5030355"/>
            <a:ext cx="1418234" cy="39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B0B3F3F-EBA4-4874-A2CD-B8D32AD45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434324"/>
              </p:ext>
            </p:extLst>
          </p:nvPr>
        </p:nvGraphicFramePr>
        <p:xfrm>
          <a:off x="223890" y="2346243"/>
          <a:ext cx="149371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항공기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/>
                        <a:t>항공기 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기장</a:t>
                      </a:r>
                      <a:r>
                        <a:rPr lang="en-US" altLang="ko-KR" dirty="0"/>
                        <a:t>(FK)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승무원</a:t>
                      </a:r>
                      <a:r>
                        <a:rPr lang="en-US" altLang="ko-KR" dirty="0"/>
                        <a:t>(FK)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54D7446-53A2-4FC9-A869-7EA833B3B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3200"/>
              </p:ext>
            </p:extLst>
          </p:nvPr>
        </p:nvGraphicFramePr>
        <p:xfrm>
          <a:off x="2470814" y="609972"/>
          <a:ext cx="149371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공항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/>
                        <a:t>공항이름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전화번호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98EA2C1E-AC09-43D2-8FF8-C6E26E7BA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596628"/>
              </p:ext>
            </p:extLst>
          </p:nvPr>
        </p:nvGraphicFramePr>
        <p:xfrm>
          <a:off x="2607583" y="2484932"/>
          <a:ext cx="1816099" cy="1116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52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T-way</a:t>
                      </a:r>
                      <a:r>
                        <a:rPr lang="ko-KR" altLang="en-US" dirty="0"/>
                        <a:t> 항공사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/>
                        <a:t>경영자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공항이름</a:t>
                      </a:r>
                      <a:r>
                        <a:rPr lang="en-US" altLang="ko-KR" dirty="0"/>
                        <a:t>(FK)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3EAC58B-59AB-4389-A1F6-9FF11050F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475256"/>
              </p:ext>
            </p:extLst>
          </p:nvPr>
        </p:nvGraphicFramePr>
        <p:xfrm>
          <a:off x="2366682" y="3918438"/>
          <a:ext cx="155144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/>
                        <a:t>직원 번호</a:t>
                      </a:r>
                      <a:endParaRPr lang="en-US" altLang="ko-KR" u="sng" dirty="0"/>
                    </a:p>
                    <a:p>
                      <a:pPr algn="ctr" latinLnBrk="1"/>
                      <a:r>
                        <a:rPr lang="ko-KR" altLang="en-US" u="none" dirty="0"/>
                        <a:t>사원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급여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관리자</a:t>
                      </a:r>
                      <a:r>
                        <a:rPr lang="en-US" altLang="ko-KR" dirty="0"/>
                        <a:t>(FK)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A31B7AC8-7B8C-485A-BD85-50D276BA0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796448"/>
              </p:ext>
            </p:extLst>
          </p:nvPr>
        </p:nvGraphicFramePr>
        <p:xfrm>
          <a:off x="4992262" y="3839213"/>
          <a:ext cx="18500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소비자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/>
                        <a:t>여권번호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sz="1600" dirty="0"/>
                        <a:t>음식 예약 번호</a:t>
                      </a:r>
                      <a:r>
                        <a:rPr lang="en-US" altLang="ko-KR" sz="1600" dirty="0"/>
                        <a:t>(FK)</a:t>
                      </a:r>
                    </a:p>
                    <a:p>
                      <a:pPr algn="ctr" latinLnBrk="1"/>
                      <a:r>
                        <a:rPr lang="ko-KR" altLang="en-US" sz="1600" dirty="0"/>
                        <a:t>항공 예약 번호</a:t>
                      </a:r>
                      <a:r>
                        <a:rPr lang="en-US" altLang="ko-KR" sz="1600" dirty="0"/>
                        <a:t>(FK)</a:t>
                      </a:r>
                    </a:p>
                    <a:p>
                      <a:pPr algn="ctr" latinLnBrk="1"/>
                      <a:r>
                        <a:rPr lang="ko-KR" altLang="en-US" sz="1600" dirty="0"/>
                        <a:t>상품 예약 번호</a:t>
                      </a:r>
                      <a:r>
                        <a:rPr lang="en-US" altLang="ko-KR" sz="1600" dirty="0"/>
                        <a:t>(FK)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BF055FA5-B5DA-4256-9D75-2984B6BCF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269631"/>
              </p:ext>
            </p:extLst>
          </p:nvPr>
        </p:nvGraphicFramePr>
        <p:xfrm>
          <a:off x="7661204" y="324012"/>
          <a:ext cx="180242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항공권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u="sng" dirty="0"/>
                        <a:t>항공예약번호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none" dirty="0"/>
                        <a:t>항공기 번호</a:t>
                      </a:r>
                      <a:r>
                        <a:rPr lang="en-US" altLang="ko-KR" u="none" dirty="0"/>
                        <a:t>(FK)</a:t>
                      </a:r>
                    </a:p>
                    <a:p>
                      <a:pPr algn="ctr" latinLnBrk="1"/>
                      <a:r>
                        <a:rPr lang="ko-KR" altLang="en-US" u="none" dirty="0"/>
                        <a:t>출발지</a:t>
                      </a:r>
                      <a:endParaRPr lang="en-US" altLang="ko-KR" u="none" dirty="0"/>
                    </a:p>
                    <a:p>
                      <a:pPr algn="ctr" latinLnBrk="1"/>
                      <a:r>
                        <a:rPr lang="ko-KR" altLang="en-US" u="none" dirty="0"/>
                        <a:t>도착지</a:t>
                      </a:r>
                      <a:endParaRPr lang="en-US" altLang="ko-KR" u="none" dirty="0"/>
                    </a:p>
                    <a:p>
                      <a:pPr algn="ctr" latinLnBrk="1"/>
                      <a:r>
                        <a:rPr lang="ko-KR" altLang="en-US" u="none" dirty="0"/>
                        <a:t>좌석 번호</a:t>
                      </a:r>
                      <a:r>
                        <a:rPr lang="en-US" altLang="ko-KR" u="none" dirty="0"/>
                        <a:t>(FK) </a:t>
                      </a:r>
                      <a:r>
                        <a:rPr lang="ko-KR" altLang="en-US" u="none" dirty="0"/>
                        <a:t>탑승일</a:t>
                      </a:r>
                      <a:endParaRPr lang="en-US" altLang="ko-KR" u="none" dirty="0"/>
                    </a:p>
                    <a:p>
                      <a:pPr algn="ctr" latinLnBrk="1"/>
                      <a:r>
                        <a:rPr lang="ko-KR" altLang="en-US" u="none" dirty="0"/>
                        <a:t>가격</a:t>
                      </a:r>
                      <a:endParaRPr lang="en-US" altLang="ko-KR" u="none" dirty="0"/>
                    </a:p>
                    <a:p>
                      <a:pPr algn="ctr" latinLnBrk="1"/>
                      <a:r>
                        <a:rPr lang="ko-KR" altLang="en-US" u="none" dirty="0"/>
                        <a:t>팔린 좌석 수</a:t>
                      </a:r>
                      <a:endParaRPr lang="en-US" altLang="ko-KR" u="none" dirty="0"/>
                    </a:p>
                    <a:p>
                      <a:pPr algn="ctr" latinLnBrk="1"/>
                      <a:r>
                        <a:rPr lang="ko-KR" altLang="en-US" u="none" dirty="0"/>
                        <a:t>총 좌석 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EE8DBB0D-B734-43A5-9709-12E3C1059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298202"/>
              </p:ext>
            </p:extLst>
          </p:nvPr>
        </p:nvGraphicFramePr>
        <p:xfrm>
          <a:off x="5146605" y="495777"/>
          <a:ext cx="1767254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기내식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/>
                        <a:t>음식예약번호</a:t>
                      </a:r>
                      <a:endParaRPr lang="en-US" altLang="ko-KR" u="sng" dirty="0"/>
                    </a:p>
                    <a:p>
                      <a:pPr algn="ctr" latinLnBrk="1"/>
                      <a:r>
                        <a:rPr lang="ko-KR" altLang="en-US" u="none" dirty="0"/>
                        <a:t>음식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주문날짜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예약 </a:t>
                      </a:r>
                      <a:r>
                        <a:rPr lang="ko-KR" altLang="en-US" dirty="0" err="1"/>
                        <a:t>갯수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9392EB5-D2F8-4D83-97EF-FACEBC038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624471"/>
              </p:ext>
            </p:extLst>
          </p:nvPr>
        </p:nvGraphicFramePr>
        <p:xfrm>
          <a:off x="7576212" y="4239519"/>
          <a:ext cx="176725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면세품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/>
                        <a:t>상품번호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상품명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수량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예약 상품 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C423D54-9BE2-4B40-9A06-1B058A55119D}"/>
              </a:ext>
            </a:extLst>
          </p:cNvPr>
          <p:cNvCxnSpPr/>
          <p:nvPr/>
        </p:nvCxnSpPr>
        <p:spPr>
          <a:xfrm>
            <a:off x="1700021" y="2785697"/>
            <a:ext cx="158262" cy="184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09DA76B-5E0F-4AC3-88E3-DCCC3167B737}"/>
              </a:ext>
            </a:extLst>
          </p:cNvPr>
          <p:cNvCxnSpPr/>
          <p:nvPr/>
        </p:nvCxnSpPr>
        <p:spPr>
          <a:xfrm>
            <a:off x="1708813" y="2974731"/>
            <a:ext cx="879231" cy="3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7D8F9C8-0F9A-45D1-B1EF-31DB9E088A36}"/>
              </a:ext>
            </a:extLst>
          </p:cNvPr>
          <p:cNvCxnSpPr>
            <a:endCxn id="18" idx="3"/>
          </p:cNvCxnSpPr>
          <p:nvPr/>
        </p:nvCxnSpPr>
        <p:spPr>
          <a:xfrm flipH="1">
            <a:off x="1717605" y="2970335"/>
            <a:ext cx="140678" cy="1074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0F16B52-46E1-4281-BE8A-5198BF6E9896}"/>
              </a:ext>
            </a:extLst>
          </p:cNvPr>
          <p:cNvCxnSpPr/>
          <p:nvPr/>
        </p:nvCxnSpPr>
        <p:spPr>
          <a:xfrm>
            <a:off x="1858283" y="2878016"/>
            <a:ext cx="11722" cy="1997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BA14C87-FA3B-4857-81A7-B26040016834}"/>
              </a:ext>
            </a:extLst>
          </p:cNvPr>
          <p:cNvCxnSpPr/>
          <p:nvPr/>
        </p:nvCxnSpPr>
        <p:spPr>
          <a:xfrm>
            <a:off x="2476676" y="2870461"/>
            <a:ext cx="11722" cy="1997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A47943F-0F1E-47D8-A01D-DF01074381F0}"/>
              </a:ext>
            </a:extLst>
          </p:cNvPr>
          <p:cNvCxnSpPr/>
          <p:nvPr/>
        </p:nvCxnSpPr>
        <p:spPr>
          <a:xfrm>
            <a:off x="2374099" y="2864827"/>
            <a:ext cx="11722" cy="1997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B40A869-A4BE-47E1-AF68-82FBB847A2F8}"/>
              </a:ext>
            </a:extLst>
          </p:cNvPr>
          <p:cNvCxnSpPr/>
          <p:nvPr/>
        </p:nvCxnSpPr>
        <p:spPr>
          <a:xfrm>
            <a:off x="3171267" y="2045677"/>
            <a:ext cx="0" cy="381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39B1C0A-41F1-48B8-8C0A-C84D28596278}"/>
              </a:ext>
            </a:extLst>
          </p:cNvPr>
          <p:cNvCxnSpPr/>
          <p:nvPr/>
        </p:nvCxnSpPr>
        <p:spPr>
          <a:xfrm>
            <a:off x="3081879" y="2136303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3E3A9D3-995A-47E7-858B-0A4052D32F09}"/>
              </a:ext>
            </a:extLst>
          </p:cNvPr>
          <p:cNvCxnSpPr/>
          <p:nvPr/>
        </p:nvCxnSpPr>
        <p:spPr>
          <a:xfrm>
            <a:off x="3081879" y="2174175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08F66626-BBC4-45C4-8BE8-971CC5599FC3}"/>
              </a:ext>
            </a:extLst>
          </p:cNvPr>
          <p:cNvCxnSpPr/>
          <p:nvPr/>
        </p:nvCxnSpPr>
        <p:spPr>
          <a:xfrm>
            <a:off x="3073087" y="2326575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B18E702-1041-47C7-9FA3-E8B860A05467}"/>
              </a:ext>
            </a:extLst>
          </p:cNvPr>
          <p:cNvCxnSpPr/>
          <p:nvPr/>
        </p:nvCxnSpPr>
        <p:spPr>
          <a:xfrm>
            <a:off x="3084809" y="2300198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F0D57A7-DFAA-4B2C-B00B-09431A0E0F07}"/>
              </a:ext>
            </a:extLst>
          </p:cNvPr>
          <p:cNvCxnSpPr/>
          <p:nvPr/>
        </p:nvCxnSpPr>
        <p:spPr>
          <a:xfrm>
            <a:off x="2986629" y="3642718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FA0788F-19AF-409A-9A35-7818E2F078CF}"/>
              </a:ext>
            </a:extLst>
          </p:cNvPr>
          <p:cNvCxnSpPr/>
          <p:nvPr/>
        </p:nvCxnSpPr>
        <p:spPr>
          <a:xfrm>
            <a:off x="2979303" y="3621974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FB94182-20A1-4BA3-95B4-86B56B315198}"/>
              </a:ext>
            </a:extLst>
          </p:cNvPr>
          <p:cNvCxnSpPr/>
          <p:nvPr/>
        </p:nvCxnSpPr>
        <p:spPr>
          <a:xfrm>
            <a:off x="2991025" y="3733800"/>
            <a:ext cx="1963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864BF50-00CE-41AF-B2CE-825883308398}"/>
              </a:ext>
            </a:extLst>
          </p:cNvPr>
          <p:cNvCxnSpPr/>
          <p:nvPr/>
        </p:nvCxnSpPr>
        <p:spPr>
          <a:xfrm flipH="1">
            <a:off x="2979303" y="3733800"/>
            <a:ext cx="109902" cy="190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C28C6AA-F60E-4E90-B6DF-A5368648BC06}"/>
              </a:ext>
            </a:extLst>
          </p:cNvPr>
          <p:cNvCxnSpPr>
            <a:cxnSpLocks/>
          </p:cNvCxnSpPr>
          <p:nvPr/>
        </p:nvCxnSpPr>
        <p:spPr>
          <a:xfrm>
            <a:off x="3101906" y="3733800"/>
            <a:ext cx="53197" cy="184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2AD64A8-7794-40D0-A88C-A8A473CD2046}"/>
              </a:ext>
            </a:extLst>
          </p:cNvPr>
          <p:cNvCxnSpPr/>
          <p:nvPr/>
        </p:nvCxnSpPr>
        <p:spPr>
          <a:xfrm>
            <a:off x="3906890" y="4774223"/>
            <a:ext cx="149469" cy="2637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90998D7-29FC-4F65-B773-2061ECBC46D1}"/>
              </a:ext>
            </a:extLst>
          </p:cNvPr>
          <p:cNvCxnSpPr/>
          <p:nvPr/>
        </p:nvCxnSpPr>
        <p:spPr>
          <a:xfrm flipH="1">
            <a:off x="3906890" y="5041378"/>
            <a:ext cx="149469" cy="2603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02D5FF89-A6BE-4EFB-9210-D2F373A07982}"/>
              </a:ext>
            </a:extLst>
          </p:cNvPr>
          <p:cNvCxnSpPr/>
          <p:nvPr/>
        </p:nvCxnSpPr>
        <p:spPr>
          <a:xfrm flipH="1">
            <a:off x="4762186" y="4967654"/>
            <a:ext cx="8793" cy="2039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49F8C27E-8AC7-4D04-8886-2E4A26307C0F}"/>
              </a:ext>
            </a:extLst>
          </p:cNvPr>
          <p:cNvSpPr/>
          <p:nvPr/>
        </p:nvSpPr>
        <p:spPr>
          <a:xfrm>
            <a:off x="4056359" y="4967653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4EA002F-9103-4295-8E36-847080C4459F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6842281" y="4936493"/>
            <a:ext cx="766728" cy="252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73E93F1-A28E-40EB-99EB-25C06C30C446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6838504" y="4961791"/>
            <a:ext cx="223617" cy="1588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9519BCA-B074-4A90-A5FF-47CB0D3FB8DB}"/>
              </a:ext>
            </a:extLst>
          </p:cNvPr>
          <p:cNvCxnSpPr>
            <a:cxnSpLocks/>
          </p:cNvCxnSpPr>
          <p:nvPr/>
        </p:nvCxnSpPr>
        <p:spPr>
          <a:xfrm>
            <a:off x="6833692" y="4774223"/>
            <a:ext cx="232551" cy="2196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00CA5065-4E65-430C-BC9F-4908EEA34BFA}"/>
              </a:ext>
            </a:extLst>
          </p:cNvPr>
          <p:cNvCxnSpPr/>
          <p:nvPr/>
        </p:nvCxnSpPr>
        <p:spPr>
          <a:xfrm flipV="1">
            <a:off x="7379852" y="4906107"/>
            <a:ext cx="193430" cy="556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15DECEF-8F8E-4FFB-AE3D-6E33D5B7AA49}"/>
              </a:ext>
            </a:extLst>
          </p:cNvPr>
          <p:cNvCxnSpPr/>
          <p:nvPr/>
        </p:nvCxnSpPr>
        <p:spPr>
          <a:xfrm>
            <a:off x="7379852" y="4967654"/>
            <a:ext cx="193430" cy="737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BB704260-C7F1-4B55-9EB1-D1F8F114D3C0}"/>
              </a:ext>
            </a:extLst>
          </p:cNvPr>
          <p:cNvSpPr/>
          <p:nvPr/>
        </p:nvSpPr>
        <p:spPr>
          <a:xfrm>
            <a:off x="7062121" y="4893227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ㅊ</a:t>
            </a:r>
            <a:endParaRPr lang="ko-KR" altLang="en-US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55E4FA42-CFAF-46BD-BA48-8A05A48D3909}"/>
              </a:ext>
            </a:extLst>
          </p:cNvPr>
          <p:cNvSpPr/>
          <p:nvPr/>
        </p:nvSpPr>
        <p:spPr>
          <a:xfrm>
            <a:off x="7256759" y="4893227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85690C8-604F-4596-8C6E-13012C348550}"/>
              </a:ext>
            </a:extLst>
          </p:cNvPr>
          <p:cNvCxnSpPr>
            <a:cxnSpLocks/>
          </p:cNvCxnSpPr>
          <p:nvPr/>
        </p:nvCxnSpPr>
        <p:spPr>
          <a:xfrm flipV="1">
            <a:off x="5943602" y="2976310"/>
            <a:ext cx="153865" cy="188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A7877EA-0FC2-4339-9444-DB428F9BFDC5}"/>
              </a:ext>
            </a:extLst>
          </p:cNvPr>
          <p:cNvCxnSpPr/>
          <p:nvPr/>
        </p:nvCxnSpPr>
        <p:spPr>
          <a:xfrm flipH="1" flipV="1">
            <a:off x="5780686" y="2977889"/>
            <a:ext cx="149470" cy="187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79BE96D-875E-42D4-910D-AF3DF84607E0}"/>
              </a:ext>
            </a:extLst>
          </p:cNvPr>
          <p:cNvCxnSpPr/>
          <p:nvPr/>
        </p:nvCxnSpPr>
        <p:spPr>
          <a:xfrm flipH="1">
            <a:off x="5801633" y="4149969"/>
            <a:ext cx="94027" cy="159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14C1ACA8-8EA3-447E-8084-D8D0B6C9CAFB}"/>
              </a:ext>
            </a:extLst>
          </p:cNvPr>
          <p:cNvCxnSpPr/>
          <p:nvPr/>
        </p:nvCxnSpPr>
        <p:spPr>
          <a:xfrm>
            <a:off x="5895660" y="4149969"/>
            <a:ext cx="134572" cy="159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477967B1-E400-454D-830E-9DCC3FE6D2F8}"/>
              </a:ext>
            </a:extLst>
          </p:cNvPr>
          <p:cNvSpPr/>
          <p:nvPr/>
        </p:nvSpPr>
        <p:spPr>
          <a:xfrm>
            <a:off x="5882056" y="3165231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10946317-1B8F-4572-92BD-62F98C23BD99}"/>
              </a:ext>
            </a:extLst>
          </p:cNvPr>
          <p:cNvSpPr/>
          <p:nvPr/>
        </p:nvSpPr>
        <p:spPr>
          <a:xfrm>
            <a:off x="5853406" y="4092786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60D9619-9114-4CCB-8309-D82A90431911}"/>
              </a:ext>
            </a:extLst>
          </p:cNvPr>
          <p:cNvCxnSpPr>
            <a:cxnSpLocks/>
          </p:cNvCxnSpPr>
          <p:nvPr/>
        </p:nvCxnSpPr>
        <p:spPr>
          <a:xfrm flipH="1">
            <a:off x="6847927" y="3920632"/>
            <a:ext cx="290564" cy="4057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7940851-FAB8-4A11-9C09-D93E27F13F63}"/>
              </a:ext>
            </a:extLst>
          </p:cNvPr>
          <p:cNvCxnSpPr/>
          <p:nvPr/>
        </p:nvCxnSpPr>
        <p:spPr>
          <a:xfrm flipH="1">
            <a:off x="6833692" y="3920632"/>
            <a:ext cx="287216" cy="799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20EA1283-221C-4AD8-AC0D-19F58CBA0420}"/>
              </a:ext>
            </a:extLst>
          </p:cNvPr>
          <p:cNvCxnSpPr/>
          <p:nvPr/>
        </p:nvCxnSpPr>
        <p:spPr>
          <a:xfrm flipV="1">
            <a:off x="7568886" y="3367455"/>
            <a:ext cx="92319" cy="2545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18DAB9F5-A53C-4AF1-BD26-680D8184F310}"/>
              </a:ext>
            </a:extLst>
          </p:cNvPr>
          <p:cNvCxnSpPr/>
          <p:nvPr/>
        </p:nvCxnSpPr>
        <p:spPr>
          <a:xfrm>
            <a:off x="7568886" y="3621974"/>
            <a:ext cx="92319" cy="111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타원 64">
            <a:extLst>
              <a:ext uri="{FF2B5EF4-FFF2-40B4-BE49-F238E27FC236}">
                <a16:creationId xmlns:a16="http://schemas.microsoft.com/office/drawing/2014/main" id="{3A9CE486-969C-4A01-AB6C-719C5C5A1D50}"/>
              </a:ext>
            </a:extLst>
          </p:cNvPr>
          <p:cNvSpPr/>
          <p:nvPr/>
        </p:nvSpPr>
        <p:spPr>
          <a:xfrm>
            <a:off x="7082377" y="3850285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2BB93088-F308-4368-8AF0-10C024A54C37}"/>
              </a:ext>
            </a:extLst>
          </p:cNvPr>
          <p:cNvSpPr/>
          <p:nvPr/>
        </p:nvSpPr>
        <p:spPr>
          <a:xfrm>
            <a:off x="7450189" y="3575309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3D20AE-A3C1-486B-9458-433C0D0EE4A1}"/>
              </a:ext>
            </a:extLst>
          </p:cNvPr>
          <p:cNvCxnSpPr/>
          <p:nvPr/>
        </p:nvCxnSpPr>
        <p:spPr>
          <a:xfrm>
            <a:off x="9463629" y="2045677"/>
            <a:ext cx="7023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332A0142-0E58-407C-85E2-656BA99AB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135451"/>
              </p:ext>
            </p:extLst>
          </p:nvPr>
        </p:nvGraphicFramePr>
        <p:xfrm>
          <a:off x="10004752" y="1413672"/>
          <a:ext cx="176725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u="sng" dirty="0"/>
                        <a:t>좌석 번호</a:t>
                      </a:r>
                      <a:r>
                        <a:rPr lang="en-US" altLang="ko-KR" u="sng" dirty="0"/>
                        <a:t>(PK)</a:t>
                      </a:r>
                      <a:endParaRPr lang="ko-KR" alt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좌석 등급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D869F4D-03B2-48C4-9E77-17B295571BB7}"/>
              </a:ext>
            </a:extLst>
          </p:cNvPr>
          <p:cNvCxnSpPr/>
          <p:nvPr/>
        </p:nvCxnSpPr>
        <p:spPr>
          <a:xfrm flipV="1">
            <a:off x="9814804" y="1863790"/>
            <a:ext cx="189948" cy="1818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30FEB909-C3D9-427A-8308-3F05E9B00A24}"/>
              </a:ext>
            </a:extLst>
          </p:cNvPr>
          <p:cNvCxnSpPr/>
          <p:nvPr/>
        </p:nvCxnSpPr>
        <p:spPr>
          <a:xfrm>
            <a:off x="9814804" y="2045677"/>
            <a:ext cx="189948" cy="190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1ECFDE3-2953-4A54-9462-771982B76C47}"/>
              </a:ext>
            </a:extLst>
          </p:cNvPr>
          <p:cNvCxnSpPr/>
          <p:nvPr/>
        </p:nvCxnSpPr>
        <p:spPr>
          <a:xfrm>
            <a:off x="9787910" y="1889797"/>
            <a:ext cx="0" cy="3495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D6BF3FD-0BDD-44A1-AAA7-D98B429059D4}"/>
              </a:ext>
            </a:extLst>
          </p:cNvPr>
          <p:cNvCxnSpPr/>
          <p:nvPr/>
        </p:nvCxnSpPr>
        <p:spPr>
          <a:xfrm>
            <a:off x="9503970" y="1892765"/>
            <a:ext cx="0" cy="3429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타원 72">
            <a:extLst>
              <a:ext uri="{FF2B5EF4-FFF2-40B4-BE49-F238E27FC236}">
                <a16:creationId xmlns:a16="http://schemas.microsoft.com/office/drawing/2014/main" id="{6B787FF9-E823-4A01-B689-7A7C22D1E4E7}"/>
              </a:ext>
            </a:extLst>
          </p:cNvPr>
          <p:cNvSpPr/>
          <p:nvPr/>
        </p:nvSpPr>
        <p:spPr>
          <a:xfrm>
            <a:off x="9538848" y="1977113"/>
            <a:ext cx="123093" cy="1371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7A791E9-F061-4234-B243-35FEF839351C}"/>
              </a:ext>
            </a:extLst>
          </p:cNvPr>
          <p:cNvCxnSpPr/>
          <p:nvPr/>
        </p:nvCxnSpPr>
        <p:spPr>
          <a:xfrm flipH="1">
            <a:off x="7661204" y="3601686"/>
            <a:ext cx="18024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D8141AC-857C-4D4A-886B-913B69236BD5}"/>
              </a:ext>
            </a:extLst>
          </p:cNvPr>
          <p:cNvCxnSpPr/>
          <p:nvPr/>
        </p:nvCxnSpPr>
        <p:spPr>
          <a:xfrm>
            <a:off x="10004752" y="2513507"/>
            <a:ext cx="17672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313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 descr="트로피">
            <a:extLst>
              <a:ext uri="{FF2B5EF4-FFF2-40B4-BE49-F238E27FC236}">
                <a16:creationId xmlns:a16="http://schemas.microsoft.com/office/drawing/2014/main" id="{006C6511-889D-438A-9B9C-F4279E2055B6}"/>
              </a:ext>
            </a:extLst>
          </p:cNvPr>
          <p:cNvSpPr/>
          <p:nvPr/>
        </p:nvSpPr>
        <p:spPr>
          <a:xfrm>
            <a:off x="7725739" y="2054086"/>
            <a:ext cx="2306155" cy="2339169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146219A-B057-4C4A-A053-D7DCD7983DFA}"/>
              </a:ext>
            </a:extLst>
          </p:cNvPr>
          <p:cNvSpPr txBox="1">
            <a:spLocks/>
          </p:cNvSpPr>
          <p:nvPr/>
        </p:nvSpPr>
        <p:spPr>
          <a:xfrm>
            <a:off x="1427226" y="1431506"/>
            <a:ext cx="5350092" cy="3994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600" dirty="0"/>
              <a:t>물리적 설계</a:t>
            </a:r>
            <a:endParaRPr lang="ko-KR" altLang="en-US" sz="66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5354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3200" dirty="0" err="1"/>
              <a:t>T’way</a:t>
            </a:r>
            <a:r>
              <a:rPr lang="en-US" altLang="ko-KR" sz="3200" dirty="0"/>
              <a:t> </a:t>
            </a:r>
            <a:r>
              <a:rPr lang="ko-KR" altLang="en-US" sz="3200" dirty="0"/>
              <a:t>항공사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772165" y="2105818"/>
            <a:ext cx="4788464" cy="3365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create table </a:t>
            </a:r>
            <a:r>
              <a:rPr lang="en-US" altLang="ko-KR" dirty="0" err="1"/>
              <a:t>tway_airline</a:t>
            </a:r>
            <a:r>
              <a:rPr lang="en-US" altLang="ko-KR" dirty="0"/>
              <a:t>(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en-US" altLang="ko-KR" dirty="0" err="1"/>
              <a:t>ceo</a:t>
            </a:r>
            <a:r>
              <a:rPr lang="en-US" altLang="ko-KR" dirty="0"/>
              <a:t> char(20), --</a:t>
            </a:r>
            <a:r>
              <a:rPr lang="ko-KR" altLang="en-US" dirty="0"/>
              <a:t>경영자 </a:t>
            </a:r>
            <a:r>
              <a:rPr lang="ko-KR" altLang="en-US" dirty="0" err="1"/>
              <a:t>기본키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airportname</a:t>
            </a:r>
            <a:r>
              <a:rPr lang="en-US" altLang="ko-KR" dirty="0"/>
              <a:t> char(20), -- </a:t>
            </a:r>
            <a:r>
              <a:rPr lang="ko-KR" altLang="en-US" dirty="0"/>
              <a:t>공항이름 </a:t>
            </a:r>
            <a:r>
              <a:rPr lang="ko-KR" altLang="en-US" dirty="0" err="1"/>
              <a:t>외래키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foreign key (</a:t>
            </a:r>
            <a:r>
              <a:rPr lang="en-US" altLang="ko-KR" dirty="0" err="1"/>
              <a:t>airportname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references airport(</a:t>
            </a:r>
            <a:r>
              <a:rPr lang="en-US" altLang="ko-KR" dirty="0" err="1"/>
              <a:t>aptname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    on delete cascade,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primary key(</a:t>
            </a:r>
            <a:r>
              <a:rPr lang="en-US" altLang="ko-KR" dirty="0" err="1"/>
              <a:t>ceo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);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1C91FD4-C0B8-427E-8F0C-06B69FCDC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696912"/>
              </p:ext>
            </p:extLst>
          </p:nvPr>
        </p:nvGraphicFramePr>
        <p:xfrm>
          <a:off x="544356" y="1956054"/>
          <a:ext cx="6082665" cy="3322530"/>
        </p:xfrm>
        <a:graphic>
          <a:graphicData uri="http://schemas.openxmlformats.org/drawingml/2006/table">
            <a:tbl>
              <a:tblPr/>
              <a:tblGrid>
                <a:gridCol w="707771">
                  <a:extLst>
                    <a:ext uri="{9D8B030D-6E8A-4147-A177-3AD203B41FA5}">
                      <a16:colId xmlns:a16="http://schemas.microsoft.com/office/drawing/2014/main" val="2174497035"/>
                    </a:ext>
                  </a:extLst>
                </a:gridCol>
                <a:gridCol w="898779">
                  <a:extLst>
                    <a:ext uri="{9D8B030D-6E8A-4147-A177-3AD203B41FA5}">
                      <a16:colId xmlns:a16="http://schemas.microsoft.com/office/drawing/2014/main" val="199216389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466271613"/>
                    </a:ext>
                  </a:extLst>
                </a:gridCol>
                <a:gridCol w="822452">
                  <a:extLst>
                    <a:ext uri="{9D8B030D-6E8A-4147-A177-3AD203B41FA5}">
                      <a16:colId xmlns:a16="http://schemas.microsoft.com/office/drawing/2014/main" val="332717384"/>
                    </a:ext>
                  </a:extLst>
                </a:gridCol>
                <a:gridCol w="745998">
                  <a:extLst>
                    <a:ext uri="{9D8B030D-6E8A-4147-A177-3AD203B41FA5}">
                      <a16:colId xmlns:a16="http://schemas.microsoft.com/office/drawing/2014/main" val="1991971350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475022174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2574766262"/>
                    </a:ext>
                  </a:extLst>
                </a:gridCol>
                <a:gridCol w="707898">
                  <a:extLst>
                    <a:ext uri="{9D8B030D-6E8A-4147-A177-3AD203B41FA5}">
                      <a16:colId xmlns:a16="http://schemas.microsoft.com/office/drawing/2014/main" val="3495086459"/>
                    </a:ext>
                  </a:extLst>
                </a:gridCol>
              </a:tblGrid>
              <a:tr h="553755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타입명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티웨이 항공사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44025"/>
                  </a:ext>
                </a:extLst>
              </a:tr>
              <a:tr h="553755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Tway_Airline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배준일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557610"/>
                  </a:ext>
                </a:extLst>
              </a:tr>
              <a:tr h="553755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경영자와 공항이름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245657"/>
                  </a:ext>
                </a:extLst>
              </a:tr>
              <a:tr h="55375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766856"/>
                  </a:ext>
                </a:extLst>
              </a:tr>
              <a:tr h="55375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ceo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경영자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887053"/>
                  </a:ext>
                </a:extLst>
              </a:tr>
              <a:tr h="55375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airportname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공항이름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87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132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항공사 직원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627021" y="1614470"/>
            <a:ext cx="5265089" cy="46115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CREATE TABLE </a:t>
            </a:r>
            <a:r>
              <a:rPr lang="en-US" altLang="ko-KR" dirty="0" err="1"/>
              <a:t>Tway_EMPLOYEE</a:t>
            </a:r>
            <a:r>
              <a:rPr lang="en-US" altLang="ko-KR" dirty="0"/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EMPNO NUMBER, -- </a:t>
            </a:r>
            <a:r>
              <a:rPr lang="ko-KR" altLang="en-US" dirty="0"/>
              <a:t>사원번호 </a:t>
            </a:r>
            <a:r>
              <a:rPr lang="ko-KR" altLang="en-US" dirty="0" err="1"/>
              <a:t>기본키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EMPNAME CHAR(10) not null, -- </a:t>
            </a:r>
            <a:r>
              <a:rPr lang="ko-KR" altLang="en-US" dirty="0"/>
              <a:t>사원이름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TITLE CHAR(10) DEFAULT '</a:t>
            </a:r>
            <a:r>
              <a:rPr lang="ko-KR" altLang="en-US" dirty="0"/>
              <a:t>사원</a:t>
            </a:r>
            <a:r>
              <a:rPr lang="en-US" altLang="ko-KR" dirty="0"/>
              <a:t>', -- </a:t>
            </a:r>
            <a:r>
              <a:rPr lang="ko-KR" altLang="en-US" dirty="0"/>
              <a:t>직급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DEPTNAME CHAR(15), -- </a:t>
            </a:r>
            <a:r>
              <a:rPr lang="ko-KR" altLang="en-US" dirty="0"/>
              <a:t>부서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MANAGER NUMBER, -- </a:t>
            </a:r>
            <a:r>
              <a:rPr lang="ko-KR" altLang="en-US" dirty="0"/>
              <a:t>관리자 </a:t>
            </a:r>
            <a:r>
              <a:rPr lang="ko-KR" altLang="en-US" dirty="0" err="1"/>
              <a:t>외래키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SALARY NUMBER, -- </a:t>
            </a:r>
            <a:r>
              <a:rPr lang="ko-KR" altLang="en-US" dirty="0"/>
              <a:t>급여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FOREIGN KEY(MANAGER) REFERENCES </a:t>
            </a:r>
            <a:r>
              <a:rPr lang="en-US" altLang="ko-KR" dirty="0" err="1"/>
              <a:t>Tway_EMPLOYEE</a:t>
            </a:r>
            <a:r>
              <a:rPr lang="en-US" altLang="ko-KR" dirty="0"/>
              <a:t>(EMPNO) on delete cascade,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PRIMARY KEY(EMPNO)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);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2EE990A-CB0A-40B4-B3E6-7C59F7AAF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489697"/>
              </p:ext>
            </p:extLst>
          </p:nvPr>
        </p:nvGraphicFramePr>
        <p:xfrm>
          <a:off x="299890" y="1969040"/>
          <a:ext cx="6082665" cy="3389362"/>
        </p:xfrm>
        <a:graphic>
          <a:graphicData uri="http://schemas.openxmlformats.org/drawingml/2006/table">
            <a:tbl>
              <a:tblPr/>
              <a:tblGrid>
                <a:gridCol w="707771">
                  <a:extLst>
                    <a:ext uri="{9D8B030D-6E8A-4147-A177-3AD203B41FA5}">
                      <a16:colId xmlns:a16="http://schemas.microsoft.com/office/drawing/2014/main" val="1028658762"/>
                    </a:ext>
                  </a:extLst>
                </a:gridCol>
                <a:gridCol w="898779">
                  <a:extLst>
                    <a:ext uri="{9D8B030D-6E8A-4147-A177-3AD203B41FA5}">
                      <a16:colId xmlns:a16="http://schemas.microsoft.com/office/drawing/2014/main" val="132207717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1763879476"/>
                    </a:ext>
                  </a:extLst>
                </a:gridCol>
                <a:gridCol w="822452">
                  <a:extLst>
                    <a:ext uri="{9D8B030D-6E8A-4147-A177-3AD203B41FA5}">
                      <a16:colId xmlns:a16="http://schemas.microsoft.com/office/drawing/2014/main" val="1701387896"/>
                    </a:ext>
                  </a:extLst>
                </a:gridCol>
                <a:gridCol w="745998">
                  <a:extLst>
                    <a:ext uri="{9D8B030D-6E8A-4147-A177-3AD203B41FA5}">
                      <a16:colId xmlns:a16="http://schemas.microsoft.com/office/drawing/2014/main" val="3770069333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2613601362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1202407214"/>
                    </a:ext>
                  </a:extLst>
                </a:gridCol>
                <a:gridCol w="707898">
                  <a:extLst>
                    <a:ext uri="{9D8B030D-6E8A-4147-A177-3AD203B41FA5}">
                      <a16:colId xmlns:a16="http://schemas.microsoft.com/office/drawing/2014/main" val="3131311977"/>
                    </a:ext>
                  </a:extLst>
                </a:gridCol>
              </a:tblGrid>
              <a:tr h="325703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타입명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직원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020679"/>
                  </a:ext>
                </a:extLst>
              </a:tr>
              <a:tr h="325703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Tway-Employee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류연동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678663"/>
                  </a:ext>
                </a:extLst>
              </a:tr>
              <a:tr h="325703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사원 정보를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32815"/>
                  </a:ext>
                </a:extLst>
              </a:tr>
              <a:tr h="32570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989796"/>
                  </a:ext>
                </a:extLst>
              </a:tr>
              <a:tr h="32570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Empno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사원번호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PK.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37997"/>
                  </a:ext>
                </a:extLst>
              </a:tr>
              <a:tr h="32570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Empname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사원이름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409555"/>
                  </a:ext>
                </a:extLst>
              </a:tr>
              <a:tr h="35878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TITLE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직급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‘사원’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687110"/>
                  </a:ext>
                </a:extLst>
              </a:tr>
              <a:tr h="35878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Deptname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부서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801416"/>
                  </a:ext>
                </a:extLst>
              </a:tr>
              <a:tr h="35878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Manager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관리자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405908"/>
                  </a:ext>
                </a:extLst>
              </a:tr>
              <a:tr h="35878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Salary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급여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794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7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소비자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181129" y="883349"/>
            <a:ext cx="5982878" cy="5955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create table customer(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en-US" altLang="ko-KR" sz="1600" dirty="0" err="1"/>
              <a:t>passport_no</a:t>
            </a:r>
            <a:r>
              <a:rPr lang="en-US" altLang="ko-KR" sz="1600" dirty="0"/>
              <a:t> Number, -- </a:t>
            </a:r>
            <a:r>
              <a:rPr lang="ko-KR" altLang="en-US" sz="1600" dirty="0"/>
              <a:t>여권번호</a:t>
            </a:r>
            <a:r>
              <a:rPr lang="en-US" altLang="ko-KR" sz="1600" dirty="0"/>
              <a:t>(</a:t>
            </a:r>
            <a:r>
              <a:rPr lang="ko-KR" altLang="en-US" sz="1600" dirty="0" err="1"/>
              <a:t>기본키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name char(50) not null, -- </a:t>
            </a:r>
            <a:r>
              <a:rPr lang="ko-KR" altLang="en-US" sz="1600" dirty="0"/>
              <a:t>소비자 이름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id char(50) UNIQUE not null, -- </a:t>
            </a:r>
            <a:r>
              <a:rPr lang="ko-KR" altLang="en-US" sz="1600" dirty="0"/>
              <a:t>소비자가 사용하는 </a:t>
            </a:r>
            <a:r>
              <a:rPr lang="en-US" altLang="ko-KR" sz="1600" dirty="0"/>
              <a:t>ID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  <a:r>
              <a:rPr lang="en-US" altLang="ko-KR" sz="1600" dirty="0" err="1"/>
              <a:t>food_rv_num</a:t>
            </a:r>
            <a:r>
              <a:rPr lang="en-US" altLang="ko-KR" sz="1600" dirty="0"/>
              <a:t> char(30) default null, --</a:t>
            </a:r>
            <a:r>
              <a:rPr lang="ko-KR" altLang="en-US" sz="1600" dirty="0"/>
              <a:t>기내식예약번호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 err="1"/>
              <a:t>airplane_rv_num</a:t>
            </a:r>
            <a:r>
              <a:rPr lang="en-US" altLang="ko-KR" sz="1600" dirty="0"/>
              <a:t> char(30) default null, --</a:t>
            </a:r>
            <a:r>
              <a:rPr lang="ko-KR" altLang="en-US" sz="1600" dirty="0"/>
              <a:t>항공권번호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 err="1"/>
              <a:t>dutyfreeitem_rv_num</a:t>
            </a:r>
            <a:r>
              <a:rPr lang="en-US" altLang="ko-KR" sz="1600" dirty="0"/>
              <a:t> char(30) default null, --</a:t>
            </a:r>
            <a:r>
              <a:rPr lang="ko-KR" altLang="en-US" sz="1600" dirty="0"/>
              <a:t>면세품 예약 번호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PRIMARY key (</a:t>
            </a:r>
            <a:r>
              <a:rPr lang="en-US" altLang="ko-KR" sz="1600" dirty="0" err="1"/>
              <a:t>passport_no</a:t>
            </a:r>
            <a:r>
              <a:rPr lang="en-US" altLang="ko-KR" sz="1600" dirty="0"/>
              <a:t>), -- </a:t>
            </a:r>
            <a:r>
              <a:rPr lang="ko-KR" altLang="en-US" sz="1600" dirty="0"/>
              <a:t>여권번호를 기본키로 선정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foreign key(</a:t>
            </a:r>
            <a:r>
              <a:rPr lang="en-US" altLang="ko-KR" sz="1600" dirty="0" err="1"/>
              <a:t>food_rv_num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REFERENCES </a:t>
            </a:r>
            <a:r>
              <a:rPr lang="en-US" altLang="ko-KR" sz="1600" dirty="0" err="1"/>
              <a:t>airplanefood</a:t>
            </a:r>
            <a:r>
              <a:rPr lang="en-US" altLang="ko-KR" sz="1600" dirty="0"/>
              <a:t>(</a:t>
            </a:r>
            <a:r>
              <a:rPr lang="en-US" altLang="ko-KR" sz="1600" dirty="0" err="1"/>
              <a:t>foodRvNum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on delete cascade, -- </a:t>
            </a:r>
            <a:r>
              <a:rPr lang="ko-KR" altLang="en-US" sz="1600" dirty="0"/>
              <a:t>외래키로 참조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foreign key(</a:t>
            </a:r>
            <a:r>
              <a:rPr lang="en-US" altLang="ko-KR" sz="1600" dirty="0" err="1"/>
              <a:t>airplane_rv_num</a:t>
            </a:r>
            <a:r>
              <a:rPr lang="en-US" altLang="ko-KR" sz="1600" dirty="0"/>
              <a:t>) REFERENCES </a:t>
            </a:r>
            <a:r>
              <a:rPr lang="en-US" altLang="ko-KR" sz="1600" dirty="0" err="1"/>
              <a:t>airticket</a:t>
            </a:r>
            <a:r>
              <a:rPr lang="en-US" altLang="ko-KR" sz="1600" dirty="0"/>
              <a:t>(</a:t>
            </a:r>
            <a:r>
              <a:rPr lang="en-US" altLang="ko-KR" sz="1600" dirty="0" err="1"/>
              <a:t>res_no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on delete cascade, -- </a:t>
            </a:r>
            <a:r>
              <a:rPr lang="ko-KR" altLang="en-US" sz="1600" dirty="0"/>
              <a:t>외래키로 참조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foreign key(</a:t>
            </a:r>
            <a:r>
              <a:rPr lang="en-US" altLang="ko-KR" sz="1600" dirty="0" err="1"/>
              <a:t>dutyfreeitem_rv_num</a:t>
            </a:r>
            <a:r>
              <a:rPr lang="en-US" altLang="ko-KR" sz="1600" dirty="0"/>
              <a:t>) REFERENCES </a:t>
            </a:r>
            <a:r>
              <a:rPr lang="en-US" altLang="ko-KR" sz="1600" dirty="0" err="1"/>
              <a:t>dutyfreeitem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item_rv_NO</a:t>
            </a:r>
            <a:r>
              <a:rPr lang="en-US" altLang="ko-KR" sz="1600" dirty="0"/>
              <a:t>) on delete cascade -- </a:t>
            </a:r>
            <a:r>
              <a:rPr lang="ko-KR" altLang="en-US" sz="1600" dirty="0"/>
              <a:t>외래키로 참조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);</a:t>
            </a:r>
            <a:endParaRPr lang="ko-KR" altLang="en-US" sz="16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10435F2-06F3-4082-B50B-674654704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88034"/>
              </p:ext>
            </p:extLst>
          </p:nvPr>
        </p:nvGraphicFramePr>
        <p:xfrm>
          <a:off x="182554" y="1433145"/>
          <a:ext cx="5924804" cy="4792844"/>
        </p:xfrm>
        <a:graphic>
          <a:graphicData uri="http://schemas.openxmlformats.org/drawingml/2006/table">
            <a:tbl>
              <a:tblPr/>
              <a:tblGrid>
                <a:gridCol w="665988">
                  <a:extLst>
                    <a:ext uri="{9D8B030D-6E8A-4147-A177-3AD203B41FA5}">
                      <a16:colId xmlns:a16="http://schemas.microsoft.com/office/drawing/2014/main" val="1788177807"/>
                    </a:ext>
                  </a:extLst>
                </a:gridCol>
                <a:gridCol w="1205103">
                  <a:extLst>
                    <a:ext uri="{9D8B030D-6E8A-4147-A177-3AD203B41FA5}">
                      <a16:colId xmlns:a16="http://schemas.microsoft.com/office/drawing/2014/main" val="2170653861"/>
                    </a:ext>
                  </a:extLst>
                </a:gridCol>
                <a:gridCol w="737870">
                  <a:extLst>
                    <a:ext uri="{9D8B030D-6E8A-4147-A177-3AD203B41FA5}">
                      <a16:colId xmlns:a16="http://schemas.microsoft.com/office/drawing/2014/main" val="3889380725"/>
                    </a:ext>
                  </a:extLst>
                </a:gridCol>
                <a:gridCol w="773811">
                  <a:extLst>
                    <a:ext uri="{9D8B030D-6E8A-4147-A177-3AD203B41FA5}">
                      <a16:colId xmlns:a16="http://schemas.microsoft.com/office/drawing/2014/main" val="3500382542"/>
                    </a:ext>
                  </a:extLst>
                </a:gridCol>
                <a:gridCol w="701929">
                  <a:extLst>
                    <a:ext uri="{9D8B030D-6E8A-4147-A177-3AD203B41FA5}">
                      <a16:colId xmlns:a16="http://schemas.microsoft.com/office/drawing/2014/main" val="285480738"/>
                    </a:ext>
                  </a:extLst>
                </a:gridCol>
                <a:gridCol w="665988">
                  <a:extLst>
                    <a:ext uri="{9D8B030D-6E8A-4147-A177-3AD203B41FA5}">
                      <a16:colId xmlns:a16="http://schemas.microsoft.com/office/drawing/2014/main" val="3687827333"/>
                    </a:ext>
                  </a:extLst>
                </a:gridCol>
                <a:gridCol w="665988">
                  <a:extLst>
                    <a:ext uri="{9D8B030D-6E8A-4147-A177-3AD203B41FA5}">
                      <a16:colId xmlns:a16="http://schemas.microsoft.com/office/drawing/2014/main" val="314656990"/>
                    </a:ext>
                  </a:extLst>
                </a:gridCol>
                <a:gridCol w="508127">
                  <a:extLst>
                    <a:ext uri="{9D8B030D-6E8A-4147-A177-3AD203B41FA5}">
                      <a16:colId xmlns:a16="http://schemas.microsoft.com/office/drawing/2014/main" val="3002647597"/>
                    </a:ext>
                  </a:extLst>
                </a:gridCol>
              </a:tblGrid>
              <a:tr h="46057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타입명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소비자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021600"/>
                  </a:ext>
                </a:extLst>
              </a:tr>
              <a:tr h="46057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Customer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정우영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617488"/>
                  </a:ext>
                </a:extLst>
              </a:tr>
              <a:tr h="46057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여권번호와 소비자 이름 소비자의 사용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ID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130518"/>
                  </a:ext>
                </a:extLst>
              </a:tr>
              <a:tr h="4605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760077"/>
                  </a:ext>
                </a:extLst>
              </a:tr>
              <a:tr h="4605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passport_no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여권번호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645121"/>
                  </a:ext>
                </a:extLst>
              </a:tr>
              <a:tr h="4605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526724"/>
                  </a:ext>
                </a:extLst>
              </a:tr>
              <a:tr h="50735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소비자 </a:t>
                      </a: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9921700"/>
                  </a:ext>
                </a:extLst>
              </a:tr>
              <a:tr h="50735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FOOD_RV_NUM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음식예약번호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664825"/>
                  </a:ext>
                </a:extLst>
              </a:tr>
              <a:tr h="50735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airplane_rv_num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예약번호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54441"/>
                  </a:ext>
                </a:extLst>
              </a:tr>
              <a:tr h="50735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dutyfreeitem_rv_num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상품번호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083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72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항공기 기체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351167" y="2124967"/>
            <a:ext cx="5658279" cy="23983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/>
              <a:t>CREATE TABLE Airplane(</a:t>
            </a:r>
          </a:p>
          <a:p>
            <a:pPr>
              <a:lnSpc>
                <a:spcPct val="150000"/>
              </a:lnSpc>
            </a:pPr>
            <a:r>
              <a:rPr lang="en-US" altLang="ko-KR" sz="1700" dirty="0"/>
              <a:t>    </a:t>
            </a:r>
            <a:r>
              <a:rPr lang="en-US" altLang="ko-KR" sz="1700" dirty="0" err="1"/>
              <a:t>Flight_no</a:t>
            </a:r>
            <a:r>
              <a:rPr lang="en-US" altLang="ko-KR" sz="1700" dirty="0"/>
              <a:t> char(20), -- </a:t>
            </a:r>
            <a:r>
              <a:rPr lang="ko-KR" altLang="en-US" sz="1700" dirty="0"/>
              <a:t>항공기 번호 </a:t>
            </a:r>
            <a:r>
              <a:rPr lang="ko-KR" altLang="en-US" sz="1700" dirty="0" err="1"/>
              <a:t>기본키</a:t>
            </a:r>
            <a:endParaRPr lang="ko-KR" altLang="en-US" sz="1700" dirty="0"/>
          </a:p>
          <a:p>
            <a:pPr>
              <a:lnSpc>
                <a:spcPct val="150000"/>
              </a:lnSpc>
            </a:pPr>
            <a:r>
              <a:rPr lang="ko-KR" altLang="en-US" sz="1700" dirty="0"/>
              <a:t>    </a:t>
            </a:r>
            <a:r>
              <a:rPr lang="en-US" altLang="ko-KR" sz="1700" dirty="0"/>
              <a:t>Captain CHAR(20), -- </a:t>
            </a:r>
            <a:r>
              <a:rPr lang="ko-KR" altLang="en-US" sz="1700" dirty="0"/>
              <a:t>기장</a:t>
            </a:r>
          </a:p>
          <a:p>
            <a:pPr>
              <a:lnSpc>
                <a:spcPct val="150000"/>
              </a:lnSpc>
            </a:pPr>
            <a:r>
              <a:rPr lang="ko-KR" altLang="en-US" sz="1700" dirty="0"/>
              <a:t>    </a:t>
            </a:r>
            <a:r>
              <a:rPr lang="en-US" altLang="ko-KR" sz="1700" dirty="0"/>
              <a:t>attendant char(20), -- </a:t>
            </a:r>
            <a:r>
              <a:rPr lang="ko-KR" altLang="en-US" sz="1700" dirty="0"/>
              <a:t>승무원</a:t>
            </a:r>
          </a:p>
          <a:p>
            <a:pPr>
              <a:lnSpc>
                <a:spcPct val="150000"/>
              </a:lnSpc>
            </a:pPr>
            <a:r>
              <a:rPr lang="ko-KR" altLang="en-US" sz="1700" dirty="0"/>
              <a:t>    </a:t>
            </a:r>
            <a:r>
              <a:rPr lang="en-US" altLang="ko-KR" sz="1700" dirty="0"/>
              <a:t>Primary key(</a:t>
            </a:r>
            <a:r>
              <a:rPr lang="en-US" altLang="ko-KR" sz="1700" dirty="0" err="1"/>
              <a:t>Flight_no</a:t>
            </a:r>
            <a:r>
              <a:rPr lang="en-US" altLang="ko-KR" sz="1700" dirty="0"/>
              <a:t>) -- </a:t>
            </a:r>
            <a:r>
              <a:rPr lang="ko-KR" altLang="en-US" sz="1700" dirty="0"/>
              <a:t>항공기 번호를 기본키로 선정</a:t>
            </a:r>
          </a:p>
          <a:p>
            <a:pPr>
              <a:lnSpc>
                <a:spcPct val="150000"/>
              </a:lnSpc>
            </a:pPr>
            <a:r>
              <a:rPr lang="en-US" altLang="ko-KR" sz="1700" dirty="0"/>
              <a:t>);</a:t>
            </a:r>
            <a:endParaRPr lang="ko-KR" altLang="en-US" sz="17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EBED59C-7B58-4D67-B4F9-A11645E2F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894088"/>
              </p:ext>
            </p:extLst>
          </p:nvPr>
        </p:nvGraphicFramePr>
        <p:xfrm>
          <a:off x="175195" y="1662787"/>
          <a:ext cx="6082665" cy="3851323"/>
        </p:xfrm>
        <a:graphic>
          <a:graphicData uri="http://schemas.openxmlformats.org/drawingml/2006/table">
            <a:tbl>
              <a:tblPr/>
              <a:tblGrid>
                <a:gridCol w="740410">
                  <a:extLst>
                    <a:ext uri="{9D8B030D-6E8A-4147-A177-3AD203B41FA5}">
                      <a16:colId xmlns:a16="http://schemas.microsoft.com/office/drawing/2014/main" val="2146608248"/>
                    </a:ext>
                  </a:extLst>
                </a:gridCol>
                <a:gridCol w="740410">
                  <a:extLst>
                    <a:ext uri="{9D8B030D-6E8A-4147-A177-3AD203B41FA5}">
                      <a16:colId xmlns:a16="http://schemas.microsoft.com/office/drawing/2014/main" val="1438596744"/>
                    </a:ext>
                  </a:extLst>
                </a:gridCol>
                <a:gridCol w="740410">
                  <a:extLst>
                    <a:ext uri="{9D8B030D-6E8A-4147-A177-3AD203B41FA5}">
                      <a16:colId xmlns:a16="http://schemas.microsoft.com/office/drawing/2014/main" val="503935354"/>
                    </a:ext>
                  </a:extLst>
                </a:gridCol>
                <a:gridCol w="860171">
                  <a:extLst>
                    <a:ext uri="{9D8B030D-6E8A-4147-A177-3AD203B41FA5}">
                      <a16:colId xmlns:a16="http://schemas.microsoft.com/office/drawing/2014/main" val="2044351673"/>
                    </a:ext>
                  </a:extLst>
                </a:gridCol>
                <a:gridCol w="780288">
                  <a:extLst>
                    <a:ext uri="{9D8B030D-6E8A-4147-A177-3AD203B41FA5}">
                      <a16:colId xmlns:a16="http://schemas.microsoft.com/office/drawing/2014/main" val="95972294"/>
                    </a:ext>
                  </a:extLst>
                </a:gridCol>
                <a:gridCol w="740410">
                  <a:extLst>
                    <a:ext uri="{9D8B030D-6E8A-4147-A177-3AD203B41FA5}">
                      <a16:colId xmlns:a16="http://schemas.microsoft.com/office/drawing/2014/main" val="3970067552"/>
                    </a:ext>
                  </a:extLst>
                </a:gridCol>
                <a:gridCol w="740410">
                  <a:extLst>
                    <a:ext uri="{9D8B030D-6E8A-4147-A177-3AD203B41FA5}">
                      <a16:colId xmlns:a16="http://schemas.microsoft.com/office/drawing/2014/main" val="1353781568"/>
                    </a:ext>
                  </a:extLst>
                </a:gridCol>
                <a:gridCol w="740156">
                  <a:extLst>
                    <a:ext uri="{9D8B030D-6E8A-4147-A177-3AD203B41FA5}">
                      <a16:colId xmlns:a16="http://schemas.microsoft.com/office/drawing/2014/main" val="1454298473"/>
                    </a:ext>
                  </a:extLst>
                </a:gridCol>
              </a:tblGrid>
              <a:tr h="550189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타입명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62139"/>
                  </a:ext>
                </a:extLst>
              </a:tr>
              <a:tr h="550189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Airplane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정우영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070777"/>
                  </a:ext>
                </a:extLst>
              </a:tr>
              <a:tr h="550189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항공기 번호와 기장 및 승무원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223890"/>
                  </a:ext>
                </a:extLst>
              </a:tr>
              <a:tr h="5501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566327"/>
                  </a:ext>
                </a:extLst>
              </a:tr>
              <a:tr h="5501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Flight_no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항공기번호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9200943"/>
                  </a:ext>
                </a:extLst>
              </a:tr>
              <a:tr h="5501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captain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997421"/>
                  </a:ext>
                </a:extLst>
              </a:tr>
              <a:tr h="550189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attendant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승무원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32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019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공항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474621" y="2298734"/>
            <a:ext cx="4376881" cy="25340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create table airport(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en-US" altLang="ko-KR" dirty="0" err="1"/>
              <a:t>aptname</a:t>
            </a:r>
            <a:r>
              <a:rPr lang="en-US" altLang="ko-KR" dirty="0"/>
              <a:t> char(20), -- </a:t>
            </a:r>
            <a:r>
              <a:rPr lang="ko-KR" altLang="en-US" dirty="0"/>
              <a:t>공항이름 </a:t>
            </a:r>
            <a:r>
              <a:rPr lang="ko-KR" altLang="en-US" dirty="0" err="1"/>
              <a:t>기본키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aptnumber</a:t>
            </a:r>
            <a:r>
              <a:rPr lang="en-US" altLang="ko-KR" dirty="0"/>
              <a:t> char(20), -- </a:t>
            </a:r>
            <a:r>
              <a:rPr lang="ko-KR" altLang="en-US" dirty="0"/>
              <a:t>전화번호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corporation char(30), -- </a:t>
            </a:r>
            <a:r>
              <a:rPr lang="ko-KR" altLang="en-US" dirty="0"/>
              <a:t>소속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primary key (</a:t>
            </a:r>
            <a:r>
              <a:rPr lang="en-US" altLang="ko-KR" dirty="0" err="1"/>
              <a:t>aptname</a:t>
            </a:r>
            <a:r>
              <a:rPr lang="en-US" altLang="ko-KR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);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03FAE14-0CC7-4EE9-B237-01D39228C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43048"/>
              </p:ext>
            </p:extLst>
          </p:nvPr>
        </p:nvGraphicFramePr>
        <p:xfrm>
          <a:off x="182554" y="2116153"/>
          <a:ext cx="6082665" cy="2899190"/>
        </p:xfrm>
        <a:graphic>
          <a:graphicData uri="http://schemas.openxmlformats.org/drawingml/2006/table">
            <a:tbl>
              <a:tblPr/>
              <a:tblGrid>
                <a:gridCol w="730758">
                  <a:extLst>
                    <a:ext uri="{9D8B030D-6E8A-4147-A177-3AD203B41FA5}">
                      <a16:colId xmlns:a16="http://schemas.microsoft.com/office/drawing/2014/main" val="1317310435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1116688708"/>
                    </a:ext>
                  </a:extLst>
                </a:gridCol>
                <a:gridCol w="730758">
                  <a:extLst>
                    <a:ext uri="{9D8B030D-6E8A-4147-A177-3AD203B41FA5}">
                      <a16:colId xmlns:a16="http://schemas.microsoft.com/office/drawing/2014/main" val="3967044112"/>
                    </a:ext>
                  </a:extLst>
                </a:gridCol>
                <a:gridCol w="849122">
                  <a:extLst>
                    <a:ext uri="{9D8B030D-6E8A-4147-A177-3AD203B41FA5}">
                      <a16:colId xmlns:a16="http://schemas.microsoft.com/office/drawing/2014/main" val="697217655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1874960397"/>
                    </a:ext>
                  </a:extLst>
                </a:gridCol>
                <a:gridCol w="730758">
                  <a:extLst>
                    <a:ext uri="{9D8B030D-6E8A-4147-A177-3AD203B41FA5}">
                      <a16:colId xmlns:a16="http://schemas.microsoft.com/office/drawing/2014/main" val="3356466826"/>
                    </a:ext>
                  </a:extLst>
                </a:gridCol>
                <a:gridCol w="730758">
                  <a:extLst>
                    <a:ext uri="{9D8B030D-6E8A-4147-A177-3AD203B41FA5}">
                      <a16:colId xmlns:a16="http://schemas.microsoft.com/office/drawing/2014/main" val="2128895765"/>
                    </a:ext>
                  </a:extLst>
                </a:gridCol>
                <a:gridCol w="730631">
                  <a:extLst>
                    <a:ext uri="{9D8B030D-6E8A-4147-A177-3AD203B41FA5}">
                      <a16:colId xmlns:a16="http://schemas.microsoft.com/office/drawing/2014/main" val="3509466661"/>
                    </a:ext>
                  </a:extLst>
                </a:gridCol>
              </a:tblGrid>
              <a:tr h="414170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타입명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공항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569706"/>
                  </a:ext>
                </a:extLst>
              </a:tr>
              <a:tr h="414170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Airport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배준일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577344"/>
                  </a:ext>
                </a:extLst>
              </a:tr>
              <a:tr h="414170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공항이름과 전화번호 소속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526024"/>
                  </a:ext>
                </a:extLst>
              </a:tr>
              <a:tr h="41417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821165"/>
                  </a:ext>
                </a:extLst>
              </a:tr>
              <a:tr h="41417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aptname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공항이름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3149296"/>
                  </a:ext>
                </a:extLst>
              </a:tr>
              <a:tr h="41417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aptnumber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전화번호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51881"/>
                  </a:ext>
                </a:extLst>
              </a:tr>
              <a:tr h="41417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corporation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소속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701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050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면세품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772165" y="1954338"/>
            <a:ext cx="4797794" cy="37805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create table </a:t>
            </a:r>
            <a:r>
              <a:rPr lang="en-US" altLang="ko-KR" dirty="0" err="1"/>
              <a:t>dutyfreeitem</a:t>
            </a:r>
            <a:r>
              <a:rPr lang="en-US" altLang="ko-KR" dirty="0"/>
              <a:t>( --</a:t>
            </a:r>
            <a:r>
              <a:rPr lang="ko-KR" altLang="en-US" dirty="0"/>
              <a:t>면세품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item_rv_NO</a:t>
            </a:r>
            <a:r>
              <a:rPr lang="en-US" altLang="ko-KR" dirty="0"/>
              <a:t> char(30), --</a:t>
            </a:r>
            <a:r>
              <a:rPr lang="ko-KR" altLang="en-US" dirty="0"/>
              <a:t>상품번호 </a:t>
            </a:r>
            <a:r>
              <a:rPr lang="ko-KR" altLang="en-US" dirty="0" err="1"/>
              <a:t>기본키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item_name</a:t>
            </a:r>
            <a:r>
              <a:rPr lang="en-US" altLang="ko-KR" dirty="0"/>
              <a:t> char(30),-- </a:t>
            </a:r>
            <a:r>
              <a:rPr lang="ko-KR" altLang="en-US" dirty="0"/>
              <a:t>상품명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price number, --</a:t>
            </a:r>
            <a:r>
              <a:rPr lang="ko-KR" altLang="en-US" dirty="0"/>
              <a:t>가격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quantity number, -- </a:t>
            </a:r>
            <a:r>
              <a:rPr lang="ko-KR" altLang="en-US" dirty="0"/>
              <a:t>수량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item_sold</a:t>
            </a:r>
            <a:r>
              <a:rPr lang="en-US" altLang="ko-KR" dirty="0"/>
              <a:t> number, -- </a:t>
            </a:r>
            <a:r>
              <a:rPr lang="ko-KR" altLang="en-US" dirty="0"/>
              <a:t>예약된 상품 개수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primary key (</a:t>
            </a:r>
            <a:r>
              <a:rPr lang="en-US" altLang="ko-KR" dirty="0" err="1"/>
              <a:t>item_rv_NO</a:t>
            </a:r>
            <a:r>
              <a:rPr lang="en-US" altLang="ko-KR" dirty="0"/>
              <a:t>),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CHECK (</a:t>
            </a:r>
            <a:r>
              <a:rPr lang="en-US" altLang="ko-KR" dirty="0" err="1"/>
              <a:t>item_sold</a:t>
            </a:r>
            <a:r>
              <a:rPr lang="en-US" altLang="ko-KR" dirty="0"/>
              <a:t> &lt;= quantity)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);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EF8B876-EE3D-444F-BD28-15E35B92A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357156"/>
              </p:ext>
            </p:extLst>
          </p:nvPr>
        </p:nvGraphicFramePr>
        <p:xfrm>
          <a:off x="327600" y="1676789"/>
          <a:ext cx="6082665" cy="4155972"/>
        </p:xfrm>
        <a:graphic>
          <a:graphicData uri="http://schemas.openxmlformats.org/drawingml/2006/table">
            <a:tbl>
              <a:tblPr/>
              <a:tblGrid>
                <a:gridCol w="707771">
                  <a:extLst>
                    <a:ext uri="{9D8B030D-6E8A-4147-A177-3AD203B41FA5}">
                      <a16:colId xmlns:a16="http://schemas.microsoft.com/office/drawing/2014/main" val="2452561067"/>
                    </a:ext>
                  </a:extLst>
                </a:gridCol>
                <a:gridCol w="898779">
                  <a:extLst>
                    <a:ext uri="{9D8B030D-6E8A-4147-A177-3AD203B41FA5}">
                      <a16:colId xmlns:a16="http://schemas.microsoft.com/office/drawing/2014/main" val="233719963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1609198336"/>
                    </a:ext>
                  </a:extLst>
                </a:gridCol>
                <a:gridCol w="822452">
                  <a:extLst>
                    <a:ext uri="{9D8B030D-6E8A-4147-A177-3AD203B41FA5}">
                      <a16:colId xmlns:a16="http://schemas.microsoft.com/office/drawing/2014/main" val="1380561429"/>
                    </a:ext>
                  </a:extLst>
                </a:gridCol>
                <a:gridCol w="745998">
                  <a:extLst>
                    <a:ext uri="{9D8B030D-6E8A-4147-A177-3AD203B41FA5}">
                      <a16:colId xmlns:a16="http://schemas.microsoft.com/office/drawing/2014/main" val="524170645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3650867767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3559714234"/>
                    </a:ext>
                  </a:extLst>
                </a:gridCol>
                <a:gridCol w="707898">
                  <a:extLst>
                    <a:ext uri="{9D8B030D-6E8A-4147-A177-3AD203B41FA5}">
                      <a16:colId xmlns:a16="http://schemas.microsoft.com/office/drawing/2014/main" val="2083651715"/>
                    </a:ext>
                  </a:extLst>
                </a:gridCol>
              </a:tblGrid>
              <a:tr h="44665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타입명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면세품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45350"/>
                  </a:ext>
                </a:extLst>
              </a:tr>
              <a:tr h="44665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Dutyfreeitem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권순호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675536"/>
                  </a:ext>
                </a:extLst>
              </a:tr>
              <a:tr h="446652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여권번호와 소비자 이름 소비자의 사용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ID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627098"/>
                  </a:ext>
                </a:extLst>
              </a:tr>
              <a:tr h="44665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488838"/>
                  </a:ext>
                </a:extLst>
              </a:tr>
              <a:tr h="44665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item_rv_NO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상품번호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696084"/>
                  </a:ext>
                </a:extLst>
              </a:tr>
              <a:tr h="44665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item_name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상품명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93876"/>
                  </a:ext>
                </a:extLst>
              </a:tr>
              <a:tr h="49202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quantity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수량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339930"/>
                  </a:ext>
                </a:extLst>
              </a:tr>
              <a:tr h="49202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price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가격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568942"/>
                  </a:ext>
                </a:extLst>
              </a:tr>
              <a:tr h="49202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item_sold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예약 상품 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817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035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기내식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363785" y="1737917"/>
            <a:ext cx="5104315" cy="4196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create table </a:t>
            </a:r>
            <a:r>
              <a:rPr lang="en-US" altLang="ko-KR" dirty="0" err="1"/>
              <a:t>airplanefood</a:t>
            </a:r>
            <a:r>
              <a:rPr lang="en-US" altLang="ko-KR" dirty="0"/>
              <a:t>(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en-US" altLang="ko-KR" dirty="0" err="1"/>
              <a:t>foodRvNum</a:t>
            </a:r>
            <a:r>
              <a:rPr lang="en-US" altLang="ko-KR" dirty="0"/>
              <a:t> char(30), -- </a:t>
            </a:r>
            <a:r>
              <a:rPr lang="ko-KR" altLang="en-US" dirty="0"/>
              <a:t>음식예약번호 </a:t>
            </a:r>
            <a:r>
              <a:rPr lang="ko-KR" altLang="en-US" dirty="0" err="1"/>
              <a:t>기본키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food_num</a:t>
            </a:r>
            <a:r>
              <a:rPr lang="en-US" altLang="ko-KR" dirty="0"/>
              <a:t> char(40), -- </a:t>
            </a:r>
            <a:r>
              <a:rPr lang="ko-KR" altLang="en-US" dirty="0"/>
              <a:t>음식 이름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order_date</a:t>
            </a:r>
            <a:r>
              <a:rPr lang="en-US" altLang="ko-KR" dirty="0"/>
              <a:t> number not null, -- </a:t>
            </a:r>
            <a:r>
              <a:rPr lang="ko-KR" altLang="en-US" dirty="0"/>
              <a:t>주문 날짜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price number, -- </a:t>
            </a:r>
            <a:r>
              <a:rPr lang="ko-KR" altLang="en-US" dirty="0"/>
              <a:t>가격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quantity number, -- </a:t>
            </a:r>
            <a:r>
              <a:rPr lang="ko-KR" altLang="en-US" dirty="0"/>
              <a:t>수량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 err="1"/>
              <a:t>food_sold</a:t>
            </a:r>
            <a:r>
              <a:rPr lang="en-US" altLang="ko-KR" dirty="0"/>
              <a:t> number, --</a:t>
            </a:r>
            <a:r>
              <a:rPr lang="ko-KR" altLang="en-US" dirty="0"/>
              <a:t>예약된 기내식 개수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</a:t>
            </a:r>
            <a:r>
              <a:rPr lang="en-US" altLang="ko-KR" dirty="0"/>
              <a:t>primary key (</a:t>
            </a:r>
            <a:r>
              <a:rPr lang="en-US" altLang="ko-KR" dirty="0" err="1"/>
              <a:t>foodRvNum</a:t>
            </a:r>
            <a:r>
              <a:rPr lang="en-US" altLang="ko-KR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-- </a:t>
            </a:r>
            <a:r>
              <a:rPr lang="ko-KR" altLang="en-US" dirty="0"/>
              <a:t>음식예약번호를 기본키로 선정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);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71C2156-5C97-4E38-9333-4D4C837DD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48176"/>
              </p:ext>
            </p:extLst>
          </p:nvPr>
        </p:nvGraphicFramePr>
        <p:xfrm>
          <a:off x="94808" y="1520573"/>
          <a:ext cx="6082665" cy="4215211"/>
        </p:xfrm>
        <a:graphic>
          <a:graphicData uri="http://schemas.openxmlformats.org/drawingml/2006/table">
            <a:tbl>
              <a:tblPr/>
              <a:tblGrid>
                <a:gridCol w="710311">
                  <a:extLst>
                    <a:ext uri="{9D8B030D-6E8A-4147-A177-3AD203B41FA5}">
                      <a16:colId xmlns:a16="http://schemas.microsoft.com/office/drawing/2014/main" val="1796718724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34021003"/>
                    </a:ext>
                  </a:extLst>
                </a:gridCol>
                <a:gridCol w="783082">
                  <a:extLst>
                    <a:ext uri="{9D8B030D-6E8A-4147-A177-3AD203B41FA5}">
                      <a16:colId xmlns:a16="http://schemas.microsoft.com/office/drawing/2014/main" val="3702919664"/>
                    </a:ext>
                  </a:extLst>
                </a:gridCol>
                <a:gridCol w="819404">
                  <a:extLst>
                    <a:ext uri="{9D8B030D-6E8A-4147-A177-3AD203B41FA5}">
                      <a16:colId xmlns:a16="http://schemas.microsoft.com/office/drawing/2014/main" val="1583742472"/>
                    </a:ext>
                  </a:extLst>
                </a:gridCol>
                <a:gridCol w="746633">
                  <a:extLst>
                    <a:ext uri="{9D8B030D-6E8A-4147-A177-3AD203B41FA5}">
                      <a16:colId xmlns:a16="http://schemas.microsoft.com/office/drawing/2014/main" val="510355699"/>
                    </a:ext>
                  </a:extLst>
                </a:gridCol>
                <a:gridCol w="710311">
                  <a:extLst>
                    <a:ext uri="{9D8B030D-6E8A-4147-A177-3AD203B41FA5}">
                      <a16:colId xmlns:a16="http://schemas.microsoft.com/office/drawing/2014/main" val="2440871867"/>
                    </a:ext>
                  </a:extLst>
                </a:gridCol>
                <a:gridCol w="710311">
                  <a:extLst>
                    <a:ext uri="{9D8B030D-6E8A-4147-A177-3AD203B41FA5}">
                      <a16:colId xmlns:a16="http://schemas.microsoft.com/office/drawing/2014/main" val="1328925088"/>
                    </a:ext>
                  </a:extLst>
                </a:gridCol>
                <a:gridCol w="710438">
                  <a:extLst>
                    <a:ext uri="{9D8B030D-6E8A-4147-A177-3AD203B41FA5}">
                      <a16:colId xmlns:a16="http://schemas.microsoft.com/office/drawing/2014/main" val="566977623"/>
                    </a:ext>
                  </a:extLst>
                </a:gridCol>
              </a:tblGrid>
              <a:tr h="375672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타입명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기내식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340490"/>
                  </a:ext>
                </a:extLst>
              </a:tr>
              <a:tr h="375672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Airplanefood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권순호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15307"/>
                  </a:ext>
                </a:extLst>
              </a:tr>
              <a:tr h="375672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음식 예약번호와 여권번호 주문 날짜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398928"/>
                  </a:ext>
                </a:extLst>
              </a:tr>
              <a:tr h="3756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972518"/>
                  </a:ext>
                </a:extLst>
              </a:tr>
              <a:tr h="3756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foodRvNum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음식예약번호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233070"/>
                  </a:ext>
                </a:extLst>
              </a:tr>
              <a:tr h="3756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food_num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음식 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6427568"/>
                  </a:ext>
                </a:extLst>
              </a:tr>
              <a:tr h="41383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order_data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주문날짜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982928"/>
                  </a:ext>
                </a:extLst>
              </a:tr>
              <a:tr h="46878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quantity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수량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513741"/>
                  </a:ext>
                </a:extLst>
              </a:tr>
              <a:tr h="46878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price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가격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21033"/>
                  </a:ext>
                </a:extLst>
              </a:tr>
              <a:tr h="60977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food_sold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예약된 기내식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개수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 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033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948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항공권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386404" y="1084156"/>
            <a:ext cx="5332845" cy="4860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/>
              <a:t>create table </a:t>
            </a:r>
            <a:r>
              <a:rPr lang="en-US" altLang="ko-KR" sz="1600" dirty="0" err="1"/>
              <a:t>airticket</a:t>
            </a:r>
            <a:r>
              <a:rPr lang="en-US" altLang="ko-KR" sz="1600" dirty="0"/>
              <a:t>( </a:t>
            </a:r>
          </a:p>
          <a:p>
            <a:pPr>
              <a:lnSpc>
                <a:spcPct val="130000"/>
              </a:lnSpc>
            </a:pPr>
            <a:r>
              <a:rPr lang="en-US" altLang="ko-KR" sz="1600" dirty="0"/>
              <a:t>    </a:t>
            </a:r>
            <a:r>
              <a:rPr lang="en-US" altLang="ko-KR" sz="1600" dirty="0" err="1"/>
              <a:t>res_no</a:t>
            </a:r>
            <a:r>
              <a:rPr lang="en-US" altLang="ko-KR" sz="1600" dirty="0"/>
              <a:t> char(30), -- </a:t>
            </a:r>
            <a:r>
              <a:rPr lang="ko-KR" altLang="en-US" sz="1600" dirty="0"/>
              <a:t>예약 번호</a:t>
            </a:r>
            <a:r>
              <a:rPr lang="en-US" altLang="ko-KR" sz="1600" dirty="0"/>
              <a:t>(</a:t>
            </a:r>
            <a:r>
              <a:rPr lang="ko-KR" altLang="en-US" sz="1600" dirty="0" err="1"/>
              <a:t>기본키</a:t>
            </a:r>
            <a:r>
              <a:rPr lang="en-US" altLang="ko-KR" sz="1600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600" dirty="0"/>
              <a:t>   </a:t>
            </a:r>
            <a:r>
              <a:rPr lang="en-US" altLang="ko-KR" sz="1600" dirty="0" err="1"/>
              <a:t>arrive_where</a:t>
            </a:r>
            <a:r>
              <a:rPr lang="en-US" altLang="ko-KR" sz="1600" dirty="0"/>
              <a:t> char(20) not null, -- </a:t>
            </a:r>
            <a:r>
              <a:rPr lang="ko-KR" altLang="en-US" sz="1600" dirty="0"/>
              <a:t>출발지</a:t>
            </a:r>
          </a:p>
          <a:p>
            <a:pPr>
              <a:lnSpc>
                <a:spcPct val="130000"/>
              </a:lnSpc>
            </a:pPr>
            <a:r>
              <a:rPr lang="ko-KR" altLang="en-US" sz="1600" dirty="0"/>
              <a:t>   </a:t>
            </a:r>
            <a:r>
              <a:rPr lang="en-US" altLang="ko-KR" sz="1600" dirty="0"/>
              <a:t>destination char(20) not null, -- </a:t>
            </a:r>
            <a:r>
              <a:rPr lang="ko-KR" altLang="en-US" sz="1600" dirty="0"/>
              <a:t>도착지</a:t>
            </a:r>
          </a:p>
          <a:p>
            <a:pPr>
              <a:lnSpc>
                <a:spcPct val="130000"/>
              </a:lnSpc>
            </a:pPr>
            <a:r>
              <a:rPr lang="ko-KR" altLang="en-US" sz="1600" dirty="0"/>
              <a:t>   </a:t>
            </a:r>
            <a:r>
              <a:rPr lang="en-US" altLang="ko-KR" sz="1600" dirty="0" err="1"/>
              <a:t>seat_num</a:t>
            </a:r>
            <a:r>
              <a:rPr lang="en-US" altLang="ko-KR" sz="1600" dirty="0"/>
              <a:t> number not null, -- </a:t>
            </a:r>
            <a:r>
              <a:rPr lang="ko-KR" altLang="en-US" sz="1600" dirty="0"/>
              <a:t>좌석번호</a:t>
            </a:r>
            <a:endParaRPr lang="en-US" altLang="ko-KR" sz="1600" dirty="0"/>
          </a:p>
          <a:p>
            <a:pPr>
              <a:lnSpc>
                <a:spcPct val="130000"/>
              </a:lnSpc>
            </a:pPr>
            <a:r>
              <a:rPr lang="ko-KR" altLang="en-US" sz="1600" dirty="0"/>
              <a:t>   </a:t>
            </a:r>
            <a:r>
              <a:rPr lang="en-US" altLang="ko-KR" sz="1600" dirty="0" err="1"/>
              <a:t>arrive_date</a:t>
            </a:r>
            <a:r>
              <a:rPr lang="en-US" altLang="ko-KR" sz="1600" dirty="0"/>
              <a:t> number not null, -- </a:t>
            </a:r>
            <a:r>
              <a:rPr lang="ko-KR" altLang="en-US" sz="1600" dirty="0"/>
              <a:t>탑승일</a:t>
            </a:r>
          </a:p>
          <a:p>
            <a:pPr>
              <a:lnSpc>
                <a:spcPct val="130000"/>
              </a:lnSpc>
            </a:pPr>
            <a:r>
              <a:rPr lang="ko-KR" altLang="en-US" sz="1600" dirty="0"/>
              <a:t>   </a:t>
            </a:r>
            <a:r>
              <a:rPr lang="en-US" altLang="ko-KR" sz="1600" dirty="0"/>
              <a:t>price number check(price&lt;1000000), -- </a:t>
            </a:r>
            <a:r>
              <a:rPr lang="ko-KR" altLang="en-US" sz="1600" dirty="0"/>
              <a:t>가격 </a:t>
            </a:r>
          </a:p>
          <a:p>
            <a:pPr>
              <a:lnSpc>
                <a:spcPct val="130000"/>
              </a:lnSpc>
            </a:pPr>
            <a:r>
              <a:rPr lang="ko-KR" altLang="en-US" sz="1600" dirty="0"/>
              <a:t>   </a:t>
            </a:r>
            <a:r>
              <a:rPr lang="en-US" altLang="ko-KR" sz="1600" dirty="0" err="1"/>
              <a:t>airplane_num</a:t>
            </a:r>
            <a:r>
              <a:rPr lang="en-US" altLang="ko-KR" sz="1600" dirty="0"/>
              <a:t> char(20), -- </a:t>
            </a:r>
            <a:r>
              <a:rPr lang="ko-KR" altLang="en-US" sz="1600" dirty="0"/>
              <a:t>항공기번호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외래키</a:t>
            </a:r>
            <a:r>
              <a:rPr lang="en-US" altLang="ko-KR" sz="1600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600" dirty="0"/>
              <a:t>    PRIMARY KEY(</a:t>
            </a:r>
            <a:r>
              <a:rPr lang="en-US" altLang="ko-KR" sz="1600" dirty="0" err="1"/>
              <a:t>res_no</a:t>
            </a:r>
            <a:r>
              <a:rPr lang="en-US" altLang="ko-KR" sz="1600" dirty="0"/>
              <a:t>), -- </a:t>
            </a:r>
            <a:r>
              <a:rPr lang="ko-KR" altLang="en-US" sz="1600" dirty="0"/>
              <a:t>예약 번호를 기본키로 선정</a:t>
            </a:r>
          </a:p>
          <a:p>
            <a:pPr>
              <a:lnSpc>
                <a:spcPct val="130000"/>
              </a:lnSpc>
            </a:pPr>
            <a:r>
              <a:rPr lang="ko-KR" altLang="en-US" sz="1600" dirty="0"/>
              <a:t>    </a:t>
            </a:r>
            <a:r>
              <a:rPr lang="en-US" altLang="ko-KR" sz="1600" dirty="0"/>
              <a:t>foreign key(</a:t>
            </a:r>
            <a:r>
              <a:rPr lang="en-US" altLang="ko-KR" sz="1600" dirty="0" err="1"/>
              <a:t>airplane_num</a:t>
            </a:r>
            <a:r>
              <a:rPr lang="en-US" altLang="ko-KR" sz="1600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600" dirty="0"/>
              <a:t>   REFERENCES airplane(</a:t>
            </a:r>
            <a:r>
              <a:rPr lang="en-US" altLang="ko-KR" sz="1600" dirty="0" err="1"/>
              <a:t>Flight_no</a:t>
            </a:r>
            <a:r>
              <a:rPr lang="en-US" altLang="ko-KR" sz="1600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600" dirty="0"/>
              <a:t>   on delete cascade -- </a:t>
            </a:r>
            <a:r>
              <a:rPr lang="ko-KR" altLang="en-US" sz="1600" dirty="0"/>
              <a:t>외래키로 참조</a:t>
            </a:r>
            <a:endParaRPr lang="en-US" altLang="ko-KR" sz="1600" dirty="0"/>
          </a:p>
          <a:p>
            <a:pPr>
              <a:lnSpc>
                <a:spcPct val="130000"/>
              </a:lnSpc>
            </a:pPr>
            <a:r>
              <a:rPr lang="en-US" altLang="ko-KR" sz="1600" dirty="0"/>
              <a:t>   foreign key(</a:t>
            </a:r>
            <a:r>
              <a:rPr lang="en-US" altLang="ko-KR" sz="1600" dirty="0" err="1"/>
              <a:t>seat_num</a:t>
            </a:r>
            <a:r>
              <a:rPr lang="en-US" altLang="ko-KR" sz="1600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600" dirty="0"/>
              <a:t>   REFERENCES seat(</a:t>
            </a:r>
            <a:r>
              <a:rPr lang="en-US" altLang="ko-KR" sz="1600" dirty="0" err="1"/>
              <a:t>dseatnum</a:t>
            </a:r>
            <a:r>
              <a:rPr lang="en-US" altLang="ko-KR" sz="1600" dirty="0"/>
              <a:t>)</a:t>
            </a:r>
            <a:endParaRPr lang="ko-KR" altLang="en-US" sz="1600" dirty="0"/>
          </a:p>
          <a:p>
            <a:pPr>
              <a:lnSpc>
                <a:spcPct val="130000"/>
              </a:lnSpc>
            </a:pPr>
            <a:r>
              <a:rPr lang="en-US" altLang="ko-KR" sz="1600" dirty="0"/>
              <a:t>);</a:t>
            </a:r>
            <a:endParaRPr lang="ko-KR" altLang="en-US" sz="16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02110B5-5D49-44E5-8303-F88760BD1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263684"/>
              </p:ext>
            </p:extLst>
          </p:nvPr>
        </p:nvGraphicFramePr>
        <p:xfrm>
          <a:off x="126457" y="1306324"/>
          <a:ext cx="5991797" cy="4330885"/>
        </p:xfrm>
        <a:graphic>
          <a:graphicData uri="http://schemas.openxmlformats.org/drawingml/2006/table">
            <a:tbl>
              <a:tblPr/>
              <a:tblGrid>
                <a:gridCol w="707771">
                  <a:extLst>
                    <a:ext uri="{9D8B030D-6E8A-4147-A177-3AD203B41FA5}">
                      <a16:colId xmlns:a16="http://schemas.microsoft.com/office/drawing/2014/main" val="1586586056"/>
                    </a:ext>
                  </a:extLst>
                </a:gridCol>
                <a:gridCol w="898779">
                  <a:extLst>
                    <a:ext uri="{9D8B030D-6E8A-4147-A177-3AD203B41FA5}">
                      <a16:colId xmlns:a16="http://schemas.microsoft.com/office/drawing/2014/main" val="3497118420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3296370773"/>
                    </a:ext>
                  </a:extLst>
                </a:gridCol>
                <a:gridCol w="822452">
                  <a:extLst>
                    <a:ext uri="{9D8B030D-6E8A-4147-A177-3AD203B41FA5}">
                      <a16:colId xmlns:a16="http://schemas.microsoft.com/office/drawing/2014/main" val="1266124713"/>
                    </a:ext>
                  </a:extLst>
                </a:gridCol>
                <a:gridCol w="745998">
                  <a:extLst>
                    <a:ext uri="{9D8B030D-6E8A-4147-A177-3AD203B41FA5}">
                      <a16:colId xmlns:a16="http://schemas.microsoft.com/office/drawing/2014/main" val="2110918928"/>
                    </a:ext>
                  </a:extLst>
                </a:gridCol>
                <a:gridCol w="707771">
                  <a:extLst>
                    <a:ext uri="{9D8B030D-6E8A-4147-A177-3AD203B41FA5}">
                      <a16:colId xmlns:a16="http://schemas.microsoft.com/office/drawing/2014/main" val="3269317381"/>
                    </a:ext>
                  </a:extLst>
                </a:gridCol>
                <a:gridCol w="616903">
                  <a:extLst>
                    <a:ext uri="{9D8B030D-6E8A-4147-A177-3AD203B41FA5}">
                      <a16:colId xmlns:a16="http://schemas.microsoft.com/office/drawing/2014/main" val="3101722065"/>
                    </a:ext>
                  </a:extLst>
                </a:gridCol>
                <a:gridCol w="707898">
                  <a:extLst>
                    <a:ext uri="{9D8B030D-6E8A-4147-A177-3AD203B41FA5}">
                      <a16:colId xmlns:a16="http://schemas.microsoft.com/office/drawing/2014/main" val="3127097327"/>
                    </a:ext>
                  </a:extLst>
                </a:gridCol>
              </a:tblGrid>
              <a:tr h="315869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타입명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630"/>
                  </a:ext>
                </a:extLst>
              </a:tr>
              <a:tr h="315869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Airticket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유승주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79874"/>
                  </a:ext>
                </a:extLst>
              </a:tr>
              <a:tr h="315869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 이용에 있어서 항공권 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73798"/>
                  </a:ext>
                </a:extLst>
              </a:tr>
              <a:tr h="3158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454485"/>
                  </a:ext>
                </a:extLst>
              </a:tr>
              <a:tr h="3158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airplane_num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항공기번호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589001"/>
                  </a:ext>
                </a:extLst>
              </a:tr>
              <a:tr h="3158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arrive_where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출발지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991080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destination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도착지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501722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seat_num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좌석번호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FK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518053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arrive_data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탑승일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76693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price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가격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716941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res_no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예약번호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87034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seat_sold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팔린 좌석 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0491768"/>
                  </a:ext>
                </a:extLst>
              </a:tr>
              <a:tr h="3479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total_seat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총 좌석 수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670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137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75195" y="597243"/>
            <a:ext cx="3209533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테이블 작성 및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621AF23-BED5-4699-B19A-EAB490B30E37}"/>
              </a:ext>
            </a:extLst>
          </p:cNvPr>
          <p:cNvSpPr txBox="1">
            <a:spLocks/>
          </p:cNvSpPr>
          <p:nvPr/>
        </p:nvSpPr>
        <p:spPr>
          <a:xfrm>
            <a:off x="6627021" y="429678"/>
            <a:ext cx="5166429" cy="5313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ko-KR" altLang="en-US" sz="3200" dirty="0"/>
              <a:t>좌석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BA40F-DFCD-413A-96F5-4516453D17E4}"/>
              </a:ext>
            </a:extLst>
          </p:cNvPr>
          <p:cNvSpPr txBox="1"/>
          <p:nvPr/>
        </p:nvSpPr>
        <p:spPr>
          <a:xfrm>
            <a:off x="6363785" y="2161986"/>
            <a:ext cx="5104315" cy="29495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--</a:t>
            </a:r>
            <a:r>
              <a:rPr lang="ko-KR" altLang="en-US" dirty="0"/>
              <a:t>좌석 테이블 생성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create table seat(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en-US" altLang="ko-KR" dirty="0" err="1"/>
              <a:t>dseatnumber</a:t>
            </a:r>
            <a:r>
              <a:rPr lang="en-US" altLang="ko-KR" dirty="0"/>
              <a:t> number not null,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         --divide </a:t>
            </a:r>
            <a:r>
              <a:rPr lang="en-US" altLang="ko-KR" dirty="0" err="1"/>
              <a:t>seatnumber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en-US" altLang="ko-KR" dirty="0" err="1"/>
              <a:t>dseatclass</a:t>
            </a:r>
            <a:r>
              <a:rPr lang="en-US" altLang="ko-KR" dirty="0"/>
              <a:t> char(30) default '</a:t>
            </a:r>
            <a:r>
              <a:rPr lang="ko-KR" altLang="en-US" dirty="0"/>
              <a:t>이코노미</a:t>
            </a:r>
            <a:r>
              <a:rPr lang="en-US" altLang="ko-KR" dirty="0"/>
              <a:t>',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primary key (</a:t>
            </a:r>
            <a:r>
              <a:rPr lang="en-US" altLang="ko-KR" dirty="0" err="1"/>
              <a:t>dseatnumber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);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71C2156-5C97-4E38-9333-4D4C837DD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15247"/>
              </p:ext>
            </p:extLst>
          </p:nvPr>
        </p:nvGraphicFramePr>
        <p:xfrm>
          <a:off x="94808" y="2522674"/>
          <a:ext cx="6082665" cy="2254032"/>
        </p:xfrm>
        <a:graphic>
          <a:graphicData uri="http://schemas.openxmlformats.org/drawingml/2006/table">
            <a:tbl>
              <a:tblPr/>
              <a:tblGrid>
                <a:gridCol w="600517">
                  <a:extLst>
                    <a:ext uri="{9D8B030D-6E8A-4147-A177-3AD203B41FA5}">
                      <a16:colId xmlns:a16="http://schemas.microsoft.com/office/drawing/2014/main" val="1796718724"/>
                    </a:ext>
                  </a:extLst>
                </a:gridCol>
                <a:gridCol w="1001969">
                  <a:extLst>
                    <a:ext uri="{9D8B030D-6E8A-4147-A177-3AD203B41FA5}">
                      <a16:colId xmlns:a16="http://schemas.microsoft.com/office/drawing/2014/main" val="234021003"/>
                    </a:ext>
                  </a:extLst>
                </a:gridCol>
                <a:gridCol w="783082">
                  <a:extLst>
                    <a:ext uri="{9D8B030D-6E8A-4147-A177-3AD203B41FA5}">
                      <a16:colId xmlns:a16="http://schemas.microsoft.com/office/drawing/2014/main" val="3702919664"/>
                    </a:ext>
                  </a:extLst>
                </a:gridCol>
                <a:gridCol w="819404">
                  <a:extLst>
                    <a:ext uri="{9D8B030D-6E8A-4147-A177-3AD203B41FA5}">
                      <a16:colId xmlns:a16="http://schemas.microsoft.com/office/drawing/2014/main" val="1583742472"/>
                    </a:ext>
                  </a:extLst>
                </a:gridCol>
                <a:gridCol w="746633">
                  <a:extLst>
                    <a:ext uri="{9D8B030D-6E8A-4147-A177-3AD203B41FA5}">
                      <a16:colId xmlns:a16="http://schemas.microsoft.com/office/drawing/2014/main" val="510355699"/>
                    </a:ext>
                  </a:extLst>
                </a:gridCol>
                <a:gridCol w="710311">
                  <a:extLst>
                    <a:ext uri="{9D8B030D-6E8A-4147-A177-3AD203B41FA5}">
                      <a16:colId xmlns:a16="http://schemas.microsoft.com/office/drawing/2014/main" val="2440871867"/>
                    </a:ext>
                  </a:extLst>
                </a:gridCol>
                <a:gridCol w="710311">
                  <a:extLst>
                    <a:ext uri="{9D8B030D-6E8A-4147-A177-3AD203B41FA5}">
                      <a16:colId xmlns:a16="http://schemas.microsoft.com/office/drawing/2014/main" val="1328925088"/>
                    </a:ext>
                  </a:extLst>
                </a:gridCol>
                <a:gridCol w="710438">
                  <a:extLst>
                    <a:ext uri="{9D8B030D-6E8A-4147-A177-3AD203B41FA5}">
                      <a16:colId xmlns:a16="http://schemas.microsoft.com/office/drawing/2014/main" val="566977623"/>
                    </a:ext>
                  </a:extLst>
                </a:gridCol>
              </a:tblGrid>
              <a:tr h="375672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 타입명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좌석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2020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340490"/>
                  </a:ext>
                </a:extLst>
              </a:tr>
              <a:tr h="375672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Seat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작성자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배준일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15307"/>
                  </a:ext>
                </a:extLst>
              </a:tr>
              <a:tr h="375672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 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음식 예약번호와 여권번호 주문 날짜 관리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398928"/>
                  </a:ext>
                </a:extLst>
              </a:tr>
              <a:tr h="3756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속성명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길이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기본값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Key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972518"/>
                  </a:ext>
                </a:extLst>
              </a:tr>
              <a:tr h="3756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dseatnumber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좌석 번호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Not 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233070"/>
                  </a:ext>
                </a:extLst>
              </a:tr>
              <a:tr h="3756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dseatclass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좌석 등급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null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‘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이코노미 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'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6427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091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67637" y="597243"/>
            <a:ext cx="2116285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인덱스 정의서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물리적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8A29292-34E4-4F01-88D3-834A238BF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07707"/>
              </p:ext>
            </p:extLst>
          </p:nvPr>
        </p:nvGraphicFramePr>
        <p:xfrm>
          <a:off x="3232296" y="1100471"/>
          <a:ext cx="6368903" cy="5172252"/>
        </p:xfrm>
        <a:graphic>
          <a:graphicData uri="http://schemas.openxmlformats.org/drawingml/2006/table">
            <a:tbl>
              <a:tblPr/>
              <a:tblGrid>
                <a:gridCol w="943699">
                  <a:extLst>
                    <a:ext uri="{9D8B030D-6E8A-4147-A177-3AD203B41FA5}">
                      <a16:colId xmlns:a16="http://schemas.microsoft.com/office/drawing/2014/main" val="4021188497"/>
                    </a:ext>
                  </a:extLst>
                </a:gridCol>
                <a:gridCol w="1085041">
                  <a:extLst>
                    <a:ext uri="{9D8B030D-6E8A-4147-A177-3AD203B41FA5}">
                      <a16:colId xmlns:a16="http://schemas.microsoft.com/office/drawing/2014/main" val="117728921"/>
                    </a:ext>
                  </a:extLst>
                </a:gridCol>
                <a:gridCol w="1085041">
                  <a:extLst>
                    <a:ext uri="{9D8B030D-6E8A-4147-A177-3AD203B41FA5}">
                      <a16:colId xmlns:a16="http://schemas.microsoft.com/office/drawing/2014/main" val="336157474"/>
                    </a:ext>
                  </a:extLst>
                </a:gridCol>
                <a:gridCol w="873027">
                  <a:extLst>
                    <a:ext uri="{9D8B030D-6E8A-4147-A177-3AD203B41FA5}">
                      <a16:colId xmlns:a16="http://schemas.microsoft.com/office/drawing/2014/main" val="624966990"/>
                    </a:ext>
                  </a:extLst>
                </a:gridCol>
                <a:gridCol w="873027">
                  <a:extLst>
                    <a:ext uri="{9D8B030D-6E8A-4147-A177-3AD203B41FA5}">
                      <a16:colId xmlns:a16="http://schemas.microsoft.com/office/drawing/2014/main" val="416511893"/>
                    </a:ext>
                  </a:extLst>
                </a:gridCol>
                <a:gridCol w="754534">
                  <a:extLst>
                    <a:ext uri="{9D8B030D-6E8A-4147-A177-3AD203B41FA5}">
                      <a16:colId xmlns:a16="http://schemas.microsoft.com/office/drawing/2014/main" val="828977898"/>
                    </a:ext>
                  </a:extLst>
                </a:gridCol>
                <a:gridCol w="754534">
                  <a:extLst>
                    <a:ext uri="{9D8B030D-6E8A-4147-A177-3AD203B41FA5}">
                      <a16:colId xmlns:a16="http://schemas.microsoft.com/office/drawing/2014/main" val="227673214"/>
                    </a:ext>
                  </a:extLst>
                </a:gridCol>
              </a:tblGrid>
              <a:tr h="5157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엔티티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타입명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인덱스명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컬럼명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타입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테이블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스페이스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인덱스 유형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DESCEND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612275"/>
                  </a:ext>
                </a:extLst>
              </a:tr>
              <a:tr h="4926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기내식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SYS_C007503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FOODRVNUM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CHAR(30)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851893"/>
                  </a:ext>
                </a:extLst>
              </a:tr>
              <a:tr h="4926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공항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SYS_C007504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APTNAME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CHAR(20)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61932"/>
                  </a:ext>
                </a:extLst>
              </a:tr>
              <a:tr h="4926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항공기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SYS_C007505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FLIGHT_NO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CHAR(20)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704893"/>
                  </a:ext>
                </a:extLst>
              </a:tr>
              <a:tr h="4926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면세품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SYS_C007506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ITEM_RV_NO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CHAR(30)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1651"/>
                  </a:ext>
                </a:extLst>
              </a:tr>
              <a:tr h="4926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항공권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SYS_C007517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RES_NO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CHAR(30)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482150"/>
                  </a:ext>
                </a:extLst>
              </a:tr>
              <a:tr h="5291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항공사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SYS_C007666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CEO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CHAR(20)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229024"/>
                  </a:ext>
                </a:extLst>
              </a:tr>
              <a:tr h="5157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좌석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SYS_C007668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DSEATNUMBER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NUMBER(4)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08278"/>
                  </a:ext>
                </a:extLst>
              </a:tr>
              <a:tr h="5291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직원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SYS_C007669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EMPNO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NUMBER(6)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794669"/>
                  </a:ext>
                </a:extLst>
              </a:tr>
              <a:tr h="31061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소비자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SYS_C007673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PASSPORT_NO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NUMBER(3)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2526"/>
                  </a:ext>
                </a:extLst>
              </a:tr>
              <a:tr h="308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SYS_C007674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ID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CHAR(50)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USERS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UNIQUE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ASC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5880" marR="55880" marT="15449" marB="1544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234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59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6F21-0F7B-4283-A782-924C3454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714" y="2218954"/>
            <a:ext cx="4380121" cy="1968732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트랜잭션 </a:t>
            </a:r>
            <a:r>
              <a:rPr lang="ko-KR" altLang="en-US" sz="5400" dirty="0" err="1">
                <a:latin typeface="휴먼편지체" panose="02030504000101010101" pitchFamily="18" charset="-127"/>
                <a:ea typeface="휴먼편지체" panose="02030504000101010101" pitchFamily="18" charset="-127"/>
              </a:rPr>
              <a:t>질의문</a:t>
            </a:r>
            <a:endParaRPr lang="ko-KR" altLang="en-US" sz="54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5" name="직사각형 4" descr="리본 메뉴">
            <a:extLst>
              <a:ext uri="{FF2B5EF4-FFF2-40B4-BE49-F238E27FC236}">
                <a16:creationId xmlns:a16="http://schemas.microsoft.com/office/drawing/2014/main" id="{49E7F9DD-E7F0-4AAA-A83F-188B3C58444E}"/>
              </a:ext>
            </a:extLst>
          </p:cNvPr>
          <p:cNvSpPr/>
          <p:nvPr/>
        </p:nvSpPr>
        <p:spPr>
          <a:xfrm>
            <a:off x="8308836" y="2346956"/>
            <a:ext cx="2186885" cy="2164087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20678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6920982" y="430115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1.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소비자가 예약한 항공권과 기내식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면세품을 확인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D3631-6752-4858-AB51-17E170BDB19D}"/>
              </a:ext>
            </a:extLst>
          </p:cNvPr>
          <p:cNvSpPr txBox="1"/>
          <p:nvPr/>
        </p:nvSpPr>
        <p:spPr>
          <a:xfrm>
            <a:off x="1061150" y="3069389"/>
            <a:ext cx="7662765" cy="2246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&lt;</a:t>
            </a:r>
            <a:r>
              <a:rPr lang="en-US" altLang="ko-KR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SQL</a:t>
            </a: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ko-KR" altLang="en-US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질의문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accept PASS_NO prompt '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여권 번호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 ';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select name,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food_rv_num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dutyfreeitem_rv_num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from customer where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passport_no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&amp;PASS_NO;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                   &lt; </a:t>
            </a:r>
            <a:r>
              <a:rPr lang="ko-KR" altLang="en-US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질의 결과 </a:t>
            </a:r>
            <a:r>
              <a:rPr lang="en-US" altLang="ko-KR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&gt;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6" name="Picture 9">
            <a:extLst>
              <a:ext uri="{FF2B5EF4-FFF2-40B4-BE49-F238E27FC236}">
                <a16:creationId xmlns:a16="http://schemas.microsoft.com/office/drawing/2014/main" id="{87B1C34C-98A3-4A93-B624-AF24E99AE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04" y="5512909"/>
            <a:ext cx="8424717" cy="55022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687D07AD-F9EF-4E8E-8B50-E6503B610F6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2" b="37608"/>
          <a:stretch/>
        </p:blipFill>
        <p:spPr>
          <a:xfrm>
            <a:off x="399227" y="1345091"/>
            <a:ext cx="11339546" cy="1610723"/>
          </a:xfrm>
          <a:prstGeom prst="rect">
            <a:avLst/>
          </a:prstGeom>
        </p:spPr>
      </p:pic>
      <p:pic>
        <p:nvPicPr>
          <p:cNvPr id="20" name="그림 19" descr="텍스트이(가) 표시된 사진&#10;&#10;자동 생성된 설명">
            <a:extLst>
              <a:ext uri="{FF2B5EF4-FFF2-40B4-BE49-F238E27FC236}">
                <a16:creationId xmlns:a16="http://schemas.microsoft.com/office/drawing/2014/main" id="{F66502E0-0C88-48DD-B7EF-F8DFB8A2F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980" y="3718965"/>
            <a:ext cx="2638793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22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793819" y="433159"/>
            <a:ext cx="6235182" cy="78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b="1" u="sng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2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소비자가 항공권 예약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6386" name="_x474593704">
            <a:extLst>
              <a:ext uri="{FF2B5EF4-FFF2-40B4-BE49-F238E27FC236}">
                <a16:creationId xmlns:a16="http://schemas.microsoft.com/office/drawing/2014/main" id="{AEDAE407-C461-4A47-8901-0A3F6BDB5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0" y="2930260"/>
            <a:ext cx="6464930" cy="304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5" name="_x481241488">
            <a:extLst>
              <a:ext uri="{FF2B5EF4-FFF2-40B4-BE49-F238E27FC236}">
                <a16:creationId xmlns:a16="http://schemas.microsoft.com/office/drawing/2014/main" id="{59A34763-C95C-4F41-A4F7-C4CE736EC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28" y="3429000"/>
            <a:ext cx="2651125" cy="157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7C0DC16-EF0B-4A2F-B58F-D78881E2D454}"/>
              </a:ext>
            </a:extLst>
          </p:cNvPr>
          <p:cNvSpPr txBox="1"/>
          <p:nvPr/>
        </p:nvSpPr>
        <p:spPr>
          <a:xfrm>
            <a:off x="3672512" y="3765247"/>
            <a:ext cx="218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00B050"/>
                </a:solidFill>
              </a:rPr>
              <a:t>예약번호값</a:t>
            </a:r>
            <a:r>
              <a:rPr lang="ko-KR" altLang="en-US" dirty="0">
                <a:solidFill>
                  <a:srgbClr val="00B050"/>
                </a:solidFill>
              </a:rPr>
              <a:t> 입력</a:t>
            </a:r>
          </a:p>
        </p:txBody>
      </p:sp>
      <p:pic>
        <p:nvPicPr>
          <p:cNvPr id="23" name="Picture 11">
            <a:extLst>
              <a:ext uri="{FF2B5EF4-FFF2-40B4-BE49-F238E27FC236}">
                <a16:creationId xmlns:a16="http://schemas.microsoft.com/office/drawing/2014/main" id="{F3FCA846-7A79-42DB-B144-22EBBBDA78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425" t="55495" r="2841"/>
          <a:stretch/>
        </p:blipFill>
        <p:spPr>
          <a:xfrm>
            <a:off x="144310" y="5267139"/>
            <a:ext cx="6892608" cy="629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281E158-98BD-4CA7-8C18-A3EC12A18CE9}"/>
              </a:ext>
            </a:extLst>
          </p:cNvPr>
          <p:cNvSpPr txBox="1"/>
          <p:nvPr/>
        </p:nvSpPr>
        <p:spPr>
          <a:xfrm>
            <a:off x="1825579" y="1108394"/>
            <a:ext cx="426934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&lt;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예약 확인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질의문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&gt;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select *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from </a:t>
            </a:r>
            <a:r>
              <a:rPr kumimoji="0" lang="en-US" altLang="ko-K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airticket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where </a:t>
            </a:r>
            <a:r>
              <a:rPr kumimoji="0" lang="en-US" altLang="ko-K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arrive_where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'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부산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 and destination = '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나리타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';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6859036" y="1161201"/>
            <a:ext cx="5166430" cy="54784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  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&lt;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예약 소스코드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&gt;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commit;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SERVEROUTPUT ON FORMAT WRAP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declare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temp1 char(30);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char(30);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Begin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temp1:=&amp;temp;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select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into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from customer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where id = '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tnsgh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’;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if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is null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then DBMS_OUTPUT.PUT_LINE('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예약되었습니다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.’);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update customer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set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temp1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where ID = '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tnsgh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’;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commit;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else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DBMS_OUTPUT.PUT_LINE('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이미 예약되어 있습니다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.’);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rollback;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end if;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end;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078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3.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관리자가 직원의 급여를 조정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7278630" y="2169383"/>
            <a:ext cx="3849024" cy="1360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update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salary = salary * 1.2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where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202008; 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27" name="Picture 19">
            <a:extLst>
              <a:ext uri="{FF2B5EF4-FFF2-40B4-BE49-F238E27FC236}">
                <a16:creationId xmlns:a16="http://schemas.microsoft.com/office/drawing/2014/main" id="{8395A1E7-BB08-41B3-B5A1-3A660BA92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74" y="2195189"/>
            <a:ext cx="2268112" cy="246762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8" name="Picture 21">
            <a:extLst>
              <a:ext uri="{FF2B5EF4-FFF2-40B4-BE49-F238E27FC236}">
                <a16:creationId xmlns:a16="http://schemas.microsoft.com/office/drawing/2014/main" id="{4C360FD5-82F6-43F7-9507-F18C48D00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1308" y="2195189"/>
            <a:ext cx="2268111" cy="236047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00ABE14-6B39-46F9-92FE-1B6AAA3F13A3}"/>
              </a:ext>
            </a:extLst>
          </p:cNvPr>
          <p:cNvSpPr txBox="1"/>
          <p:nvPr/>
        </p:nvSpPr>
        <p:spPr>
          <a:xfrm>
            <a:off x="1385742" y="1496664"/>
            <a:ext cx="3849024" cy="473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실행 전                              실행 후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6909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4.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기내식과 면세품의 재고 확인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6593762" y="1171585"/>
            <a:ext cx="5166430" cy="497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&lt;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소스 코드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&gt;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SERVEROUTPUT ON FORMAT WRAP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declare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temp1 char(30);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temp2 char(30);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Begin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temp1:=&amp;temp;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select quantity --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면세품 품목을 입력하면 개수를 알려주도록 하는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프로잭션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into temp2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from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where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item_name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temp1;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if temp2 is null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then DBMS_OUTPUT.PUT_LINE('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수량이 없습니다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.');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else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DBMS_OUTPUT.PUT_LINE(temp2||'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개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');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end if;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end;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3" name="Picture 15">
            <a:extLst>
              <a:ext uri="{FF2B5EF4-FFF2-40B4-BE49-F238E27FC236}">
                <a16:creationId xmlns:a16="http://schemas.microsoft.com/office/drawing/2014/main" id="{BFDDE856-C25C-49A7-9158-1EAC2E318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982" y="1606357"/>
            <a:ext cx="2651760" cy="15697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355B9CCD-05D1-4BF6-BE22-68A5A0626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134" y="4158826"/>
            <a:ext cx="4889767" cy="126230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6213769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78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b="1" u="sng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5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소비자가 항공권 예약 취소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6796199" y="1161201"/>
            <a:ext cx="5166430" cy="497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SERVEROUTPUT ON FORMAT WRAP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declare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char(30);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Begin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select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into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from customer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where id = '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tnsgh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’;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if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airnum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is not null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then DBMS_OUTPUT.PUT_LINE('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예약이 취소되었습니다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.’);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update customer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set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airplane_rv_num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NULL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where ID = '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tnsgh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’;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commit;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else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DBMS_OUTPUT.PUT_LINE('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예약한 항공권이 없습니다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.’);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rollback;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end if;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end;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6" name="Picture 13">
            <a:extLst>
              <a:ext uri="{FF2B5EF4-FFF2-40B4-BE49-F238E27FC236}">
                <a16:creationId xmlns:a16="http://schemas.microsoft.com/office/drawing/2014/main" id="{3F6A8432-5CD9-474D-B4DB-0EFDE9E99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163" y="2245583"/>
            <a:ext cx="4654091" cy="274281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916754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테이블이(가) 표시된 사진&#10;&#10;자동 생성된 설명">
            <a:extLst>
              <a:ext uri="{FF2B5EF4-FFF2-40B4-BE49-F238E27FC236}">
                <a16:creationId xmlns:a16="http://schemas.microsoft.com/office/drawing/2014/main" id="{84BBA403-D50C-46F0-B691-2745AB778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409" y="4426236"/>
            <a:ext cx="6144482" cy="21148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b="1" u="sng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6.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직원이 상품의 가격을 조정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351419" y="1078588"/>
            <a:ext cx="6647258" cy="31412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accept entity prompt 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가격을 조정할 상품 타입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 (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airplanefood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)';</a:t>
            </a: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accept name prompt 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상품의 이름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:';</a:t>
            </a: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accept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price_edit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prompt '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조정할 가격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:(+-)';</a:t>
            </a: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if &amp;entity =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airplanefood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then update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airplanefood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set price = price + &amp;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price_edit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where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food_num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'&amp;name';</a:t>
            </a: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else </a:t>
            </a: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update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dutyfreeitem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set price = price + &amp;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price_edit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where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item_name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'&amp;name';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70A7CEAD-30A9-434C-957F-1548AC02C5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95"/>
          <a:stretch/>
        </p:blipFill>
        <p:spPr>
          <a:xfrm>
            <a:off x="270403" y="4419347"/>
            <a:ext cx="5066522" cy="21148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E92157-E479-439E-B6E2-FB2E1808C9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989" y="1432796"/>
            <a:ext cx="2629267" cy="152421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36A4694-56E8-4193-8297-0E77D1D3BB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829" y="1359176"/>
            <a:ext cx="2591162" cy="1390844"/>
          </a:xfrm>
          <a:prstGeom prst="rect">
            <a:avLst/>
          </a:prstGeom>
        </p:spPr>
      </p:pic>
      <p:pic>
        <p:nvPicPr>
          <p:cNvPr id="19" name="그림 18" descr="텍스트이(가) 표시된 사진&#10;&#10;자동 생성된 설명">
            <a:extLst>
              <a:ext uri="{FF2B5EF4-FFF2-40B4-BE49-F238E27FC236}">
                <a16:creationId xmlns:a16="http://schemas.microsoft.com/office/drawing/2014/main" id="{63C84FE1-596E-4260-ADA7-3DD8F4C8C8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412" y="2383824"/>
            <a:ext cx="2419688" cy="173379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75F4963-F90C-4409-984A-E621FEF70B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122" y="1058908"/>
            <a:ext cx="2562583" cy="1343212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87BE8DAA-FE36-4EC5-83B5-3ED4AE6E970D}"/>
              </a:ext>
            </a:extLst>
          </p:cNvPr>
          <p:cNvSpPr/>
          <p:nvPr/>
        </p:nvSpPr>
        <p:spPr>
          <a:xfrm>
            <a:off x="9226411" y="5112876"/>
            <a:ext cx="1074585" cy="3638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5C6169C-EE80-4620-BA0B-E0DADA2F7545}"/>
              </a:ext>
            </a:extLst>
          </p:cNvPr>
          <p:cNvSpPr/>
          <p:nvPr/>
        </p:nvSpPr>
        <p:spPr>
          <a:xfrm>
            <a:off x="4156514" y="5119765"/>
            <a:ext cx="1074585" cy="3638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969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b="1" u="sng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7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해당하는 직원의 급여에 </a:t>
            </a: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Bonus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7278630" y="2169383"/>
            <a:ext cx="3849024" cy="1360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update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salary = salary + 1000000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where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= 202008; 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28" name="Picture 21">
            <a:extLst>
              <a:ext uri="{FF2B5EF4-FFF2-40B4-BE49-F238E27FC236}">
                <a16:creationId xmlns:a16="http://schemas.microsoft.com/office/drawing/2014/main" id="{4C360FD5-82F6-43F7-9507-F18C48D00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29" y="2169383"/>
            <a:ext cx="2268111" cy="236047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00ABE14-6B39-46F9-92FE-1B6AAA3F13A3}"/>
              </a:ext>
            </a:extLst>
          </p:cNvPr>
          <p:cNvSpPr txBox="1"/>
          <p:nvPr/>
        </p:nvSpPr>
        <p:spPr>
          <a:xfrm>
            <a:off x="1385742" y="1496664"/>
            <a:ext cx="3849024" cy="473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실행 전                              실행 후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16" name="Picture 22">
            <a:extLst>
              <a:ext uri="{FF2B5EF4-FFF2-40B4-BE49-F238E27FC236}">
                <a16:creationId xmlns:a16="http://schemas.microsoft.com/office/drawing/2014/main" id="{EFE46EA0-16BE-43D9-B400-C2A245B5F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0" y="2169383"/>
            <a:ext cx="2268111" cy="244828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441594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3D6C2E-9938-4344-8098-38FA855A794A}"/>
              </a:ext>
            </a:extLst>
          </p:cNvPr>
          <p:cNvSpPr txBox="1"/>
          <p:nvPr/>
        </p:nvSpPr>
        <p:spPr>
          <a:xfrm>
            <a:off x="185671" y="597243"/>
            <a:ext cx="1818959" cy="461665"/>
          </a:xfrm>
          <a:prstGeom prst="rect">
            <a:avLst/>
          </a:prstGeom>
          <a:solidFill>
            <a:schemeClr val="accent4"/>
          </a:solidFill>
          <a:ln>
            <a:solidFill>
              <a:srgbClr val="F6C1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SQL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질의문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699656-C8F1-48DC-A743-2F014A1CA71C}"/>
              </a:ext>
            </a:extLst>
          </p:cNvPr>
          <p:cNvSpPr/>
          <p:nvPr/>
        </p:nvSpPr>
        <p:spPr>
          <a:xfrm>
            <a:off x="7063" y="-20638"/>
            <a:ext cx="175491" cy="1099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45461-5AC6-4E9D-9C82-D1494E4D7E1E}"/>
              </a:ext>
            </a:extLst>
          </p:cNvPr>
          <p:cNvSpPr txBox="1"/>
          <p:nvPr/>
        </p:nvSpPr>
        <p:spPr>
          <a:xfrm>
            <a:off x="327600" y="135578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srgbClr val="44546A">
                    <a:lumMod val="75000"/>
                  </a:srgbClr>
                </a:solidFill>
                <a:latin typeface="Arial"/>
              </a:rPr>
              <a:t>트랜잭션 설계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4F7AB-8C4A-41BD-BEE9-F4EE7EE32066}"/>
              </a:ext>
            </a:extLst>
          </p:cNvPr>
          <p:cNvSpPr/>
          <p:nvPr/>
        </p:nvSpPr>
        <p:spPr>
          <a:xfrm flipV="1">
            <a:off x="6998677" y="985477"/>
            <a:ext cx="516642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E4FD39-546E-4221-B733-B80AA5399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" t="45735" r="51514" b="42121"/>
          <a:stretch/>
        </p:blipFill>
        <p:spPr>
          <a:xfrm>
            <a:off x="9130553" y="6225989"/>
            <a:ext cx="2959575" cy="5502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793BF7-E707-4E7D-B898-D05C0F4C9996}"/>
              </a:ext>
            </a:extLst>
          </p:cNvPr>
          <p:cNvSpPr/>
          <p:nvPr/>
        </p:nvSpPr>
        <p:spPr>
          <a:xfrm>
            <a:off x="11468100" y="135578"/>
            <a:ext cx="541346" cy="531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B8DF03-9261-41D2-A39F-522E0E4FB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30" y="22940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29CB-0D53-4BDF-98E1-FF21F641458D}"/>
              </a:ext>
            </a:extLst>
          </p:cNvPr>
          <p:cNvSpPr txBox="1"/>
          <p:nvPr/>
        </p:nvSpPr>
        <p:spPr>
          <a:xfrm>
            <a:off x="7696837" y="371369"/>
            <a:ext cx="6235182" cy="47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8. </a:t>
            </a:r>
            <a:r>
              <a:rPr lang="ko-KR" altLang="en-US" sz="1800" b="1" u="sng" kern="0" spc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함초롬바탕" panose="02030604000101010101" pitchFamily="18" charset="-127"/>
                <a:ea typeface="함초롬바탕" panose="02030604000101010101" pitchFamily="18" charset="-127"/>
              </a:rPr>
              <a:t>직원 채용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2D6BBB-DF49-415D-95BB-21A00432172A}"/>
              </a:ext>
            </a:extLst>
          </p:cNvPr>
          <p:cNvSpPr txBox="1"/>
          <p:nvPr/>
        </p:nvSpPr>
        <p:spPr>
          <a:xfrm>
            <a:off x="582178" y="1070735"/>
            <a:ext cx="11239707" cy="57942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SET SERVEROUTPUT ON FORMAT WRAP --print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문을 쓸 옵션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declare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scout number;  --</a:t>
            </a:r>
            <a:r>
              <a:rPr lang="ko-KR" altLang="en-US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실렉트문을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만족하는 값을 넣을 변수 선언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countnum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number;  --</a:t>
            </a:r>
            <a:r>
              <a:rPr lang="ko-KR" altLang="en-US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실렉트문을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만족하는 값을 넣을 변수 선언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Begin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insert into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values(202009,＇</a:t>
            </a:r>
            <a:r>
              <a:rPr lang="ko-KR" altLang="en-US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김데베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','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기장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','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항공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',202001,3000000);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select count(*)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into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countnum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--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의 개수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from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select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endParaRPr lang="en-US" altLang="ko-KR" sz="13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into scout -- insert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할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from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Tway_EMPLOYEE</a:t>
            </a:r>
            <a:endParaRPr lang="en-US" altLang="ko-KR" sz="13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where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=202009;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if scout &lt; 202000+countnum -- 202000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으로 시작하고 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+1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씩 된다는 가정하에 초기값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+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의 총 개수가 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insert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할 </a:t>
            </a:r>
            <a:r>
              <a:rPr lang="en-US" altLang="ko-KR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empno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보다 작으면 </a:t>
            </a:r>
            <a:r>
              <a:rPr lang="ko-KR" altLang="en-US" sz="13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저장안됨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then DBMS_OUTPUT.PUT_LINE('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올바른 사원번호가 아닙니다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.');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rollback;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else -- 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조건을 만족하면 실행 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and commit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DBMS_OUTPUT.PUT_LINE('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추가되었습니다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.');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commit;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end if;</a:t>
            </a:r>
          </a:p>
          <a:p>
            <a:pPr marL="0" marR="0" indent="0" algn="just" fontAlgn="base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end;</a:t>
            </a:r>
            <a:endParaRPr lang="en-US" altLang="ko-KR" sz="13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91233D3F-A221-48E5-BF4C-76B576355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403" y="1310161"/>
            <a:ext cx="4420217" cy="704948"/>
          </a:xfrm>
          <a:prstGeom prst="rect">
            <a:avLst/>
          </a:prstGeom>
        </p:spPr>
      </p:pic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8D248092-9C34-4F39-812C-FCA4872C08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37" y="2092714"/>
            <a:ext cx="2695951" cy="857370"/>
          </a:xfrm>
          <a:prstGeom prst="rect">
            <a:avLst/>
          </a:prstGeom>
        </p:spPr>
      </p:pic>
      <p:pic>
        <p:nvPicPr>
          <p:cNvPr id="17" name="그림 16" descr="테이블이(가) 표시된 사진&#10;&#10;자동 생성된 설명">
            <a:extLst>
              <a:ext uri="{FF2B5EF4-FFF2-40B4-BE49-F238E27FC236}">
                <a16:creationId xmlns:a16="http://schemas.microsoft.com/office/drawing/2014/main" id="{8F5C0EFE-B08B-45AC-91AD-0CE9C6F701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719" y="3321795"/>
            <a:ext cx="4486901" cy="8383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6221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082F40-06E5-4F52-A814-37C63824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ko-KR" altLang="en-US" sz="7200" dirty="0"/>
              <a:t>감사합니다</a:t>
            </a:r>
            <a:r>
              <a:rPr lang="en-US" altLang="ko-KR" sz="7200" dirty="0"/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03603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BUSINESS1804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7485D"/>
      </a:accent1>
      <a:accent2>
        <a:srgbClr val="51738C"/>
      </a:accent2>
      <a:accent3>
        <a:srgbClr val="7FA7B1"/>
      </a:accent3>
      <a:accent4>
        <a:srgbClr val="FFCD13"/>
      </a:accent4>
      <a:accent5>
        <a:srgbClr val="CB9101"/>
      </a:accent5>
      <a:accent6>
        <a:srgbClr val="5C5354"/>
      </a:accent6>
      <a:hlink>
        <a:srgbClr val="4E4349"/>
      </a:hlink>
      <a:folHlink>
        <a:srgbClr val="4E4349"/>
      </a:folHlink>
    </a:clrScheme>
    <a:fontScheme name="사용자 지정 1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19998</TotalTime>
  <Words>3416</Words>
  <Application>Microsoft Office PowerPoint</Application>
  <PresentationFormat>와이드스크린</PresentationFormat>
  <Paragraphs>1115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39</vt:i4>
      </vt:variant>
    </vt:vector>
  </HeadingPairs>
  <TitlesOfParts>
    <vt:vector size="48" baseType="lpstr">
      <vt:lpstr>맑은 고딕</vt:lpstr>
      <vt:lpstr>함초롬바탕</vt:lpstr>
      <vt:lpstr>휴먼명조</vt:lpstr>
      <vt:lpstr>휴먼편지체</vt:lpstr>
      <vt:lpstr>Arial</vt:lpstr>
      <vt:lpstr>Avenir Next LT Pro</vt:lpstr>
      <vt:lpstr>Calibri</vt:lpstr>
      <vt:lpstr>AccentBoxVTI</vt:lpstr>
      <vt:lpstr>Office 테마</vt:lpstr>
      <vt:lpstr>PowerPoint 프레젠테이션</vt:lpstr>
      <vt:lpstr>INDEX</vt:lpstr>
      <vt:lpstr>개념적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논리적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트랜잭션 질의문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</dc:title>
  <dc:creator>류연동(2014110015)</dc:creator>
  <cp:lastModifiedBy>류연동(2014110015)</cp:lastModifiedBy>
  <cp:revision>171</cp:revision>
  <cp:lastPrinted>2020-12-06T20:34:06Z</cp:lastPrinted>
  <dcterms:created xsi:type="dcterms:W3CDTF">2020-11-04T15:12:07Z</dcterms:created>
  <dcterms:modified xsi:type="dcterms:W3CDTF">2020-12-07T08:05:58Z</dcterms:modified>
  <cp:version/>
</cp:coreProperties>
</file>