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40" r:id="rId1"/>
  </p:sldMasterIdLst>
  <p:notesMasterIdLst>
    <p:notesMasterId r:id="rId21"/>
  </p:notesMasterIdLst>
  <p:handoutMasterIdLst>
    <p:handoutMasterId r:id="rId22"/>
  </p:handoutMasterIdLst>
  <p:sldIdLst>
    <p:sldId id="3343" r:id="rId2"/>
    <p:sldId id="3342" r:id="rId3"/>
    <p:sldId id="3341" r:id="rId4"/>
    <p:sldId id="3333" r:id="rId5"/>
    <p:sldId id="3348" r:id="rId6"/>
    <p:sldId id="3350" r:id="rId7"/>
    <p:sldId id="3351" r:id="rId8"/>
    <p:sldId id="3352" r:id="rId9"/>
    <p:sldId id="3353" r:id="rId10"/>
    <p:sldId id="3354" r:id="rId11"/>
    <p:sldId id="3355" r:id="rId12"/>
    <p:sldId id="3356" r:id="rId13"/>
    <p:sldId id="3357" r:id="rId14"/>
    <p:sldId id="3359" r:id="rId15"/>
    <p:sldId id="3358" r:id="rId16"/>
    <p:sldId id="3360" r:id="rId17"/>
    <p:sldId id="3361" r:id="rId18"/>
    <p:sldId id="3362" r:id="rId19"/>
    <p:sldId id="3363" r:id="rId20"/>
  </p:sldIdLst>
  <p:sldSz cx="12858750" cy="7232650"/>
  <p:notesSz cx="6858000" cy="9144000"/>
  <p:custDataLst>
    <p:tags r:id="rId2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39763" indent="-1825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638" indent="-5540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  <p15:guide id="7" pos="376" userDrawn="1">
          <p15:clr>
            <a:srgbClr val="A4A3A4"/>
          </p15:clr>
        </p15:guide>
        <p15:guide id="8" pos="13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8A82"/>
    <a:srgbClr val="E2E000"/>
    <a:srgbClr val="53B129"/>
    <a:srgbClr val="02602E"/>
    <a:srgbClr val="FFC000"/>
    <a:srgbClr val="FFFFFF"/>
    <a:srgbClr val="08B689"/>
    <a:srgbClr val="79B50F"/>
    <a:srgbClr val="09B0DE"/>
    <a:srgbClr val="666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30" autoAdjust="0"/>
    <p:restoredTop sz="92986" autoAdjust="0"/>
  </p:normalViewPr>
  <p:slideViewPr>
    <p:cSldViewPr>
      <p:cViewPr varScale="1">
        <p:scale>
          <a:sx n="47" d="100"/>
          <a:sy n="47" d="100"/>
        </p:scale>
        <p:origin x="43" y="840"/>
      </p:cViewPr>
      <p:guideLst>
        <p:guide orient="horz" pos="328"/>
        <p:guide pos="4050"/>
        <p:guide pos="557"/>
        <p:guide orient="horz" pos="4183"/>
        <p:guide pos="7588"/>
        <p:guide pos="376"/>
        <p:guide pos="1350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742FC-62BB-4B81-9CA5-3B750A4B4580}" type="datetimeFigureOut">
              <a:rPr lang="zh-CN" altLang="en-US" smtClean="0"/>
              <a:t>2020/11/8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E82F1-5B17-4D95-A6D6-EB96F2D7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14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2020/11/8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493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692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788" algn="l" defTabSz="914197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92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393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156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95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128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808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948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024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41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6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726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70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01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034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204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9884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1731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4962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33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28051" y="655753"/>
            <a:ext cx="12883100" cy="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819" y="7004872"/>
            <a:ext cx="1518523" cy="2277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519342" y="7004872"/>
            <a:ext cx="11364576" cy="2277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28051" y="159742"/>
            <a:ext cx="507134" cy="303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2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advTm="2000">
        <p14:prism isInverted="1"/>
      </p:transition>
    </mc:Choice>
    <mc:Fallback xmlns="">
      <p:transition spd="med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56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3E93-166D-47F5-9EF1-ACEABE24AEEA}" type="datetimeFigureOut">
              <a:rPr lang="zh-CN" altLang="en-US" smtClean="0"/>
              <a:t>2020/11/8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9398655" y="6826488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75161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  <a:t>2020/11/8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7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6" r:id="rId2"/>
    <p:sldLayoutId id="21474839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jpeg"/><Relationship Id="rId5" Type="http://schemas.openxmlformats.org/officeDocument/2006/relationships/tags" Target="../tags/tag6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5871860" y="1655931"/>
            <a:ext cx="1240795" cy="1180391"/>
            <a:chOff x="6151556" y="2540082"/>
            <a:chExt cx="2789233" cy="1313258"/>
          </a:xfrm>
        </p:grpSpPr>
        <p:sp>
          <p:nvSpPr>
            <p:cNvPr id="25" name="TextBox 205"/>
            <p:cNvSpPr txBox="1"/>
            <p:nvPr/>
          </p:nvSpPr>
          <p:spPr>
            <a:xfrm>
              <a:off x="7502766" y="2540082"/>
              <a:ext cx="1438023" cy="1294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959" b="1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zh-CN" altLang="en-US" sz="6959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1"/>
            <p:cNvSpPr txBox="1"/>
            <p:nvPr/>
          </p:nvSpPr>
          <p:spPr>
            <a:xfrm>
              <a:off x="6151556" y="2559134"/>
              <a:ext cx="1438023" cy="1294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959" b="1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endParaRPr lang="zh-CN" altLang="en-US" sz="6959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2182" y="4427471"/>
            <a:ext cx="5945953" cy="351956"/>
            <a:chOff x="2251552" y="4413482"/>
            <a:chExt cx="7688896" cy="333803"/>
          </a:xfrm>
        </p:grpSpPr>
        <p:grpSp>
          <p:nvGrpSpPr>
            <p:cNvPr id="28" name="组合 27"/>
            <p:cNvGrpSpPr/>
            <p:nvPr/>
          </p:nvGrpSpPr>
          <p:grpSpPr>
            <a:xfrm>
              <a:off x="2251552" y="4568980"/>
              <a:ext cx="7688896" cy="0"/>
              <a:chOff x="2495035" y="4711855"/>
              <a:chExt cx="6755943" cy="0"/>
            </a:xfrm>
          </p:grpSpPr>
          <p:cxnSp>
            <p:nvCxnSpPr>
              <p:cNvPr id="30" name="直接连接符 29"/>
              <p:cNvCxnSpPr/>
              <p:nvPr/>
            </p:nvCxnSpPr>
            <p:spPr>
              <a:xfrm>
                <a:off x="2495035" y="4711855"/>
                <a:ext cx="1362965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7888013" y="4711855"/>
                <a:ext cx="1362965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文本框 28"/>
            <p:cNvSpPr txBox="1"/>
            <p:nvPr/>
          </p:nvSpPr>
          <p:spPr>
            <a:xfrm>
              <a:off x="4095633" y="4413482"/>
              <a:ext cx="4000734" cy="333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87">
                  <a:solidFill>
                    <a:schemeClr val="bg1">
                      <a:lumMod val="50000"/>
                    </a:schemeClr>
                  </a:solidFill>
                  <a:latin typeface="ITC Avant Garde Std Bk" panose="020B0502020202020204" pitchFamily="34" charset="0"/>
                </a:rPr>
                <a:t>2</a:t>
              </a:r>
              <a:r>
                <a:rPr lang="ko-KR" altLang="en-US" sz="1687">
                  <a:solidFill>
                    <a:schemeClr val="bg1">
                      <a:lumMod val="50000"/>
                    </a:schemeClr>
                  </a:solidFill>
                  <a:latin typeface="ITC Avant Garde Std Bk" panose="020B0502020202020204" pitchFamily="34" charset="0"/>
                </a:rPr>
                <a:t>조</a:t>
              </a:r>
              <a:endParaRPr lang="zh-CN" altLang="en-US" sz="1687">
                <a:solidFill>
                  <a:schemeClr val="bg1">
                    <a:lumMod val="50000"/>
                  </a:schemeClr>
                </a:solidFill>
                <a:latin typeface="ITC Avant Garde Std Bk" panose="020B0502020202020204" pitchFamily="34" charset="0"/>
              </a:endParaRPr>
            </a:p>
          </p:txBody>
        </p:sp>
      </p:grpSp>
      <p:sp>
        <p:nvSpPr>
          <p:cNvPr id="32" name="TextBox 40"/>
          <p:cNvSpPr txBox="1"/>
          <p:nvPr/>
        </p:nvSpPr>
        <p:spPr>
          <a:xfrm>
            <a:off x="3112182" y="4936112"/>
            <a:ext cx="6171541" cy="2039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3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조장 </a:t>
            </a:r>
            <a:r>
              <a:rPr lang="en-US" altLang="ko-KR" sz="253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  </a:t>
            </a:r>
            <a:r>
              <a:rPr lang="ko-KR" altLang="en-US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컴퓨터공학과 </a:t>
            </a:r>
            <a:r>
              <a:rPr lang="ko-KR" altLang="en-US" sz="2531" b="1" err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권순호</a:t>
            </a:r>
            <a:endParaRPr lang="en-US" altLang="ko-KR" sz="2531" b="1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ko-KR" altLang="en-US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조원</a:t>
            </a:r>
            <a:r>
              <a:rPr lang="ko-KR" altLang="en-US" sz="253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253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:   </a:t>
            </a:r>
            <a:r>
              <a:rPr lang="ko-KR" altLang="en-US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기계공학과   </a:t>
            </a:r>
            <a:r>
              <a:rPr lang="ko-KR" altLang="en-US" sz="2531" b="1" err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류연동</a:t>
            </a:r>
            <a:endParaRPr lang="en-US" altLang="ko-KR" sz="2531" b="1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zh-CN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      </a:t>
            </a:r>
            <a:r>
              <a:rPr lang="ko-KR" altLang="en-US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컴퓨터공학과  배준일</a:t>
            </a:r>
            <a:endParaRPr lang="en-US" altLang="ko-KR" sz="2531" b="1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      </a:t>
            </a:r>
            <a:r>
              <a:rPr lang="ko-KR" altLang="en-US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컴퓨터공학과  정우영</a:t>
            </a:r>
            <a:endParaRPr lang="en-US" altLang="ko-KR" sz="2531" b="1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r>
              <a:rPr lang="en-US" altLang="ko-KR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      </a:t>
            </a:r>
            <a:r>
              <a:rPr lang="ko-KR" altLang="en-US" sz="2531" b="1">
                <a:solidFill>
                  <a:schemeClr val="tx1">
                    <a:lumMod val="65000"/>
                    <a:lumOff val="35000"/>
                  </a:schemeClr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컴퓨터공학과  유승주</a:t>
            </a:r>
            <a:endParaRPr lang="en-US" altLang="ko-KR" sz="2531" b="1">
              <a:solidFill>
                <a:schemeClr val="tx1">
                  <a:lumMod val="65000"/>
                  <a:lumOff val="35000"/>
                </a:schemeClr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33" name="圆角矩形 32"/>
          <p:cNvSpPr/>
          <p:nvPr/>
        </p:nvSpPr>
        <p:spPr bwMode="auto">
          <a:xfrm>
            <a:off x="3248514" y="2020159"/>
            <a:ext cx="753232" cy="753232"/>
          </a:xfrm>
          <a:prstGeom prst="roundRect">
            <a:avLst>
              <a:gd name="adj" fmla="val 6712"/>
            </a:avLst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368300" dist="101600" dir="90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83507" tIns="41753" rIns="83507" bIns="41753" numCol="1" rtlCol="0" anchor="ctr" anchorCtr="0" compatLnSpc="1">
            <a:noAutofit/>
          </a:bodyPr>
          <a:lstStyle/>
          <a:p>
            <a:pPr algn="ctr" defTabSz="844883"/>
            <a:endParaRPr lang="zh-CN" altLang="en-US" sz="2531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4001746" y="1191604"/>
            <a:ext cx="677909" cy="677909"/>
          </a:xfrm>
          <a:prstGeom prst="roundRect">
            <a:avLst>
              <a:gd name="adj" fmla="val 6712"/>
            </a:avLst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83507" tIns="41753" rIns="83507" bIns="41753" numCol="1" rtlCol="0" anchor="ctr" anchorCtr="0" compatLnSpc="1">
            <a:noAutofit/>
          </a:bodyPr>
          <a:lstStyle/>
          <a:p>
            <a:pPr algn="ctr" defTabSz="844883"/>
            <a:endParaRPr lang="zh-CN" altLang="en-US" sz="2531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圆角矩形 34"/>
          <p:cNvSpPr/>
          <p:nvPr/>
        </p:nvSpPr>
        <p:spPr bwMode="auto">
          <a:xfrm>
            <a:off x="3700451" y="1718864"/>
            <a:ext cx="527263" cy="527263"/>
          </a:xfrm>
          <a:prstGeom prst="roundRect">
            <a:avLst>
              <a:gd name="adj" fmla="val 671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8100000" scaled="1"/>
            <a:tileRect/>
          </a:gradFill>
          <a:ln w="9525" cap="flat" cmpd="sng" algn="ctr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</a:gsLst>
              <a:lin ang="189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>
            <a:outerShdw blurRad="342900" dist="762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vert="horz" wrap="square" lIns="83507" tIns="41753" rIns="83507" bIns="41753" numCol="1" rtlCol="0" anchor="ctr" anchorCtr="0" compatLnSpc="1">
            <a:noAutofit/>
          </a:bodyPr>
          <a:lstStyle/>
          <a:p>
            <a:pPr algn="ctr" defTabSz="844883"/>
            <a:endParaRPr lang="zh-CN" altLang="en-US" sz="2531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圆角矩形 35"/>
          <p:cNvSpPr/>
          <p:nvPr/>
        </p:nvSpPr>
        <p:spPr bwMode="auto">
          <a:xfrm>
            <a:off x="4510435" y="1681204"/>
            <a:ext cx="979201" cy="979201"/>
          </a:xfrm>
          <a:prstGeom prst="roundRect">
            <a:avLst>
              <a:gd name="adj" fmla="val 6712"/>
            </a:avLst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8100000" scaled="1"/>
            <a:tileRect/>
          </a:gradFill>
          <a:ln w="9525" cap="flat" cmpd="sng" algn="ctr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</a:gsLst>
              <a:lin ang="1890000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>
            <a:outerShdw blurRad="342900" dist="762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vert="horz" wrap="square" lIns="83507" tIns="41753" rIns="83507" bIns="41753" numCol="1" rtlCol="0" anchor="ctr" anchorCtr="0" compatLnSpc="1">
            <a:noAutofit/>
          </a:bodyPr>
          <a:lstStyle/>
          <a:p>
            <a:pPr algn="ctr" defTabSz="844883"/>
            <a:endParaRPr lang="zh-CN" altLang="en-US" sz="2531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222" y="2930443"/>
            <a:ext cx="12853396" cy="1476324"/>
          </a:xfrm>
          <a:prstGeom prst="rect">
            <a:avLst/>
          </a:prstGeom>
          <a:solidFill>
            <a:schemeClr val="accent3"/>
          </a:solidFill>
          <a:ln w="317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7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172356"/>
            <a:ext cx="5565279" cy="174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48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Tm="0">
        <p15:prstTrans prst="drap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3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7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4" grpId="0" animBg="1"/>
      <p:bldP spid="35" grpId="0" animBg="1"/>
      <p:bldP spid="36" grpId="0" animBg="1"/>
      <p:bldP spid="3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/>
          </p:cNvSpPr>
          <p:nvPr/>
        </p:nvSpPr>
        <p:spPr bwMode="auto">
          <a:xfrm>
            <a:off x="0" y="1325708"/>
            <a:ext cx="12858750" cy="5906942"/>
          </a:xfrm>
          <a:custGeom>
            <a:avLst/>
            <a:gdLst>
              <a:gd name="T0" fmla="*/ 1926 w 3851"/>
              <a:gd name="T1" fmla="*/ 0 h 2739"/>
              <a:gd name="T2" fmla="*/ 3851 w 3851"/>
              <a:gd name="T3" fmla="*/ 2739 h 2739"/>
              <a:gd name="T4" fmla="*/ 0 w 3851"/>
              <a:gd name="T5" fmla="*/ 2739 h 2739"/>
              <a:gd name="T6" fmla="*/ 1926 w 3851"/>
              <a:gd name="T7" fmla="*/ 0 h 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51" h="2739">
                <a:moveTo>
                  <a:pt x="1926" y="0"/>
                </a:moveTo>
                <a:lnTo>
                  <a:pt x="3851" y="2739"/>
                </a:lnTo>
                <a:lnTo>
                  <a:pt x="0" y="2739"/>
                </a:lnTo>
                <a:lnTo>
                  <a:pt x="1926" y="0"/>
                </a:lnTo>
                <a:close/>
              </a:path>
            </a:pathLst>
          </a:custGeom>
          <a:blipFill dpi="0" rotWithShape="1"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0" y="-1"/>
            <a:ext cx="12858749" cy="7144718"/>
          </a:xfrm>
          <a:custGeom>
            <a:avLst/>
            <a:gdLst>
              <a:gd name="T0" fmla="*/ 0 w 5483"/>
              <a:gd name="T1" fmla="*/ 0 h 2853"/>
              <a:gd name="T2" fmla="*/ 5483 w 5483"/>
              <a:gd name="T3" fmla="*/ 0 h 2853"/>
              <a:gd name="T4" fmla="*/ 2742 w 5483"/>
              <a:gd name="T5" fmla="*/ 2853 h 2853"/>
              <a:gd name="T6" fmla="*/ 0 w 5483"/>
              <a:gd name="T7" fmla="*/ 0 h 28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483" h="2853">
                <a:moveTo>
                  <a:pt x="0" y="0"/>
                </a:moveTo>
                <a:lnTo>
                  <a:pt x="5483" y="0"/>
                </a:lnTo>
                <a:lnTo>
                  <a:pt x="2742" y="28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9804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MH_Number_1"/>
          <p:cNvSpPr/>
          <p:nvPr>
            <p:custDataLst>
              <p:tags r:id="rId1"/>
            </p:custDataLst>
          </p:nvPr>
        </p:nvSpPr>
        <p:spPr>
          <a:xfrm>
            <a:off x="4554020" y="2003584"/>
            <a:ext cx="501639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32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Number_2"/>
          <p:cNvSpPr/>
          <p:nvPr>
            <p:custDataLst>
              <p:tags r:id="rId2"/>
            </p:custDataLst>
          </p:nvPr>
        </p:nvSpPr>
        <p:spPr>
          <a:xfrm>
            <a:off x="4554020" y="2787057"/>
            <a:ext cx="501639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5" name="MH_Number_3"/>
          <p:cNvSpPr/>
          <p:nvPr>
            <p:custDataLst>
              <p:tags r:id="rId3"/>
            </p:custDataLst>
          </p:nvPr>
        </p:nvSpPr>
        <p:spPr>
          <a:xfrm>
            <a:off x="4554020" y="3570530"/>
            <a:ext cx="501639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32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Number_4"/>
          <p:cNvSpPr/>
          <p:nvPr>
            <p:custDataLst>
              <p:tags r:id="rId4"/>
            </p:custDataLst>
          </p:nvPr>
        </p:nvSpPr>
        <p:spPr>
          <a:xfrm>
            <a:off x="4554020" y="4354003"/>
            <a:ext cx="501639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32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MH_Entry_1"/>
          <p:cNvSpPr txBox="1"/>
          <p:nvPr>
            <p:custDataLst>
              <p:tags r:id="rId5"/>
            </p:custDataLst>
          </p:nvPr>
        </p:nvSpPr>
        <p:spPr>
          <a:xfrm>
            <a:off x="5421263" y="2104223"/>
            <a:ext cx="3385423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sz="2400">
                <a:solidFill>
                  <a:schemeClr val="bg1"/>
                </a:solidFill>
                <a:latin typeface="휴먼모음T" panose="02030504000101010101" pitchFamily="18" charset="-127"/>
                <a:ea typeface="휴먼모음T" panose="02030504000101010101" pitchFamily="18" charset="-127"/>
                <a:sym typeface="Arial" panose="020B0604020202020204" pitchFamily="34" charset="0"/>
              </a:rPr>
              <a:t>주제 선정</a:t>
            </a:r>
            <a:endParaRPr lang="zh-CN" altLang="en-US" sz="240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  <a:sym typeface="Arial" panose="020B0604020202020204" pitchFamily="34" charset="0"/>
            </a:endParaRPr>
          </a:p>
        </p:txBody>
      </p:sp>
      <p:sp>
        <p:nvSpPr>
          <p:cNvPr id="18" name="MH_Entry_2"/>
          <p:cNvSpPr txBox="1"/>
          <p:nvPr>
            <p:custDataLst>
              <p:tags r:id="rId6"/>
            </p:custDataLst>
          </p:nvPr>
        </p:nvSpPr>
        <p:spPr>
          <a:xfrm>
            <a:off x="5421263" y="2886838"/>
            <a:ext cx="3385423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요구사항 명세서</a:t>
            </a:r>
            <a:endParaRPr lang="zh-CN" altLang="en-US" sz="2400">
              <a:solidFill>
                <a:schemeClr val="bg1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19" name="MH_Entry_3"/>
          <p:cNvSpPr txBox="1"/>
          <p:nvPr>
            <p:custDataLst>
              <p:tags r:id="rId7"/>
            </p:custDataLst>
          </p:nvPr>
        </p:nvSpPr>
        <p:spPr>
          <a:xfrm>
            <a:off x="5421263" y="3669453"/>
            <a:ext cx="3385423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DB </a:t>
            </a:r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모델 개념적 설계</a:t>
            </a:r>
            <a:endParaRPr lang="zh-CN" altLang="en-US" sz="2400">
              <a:solidFill>
                <a:schemeClr val="bg1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0" name="MH_Entry_4"/>
          <p:cNvSpPr txBox="1"/>
          <p:nvPr>
            <p:custDataLst>
              <p:tags r:id="rId8"/>
            </p:custDataLst>
          </p:nvPr>
        </p:nvSpPr>
        <p:spPr>
          <a:xfrm>
            <a:off x="5421263" y="4452067"/>
            <a:ext cx="3385423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ER </a:t>
            </a:r>
            <a:r>
              <a:rPr lang="ko-KR" altLang="en-US" sz="2400">
                <a:solidFill>
                  <a:schemeClr val="bg1"/>
                </a:solidFill>
                <a:latin typeface="+mj-ea"/>
                <a:ea typeface="+mj-ea"/>
                <a:sym typeface="Arial" panose="020B0604020202020204" pitchFamily="34" charset="0"/>
              </a:rPr>
              <a:t>다이어그램</a:t>
            </a:r>
            <a:endParaRPr lang="zh-CN" altLang="en-US" sz="2400">
              <a:solidFill>
                <a:schemeClr val="bg1"/>
              </a:solidFill>
              <a:latin typeface="+mj-ea"/>
              <a:ea typeface="+mj-ea"/>
              <a:sym typeface="Arial" panose="020B060402020202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226074" y="2177233"/>
            <a:ext cx="145144" cy="1451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4226074" y="2983683"/>
            <a:ext cx="145144" cy="1451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226074" y="3764733"/>
            <a:ext cx="145144" cy="1451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226074" y="4520383"/>
            <a:ext cx="145144" cy="1451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48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75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2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五边形 2"/>
          <p:cNvSpPr/>
          <p:nvPr/>
        </p:nvSpPr>
        <p:spPr>
          <a:xfrm>
            <a:off x="0" y="1008340"/>
            <a:ext cx="10749855" cy="2319953"/>
          </a:xfrm>
          <a:prstGeom prst="homePlate">
            <a:avLst/>
          </a:prstGeom>
          <a:solidFill>
            <a:schemeClr val="accent2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199717" y="2390936"/>
            <a:ext cx="442897" cy="274130"/>
            <a:chOff x="7719062" y="2536205"/>
            <a:chExt cx="791915" cy="490154"/>
          </a:xfrm>
        </p:grpSpPr>
        <p:sp>
          <p:nvSpPr>
            <p:cNvPr id="6" name="燕尾形 5"/>
            <p:cNvSpPr/>
            <p:nvPr/>
          </p:nvSpPr>
          <p:spPr>
            <a:xfrm rot="10800000">
              <a:off x="7719062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 rot="10800000">
              <a:off x="7974319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 rot="10800000">
              <a:off x="8229575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6429375" y="3328293"/>
            <a:ext cx="6429375" cy="16561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6141343" y="1883103"/>
            <a:ext cx="410445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/>
            <a:r>
              <a:rPr lang="ko-KR" altLang="en-US" sz="6000">
                <a:solidFill>
                  <a:schemeClr val="bg1"/>
                </a:solidFill>
                <a:latin typeface="+mj-ea"/>
                <a:ea typeface="+mj-ea"/>
              </a:rPr>
              <a:t>주제 선정</a:t>
            </a:r>
            <a:endParaRPr lang="en-US" altLang="zh-CN" sz="60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9254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9"/>
          <p:cNvSpPr txBox="1"/>
          <p:nvPr/>
        </p:nvSpPr>
        <p:spPr>
          <a:xfrm>
            <a:off x="740743" y="2254414"/>
            <a:ext cx="5040560" cy="2831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en-US" altLang="zh-CN" sz="14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/>
            <a:endParaRPr lang="zh-CN" altLang="en-US" sz="14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</a:t>
            </a:r>
          </a:p>
          <a:p>
            <a:pPr>
              <a:lnSpc>
                <a:spcPct val="150000"/>
              </a:lnSpc>
            </a:pPr>
            <a:endParaRPr lang="en-US" altLang="zh-CN" sz="8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请替换文字内容，添加相关标题，修改文字内容，也可以直接复制你的内容到此。</a:t>
            </a:r>
          </a:p>
        </p:txBody>
      </p:sp>
      <p:sp>
        <p:nvSpPr>
          <p:cNvPr id="3" name="梯形 2"/>
          <p:cNvSpPr/>
          <p:nvPr/>
        </p:nvSpPr>
        <p:spPr>
          <a:xfrm>
            <a:off x="6213350" y="0"/>
            <a:ext cx="6651487" cy="7232650"/>
          </a:xfrm>
          <a:custGeom>
            <a:avLst/>
            <a:gdLst>
              <a:gd name="connsiteX0" fmla="*/ 0 w 4320480"/>
              <a:gd name="connsiteY0" fmla="*/ 5143500 h 5143500"/>
              <a:gd name="connsiteX1" fmla="*/ 1080120 w 4320480"/>
              <a:gd name="connsiteY1" fmla="*/ 0 h 5143500"/>
              <a:gd name="connsiteX2" fmla="*/ 3240360 w 4320480"/>
              <a:gd name="connsiteY2" fmla="*/ 0 h 5143500"/>
              <a:gd name="connsiteX3" fmla="*/ 4320480 w 4320480"/>
              <a:gd name="connsiteY3" fmla="*/ 5143500 h 5143500"/>
              <a:gd name="connsiteX4" fmla="*/ 0 w 4320480"/>
              <a:gd name="connsiteY4" fmla="*/ 5143500 h 5143500"/>
              <a:gd name="connsiteX0" fmla="*/ 0 w 4320480"/>
              <a:gd name="connsiteY0" fmla="*/ 5154133 h 5154133"/>
              <a:gd name="connsiteX1" fmla="*/ 1080120 w 4320480"/>
              <a:gd name="connsiteY1" fmla="*/ 10633 h 5154133"/>
              <a:gd name="connsiteX2" fmla="*/ 4292983 w 4320480"/>
              <a:gd name="connsiteY2" fmla="*/ 0 h 5154133"/>
              <a:gd name="connsiteX3" fmla="*/ 4320480 w 4320480"/>
              <a:gd name="connsiteY3" fmla="*/ 5154133 h 5154133"/>
              <a:gd name="connsiteX4" fmla="*/ 0 w 4320480"/>
              <a:gd name="connsiteY4" fmla="*/ 5154133 h 5154133"/>
              <a:gd name="connsiteX0" fmla="*/ 0 w 4323701"/>
              <a:gd name="connsiteY0" fmla="*/ 5154133 h 5154133"/>
              <a:gd name="connsiteX1" fmla="*/ 1080120 w 4323701"/>
              <a:gd name="connsiteY1" fmla="*/ 10633 h 5154133"/>
              <a:gd name="connsiteX2" fmla="*/ 4323701 w 4323701"/>
              <a:gd name="connsiteY2" fmla="*/ 0 h 5154133"/>
              <a:gd name="connsiteX3" fmla="*/ 4320480 w 4323701"/>
              <a:gd name="connsiteY3" fmla="*/ 5154133 h 5154133"/>
              <a:gd name="connsiteX4" fmla="*/ 0 w 4323701"/>
              <a:gd name="connsiteY4" fmla="*/ 5154133 h 5154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3701" h="5154133">
                <a:moveTo>
                  <a:pt x="0" y="5154133"/>
                </a:moveTo>
                <a:lnTo>
                  <a:pt x="1080120" y="10633"/>
                </a:lnTo>
                <a:lnTo>
                  <a:pt x="4323701" y="0"/>
                </a:lnTo>
                <a:cubicBezTo>
                  <a:pt x="4322627" y="1718044"/>
                  <a:pt x="4321554" y="3436089"/>
                  <a:pt x="4320480" y="5154133"/>
                </a:cubicBezTo>
                <a:lnTo>
                  <a:pt x="0" y="5154133"/>
                </a:ln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업무 선정 과정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19DE3-7994-474E-A3B2-32AC75DBB014}"/>
              </a:ext>
            </a:extLst>
          </p:cNvPr>
          <p:cNvSpPr txBox="1"/>
          <p:nvPr/>
        </p:nvSpPr>
        <p:spPr>
          <a:xfrm>
            <a:off x="349115" y="1528093"/>
            <a:ext cx="433966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500">
                <a:latin typeface="+mj-ea"/>
                <a:ea typeface="+mj-ea"/>
              </a:rPr>
              <a:t>업무 관련 내부적인 논의를 거쳐 모든 의견을 고려하여 투표를 통한 합리적인 업무 선정 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E710221-6F30-4CE0-BD29-C15F48B5D023}"/>
              </a:ext>
            </a:extLst>
          </p:cNvPr>
          <p:cNvSpPr/>
          <p:nvPr/>
        </p:nvSpPr>
        <p:spPr>
          <a:xfrm>
            <a:off x="5018866" y="1528093"/>
            <a:ext cx="1875453" cy="135956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/>
              <a:t>투표</a:t>
            </a:r>
          </a:p>
        </p:txBody>
      </p:sp>
      <p:pic>
        <p:nvPicPr>
          <p:cNvPr id="11" name="그림 10" descr="텍스트이(가) 표시된 사진  자동 생성된 설명">
            <a:extLst>
              <a:ext uri="{FF2B5EF4-FFF2-40B4-BE49-F238E27FC236}">
                <a16:creationId xmlns:a16="http://schemas.microsoft.com/office/drawing/2014/main" id="{2953D0D5-9BB0-4B79-965E-BFE2EFB761C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750"/>
          <a:stretch>
            <a:fillRect/>
          </a:stretch>
        </p:blipFill>
        <p:spPr>
          <a:xfrm>
            <a:off x="8074934" y="572914"/>
            <a:ext cx="3958394" cy="6496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7B0114F7-B13C-4863-9619-CBDF54310F16}"/>
              </a:ext>
            </a:extLst>
          </p:cNvPr>
          <p:cNvSpPr/>
          <p:nvPr/>
        </p:nvSpPr>
        <p:spPr>
          <a:xfrm>
            <a:off x="308696" y="3821237"/>
            <a:ext cx="1654409" cy="101566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D8ACE-92E1-4684-9870-3A0F48FF534B}"/>
              </a:ext>
            </a:extLst>
          </p:cNvPr>
          <p:cNvSpPr txBox="1"/>
          <p:nvPr/>
        </p:nvSpPr>
        <p:spPr>
          <a:xfrm>
            <a:off x="2518949" y="3670186"/>
            <a:ext cx="37777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500">
                <a:latin typeface="+mj-ea"/>
                <a:ea typeface="+mj-ea"/>
              </a:rPr>
              <a:t>항공 분야에서도 항공이 고객들에게 제공하는 서비스들을 주제로          선정하게 되었다</a:t>
            </a:r>
            <a:r>
              <a:rPr lang="en-US" altLang="ko-KR" sz="250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553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업무 선정 과정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00783" y="880021"/>
            <a:ext cx="10168128" cy="1179576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o-KR" altLang="en-US"/>
              <a:t>항공 서비스를 구현한 데이터베이스 설계</a:t>
            </a:r>
            <a:br>
              <a:rPr lang="en-US" altLang="ko-KR"/>
            </a:br>
            <a:r>
              <a:rPr lang="en-US" altLang="ko-KR"/>
              <a:t>(T-Way Airline)</a:t>
            </a:r>
            <a:endParaRPr lang="ko-KR" altLang="en-US"/>
          </a:p>
        </p:txBody>
      </p:sp>
      <p:sp>
        <p:nvSpPr>
          <p:cNvPr id="37" name="내용 개체 틀 4">
            <a:extLst>
              <a:ext uri="{FF2B5EF4-FFF2-40B4-BE49-F238E27FC236}">
                <a16:creationId xmlns:a16="http://schemas.microsoft.com/office/drawing/2014/main" id="{0C7601EE-150A-47CF-81B1-F6FFC616A002}"/>
              </a:ext>
            </a:extLst>
          </p:cNvPr>
          <p:cNvSpPr txBox="1">
            <a:spLocks/>
          </p:cNvSpPr>
          <p:nvPr/>
        </p:nvSpPr>
        <p:spPr>
          <a:xfrm>
            <a:off x="2108895" y="3998074"/>
            <a:ext cx="12406088" cy="3694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ko-KR" altLang="en-US" sz="2700">
                <a:latin typeface="+mj-ea"/>
                <a:ea typeface="+mj-ea"/>
              </a:rPr>
              <a:t>타 후보군에 비해 업무의 분담이 잘 되어있다</a:t>
            </a:r>
            <a:r>
              <a:rPr lang="en-US" altLang="ko-KR" sz="2700">
                <a:latin typeface="+mj-ea"/>
                <a:ea typeface="+mj-ea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ko-KR" altLang="en-US" sz="2700">
                <a:latin typeface="+mj-ea"/>
                <a:ea typeface="+mj-ea"/>
              </a:rPr>
              <a:t>타 업무에 비해 많은 소비자가 예상되어 경쟁력이 높다</a:t>
            </a:r>
            <a:r>
              <a:rPr lang="en-US" altLang="ko-KR" sz="2700">
                <a:latin typeface="+mj-ea"/>
                <a:ea typeface="+mj-ea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ko-KR" altLang="en-US" sz="2700">
                <a:latin typeface="+mj-ea"/>
                <a:ea typeface="+mj-ea"/>
              </a:rPr>
              <a:t>서비스와 소속 공항</a:t>
            </a:r>
            <a:r>
              <a:rPr lang="en-US" altLang="ko-KR" sz="2700">
                <a:latin typeface="+mj-ea"/>
                <a:ea typeface="+mj-ea"/>
              </a:rPr>
              <a:t>, </a:t>
            </a:r>
            <a:r>
              <a:rPr lang="ko-KR" altLang="en-US" sz="2700">
                <a:latin typeface="+mj-ea"/>
                <a:ea typeface="+mj-ea"/>
              </a:rPr>
              <a:t>예약의 관리 효율을 위한 경제적인 </a:t>
            </a:r>
            <a:r>
              <a:rPr lang="en-US" altLang="ko-KR" sz="2700">
                <a:latin typeface="+mj-ea"/>
                <a:ea typeface="+mj-ea"/>
              </a:rPr>
              <a:t>DBMS</a:t>
            </a:r>
            <a:r>
              <a:rPr lang="ko-KR" altLang="en-US" sz="2700">
                <a:latin typeface="+mj-ea"/>
                <a:ea typeface="+mj-ea"/>
              </a:rPr>
              <a:t>가 요구된다</a:t>
            </a:r>
            <a:r>
              <a:rPr lang="en-US" altLang="ko-KR" sz="2700">
                <a:latin typeface="+mj-ea"/>
                <a:ea typeface="+mj-ea"/>
              </a:rPr>
              <a:t>.</a:t>
            </a:r>
          </a:p>
          <a:p>
            <a:pPr fontAlgn="auto">
              <a:spcAft>
                <a:spcPts val="0"/>
              </a:spcAft>
              <a:defRPr/>
            </a:pPr>
            <a:r>
              <a:rPr lang="ko-KR" altLang="en-US" sz="2700">
                <a:latin typeface="+mj-ea"/>
                <a:ea typeface="+mj-ea"/>
              </a:rPr>
              <a:t>실세계를 바탕으로 다양한 서비스들이 존재한다</a:t>
            </a:r>
            <a:r>
              <a:rPr lang="en-US" altLang="ko-KR" sz="2700">
                <a:latin typeface="+mj-ea"/>
                <a:ea typeface="+mj-ea"/>
              </a:rPr>
              <a:t>.</a:t>
            </a:r>
            <a:r>
              <a:rPr lang="ko-KR" altLang="en-US" sz="2700">
                <a:latin typeface="+mj-ea"/>
                <a:ea typeface="+mj-ea"/>
              </a:rPr>
              <a:t> </a:t>
            </a:r>
          </a:p>
          <a:p>
            <a:pPr fontAlgn="auto">
              <a:spcAft>
                <a:spcPts val="0"/>
              </a:spcAft>
              <a:defRPr/>
            </a:pPr>
            <a:endParaRPr lang="ko-KR" altLang="en-US" sz="2500"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F69B2-45FB-4D6A-8863-09CFB483D399}"/>
              </a:ext>
            </a:extLst>
          </p:cNvPr>
          <p:cNvSpPr txBox="1"/>
          <p:nvPr/>
        </p:nvSpPr>
        <p:spPr>
          <a:xfrm>
            <a:off x="3549055" y="2488890"/>
            <a:ext cx="3528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>
                <a:latin typeface="+mj-ea"/>
                <a:ea typeface="+mj-ea"/>
              </a:rPr>
              <a:t>Why</a:t>
            </a:r>
            <a:endParaRPr lang="ko-KR" altLang="en-US" sz="6000">
              <a:latin typeface="+mj-ea"/>
              <a:ea typeface="+mj-ea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FA97A906-1D8E-485A-9725-3FF77A0A1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1223" y="243626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70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五边形 2"/>
          <p:cNvSpPr/>
          <p:nvPr/>
        </p:nvSpPr>
        <p:spPr>
          <a:xfrm>
            <a:off x="0" y="1008340"/>
            <a:ext cx="10749855" cy="2319953"/>
          </a:xfrm>
          <a:prstGeom prst="homePlate">
            <a:avLst/>
          </a:prstGeom>
          <a:solidFill>
            <a:schemeClr val="accent2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199717" y="2390936"/>
            <a:ext cx="442897" cy="274130"/>
            <a:chOff x="7719062" y="2536205"/>
            <a:chExt cx="791915" cy="490154"/>
          </a:xfrm>
        </p:grpSpPr>
        <p:sp>
          <p:nvSpPr>
            <p:cNvPr id="6" name="燕尾形 5"/>
            <p:cNvSpPr/>
            <p:nvPr/>
          </p:nvSpPr>
          <p:spPr>
            <a:xfrm rot="10800000">
              <a:off x="7719062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 rot="10800000">
              <a:off x="7974319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 rot="10800000">
              <a:off x="8229575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6429375" y="3328293"/>
            <a:ext cx="6429375" cy="16561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4845199" y="1883103"/>
            <a:ext cx="5400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/>
            <a:r>
              <a:rPr lang="ko-KR" altLang="en-US" sz="6000">
                <a:solidFill>
                  <a:schemeClr val="bg1"/>
                </a:solidFill>
                <a:latin typeface="+mj-ea"/>
                <a:ea typeface="+mj-ea"/>
              </a:rPr>
              <a:t>요구사항 명세</a:t>
            </a:r>
            <a:endParaRPr lang="en-US" altLang="zh-CN" sz="60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65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요구 사항 명세서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o-KR" altLang="en-US"/>
              <a:t>데이터 요구사항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28990-63D7-44D7-9893-34DA4A65DADF}"/>
              </a:ext>
            </a:extLst>
          </p:cNvPr>
          <p:cNvSpPr txBox="1"/>
          <p:nvPr/>
        </p:nvSpPr>
        <p:spPr>
          <a:xfrm>
            <a:off x="2972991" y="1751758"/>
            <a:ext cx="1003988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항공 및 서비스의 표기 범위는 국내이다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3000">
                <a:latin typeface="+mn-ea"/>
                <a:ea typeface="+mn-ea"/>
              </a:rPr>
              <a:t>T-way </a:t>
            </a:r>
            <a:r>
              <a:rPr lang="ko-KR" altLang="en-US" sz="3000">
                <a:latin typeface="+mn-ea"/>
                <a:ea typeface="+mn-ea"/>
              </a:rPr>
              <a:t>항공사가 있는 공항의 경영자</a:t>
            </a:r>
            <a:r>
              <a:rPr lang="en-US" altLang="ko-KR" sz="3000">
                <a:latin typeface="+mn-ea"/>
                <a:ea typeface="+mn-ea"/>
              </a:rPr>
              <a:t>(Director)</a:t>
            </a:r>
            <a:r>
              <a:rPr lang="ko-KR" altLang="en-US" sz="3000">
                <a:latin typeface="+mn-ea"/>
                <a:ea typeface="+mn-ea"/>
              </a:rPr>
              <a:t>는 각 한 명이 관리한다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각 부서는 한 명의 책임자</a:t>
            </a:r>
            <a:r>
              <a:rPr lang="en-US" altLang="ko-KR" sz="3000">
                <a:latin typeface="+mn-ea"/>
                <a:ea typeface="+mn-ea"/>
              </a:rPr>
              <a:t>(Manager)</a:t>
            </a:r>
            <a:r>
              <a:rPr lang="ko-KR" altLang="en-US" sz="3000">
                <a:latin typeface="+mn-ea"/>
                <a:ea typeface="+mn-ea"/>
              </a:rPr>
              <a:t>가 직원 및 서비스를 관리한다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 marL="342900" indent="-342900">
              <a:buAutoNum type="arabicPeriod"/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각 공항에 위치한 각각의 </a:t>
            </a:r>
            <a:r>
              <a:rPr lang="en-US" altLang="ko-KR" sz="3000">
                <a:latin typeface="+mn-ea"/>
                <a:ea typeface="+mn-ea"/>
              </a:rPr>
              <a:t>T-way </a:t>
            </a:r>
            <a:r>
              <a:rPr lang="ko-KR" altLang="en-US" sz="3000">
                <a:latin typeface="+mn-ea"/>
                <a:ea typeface="+mn-ea"/>
              </a:rPr>
              <a:t>항공사가 해당하는 전체의 서비스를 관리한다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</p:txBody>
      </p:sp>
      <p:pic>
        <p:nvPicPr>
          <p:cNvPr id="6" name="그래픽 5" descr="배지 체크 표시1">
            <a:extLst>
              <a:ext uri="{FF2B5EF4-FFF2-40B4-BE49-F238E27FC236}">
                <a16:creationId xmlns:a16="http://schemas.microsoft.com/office/drawing/2014/main" id="{6D0DB679-052D-46AA-8C56-2C852DF58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1718" y="1724723"/>
            <a:ext cx="669747" cy="669747"/>
          </a:xfrm>
          <a:prstGeom prst="rect">
            <a:avLst/>
          </a:prstGeom>
        </p:spPr>
      </p:pic>
      <p:pic>
        <p:nvPicPr>
          <p:cNvPr id="10" name="그래픽 9" descr="배지 체크 표시1">
            <a:extLst>
              <a:ext uri="{FF2B5EF4-FFF2-40B4-BE49-F238E27FC236}">
                <a16:creationId xmlns:a16="http://schemas.microsoft.com/office/drawing/2014/main" id="{4F07C40D-C3E0-4560-B8A9-B175D741C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1717" y="2667126"/>
            <a:ext cx="669747" cy="669747"/>
          </a:xfrm>
          <a:prstGeom prst="rect">
            <a:avLst/>
          </a:prstGeom>
        </p:spPr>
      </p:pic>
      <p:pic>
        <p:nvPicPr>
          <p:cNvPr id="11" name="그래픽 10" descr="배지 체크 표시1">
            <a:extLst>
              <a:ext uri="{FF2B5EF4-FFF2-40B4-BE49-F238E27FC236}">
                <a16:creationId xmlns:a16="http://schemas.microsoft.com/office/drawing/2014/main" id="{6F13B85B-2D92-4E6C-84F0-812443A63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1915" y="3944402"/>
            <a:ext cx="669747" cy="669747"/>
          </a:xfrm>
          <a:prstGeom prst="rect">
            <a:avLst/>
          </a:prstGeom>
        </p:spPr>
      </p:pic>
      <p:pic>
        <p:nvPicPr>
          <p:cNvPr id="12" name="그래픽 11" descr="배지 체크 표시1">
            <a:extLst>
              <a:ext uri="{FF2B5EF4-FFF2-40B4-BE49-F238E27FC236}">
                <a16:creationId xmlns:a16="http://schemas.microsoft.com/office/drawing/2014/main" id="{629132D5-27B5-44F7-9F01-B8AD0CD0F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1716" y="5344517"/>
            <a:ext cx="669747" cy="6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530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요구 사항 명세서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o-KR" altLang="en-US"/>
              <a:t>데이터 요구사항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28990-63D7-44D7-9893-34DA4A65DADF}"/>
              </a:ext>
            </a:extLst>
          </p:cNvPr>
          <p:cNvSpPr txBox="1"/>
          <p:nvPr/>
        </p:nvSpPr>
        <p:spPr>
          <a:xfrm>
            <a:off x="2995282" y="1560359"/>
            <a:ext cx="1003988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각 항공기는 한 명의 기장을 배치하며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기장에 의해 항공기가 운행되어 진다</a:t>
            </a:r>
            <a:r>
              <a:rPr lang="en-US" altLang="ko-KR" sz="3000">
                <a:latin typeface="+mn-ea"/>
                <a:ea typeface="+mn-ea"/>
              </a:rPr>
              <a:t>. </a:t>
            </a:r>
          </a:p>
          <a:p>
            <a:pPr marL="342900" indent="-342900">
              <a:buAutoNum type="arabicPeriod"/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모든 손님은 손님</a:t>
            </a:r>
            <a:r>
              <a:rPr lang="en-US" altLang="ko-KR" sz="3000">
                <a:latin typeface="+mn-ea"/>
                <a:ea typeface="+mn-ea"/>
              </a:rPr>
              <a:t>ID</a:t>
            </a:r>
            <a:r>
              <a:rPr lang="ko-KR" altLang="en-US" sz="3000">
                <a:latin typeface="+mn-ea"/>
                <a:ea typeface="+mn-ea"/>
              </a:rPr>
              <a:t>를 부여하여 식별하고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성별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성명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여권번호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예약번호를 가진다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모든 사원들은 사원</a:t>
            </a:r>
            <a:r>
              <a:rPr lang="en-US" altLang="ko-KR" sz="3000">
                <a:latin typeface="+mn-ea"/>
                <a:ea typeface="+mn-ea"/>
              </a:rPr>
              <a:t>ID</a:t>
            </a:r>
            <a:r>
              <a:rPr lang="ko-KR" altLang="en-US" sz="3000">
                <a:latin typeface="+mn-ea"/>
                <a:ea typeface="+mn-ea"/>
              </a:rPr>
              <a:t>를 부여하여 식별하며 담당업무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성별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성명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직급 등을 가진다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모든 예매권은 예매</a:t>
            </a:r>
            <a:r>
              <a:rPr lang="en-US" altLang="ko-KR" sz="3000">
                <a:latin typeface="+mn-ea"/>
                <a:ea typeface="+mn-ea"/>
              </a:rPr>
              <a:t>ID</a:t>
            </a:r>
            <a:r>
              <a:rPr lang="ko-KR" altLang="en-US" sz="3000">
                <a:latin typeface="+mn-ea"/>
                <a:ea typeface="+mn-ea"/>
              </a:rPr>
              <a:t>를 부여하여 식별하며</a:t>
            </a:r>
            <a:r>
              <a:rPr lang="en-US" altLang="ko-KR" sz="3000">
                <a:latin typeface="+mn-ea"/>
                <a:ea typeface="+mn-ea"/>
              </a:rPr>
              <a:t> </a:t>
            </a:r>
            <a:r>
              <a:rPr lang="ko-KR" altLang="en-US" sz="3000">
                <a:latin typeface="+mn-ea"/>
                <a:ea typeface="+mn-ea"/>
              </a:rPr>
              <a:t>예약자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항공기 번호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출발지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도착지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탑승게이트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출발 시간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도착 시간 등을 가진다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</p:txBody>
      </p:sp>
      <p:pic>
        <p:nvPicPr>
          <p:cNvPr id="6" name="그래픽 5" descr="배지 체크 표시1">
            <a:extLst>
              <a:ext uri="{FF2B5EF4-FFF2-40B4-BE49-F238E27FC236}">
                <a16:creationId xmlns:a16="http://schemas.microsoft.com/office/drawing/2014/main" id="{6D0DB679-052D-46AA-8C56-2C852DF58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9177" y="1544599"/>
            <a:ext cx="669747" cy="669747"/>
          </a:xfrm>
          <a:prstGeom prst="rect">
            <a:avLst/>
          </a:prstGeom>
        </p:spPr>
      </p:pic>
      <p:pic>
        <p:nvPicPr>
          <p:cNvPr id="10" name="그래픽 9" descr="배지 체크 표시1">
            <a:extLst>
              <a:ext uri="{FF2B5EF4-FFF2-40B4-BE49-F238E27FC236}">
                <a16:creationId xmlns:a16="http://schemas.microsoft.com/office/drawing/2014/main" id="{4F07C40D-C3E0-4560-B8A9-B175D741C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3084" y="2946467"/>
            <a:ext cx="669747" cy="669747"/>
          </a:xfrm>
          <a:prstGeom prst="rect">
            <a:avLst/>
          </a:prstGeom>
        </p:spPr>
      </p:pic>
      <p:pic>
        <p:nvPicPr>
          <p:cNvPr id="12" name="그래픽 11" descr="배지 체크 표시1">
            <a:extLst>
              <a:ext uri="{FF2B5EF4-FFF2-40B4-BE49-F238E27FC236}">
                <a16:creationId xmlns:a16="http://schemas.microsoft.com/office/drawing/2014/main" id="{629132D5-27B5-44F7-9F01-B8AD0CD0F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7371" y="5643457"/>
            <a:ext cx="669747" cy="669747"/>
          </a:xfrm>
          <a:prstGeom prst="rect">
            <a:avLst/>
          </a:prstGeom>
        </p:spPr>
      </p:pic>
      <p:pic>
        <p:nvPicPr>
          <p:cNvPr id="2" name="그래픽 1" descr="배지 체크 표시1">
            <a:extLst>
              <a:ext uri="{FF2B5EF4-FFF2-40B4-BE49-F238E27FC236}">
                <a16:creationId xmlns:a16="http://schemas.microsoft.com/office/drawing/2014/main" id="{04301D24-D075-4333-B200-79E4ED8D0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066" y="4278703"/>
            <a:ext cx="669747" cy="6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76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요구 사항 명세서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o-KR" altLang="en-US"/>
              <a:t>기능 요구사항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28990-63D7-44D7-9893-34DA4A65DADF}"/>
              </a:ext>
            </a:extLst>
          </p:cNvPr>
          <p:cNvSpPr txBox="1"/>
          <p:nvPr/>
        </p:nvSpPr>
        <p:spPr>
          <a:xfrm>
            <a:off x="2995282" y="1560359"/>
            <a:ext cx="10039886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각 경영자</a:t>
            </a:r>
            <a:r>
              <a:rPr lang="en-US" altLang="ko-KR" sz="3000">
                <a:latin typeface="+mn-ea"/>
                <a:ea typeface="+mn-ea"/>
              </a:rPr>
              <a:t>(Director)</a:t>
            </a:r>
            <a:r>
              <a:rPr lang="ko-KR" altLang="en-US" sz="3000">
                <a:latin typeface="+mn-ea"/>
                <a:ea typeface="+mn-ea"/>
              </a:rPr>
              <a:t>는 소비자의 예약 등 권리를 제외한 모든</a:t>
            </a: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권한을 가질 수 있다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각 부서의 책임자</a:t>
            </a:r>
            <a:r>
              <a:rPr lang="en-US" altLang="ko-KR" sz="3000">
                <a:latin typeface="+mn-ea"/>
                <a:ea typeface="+mn-ea"/>
              </a:rPr>
              <a:t>(Manager)</a:t>
            </a:r>
            <a:r>
              <a:rPr lang="ko-KR" altLang="en-US" sz="3000">
                <a:latin typeface="+mn-ea"/>
                <a:ea typeface="+mn-ea"/>
              </a:rPr>
              <a:t>는 부서의 모든 권한을 가지며 직원의 급여를 조정할 수 있다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각 부서의 직원은 재고관리를 할 수 있으며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재고가 있는 경우 소비자로부터 예약될 수 있다</a:t>
            </a:r>
            <a:r>
              <a:rPr lang="en-US" altLang="ko-KR" sz="3000">
                <a:latin typeface="+mn-ea"/>
                <a:ea typeface="+mn-ea"/>
              </a:rPr>
              <a:t>. (</a:t>
            </a:r>
            <a:r>
              <a:rPr lang="ko-KR" altLang="en-US" sz="3000">
                <a:latin typeface="+mn-ea"/>
                <a:ea typeface="+mn-ea"/>
              </a:rPr>
              <a:t>트렌젝션</a:t>
            </a:r>
            <a:r>
              <a:rPr lang="en-US" altLang="ko-KR" sz="3000">
                <a:latin typeface="+mn-ea"/>
                <a:ea typeface="+mn-ea"/>
              </a:rPr>
              <a:t>)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소비자는 자신의 예약 정보 및 원하는 부서의 재고를 확인할 수 있는 권한을 가진다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</p:txBody>
      </p:sp>
      <p:pic>
        <p:nvPicPr>
          <p:cNvPr id="6" name="그래픽 5" descr="배지 체크 표시1">
            <a:extLst>
              <a:ext uri="{FF2B5EF4-FFF2-40B4-BE49-F238E27FC236}">
                <a16:creationId xmlns:a16="http://schemas.microsoft.com/office/drawing/2014/main" id="{6D0DB679-052D-46AA-8C56-2C852DF58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9177" y="1544599"/>
            <a:ext cx="669747" cy="669747"/>
          </a:xfrm>
          <a:prstGeom prst="rect">
            <a:avLst/>
          </a:prstGeom>
        </p:spPr>
      </p:pic>
      <p:pic>
        <p:nvPicPr>
          <p:cNvPr id="10" name="그래픽 9" descr="배지 체크 표시1">
            <a:extLst>
              <a:ext uri="{FF2B5EF4-FFF2-40B4-BE49-F238E27FC236}">
                <a16:creationId xmlns:a16="http://schemas.microsoft.com/office/drawing/2014/main" id="{4F07C40D-C3E0-4560-B8A9-B175D741C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3084" y="2946467"/>
            <a:ext cx="669747" cy="669747"/>
          </a:xfrm>
          <a:prstGeom prst="rect">
            <a:avLst/>
          </a:prstGeom>
        </p:spPr>
      </p:pic>
      <p:pic>
        <p:nvPicPr>
          <p:cNvPr id="12" name="그래픽 11" descr="배지 체크 표시1">
            <a:extLst>
              <a:ext uri="{FF2B5EF4-FFF2-40B4-BE49-F238E27FC236}">
                <a16:creationId xmlns:a16="http://schemas.microsoft.com/office/drawing/2014/main" id="{629132D5-27B5-44F7-9F01-B8AD0CD0F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7371" y="5643457"/>
            <a:ext cx="669747" cy="669747"/>
          </a:xfrm>
          <a:prstGeom prst="rect">
            <a:avLst/>
          </a:prstGeom>
        </p:spPr>
      </p:pic>
      <p:pic>
        <p:nvPicPr>
          <p:cNvPr id="2" name="그래픽 1" descr="배지 체크 표시1">
            <a:extLst>
              <a:ext uri="{FF2B5EF4-FFF2-40B4-BE49-F238E27FC236}">
                <a16:creationId xmlns:a16="http://schemas.microsoft.com/office/drawing/2014/main" id="{04301D24-D075-4333-B200-79E4ED8D0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066" y="4278703"/>
            <a:ext cx="669747" cy="6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77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요구 사항 명세서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o-KR" altLang="en-US"/>
              <a:t>데이터 요구사항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28990-63D7-44D7-9893-34DA4A65DADF}"/>
              </a:ext>
            </a:extLst>
          </p:cNvPr>
          <p:cNvSpPr txBox="1"/>
          <p:nvPr/>
        </p:nvSpPr>
        <p:spPr>
          <a:xfrm>
            <a:off x="2995282" y="1560359"/>
            <a:ext cx="1003988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기장</a:t>
            </a:r>
            <a:r>
              <a:rPr lang="en-US" altLang="ko-KR" sz="3000">
                <a:latin typeface="+mn-ea"/>
                <a:ea typeface="+mn-ea"/>
              </a:rPr>
              <a:t>(Captain)</a:t>
            </a:r>
            <a:r>
              <a:rPr lang="ko-KR" altLang="en-US" sz="3000">
                <a:latin typeface="+mn-ea"/>
                <a:ea typeface="+mn-ea"/>
              </a:rPr>
              <a:t>은 객관적인 판단 하에 결항 및 출발 시간을 조정할 수 있는 권한을 가진다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소비자는 원하는 서비스의 정보를 확인하고 선택할 수 있다</a:t>
            </a:r>
            <a:r>
              <a:rPr lang="en-US" altLang="ko-KR" sz="3000">
                <a:latin typeface="+mn-ea"/>
                <a:ea typeface="+mn-ea"/>
              </a:rPr>
              <a:t>.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3000">
                <a:latin typeface="+mn-ea"/>
                <a:ea typeface="+mn-ea"/>
              </a:rPr>
              <a:t>소비자는 추가적인 과정 </a:t>
            </a:r>
            <a:r>
              <a:rPr lang="en-US" altLang="ko-KR" sz="3000">
                <a:latin typeface="+mn-ea"/>
                <a:ea typeface="+mn-ea"/>
              </a:rPr>
              <a:t>(</a:t>
            </a:r>
            <a:r>
              <a:rPr lang="ko-KR" altLang="en-US" sz="3000">
                <a:latin typeface="+mn-ea"/>
                <a:ea typeface="+mn-ea"/>
              </a:rPr>
              <a:t>예약변경</a:t>
            </a:r>
            <a:r>
              <a:rPr lang="en-US" altLang="ko-KR" sz="3000">
                <a:latin typeface="+mn-ea"/>
                <a:ea typeface="+mn-ea"/>
              </a:rPr>
              <a:t>, </a:t>
            </a:r>
            <a:r>
              <a:rPr lang="ko-KR" altLang="en-US" sz="3000">
                <a:latin typeface="+mn-ea"/>
                <a:ea typeface="+mn-ea"/>
              </a:rPr>
              <a:t>추가구매 등</a:t>
            </a:r>
            <a:r>
              <a:rPr lang="en-US" altLang="ko-KR" sz="3000">
                <a:latin typeface="+mn-ea"/>
                <a:ea typeface="+mn-ea"/>
              </a:rPr>
              <a:t>)</a:t>
            </a:r>
            <a:r>
              <a:rPr lang="ko-KR" altLang="en-US" sz="3000">
                <a:latin typeface="+mn-ea"/>
                <a:ea typeface="+mn-ea"/>
              </a:rPr>
              <a:t>을 통해 기능을 다시 선택할 수 있다</a:t>
            </a:r>
            <a:r>
              <a:rPr lang="en-US" altLang="ko-KR" sz="3000">
                <a:latin typeface="+mn-ea"/>
                <a:ea typeface="+mn-ea"/>
              </a:rPr>
              <a:t>. </a:t>
            </a: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  <a:p>
            <a:pPr>
              <a:defRPr/>
            </a:pPr>
            <a:endParaRPr lang="en-US" altLang="ko-KR" sz="3000">
              <a:latin typeface="+mn-ea"/>
              <a:ea typeface="+mn-ea"/>
            </a:endParaRPr>
          </a:p>
        </p:txBody>
      </p:sp>
      <p:pic>
        <p:nvPicPr>
          <p:cNvPr id="6" name="그래픽 5" descr="배지 체크 표시1">
            <a:extLst>
              <a:ext uri="{FF2B5EF4-FFF2-40B4-BE49-F238E27FC236}">
                <a16:creationId xmlns:a16="http://schemas.microsoft.com/office/drawing/2014/main" id="{6D0DB679-052D-46AA-8C56-2C852DF582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9177" y="1544599"/>
            <a:ext cx="669747" cy="669747"/>
          </a:xfrm>
          <a:prstGeom prst="rect">
            <a:avLst/>
          </a:prstGeom>
        </p:spPr>
      </p:pic>
      <p:pic>
        <p:nvPicPr>
          <p:cNvPr id="10" name="그래픽 9" descr="배지 체크 표시1">
            <a:extLst>
              <a:ext uri="{FF2B5EF4-FFF2-40B4-BE49-F238E27FC236}">
                <a16:creationId xmlns:a16="http://schemas.microsoft.com/office/drawing/2014/main" id="{4F07C40D-C3E0-4560-B8A9-B175D741C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3084" y="2946467"/>
            <a:ext cx="669747" cy="669747"/>
          </a:xfrm>
          <a:prstGeom prst="rect">
            <a:avLst/>
          </a:prstGeom>
        </p:spPr>
      </p:pic>
      <p:pic>
        <p:nvPicPr>
          <p:cNvPr id="2" name="그래픽 1" descr="배지 체크 표시1">
            <a:extLst>
              <a:ext uri="{FF2B5EF4-FFF2-40B4-BE49-F238E27FC236}">
                <a16:creationId xmlns:a16="http://schemas.microsoft.com/office/drawing/2014/main" id="{04301D24-D075-4333-B200-79E4ED8D0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066" y="4278703"/>
            <a:ext cx="669747" cy="6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41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五边形 2"/>
          <p:cNvSpPr/>
          <p:nvPr/>
        </p:nvSpPr>
        <p:spPr>
          <a:xfrm>
            <a:off x="0" y="1008340"/>
            <a:ext cx="10749855" cy="2319953"/>
          </a:xfrm>
          <a:prstGeom prst="homePlate">
            <a:avLst/>
          </a:prstGeom>
          <a:solidFill>
            <a:schemeClr val="accent2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199717" y="2390936"/>
            <a:ext cx="442897" cy="274130"/>
            <a:chOff x="7719062" y="2536205"/>
            <a:chExt cx="791915" cy="490154"/>
          </a:xfrm>
        </p:grpSpPr>
        <p:sp>
          <p:nvSpPr>
            <p:cNvPr id="6" name="燕尾形 5"/>
            <p:cNvSpPr/>
            <p:nvPr/>
          </p:nvSpPr>
          <p:spPr>
            <a:xfrm rot="10800000">
              <a:off x="7719062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 rot="10800000">
              <a:off x="7974319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 rot="10800000">
              <a:off x="8229575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6429375" y="3328293"/>
            <a:ext cx="6429375" cy="16561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384537" y="1883103"/>
            <a:ext cx="5400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/>
            <a:r>
              <a:rPr lang="ko-KR" altLang="en-US" sz="6000">
                <a:solidFill>
                  <a:schemeClr val="bg1"/>
                </a:solidFill>
                <a:latin typeface="+mj-ea"/>
                <a:ea typeface="+mj-ea"/>
              </a:rPr>
              <a:t>개념적 관계 </a:t>
            </a:r>
            <a:endParaRPr lang="en-US" altLang="zh-CN" sz="60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文本框 17">
            <a:extLst>
              <a:ext uri="{FF2B5EF4-FFF2-40B4-BE49-F238E27FC236}">
                <a16:creationId xmlns:a16="http://schemas.microsoft.com/office/drawing/2014/main" id="{369397F4-3991-4198-92BD-FC4EA2ED8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6549" y="3648553"/>
            <a:ext cx="605213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/>
            <a:r>
              <a:rPr lang="ko-KR" altLang="en-US" sz="6000">
                <a:solidFill>
                  <a:schemeClr val="bg1"/>
                </a:solidFill>
                <a:latin typeface="+mj-ea"/>
                <a:ea typeface="+mj-ea"/>
              </a:rPr>
              <a:t>데이터 베이스 설계</a:t>
            </a:r>
            <a:endParaRPr lang="en-US" altLang="zh-CN" sz="60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8899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개념적 설계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altLang="ko-KR">
                <a:latin typeface="+mj-ea"/>
              </a:rPr>
              <a:t>T-Way </a:t>
            </a:r>
            <a:r>
              <a:rPr lang="ko-KR" altLang="en-US">
                <a:latin typeface="+mj-ea"/>
              </a:rPr>
              <a:t>항공사 </a:t>
            </a:r>
            <a:r>
              <a:rPr lang="en-US" altLang="ko-KR">
                <a:latin typeface="+mj-ea"/>
              </a:rPr>
              <a:t>System</a:t>
            </a:r>
            <a:r>
              <a:rPr lang="ko-KR" altLang="en-US">
                <a:latin typeface="+mj-ea"/>
              </a:rPr>
              <a:t> 분석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테이블이(가) 표시된 사진  자동 생성된 설명">
            <a:extLst>
              <a:ext uri="{FF2B5EF4-FFF2-40B4-BE49-F238E27FC236}">
                <a16:creationId xmlns:a16="http://schemas.microsoft.com/office/drawing/2014/main" id="{24C80622-D7D4-49A6-B193-A57A8EB074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7717" y="1528093"/>
            <a:ext cx="6076868" cy="3427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테이블이(가) 표시된 사진  자동 생성된 설명">
            <a:extLst>
              <a:ext uri="{FF2B5EF4-FFF2-40B4-BE49-F238E27FC236}">
                <a16:creationId xmlns:a16="http://schemas.microsoft.com/office/drawing/2014/main" id="{5862826B-9913-4B12-85E1-6157AD156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126420" y="3783656"/>
            <a:ext cx="2398165" cy="2574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83B44D-C9B7-45CE-B35A-5E1DF88BF9B7}"/>
              </a:ext>
            </a:extLst>
          </p:cNvPr>
          <p:cNvSpPr txBox="1"/>
          <p:nvPr/>
        </p:nvSpPr>
        <p:spPr>
          <a:xfrm>
            <a:off x="1163241" y="5890544"/>
            <a:ext cx="5130468" cy="46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>
                <a:latin typeface="+mn-ea"/>
                <a:ea typeface="+mn-ea"/>
              </a:rPr>
              <a:t>(T’Way </a:t>
            </a:r>
            <a:r>
              <a:rPr lang="ko-KR" altLang="en-US">
                <a:latin typeface="+mn-ea"/>
                <a:ea typeface="+mn-ea"/>
              </a:rPr>
              <a:t>항공사 메인 페이지</a:t>
            </a:r>
            <a:r>
              <a:rPr lang="en-US" altLang="ko-KR">
                <a:latin typeface="+mn-ea"/>
                <a:ea typeface="+mn-ea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9612F-A90F-42FC-A7CF-83B96C0E24A9}"/>
              </a:ext>
            </a:extLst>
          </p:cNvPr>
          <p:cNvSpPr txBox="1"/>
          <p:nvPr/>
        </p:nvSpPr>
        <p:spPr>
          <a:xfrm>
            <a:off x="7456950" y="1504972"/>
            <a:ext cx="5130468" cy="6046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000">
                <a:latin typeface="+mn-ea"/>
                <a:ea typeface="+mn-ea"/>
              </a:rPr>
              <a:t>해당 항공사는 국내 </a:t>
            </a:r>
            <a:r>
              <a:rPr lang="en-US" altLang="ko-KR" sz="2000">
                <a:latin typeface="+mn-ea"/>
                <a:ea typeface="+mn-ea"/>
              </a:rPr>
              <a:t>8</a:t>
            </a:r>
            <a:r>
              <a:rPr lang="ko-KR" altLang="en-US" sz="2000">
                <a:latin typeface="+mn-ea"/>
                <a:ea typeface="+mn-ea"/>
              </a:rPr>
              <a:t>개의 주요 공항에 입주</a:t>
            </a:r>
            <a:r>
              <a:rPr lang="en-US" altLang="ko-KR" sz="2000">
                <a:latin typeface="+mn-ea"/>
                <a:ea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sz="200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>
                <a:latin typeface="+mn-ea"/>
                <a:ea typeface="+mn-ea"/>
              </a:rPr>
              <a:t>항공사는 다양한 서비스를 소비자에게 제공</a:t>
            </a:r>
            <a:r>
              <a:rPr lang="en-US" altLang="ko-KR" sz="2000">
                <a:latin typeface="+mn-ea"/>
                <a:ea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sz="200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>
                <a:latin typeface="+mn-ea"/>
                <a:ea typeface="+mn-ea"/>
              </a:rPr>
              <a:t>티웨이 항공사는 마일리지</a:t>
            </a:r>
            <a:r>
              <a:rPr lang="en-US" altLang="ko-KR" sz="2000">
                <a:latin typeface="+mn-ea"/>
                <a:ea typeface="+mn-ea"/>
              </a:rPr>
              <a:t>/</a:t>
            </a:r>
            <a:r>
              <a:rPr lang="ko-KR" altLang="en-US" sz="2000">
                <a:latin typeface="+mn-ea"/>
                <a:ea typeface="+mn-ea"/>
              </a:rPr>
              <a:t>포인트 프로그램 제공을 하지 않는다</a:t>
            </a:r>
            <a:r>
              <a:rPr lang="en-US" altLang="ko-KR" sz="2000">
                <a:latin typeface="+mn-ea"/>
                <a:ea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sz="200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>
                <a:latin typeface="+mn-ea"/>
                <a:ea typeface="+mn-ea"/>
              </a:rPr>
              <a:t>거의 유일하게 결제시한 연장서비스를 제공</a:t>
            </a:r>
            <a:r>
              <a:rPr lang="en-US" altLang="ko-KR" sz="2000">
                <a:latin typeface="+mn-ea"/>
                <a:ea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 sz="200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>
                <a:latin typeface="+mn-ea"/>
                <a:ea typeface="+mn-ea"/>
              </a:rPr>
              <a:t>국제선의 도착지가 아시아 쪽에 한정되어있는 대신 저가항공사답게 가격이 저렴</a:t>
            </a:r>
            <a:r>
              <a:rPr lang="en-US" altLang="ko-KR" sz="2000">
                <a:latin typeface="+mn-ea"/>
                <a:ea typeface="+mn-ea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en-US" altLang="ko-KR" sz="2000"/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 sz="2000"/>
          </a:p>
        </p:txBody>
      </p:sp>
      <p:pic>
        <p:nvPicPr>
          <p:cNvPr id="14" name="그래픽 13" descr="배지 체크 표시1">
            <a:extLst>
              <a:ext uri="{FF2B5EF4-FFF2-40B4-BE49-F238E27FC236}">
                <a16:creationId xmlns:a16="http://schemas.microsoft.com/office/drawing/2014/main" id="{ABD75F47-CE39-4EB1-9CE1-B214BC57DD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1808" y="1492297"/>
            <a:ext cx="575951" cy="575951"/>
          </a:xfrm>
          <a:prstGeom prst="rect">
            <a:avLst/>
          </a:prstGeom>
        </p:spPr>
      </p:pic>
      <p:pic>
        <p:nvPicPr>
          <p:cNvPr id="16" name="그래픽 15" descr="배지 체크 표시1">
            <a:extLst>
              <a:ext uri="{FF2B5EF4-FFF2-40B4-BE49-F238E27FC236}">
                <a16:creationId xmlns:a16="http://schemas.microsoft.com/office/drawing/2014/main" id="{BB93F208-A005-40D3-8343-CC5BC357C5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1805" y="3377952"/>
            <a:ext cx="575951" cy="575951"/>
          </a:xfrm>
          <a:prstGeom prst="rect">
            <a:avLst/>
          </a:prstGeom>
        </p:spPr>
      </p:pic>
      <p:pic>
        <p:nvPicPr>
          <p:cNvPr id="18" name="그래픽 17" descr="배지 체크 표시1">
            <a:extLst>
              <a:ext uri="{FF2B5EF4-FFF2-40B4-BE49-F238E27FC236}">
                <a16:creationId xmlns:a16="http://schemas.microsoft.com/office/drawing/2014/main" id="{8AB82D45-00AE-46D6-9BC7-428A71F51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1807" y="2375067"/>
            <a:ext cx="575951" cy="575951"/>
          </a:xfrm>
          <a:prstGeom prst="rect">
            <a:avLst/>
          </a:prstGeom>
        </p:spPr>
      </p:pic>
      <p:pic>
        <p:nvPicPr>
          <p:cNvPr id="20" name="그래픽 19" descr="배지 체크 표시1">
            <a:extLst>
              <a:ext uri="{FF2B5EF4-FFF2-40B4-BE49-F238E27FC236}">
                <a16:creationId xmlns:a16="http://schemas.microsoft.com/office/drawing/2014/main" id="{4D29AF0D-4AC1-423B-B75E-7D954224B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1805" y="4667619"/>
            <a:ext cx="575951" cy="575951"/>
          </a:xfrm>
          <a:prstGeom prst="rect">
            <a:avLst/>
          </a:prstGeom>
        </p:spPr>
      </p:pic>
      <p:pic>
        <p:nvPicPr>
          <p:cNvPr id="22" name="그래픽 21" descr="배지 체크 표시1">
            <a:extLst>
              <a:ext uri="{FF2B5EF4-FFF2-40B4-BE49-F238E27FC236}">
                <a16:creationId xmlns:a16="http://schemas.microsoft.com/office/drawing/2014/main" id="{F60AE0F7-1867-43F3-9CA3-2C7A35241E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1805" y="5645633"/>
            <a:ext cx="575951" cy="57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03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개념적 설계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altLang="ko-KR">
                <a:latin typeface="+mj-ea"/>
              </a:rPr>
              <a:t>T-Way </a:t>
            </a:r>
            <a:r>
              <a:rPr lang="ko-KR" altLang="en-US">
                <a:latin typeface="+mj-ea"/>
              </a:rPr>
              <a:t>항공사 보유 기체 분석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9612F-A90F-42FC-A7CF-83B96C0E24A9}"/>
              </a:ext>
            </a:extLst>
          </p:cNvPr>
          <p:cNvSpPr txBox="1"/>
          <p:nvPr/>
        </p:nvSpPr>
        <p:spPr>
          <a:xfrm>
            <a:off x="6959645" y="1338737"/>
            <a:ext cx="5130468" cy="631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400">
                <a:latin typeface="+mn-ea"/>
                <a:ea typeface="+mn-ea"/>
              </a:rPr>
              <a:t>운행 중인 항공기는</a:t>
            </a:r>
            <a:endParaRPr lang="en-US" altLang="ko-KR" sz="2400"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400">
                <a:latin typeface="+mn-ea"/>
                <a:ea typeface="+mn-ea"/>
              </a:rPr>
              <a:t>BOEING 737 – 800 Series – 24</a:t>
            </a:r>
            <a:r>
              <a:rPr lang="ko-KR" altLang="en-US" sz="2400">
                <a:latin typeface="+mn-ea"/>
                <a:ea typeface="+mn-ea"/>
              </a:rPr>
              <a:t>대</a:t>
            </a:r>
            <a:endParaRPr lang="en-US" altLang="ko-KR" sz="2400"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400">
                <a:latin typeface="+mn-ea"/>
                <a:ea typeface="+mn-ea"/>
              </a:rPr>
              <a:t>BOEING 737 – MAX 8 Series – 3</a:t>
            </a:r>
            <a:r>
              <a:rPr lang="ko-KR" altLang="en-US" sz="2400">
                <a:latin typeface="+mn-ea"/>
                <a:ea typeface="+mn-ea"/>
              </a:rPr>
              <a:t>대</a:t>
            </a:r>
            <a:endParaRPr lang="en-US" altLang="ko-KR" sz="2400">
              <a:latin typeface="+mn-ea"/>
              <a:ea typeface="+mn-ea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ko-KR" altLang="en-US" sz="2400">
                <a:latin typeface="+mn-ea"/>
                <a:ea typeface="+mn-ea"/>
              </a:rPr>
              <a:t>총 </a:t>
            </a:r>
            <a:r>
              <a:rPr lang="en-US" altLang="ko-KR" sz="2400">
                <a:latin typeface="+mn-ea"/>
                <a:ea typeface="+mn-ea"/>
              </a:rPr>
              <a:t>27</a:t>
            </a:r>
            <a:r>
              <a:rPr lang="ko-KR" altLang="en-US" sz="2400">
                <a:latin typeface="+mn-ea"/>
                <a:ea typeface="+mn-ea"/>
              </a:rPr>
              <a:t>대의 항공기를 보유하고 있으며</a:t>
            </a:r>
            <a:endParaRPr lang="en-US" altLang="ko-KR" sz="2400"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2400">
                <a:latin typeface="+mn-ea"/>
                <a:ea typeface="+mn-ea"/>
              </a:rPr>
              <a:t>각 항공기는 고유한 번호를 부여하여 관리한다</a:t>
            </a:r>
            <a:r>
              <a:rPr lang="en-US" altLang="ko-KR" sz="2400">
                <a:latin typeface="+mn-ea"/>
                <a:ea typeface="+mn-ea"/>
              </a:rPr>
              <a:t>.</a:t>
            </a:r>
            <a:endParaRPr lang="ko-KR" altLang="en-US" sz="240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endParaRPr lang="ko-KR" altLang="en-US" sz="2400">
              <a:latin typeface="+mn-ea"/>
              <a:ea typeface="+mn-ea"/>
            </a:endParaRPr>
          </a:p>
        </p:txBody>
      </p:sp>
      <p:pic>
        <p:nvPicPr>
          <p:cNvPr id="2" name="그림 1" descr="테이블이(가) 표시된 사진&#10;&#10;자동 생성된 설명">
            <a:extLst>
              <a:ext uri="{FF2B5EF4-FFF2-40B4-BE49-F238E27FC236}">
                <a16:creationId xmlns:a16="http://schemas.microsoft.com/office/drawing/2014/main" id="{CAC31580-301B-474D-82FB-5CFF209B0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259" y="1504972"/>
            <a:ext cx="3207848" cy="51472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7931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개념적 설계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49956" y="808013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en-US" altLang="ko-KR">
                <a:latin typeface="+mj-ea"/>
              </a:rPr>
              <a:t>Entity Type</a:t>
            </a:r>
            <a:endParaRPr lang="ko-KR" altLang="en-US">
              <a:latin typeface="+mj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0A380DC-8325-4A67-96B4-7F2D8D268538}"/>
              </a:ext>
            </a:extLst>
          </p:cNvPr>
          <p:cNvGrpSpPr/>
          <p:nvPr/>
        </p:nvGrpSpPr>
        <p:grpSpPr>
          <a:xfrm>
            <a:off x="400081" y="1508858"/>
            <a:ext cx="3533163" cy="2403445"/>
            <a:chOff x="159391" y="415257"/>
            <a:chExt cx="3533163" cy="240344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360A53CD-59B1-4BD7-BB28-DDCC0C773076}"/>
                </a:ext>
              </a:extLst>
            </p:cNvPr>
            <p:cNvSpPr/>
            <p:nvPr/>
          </p:nvSpPr>
          <p:spPr>
            <a:xfrm>
              <a:off x="885037" y="415257"/>
              <a:ext cx="161488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Arpt_Name</a:t>
              </a:r>
              <a:endParaRPr lang="ko-KR" altLang="en-US" sz="14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D52AC86-793E-40A9-942B-4D12C7785E60}"/>
                </a:ext>
              </a:extLst>
            </p:cNvPr>
            <p:cNvSpPr/>
            <p:nvPr/>
          </p:nvSpPr>
          <p:spPr>
            <a:xfrm>
              <a:off x="1724637" y="1715548"/>
              <a:ext cx="917895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AirPort</a:t>
              </a:r>
              <a:endParaRPr lang="ko-KR" altLang="en-US" dirty="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437379A-8DF0-4329-AFE3-F8BD530D7002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1692478" y="859874"/>
              <a:ext cx="491107" cy="85567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7961AE4-3F24-46D5-830B-ABF7055CB2FF}"/>
                </a:ext>
              </a:extLst>
            </p:cNvPr>
            <p:cNvSpPr/>
            <p:nvPr/>
          </p:nvSpPr>
          <p:spPr>
            <a:xfrm>
              <a:off x="159391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Contct_Num</a:t>
              </a:r>
              <a:endParaRPr lang="ko-KR" altLang="en-US" sz="1400" dirty="0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4EF1843-736A-4403-A7F8-336C0A830AEF}"/>
                </a:ext>
              </a:extLst>
            </p:cNvPr>
            <p:cNvCxnSpPr>
              <a:cxnSpLocks/>
              <a:stCxn id="9" idx="1"/>
              <a:endCxn id="11" idx="0"/>
            </p:cNvCxnSpPr>
            <p:nvPr/>
          </p:nvCxnSpPr>
          <p:spPr>
            <a:xfrm flipH="1">
              <a:off x="1023457" y="1937857"/>
              <a:ext cx="701180" cy="436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27F6A2B7-383B-43FA-A4A9-2FC04805D4F0}"/>
                </a:ext>
              </a:extLst>
            </p:cNvPr>
            <p:cNvSpPr/>
            <p:nvPr/>
          </p:nvSpPr>
          <p:spPr>
            <a:xfrm>
              <a:off x="1964422" y="2374084"/>
              <a:ext cx="1728132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Affiliation</a:t>
              </a:r>
              <a:endParaRPr lang="ko-KR" altLang="en-US" sz="1400" dirty="0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FE2BE975-08C9-42C9-A013-4EBB0AAE11D6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>
              <a:off x="2183585" y="2160165"/>
              <a:ext cx="644903" cy="2139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FB28442-F8FA-4775-9873-1A12835AD542}"/>
                </a:ext>
              </a:extLst>
            </p:cNvPr>
            <p:cNvCxnSpPr/>
            <p:nvPr/>
          </p:nvCxnSpPr>
          <p:spPr>
            <a:xfrm>
              <a:off x="1179701" y="742911"/>
              <a:ext cx="1003883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D9F598C-BF97-457D-9A37-640999C34C8E}"/>
              </a:ext>
            </a:extLst>
          </p:cNvPr>
          <p:cNvGrpSpPr/>
          <p:nvPr/>
        </p:nvGrpSpPr>
        <p:grpSpPr>
          <a:xfrm>
            <a:off x="3561249" y="1548026"/>
            <a:ext cx="3216480" cy="1918281"/>
            <a:chOff x="3036812" y="415257"/>
            <a:chExt cx="3216480" cy="1918281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27BA07D-2297-4629-8FC3-826952217ECC}"/>
                </a:ext>
              </a:extLst>
            </p:cNvPr>
            <p:cNvSpPr/>
            <p:nvPr/>
          </p:nvSpPr>
          <p:spPr>
            <a:xfrm>
              <a:off x="4651695" y="1645640"/>
              <a:ext cx="1033244" cy="68789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T-way Airline</a:t>
              </a:r>
              <a:endParaRPr lang="ko-KR" altLang="en-US" dirty="0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3B19C54-11F7-4078-A1A0-87E80D1F9B78}"/>
                </a:ext>
              </a:extLst>
            </p:cNvPr>
            <p:cNvCxnSpPr>
              <a:cxnSpLocks/>
              <a:stCxn id="18" idx="0"/>
              <a:endCxn id="20" idx="4"/>
            </p:cNvCxnSpPr>
            <p:nvPr/>
          </p:nvCxnSpPr>
          <p:spPr>
            <a:xfrm flipH="1" flipV="1">
              <a:off x="3913463" y="859874"/>
              <a:ext cx="1254854" cy="7857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FD0D1CAE-3466-44B2-8771-43CF6E67F675}"/>
                </a:ext>
              </a:extLst>
            </p:cNvPr>
            <p:cNvSpPr/>
            <p:nvPr/>
          </p:nvSpPr>
          <p:spPr>
            <a:xfrm>
              <a:off x="3036812" y="415257"/>
              <a:ext cx="175330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Aport_Name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C38D67A-F502-4462-B33C-B6D8B6ECA315}"/>
                </a:ext>
              </a:extLst>
            </p:cNvPr>
            <p:cNvCxnSpPr>
              <a:cxnSpLocks/>
              <a:stCxn id="18" idx="0"/>
              <a:endCxn id="22" idx="4"/>
            </p:cNvCxnSpPr>
            <p:nvPr/>
          </p:nvCxnSpPr>
          <p:spPr>
            <a:xfrm flipV="1">
              <a:off x="5168317" y="889236"/>
              <a:ext cx="423992" cy="7564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E4765F50-A1E5-4A4F-BE02-BCEC21A53DC2}"/>
                </a:ext>
              </a:extLst>
            </p:cNvPr>
            <p:cNvSpPr/>
            <p:nvPr/>
          </p:nvSpPr>
          <p:spPr>
            <a:xfrm>
              <a:off x="4931326" y="444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Director</a:t>
              </a:r>
              <a:endParaRPr lang="ko-KR" altLang="en-US" sz="14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0E322D1-7707-4A76-BCC0-F51EAA4B4A6D}"/>
              </a:ext>
            </a:extLst>
          </p:cNvPr>
          <p:cNvGrpSpPr/>
          <p:nvPr/>
        </p:nvGrpSpPr>
        <p:grpSpPr>
          <a:xfrm>
            <a:off x="7005439" y="1600101"/>
            <a:ext cx="5024310" cy="1723937"/>
            <a:chOff x="6765019" y="479571"/>
            <a:chExt cx="5024310" cy="1723937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B17F468-CCC6-4F8A-804D-BF36F69D7DDD}"/>
                </a:ext>
              </a:extLst>
            </p:cNvPr>
            <p:cNvSpPr/>
            <p:nvPr/>
          </p:nvSpPr>
          <p:spPr>
            <a:xfrm>
              <a:off x="8058500" y="175889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Employee</a:t>
              </a:r>
              <a:endParaRPr lang="ko-KR" altLang="en-US" dirty="0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6FEC56F4-3C36-45CE-9031-F2C9D119FE87}"/>
                </a:ext>
              </a:extLst>
            </p:cNvPr>
            <p:cNvCxnSpPr>
              <a:cxnSpLocks/>
              <a:stCxn id="24" idx="0"/>
              <a:endCxn id="26" idx="4"/>
            </p:cNvCxnSpPr>
            <p:nvPr/>
          </p:nvCxnSpPr>
          <p:spPr>
            <a:xfrm flipH="1" flipV="1">
              <a:off x="7426002" y="924188"/>
              <a:ext cx="1250749" cy="8347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C00E1881-A2F1-4359-8B22-D561EA121A7D}"/>
                </a:ext>
              </a:extLst>
            </p:cNvPr>
            <p:cNvSpPr/>
            <p:nvPr/>
          </p:nvSpPr>
          <p:spPr>
            <a:xfrm>
              <a:off x="6765019" y="479571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Emp No</a:t>
              </a:r>
              <a:endParaRPr lang="ko-KR" altLang="en-US" sz="1400" dirty="0"/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014F69B-9FFA-4E00-B07B-F33A7F22184A}"/>
                </a:ext>
              </a:extLst>
            </p:cNvPr>
            <p:cNvCxnSpPr/>
            <p:nvPr/>
          </p:nvCxnSpPr>
          <p:spPr>
            <a:xfrm>
              <a:off x="7024728" y="83145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652D5BC-DB1D-4954-A023-96EA4AF0AEC6}"/>
                </a:ext>
              </a:extLst>
            </p:cNvPr>
            <p:cNvCxnSpPr>
              <a:cxnSpLocks/>
              <a:stCxn id="24" idx="0"/>
              <a:endCxn id="29" idx="4"/>
            </p:cNvCxnSpPr>
            <p:nvPr/>
          </p:nvCxnSpPr>
          <p:spPr>
            <a:xfrm flipV="1">
              <a:off x="8676751" y="931181"/>
              <a:ext cx="208057" cy="8277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EC18099-65BE-4D8D-B118-8C8723224661}"/>
                </a:ext>
              </a:extLst>
            </p:cNvPr>
            <p:cNvSpPr/>
            <p:nvPr/>
          </p:nvSpPr>
          <p:spPr>
            <a:xfrm>
              <a:off x="8223825" y="4865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Salary</a:t>
              </a:r>
              <a:endParaRPr lang="ko-KR" altLang="en-US" sz="1400" dirty="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1E93962-E70A-420D-B780-BFB4BCE7D250}"/>
                </a:ext>
              </a:extLst>
            </p:cNvPr>
            <p:cNvSpPr/>
            <p:nvPr/>
          </p:nvSpPr>
          <p:spPr>
            <a:xfrm>
              <a:off x="9849461" y="595619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Title</a:t>
              </a:r>
              <a:endParaRPr lang="ko-KR" altLang="en-US" sz="1400" dirty="0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F979969B-D9DF-44E5-928B-9CE05DE42CE6}"/>
                </a:ext>
              </a:extLst>
            </p:cNvPr>
            <p:cNvCxnSpPr>
              <a:cxnSpLocks/>
              <a:stCxn id="24" idx="3"/>
              <a:endCxn id="32" idx="2"/>
            </p:cNvCxnSpPr>
            <p:nvPr/>
          </p:nvCxnSpPr>
          <p:spPr>
            <a:xfrm flipV="1">
              <a:off x="9295002" y="1698073"/>
              <a:ext cx="1172361" cy="2831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995C0241-724D-48C3-B7D5-CA3CF37CC220}"/>
                </a:ext>
              </a:extLst>
            </p:cNvPr>
            <p:cNvSpPr/>
            <p:nvPr/>
          </p:nvSpPr>
          <p:spPr>
            <a:xfrm>
              <a:off x="10467363" y="1475764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Manager</a:t>
              </a:r>
              <a:endParaRPr lang="ko-KR" altLang="en-US" sz="14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780A41C-4AAF-44EF-9870-2FE488683EFA}"/>
              </a:ext>
            </a:extLst>
          </p:cNvPr>
          <p:cNvGrpSpPr/>
          <p:nvPr/>
        </p:nvGrpSpPr>
        <p:grpSpPr>
          <a:xfrm>
            <a:off x="5893118" y="3324038"/>
            <a:ext cx="6232257" cy="2267291"/>
            <a:chOff x="5496315" y="4214683"/>
            <a:chExt cx="6232257" cy="226729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9285BEE0-D2ED-4516-8020-7054376030ED}"/>
                </a:ext>
              </a:extLst>
            </p:cNvPr>
            <p:cNvSpPr/>
            <p:nvPr/>
          </p:nvSpPr>
          <p:spPr>
            <a:xfrm>
              <a:off x="7914005" y="4612676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Boarding Pass</a:t>
              </a:r>
              <a:endParaRPr lang="ko-KR" altLang="en-US" dirty="0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0461D9AC-6065-4B59-A863-F903C1B113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0507" y="4464662"/>
              <a:ext cx="967327" cy="2150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AFE719E5-D70C-45ED-A102-328DBC1F968D}"/>
                </a:ext>
              </a:extLst>
            </p:cNvPr>
            <p:cNvCxnSpPr>
              <a:cxnSpLocks/>
              <a:stCxn id="35" idx="3"/>
              <a:endCxn id="45" idx="2"/>
            </p:cNvCxnSpPr>
            <p:nvPr/>
          </p:nvCxnSpPr>
          <p:spPr>
            <a:xfrm>
              <a:off x="9150507" y="4890918"/>
              <a:ext cx="1105710" cy="2921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038AB6E8-4E81-4A53-BDB6-2E44D1A2327D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9150507" y="5169159"/>
              <a:ext cx="1599666" cy="6486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F1056992-8F00-4D97-899F-40A24ADE6AAB}"/>
                </a:ext>
              </a:extLst>
            </p:cNvPr>
            <p:cNvCxnSpPr>
              <a:cxnSpLocks/>
              <a:stCxn id="35" idx="2"/>
              <a:endCxn id="47" idx="0"/>
            </p:cNvCxnSpPr>
            <p:nvPr/>
          </p:nvCxnSpPr>
          <p:spPr>
            <a:xfrm>
              <a:off x="8532256" y="5169159"/>
              <a:ext cx="241055" cy="8681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88A8B005-86E8-48E6-99AE-50735A2F6BAC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 flipH="1">
              <a:off x="6968076" y="5181300"/>
              <a:ext cx="962189" cy="78603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92B7CE91-5DBC-41A1-98B8-DE8B3146A676}"/>
                </a:ext>
              </a:extLst>
            </p:cNvPr>
            <p:cNvCxnSpPr>
              <a:cxnSpLocks/>
              <a:endCxn id="50" idx="6"/>
            </p:cNvCxnSpPr>
            <p:nvPr/>
          </p:nvCxnSpPr>
          <p:spPr>
            <a:xfrm flipH="1">
              <a:off x="6281535" y="4609119"/>
              <a:ext cx="1632470" cy="2851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005FCBC1-B126-4BB9-A343-886E97C895E3}"/>
                </a:ext>
              </a:extLst>
            </p:cNvPr>
            <p:cNvCxnSpPr>
              <a:cxnSpLocks/>
              <a:stCxn id="35" idx="1"/>
              <a:endCxn id="49" idx="6"/>
            </p:cNvCxnSpPr>
            <p:nvPr/>
          </p:nvCxnSpPr>
          <p:spPr>
            <a:xfrm flipH="1">
              <a:off x="6549433" y="4890918"/>
              <a:ext cx="1364572" cy="6139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BED9335-F661-43C6-9885-2D2A71C27C38}"/>
                </a:ext>
              </a:extLst>
            </p:cNvPr>
            <p:cNvSpPr/>
            <p:nvPr/>
          </p:nvSpPr>
          <p:spPr>
            <a:xfrm>
              <a:off x="10117834" y="4214683"/>
              <a:ext cx="110571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Arrival</a:t>
              </a:r>
              <a:endParaRPr lang="ko-KR" altLang="en-US" sz="1400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7759433-A736-44AF-8E21-416667DA8F4D}"/>
                </a:ext>
              </a:extLst>
            </p:cNvPr>
            <p:cNvSpPr/>
            <p:nvPr/>
          </p:nvSpPr>
          <p:spPr>
            <a:xfrm>
              <a:off x="10256217" y="4960774"/>
              <a:ext cx="1472355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Departure</a:t>
              </a:r>
              <a:endParaRPr lang="ko-KR" altLang="en-US" sz="1400" dirty="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1A41942C-F124-416D-94CC-890CC0DBC316}"/>
                </a:ext>
              </a:extLst>
            </p:cNvPr>
            <p:cNvSpPr/>
            <p:nvPr/>
          </p:nvSpPr>
          <p:spPr>
            <a:xfrm>
              <a:off x="10013996" y="5817763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>
                  <a:solidFill>
                    <a:srgbClr val="00B050"/>
                  </a:solidFill>
                </a:rPr>
                <a:t>Fligt_No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CC4D49F0-45C1-468C-83E4-D92DFA36753A}"/>
                </a:ext>
              </a:extLst>
            </p:cNvPr>
            <p:cNvSpPr/>
            <p:nvPr/>
          </p:nvSpPr>
          <p:spPr>
            <a:xfrm>
              <a:off x="8058500" y="6037357"/>
              <a:ext cx="142962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Resrv</a:t>
              </a:r>
              <a:r>
                <a:rPr lang="en-US" altLang="ko-KR" sz="1400" dirty="0"/>
                <a:t> No</a:t>
              </a:r>
              <a:endParaRPr lang="ko-KR" altLang="en-US" sz="1400" dirty="0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7F6E6087-E2D1-4EA0-80C5-D67B32E1AA08}"/>
                </a:ext>
              </a:extLst>
            </p:cNvPr>
            <p:cNvSpPr/>
            <p:nvPr/>
          </p:nvSpPr>
          <p:spPr>
            <a:xfrm>
              <a:off x="6383082" y="5967331"/>
              <a:ext cx="1169987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Seat no</a:t>
              </a:r>
              <a:endParaRPr lang="ko-KR" altLang="en-US" sz="1400" dirty="0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86043B6-F2EF-441C-BEA4-3D25B47C7E96}"/>
                </a:ext>
              </a:extLst>
            </p:cNvPr>
            <p:cNvSpPr/>
            <p:nvPr/>
          </p:nvSpPr>
          <p:spPr>
            <a:xfrm>
              <a:off x="5587244" y="5282576"/>
              <a:ext cx="962189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Class</a:t>
              </a:r>
              <a:endParaRPr lang="ko-KR" altLang="en-US" sz="1400" dirty="0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8A6A9AD6-BF76-4B67-A25D-38D4F9552543}"/>
                </a:ext>
              </a:extLst>
            </p:cNvPr>
            <p:cNvSpPr/>
            <p:nvPr/>
          </p:nvSpPr>
          <p:spPr>
            <a:xfrm>
              <a:off x="5496315" y="4671989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data</a:t>
              </a:r>
              <a:endParaRPr lang="ko-KR" altLang="en-US" sz="1400" dirty="0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3F3B22D9-1FD1-4524-8DE5-80850131CF14}"/>
                </a:ext>
              </a:extLst>
            </p:cNvPr>
            <p:cNvCxnSpPr/>
            <p:nvPr/>
          </p:nvCxnSpPr>
          <p:spPr>
            <a:xfrm>
              <a:off x="8377311" y="6402617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C2F8C62-568A-4F5E-8A9D-041A643C30D1}"/>
              </a:ext>
            </a:extLst>
          </p:cNvPr>
          <p:cNvGrpSpPr/>
          <p:nvPr/>
        </p:nvGrpSpPr>
        <p:grpSpPr>
          <a:xfrm>
            <a:off x="567893" y="4163050"/>
            <a:ext cx="3274437" cy="1385581"/>
            <a:chOff x="8720026" y="2639037"/>
            <a:chExt cx="3274437" cy="1385581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E9AB146-605E-4A83-80F4-92BAE5B39667}"/>
                </a:ext>
              </a:extLst>
            </p:cNvPr>
            <p:cNvSpPr/>
            <p:nvPr/>
          </p:nvSpPr>
          <p:spPr>
            <a:xfrm>
              <a:off x="9706850" y="3580001"/>
              <a:ext cx="1236502" cy="4446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Customer</a:t>
              </a:r>
              <a:endParaRPr lang="ko-KR" altLang="en-US" dirty="0"/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C4685614-F7B9-4193-BD24-838D8BC7604B}"/>
                </a:ext>
              </a:extLst>
            </p:cNvPr>
            <p:cNvGrpSpPr/>
            <p:nvPr/>
          </p:nvGrpSpPr>
          <p:grpSpPr>
            <a:xfrm>
              <a:off x="8720026" y="2650920"/>
              <a:ext cx="1536192" cy="444617"/>
              <a:chOff x="9413889" y="2615453"/>
              <a:chExt cx="1536192" cy="444617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A3E4CF59-B5F7-4CC0-8C0D-BBA89E33258C}"/>
                  </a:ext>
                </a:extLst>
              </p:cNvPr>
              <p:cNvSpPr/>
              <p:nvPr/>
            </p:nvSpPr>
            <p:spPr>
              <a:xfrm>
                <a:off x="9413889" y="2615453"/>
                <a:ext cx="1536192" cy="4446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err="1"/>
                  <a:t>PssprtNum</a:t>
                </a:r>
                <a:endParaRPr lang="ko-KR" altLang="en-US" sz="1400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A225973-4F4A-4094-B823-0B50576ED9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18444" y="2961945"/>
                <a:ext cx="890462" cy="0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D9058C56-B85A-466B-AA2A-56129EA85D16}"/>
                </a:ext>
              </a:extLst>
            </p:cNvPr>
            <p:cNvCxnSpPr>
              <a:stCxn id="60" idx="4"/>
              <a:endCxn id="53" idx="0"/>
            </p:cNvCxnSpPr>
            <p:nvPr/>
          </p:nvCxnSpPr>
          <p:spPr>
            <a:xfrm>
              <a:off x="9488122" y="3095537"/>
              <a:ext cx="836979" cy="4844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79BC23C1-EAA8-4692-BB28-700E0AB368DF}"/>
                </a:ext>
              </a:extLst>
            </p:cNvPr>
            <p:cNvCxnSpPr>
              <a:cxnSpLocks/>
              <a:stCxn id="53" idx="0"/>
              <a:endCxn id="57" idx="4"/>
            </p:cNvCxnSpPr>
            <p:nvPr/>
          </p:nvCxnSpPr>
          <p:spPr>
            <a:xfrm flipV="1">
              <a:off x="10325101" y="3083654"/>
              <a:ext cx="742488" cy="49634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C2A7EE63-3BDF-40C0-A24A-71307AD98F3E}"/>
                </a:ext>
              </a:extLst>
            </p:cNvPr>
            <p:cNvSpPr/>
            <p:nvPr/>
          </p:nvSpPr>
          <p:spPr>
            <a:xfrm>
              <a:off x="10406606" y="2639037"/>
              <a:ext cx="1321966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Gender</a:t>
              </a:r>
              <a:endParaRPr lang="ko-KR" altLang="en-US" sz="1400" dirty="0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5F5B3A61-FEF8-46C1-A20F-0148534D5846}"/>
                </a:ext>
              </a:extLst>
            </p:cNvPr>
            <p:cNvCxnSpPr>
              <a:cxnSpLocks/>
              <a:stCxn id="53" idx="3"/>
              <a:endCxn id="59" idx="2"/>
            </p:cNvCxnSpPr>
            <p:nvPr/>
          </p:nvCxnSpPr>
          <p:spPr>
            <a:xfrm>
              <a:off x="10943352" y="3802310"/>
              <a:ext cx="2658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11751C75-8A4E-423B-B577-911805294DEA}"/>
                </a:ext>
              </a:extLst>
            </p:cNvPr>
            <p:cNvSpPr/>
            <p:nvPr/>
          </p:nvSpPr>
          <p:spPr>
            <a:xfrm>
              <a:off x="11209243" y="3580001"/>
              <a:ext cx="785220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/>
                <a:t>ID</a:t>
              </a:r>
              <a:endParaRPr lang="ko-KR" altLang="en-US" sz="1400" dirty="0"/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6C41BC1-C22B-4345-A97D-7097DCEC6F29}"/>
              </a:ext>
            </a:extLst>
          </p:cNvPr>
          <p:cNvGrpSpPr/>
          <p:nvPr/>
        </p:nvGrpSpPr>
        <p:grpSpPr>
          <a:xfrm>
            <a:off x="3538835" y="5615185"/>
            <a:ext cx="3826043" cy="1029234"/>
            <a:chOff x="8013860" y="3761518"/>
            <a:chExt cx="3826043" cy="1029234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099508C-1312-4395-9E3E-B2C8530A85AA}"/>
                </a:ext>
              </a:extLst>
            </p:cNvPr>
            <p:cNvSpPr/>
            <p:nvPr/>
          </p:nvSpPr>
          <p:spPr>
            <a:xfrm>
              <a:off x="8013860" y="3827517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Airplane</a:t>
              </a:r>
              <a:endParaRPr lang="ko-KR" altLang="en-US" dirty="0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AA24E6BE-82DF-48CA-87B0-593EB160718C}"/>
                </a:ext>
              </a:extLst>
            </p:cNvPr>
            <p:cNvCxnSpPr>
              <a:cxnSpLocks/>
              <a:stCxn id="63" idx="3"/>
              <a:endCxn id="65" idx="2"/>
            </p:cNvCxnSpPr>
            <p:nvPr/>
          </p:nvCxnSpPr>
          <p:spPr>
            <a:xfrm flipV="1">
              <a:off x="9250362" y="3983827"/>
              <a:ext cx="1101307" cy="1219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EB835728-8893-45DF-A286-F44F2D3E787F}"/>
                </a:ext>
              </a:extLst>
            </p:cNvPr>
            <p:cNvSpPr/>
            <p:nvPr/>
          </p:nvSpPr>
          <p:spPr>
            <a:xfrm>
              <a:off x="10351669" y="3761518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Fligt_No</a:t>
              </a:r>
              <a:endParaRPr lang="ko-KR" altLang="en-US" sz="1400" dirty="0"/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5ACEC626-B8F3-4404-9890-9D7D371580C1}"/>
                </a:ext>
              </a:extLst>
            </p:cNvPr>
            <p:cNvCxnSpPr/>
            <p:nvPr/>
          </p:nvCxnSpPr>
          <p:spPr>
            <a:xfrm>
              <a:off x="10691846" y="4108514"/>
              <a:ext cx="792000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35EC7B1B-4748-490E-9BF3-E1CAD413B2A0}"/>
                </a:ext>
              </a:extLst>
            </p:cNvPr>
            <p:cNvCxnSpPr>
              <a:cxnSpLocks/>
              <a:stCxn id="63" idx="3"/>
              <a:endCxn id="68" idx="6"/>
            </p:cNvCxnSpPr>
            <p:nvPr/>
          </p:nvCxnSpPr>
          <p:spPr>
            <a:xfrm>
              <a:off x="9250362" y="4105759"/>
              <a:ext cx="2589541" cy="4626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9F884899-0A2D-45CA-95DC-05F7212D6F0A}"/>
                </a:ext>
              </a:extLst>
            </p:cNvPr>
            <p:cNvSpPr/>
            <p:nvPr/>
          </p:nvSpPr>
          <p:spPr>
            <a:xfrm>
              <a:off x="10367549" y="4346135"/>
              <a:ext cx="1472354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rgbClr val="00B050"/>
                  </a:solidFill>
                </a:rPr>
                <a:t>Captain</a:t>
              </a:r>
              <a:endParaRPr lang="ko-KR" altLang="en-US" sz="1400" dirty="0">
                <a:solidFill>
                  <a:srgbClr val="00B050"/>
                </a:solidFill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72093D85-86AC-4C75-8F74-796C678DFD6E}"/>
              </a:ext>
            </a:extLst>
          </p:cNvPr>
          <p:cNvSpPr/>
          <p:nvPr/>
        </p:nvSpPr>
        <p:spPr>
          <a:xfrm>
            <a:off x="1507888" y="5851108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60D9E983-00D3-43F3-B38F-CA150697CA29}"/>
              </a:ext>
            </a:extLst>
          </p:cNvPr>
          <p:cNvCxnSpPr>
            <a:stCxn id="63" idx="1"/>
            <a:endCxn id="69" idx="6"/>
          </p:cNvCxnSpPr>
          <p:nvPr/>
        </p:nvCxnSpPr>
        <p:spPr>
          <a:xfrm flipH="1">
            <a:off x="2980242" y="5959426"/>
            <a:ext cx="558593" cy="113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884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개념적 설계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CA24822C-1998-4FEA-B614-56C171846BEF}"/>
              </a:ext>
            </a:extLst>
          </p:cNvPr>
          <p:cNvSpPr txBox="1">
            <a:spLocks/>
          </p:cNvSpPr>
          <p:nvPr/>
        </p:nvSpPr>
        <p:spPr>
          <a:xfrm>
            <a:off x="1162050" y="769751"/>
            <a:ext cx="10168128" cy="117957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  <a:defRPr/>
            </a:pPr>
            <a:r>
              <a:rPr lang="ko-KR" altLang="en-US">
                <a:latin typeface="+mj-ea"/>
              </a:rPr>
              <a:t>복합 에트리뷰트</a:t>
            </a: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B36151D-E21C-40D2-BE85-9AFC906BEE88}"/>
              </a:ext>
            </a:extLst>
          </p:cNvPr>
          <p:cNvGrpSpPr/>
          <p:nvPr/>
        </p:nvGrpSpPr>
        <p:grpSpPr>
          <a:xfrm>
            <a:off x="533714" y="2392189"/>
            <a:ext cx="6293425" cy="3441815"/>
            <a:chOff x="1217717" y="2604878"/>
            <a:chExt cx="6627518" cy="344181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48C09A0-1FA6-420A-9C68-9C834E452057}"/>
                </a:ext>
              </a:extLst>
            </p:cNvPr>
            <p:cNvSpPr/>
            <p:nvPr/>
          </p:nvSpPr>
          <p:spPr>
            <a:xfrm>
              <a:off x="6608733" y="2931664"/>
              <a:ext cx="1236502" cy="5564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Service</a:t>
              </a:r>
              <a:endParaRPr lang="ko-KR" altLang="en-US" dirty="0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F4E20D42-2C83-4A8F-8D13-B73F31B916E9}"/>
                </a:ext>
              </a:extLst>
            </p:cNvPr>
            <p:cNvCxnSpPr>
              <a:cxnSpLocks/>
              <a:stCxn id="8" idx="1"/>
              <a:endCxn id="11" idx="6"/>
            </p:cNvCxnSpPr>
            <p:nvPr/>
          </p:nvCxnSpPr>
          <p:spPr>
            <a:xfrm flipH="1" flipV="1">
              <a:off x="5180456" y="3206692"/>
              <a:ext cx="1428277" cy="32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919C7EA-918B-46A1-9C1F-A9AD37E1A25F}"/>
                </a:ext>
              </a:extLst>
            </p:cNvPr>
            <p:cNvCxnSpPr>
              <a:cxnSpLocks/>
              <a:stCxn id="8" idx="1"/>
              <a:endCxn id="13" idx="7"/>
            </p:cNvCxnSpPr>
            <p:nvPr/>
          </p:nvCxnSpPr>
          <p:spPr>
            <a:xfrm flipH="1">
              <a:off x="5193669" y="3209906"/>
              <a:ext cx="1415064" cy="16789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8567617-B346-4A9F-BCC9-CA2C83F2E1CE}"/>
                </a:ext>
              </a:extLst>
            </p:cNvPr>
            <p:cNvSpPr/>
            <p:nvPr/>
          </p:nvSpPr>
          <p:spPr>
            <a:xfrm>
              <a:off x="3686314" y="2984383"/>
              <a:ext cx="149414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기내서비스</a:t>
              </a: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B3DC8473-8553-438E-83A2-D96729CA4C22}"/>
                </a:ext>
              </a:extLst>
            </p:cNvPr>
            <p:cNvSpPr/>
            <p:nvPr/>
          </p:nvSpPr>
          <p:spPr>
            <a:xfrm>
              <a:off x="3813805" y="4823727"/>
              <a:ext cx="1616611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공항서비스</a:t>
              </a:r>
              <a:endParaRPr lang="ko-KR" altLang="en-US" sz="1400" dirty="0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1D666197-D29F-43CA-A2FA-102F2625A0C6}"/>
                </a:ext>
              </a:extLst>
            </p:cNvPr>
            <p:cNvCxnSpPr>
              <a:cxnSpLocks/>
              <a:stCxn id="11" idx="1"/>
              <a:endCxn id="18" idx="6"/>
            </p:cNvCxnSpPr>
            <p:nvPr/>
          </p:nvCxnSpPr>
          <p:spPr>
            <a:xfrm flipH="1" flipV="1">
              <a:off x="2715973" y="2827187"/>
              <a:ext cx="1189153" cy="222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4907FD85-499B-49E7-B77B-0CF781E8379F}"/>
                </a:ext>
              </a:extLst>
            </p:cNvPr>
            <p:cNvCxnSpPr>
              <a:cxnSpLocks/>
              <a:stCxn id="11" idx="2"/>
              <a:endCxn id="19" idx="6"/>
            </p:cNvCxnSpPr>
            <p:nvPr/>
          </p:nvCxnSpPr>
          <p:spPr>
            <a:xfrm flipH="1">
              <a:off x="2691993" y="3206692"/>
              <a:ext cx="994321" cy="891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FAADC256-108C-4FB6-9F35-715FF0DB0B78}"/>
                </a:ext>
              </a:extLst>
            </p:cNvPr>
            <p:cNvCxnSpPr>
              <a:cxnSpLocks/>
              <a:stCxn id="11" idx="3"/>
              <a:endCxn id="20" idx="7"/>
            </p:cNvCxnSpPr>
            <p:nvPr/>
          </p:nvCxnSpPr>
          <p:spPr>
            <a:xfrm flipH="1">
              <a:off x="2508530" y="3363887"/>
              <a:ext cx="1396596" cy="3928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80F9FEB7-7E22-479D-9D34-C78A9F428FBE}"/>
                </a:ext>
              </a:extLst>
            </p:cNvPr>
            <p:cNvCxnSpPr>
              <a:cxnSpLocks/>
              <a:stCxn id="11" idx="4"/>
              <a:endCxn id="21" idx="0"/>
            </p:cNvCxnSpPr>
            <p:nvPr/>
          </p:nvCxnSpPr>
          <p:spPr>
            <a:xfrm flipH="1">
              <a:off x="3289013" y="3429000"/>
              <a:ext cx="1144372" cy="612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0AEFC794-E3E7-4200-86C0-567998511E76}"/>
                </a:ext>
              </a:extLst>
            </p:cNvPr>
            <p:cNvSpPr/>
            <p:nvPr/>
          </p:nvSpPr>
          <p:spPr>
            <a:xfrm>
              <a:off x="1241697" y="2604878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면세품</a:t>
              </a:r>
              <a:endParaRPr lang="ko-KR" altLang="en-US" sz="1400" dirty="0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90EF7EE-DC8B-44F0-B71B-3EA935A78E4C}"/>
                </a:ext>
              </a:extLst>
            </p:cNvPr>
            <p:cNvSpPr/>
            <p:nvPr/>
          </p:nvSpPr>
          <p:spPr>
            <a:xfrm>
              <a:off x="1217717" y="3073582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기내식</a:t>
              </a:r>
              <a:endParaRPr lang="ko-KR" altLang="en-US" sz="1400" dirty="0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BC09AF42-6EA7-42D3-AEA9-B7E35BA8A1C8}"/>
                </a:ext>
              </a:extLst>
            </p:cNvPr>
            <p:cNvSpPr/>
            <p:nvPr/>
          </p:nvSpPr>
          <p:spPr>
            <a:xfrm>
              <a:off x="1250157" y="3691616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이벤트</a:t>
              </a:r>
              <a:endParaRPr lang="ko-KR" altLang="en-US" sz="1400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CCD61169-0F2A-4CFE-8BEC-54F4D3B1F96F}"/>
                </a:ext>
              </a:extLst>
            </p:cNvPr>
            <p:cNvSpPr/>
            <p:nvPr/>
          </p:nvSpPr>
          <p:spPr>
            <a:xfrm>
              <a:off x="2473729" y="4041119"/>
              <a:ext cx="1630569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기내 </a:t>
              </a:r>
              <a:r>
                <a:rPr lang="en-US" altLang="ko-KR" sz="1400" dirty="0"/>
                <a:t>Wi-Fi</a:t>
              </a:r>
              <a:endParaRPr lang="ko-KR" altLang="en-US" sz="1400" dirty="0"/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D7933771-D577-4827-BB29-2C4B4D9636B8}"/>
                </a:ext>
              </a:extLst>
            </p:cNvPr>
            <p:cNvCxnSpPr>
              <a:cxnSpLocks/>
              <a:stCxn id="13" idx="1"/>
              <a:endCxn id="23" idx="6"/>
            </p:cNvCxnSpPr>
            <p:nvPr/>
          </p:nvCxnSpPr>
          <p:spPr>
            <a:xfrm flipH="1" flipV="1">
              <a:off x="3098994" y="4871613"/>
              <a:ext cx="951558" cy="17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C979CF5-F36E-41A0-9277-F17C369BD78C}"/>
                </a:ext>
              </a:extLst>
            </p:cNvPr>
            <p:cNvSpPr/>
            <p:nvPr/>
          </p:nvSpPr>
          <p:spPr>
            <a:xfrm>
              <a:off x="1624718" y="4649304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체크인</a:t>
              </a: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9705FA9-E6A2-4BCA-AE82-B70FF4FF1D96}"/>
                </a:ext>
              </a:extLst>
            </p:cNvPr>
            <p:cNvSpPr/>
            <p:nvPr/>
          </p:nvSpPr>
          <p:spPr>
            <a:xfrm>
              <a:off x="1508629" y="5395217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호텔</a:t>
              </a: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89F6367F-8060-4A21-AE43-D8A33504DCB8}"/>
                </a:ext>
              </a:extLst>
            </p:cNvPr>
            <p:cNvCxnSpPr>
              <a:cxnSpLocks/>
              <a:stCxn id="13" idx="3"/>
              <a:endCxn id="26" idx="0"/>
            </p:cNvCxnSpPr>
            <p:nvPr/>
          </p:nvCxnSpPr>
          <p:spPr>
            <a:xfrm flipH="1">
              <a:off x="3897723" y="5203231"/>
              <a:ext cx="152829" cy="3988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1420A382-24F0-460F-9925-262C4570E401}"/>
                </a:ext>
              </a:extLst>
            </p:cNvPr>
            <p:cNvSpPr/>
            <p:nvPr/>
          </p:nvSpPr>
          <p:spPr>
            <a:xfrm>
              <a:off x="2962188" y="5602075"/>
              <a:ext cx="1871069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렌터카</a:t>
              </a: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097632F-7A9A-4CC1-ABF3-DCAA04313CA7}"/>
                </a:ext>
              </a:extLst>
            </p:cNvPr>
            <p:cNvSpPr/>
            <p:nvPr/>
          </p:nvSpPr>
          <p:spPr>
            <a:xfrm>
              <a:off x="4965370" y="5594124"/>
              <a:ext cx="1474276" cy="44461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셔틀버스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61E6D92-E5A1-4E1B-8F9E-1E0DA2116D19}"/>
                </a:ext>
              </a:extLst>
            </p:cNvPr>
            <p:cNvCxnSpPr>
              <a:stCxn id="13" idx="5"/>
              <a:endCxn id="27" idx="0"/>
            </p:cNvCxnSpPr>
            <p:nvPr/>
          </p:nvCxnSpPr>
          <p:spPr>
            <a:xfrm>
              <a:off x="5193669" y="5203231"/>
              <a:ext cx="508839" cy="3908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43C780B-3283-445F-AC57-B142FFA5E276}"/>
              </a:ext>
            </a:extLst>
          </p:cNvPr>
          <p:cNvSpPr txBox="1"/>
          <p:nvPr/>
        </p:nvSpPr>
        <p:spPr>
          <a:xfrm>
            <a:off x="7638106" y="1849328"/>
            <a:ext cx="3978089" cy="461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dirty="0">
                <a:latin typeface="+mn-ea"/>
                <a:ea typeface="+mn-ea"/>
              </a:rPr>
              <a:t>각 서비스가 단일 </a:t>
            </a:r>
            <a:r>
              <a:rPr lang="ko-KR" altLang="en-US" sz="2200" dirty="0" err="1">
                <a:latin typeface="+mn-ea"/>
                <a:ea typeface="+mn-ea"/>
              </a:rPr>
              <a:t>애트리뷰트로</a:t>
            </a:r>
            <a:r>
              <a:rPr lang="ko-KR" altLang="en-US" sz="2200" dirty="0">
                <a:latin typeface="+mn-ea"/>
                <a:ea typeface="+mn-ea"/>
              </a:rPr>
              <a:t> 구성하기 어렵고 고유한 관계 성립이 어려워 발생하였다</a:t>
            </a:r>
            <a:r>
              <a:rPr lang="en-US" altLang="ko-KR" sz="2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+mn-ea"/>
                <a:ea typeface="+mn-ea"/>
              </a:rPr>
              <a:t>- </a:t>
            </a:r>
            <a:r>
              <a:rPr lang="ko-KR" altLang="en-US" sz="2200" dirty="0">
                <a:latin typeface="+mn-ea"/>
                <a:ea typeface="+mn-ea"/>
              </a:rPr>
              <a:t>복잡성 수준 저하가 요구된다</a:t>
            </a:r>
            <a:r>
              <a:rPr lang="en-US" altLang="ko-KR" sz="2200" dirty="0">
                <a:latin typeface="+mn-ea"/>
                <a:ea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+mn-ea"/>
                <a:ea typeface="+mn-ea"/>
              </a:rPr>
              <a:t>-&gt; </a:t>
            </a:r>
            <a:r>
              <a:rPr lang="ko-KR" altLang="en-US" sz="2200" dirty="0">
                <a:latin typeface="+mn-ea"/>
                <a:ea typeface="+mn-ea"/>
              </a:rPr>
              <a:t>논리적 설계를 거친 후</a:t>
            </a:r>
            <a:endParaRPr lang="en-US" altLang="ko-KR" sz="2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latin typeface="+mn-ea"/>
                <a:ea typeface="+mn-ea"/>
              </a:rPr>
              <a:t>복잡성 및 무결성 제약 조건을</a:t>
            </a:r>
            <a:endParaRPr lang="en-US" altLang="ko-KR" sz="2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latin typeface="+mn-ea"/>
                <a:ea typeface="+mn-ea"/>
              </a:rPr>
              <a:t>고려한 뒤 적절한 관계를 갖는</a:t>
            </a:r>
            <a:endParaRPr lang="en-US" altLang="ko-KR" sz="22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latin typeface="+mn-ea"/>
                <a:ea typeface="+mn-ea"/>
              </a:rPr>
              <a:t>엔티티 타입으로 </a:t>
            </a:r>
            <a:r>
              <a:rPr lang="ko-KR" altLang="en-US" sz="2200" dirty="0" err="1">
                <a:latin typeface="+mn-ea"/>
                <a:ea typeface="+mn-ea"/>
              </a:rPr>
              <a:t>재구현</a:t>
            </a:r>
            <a:r>
              <a:rPr lang="ko-KR" altLang="en-US" sz="2200" dirty="0">
                <a:latin typeface="+mn-ea"/>
                <a:ea typeface="+mn-ea"/>
              </a:rPr>
              <a:t> 필요</a:t>
            </a:r>
          </a:p>
        </p:txBody>
      </p:sp>
    </p:spTree>
    <p:extLst>
      <p:ext uri="{BB962C8B-B14F-4D97-AF65-F5344CB8AC3E}">
        <p14:creationId xmlns:p14="http://schemas.microsoft.com/office/powerpoint/2010/main" val="3267064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858750" cy="723265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五边形 2"/>
          <p:cNvSpPr/>
          <p:nvPr/>
        </p:nvSpPr>
        <p:spPr>
          <a:xfrm>
            <a:off x="0" y="1008340"/>
            <a:ext cx="10749855" cy="2319953"/>
          </a:xfrm>
          <a:prstGeom prst="homePlate">
            <a:avLst/>
          </a:prstGeom>
          <a:solidFill>
            <a:schemeClr val="accent2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199717" y="2390936"/>
            <a:ext cx="442897" cy="274130"/>
            <a:chOff x="7719062" y="2536205"/>
            <a:chExt cx="791915" cy="490154"/>
          </a:xfrm>
        </p:grpSpPr>
        <p:sp>
          <p:nvSpPr>
            <p:cNvPr id="6" name="燕尾形 5"/>
            <p:cNvSpPr/>
            <p:nvPr/>
          </p:nvSpPr>
          <p:spPr>
            <a:xfrm rot="10800000">
              <a:off x="7719062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19" name="燕尾形 18"/>
            <p:cNvSpPr/>
            <p:nvPr/>
          </p:nvSpPr>
          <p:spPr>
            <a:xfrm rot="10800000">
              <a:off x="7974319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  <p:sp>
          <p:nvSpPr>
            <p:cNvPr id="21" name="燕尾形 20"/>
            <p:cNvSpPr/>
            <p:nvPr/>
          </p:nvSpPr>
          <p:spPr>
            <a:xfrm rot="10800000">
              <a:off x="8229575" y="2536205"/>
              <a:ext cx="281402" cy="490154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2D0F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6429375" y="3328293"/>
            <a:ext cx="6429375" cy="1656184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4557167" y="1883103"/>
            <a:ext cx="5400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1"/>
            <a:r>
              <a:rPr lang="en-US" altLang="zh-CN" sz="6000">
                <a:solidFill>
                  <a:schemeClr val="bg1"/>
                </a:solidFill>
                <a:latin typeface="+mj-ea"/>
                <a:ea typeface="+mj-ea"/>
              </a:rPr>
              <a:t>ER </a:t>
            </a:r>
            <a:r>
              <a:rPr lang="ko-KR" altLang="en-US" sz="6000">
                <a:solidFill>
                  <a:schemeClr val="bg1"/>
                </a:solidFill>
                <a:latin typeface="+mj-ea"/>
                <a:ea typeface="+mj-ea"/>
              </a:rPr>
              <a:t>다이어그램</a:t>
            </a:r>
            <a:endParaRPr lang="en-US" altLang="zh-CN" sz="600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5295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gallery dir="l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60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E-R Diagram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8EFCB8B-C75F-4837-96A7-618A6036BDD7}"/>
              </a:ext>
            </a:extLst>
          </p:cNvPr>
          <p:cNvCxnSpPr>
            <a:cxnSpLocks/>
          </p:cNvCxnSpPr>
          <p:nvPr/>
        </p:nvCxnSpPr>
        <p:spPr>
          <a:xfrm flipH="1">
            <a:off x="8724259" y="1926090"/>
            <a:ext cx="144212" cy="1409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3C6078D7-0B91-467A-A9C6-2D8D4985250A}"/>
              </a:ext>
            </a:extLst>
          </p:cNvPr>
          <p:cNvCxnSpPr>
            <a:cxnSpLocks/>
          </p:cNvCxnSpPr>
          <p:nvPr/>
        </p:nvCxnSpPr>
        <p:spPr>
          <a:xfrm>
            <a:off x="8048070" y="1835907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타원 73">
            <a:extLst>
              <a:ext uri="{FF2B5EF4-FFF2-40B4-BE49-F238E27FC236}">
                <a16:creationId xmlns:a16="http://schemas.microsoft.com/office/drawing/2014/main" id="{D026B5BC-C98D-479E-A785-D2EAA1FE4F94}"/>
              </a:ext>
            </a:extLst>
          </p:cNvPr>
          <p:cNvSpPr/>
          <p:nvPr/>
        </p:nvSpPr>
        <p:spPr>
          <a:xfrm>
            <a:off x="1136958" y="643274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Arpt_Name</a:t>
            </a:r>
            <a:endParaRPr lang="ko-KR" altLang="en-US" sz="1400" dirty="0"/>
          </a:p>
        </p:txBody>
      </p:sp>
      <p:sp>
        <p:nvSpPr>
          <p:cNvPr id="75" name="다이아몬드 74">
            <a:extLst>
              <a:ext uri="{FF2B5EF4-FFF2-40B4-BE49-F238E27FC236}">
                <a16:creationId xmlns:a16="http://schemas.microsoft.com/office/drawing/2014/main" id="{CCB7E2FA-4F83-4081-A975-836620CDE340}"/>
              </a:ext>
            </a:extLst>
          </p:cNvPr>
          <p:cNvSpPr/>
          <p:nvPr/>
        </p:nvSpPr>
        <p:spPr>
          <a:xfrm>
            <a:off x="3047289" y="1506540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Residnt</a:t>
            </a:r>
            <a:endParaRPr lang="ko-KR" altLang="en-US" sz="14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268EDE6-215C-4955-849F-B387EAD7DE43}"/>
              </a:ext>
            </a:extLst>
          </p:cNvPr>
          <p:cNvSpPr/>
          <p:nvPr/>
        </p:nvSpPr>
        <p:spPr>
          <a:xfrm>
            <a:off x="1955096" y="1648190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AirPort</a:t>
            </a:r>
            <a:endParaRPr lang="ko-KR" altLang="en-US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23E3ECA-7DB3-42C7-A59E-0CD224DA3CDA}"/>
              </a:ext>
            </a:extLst>
          </p:cNvPr>
          <p:cNvCxnSpPr>
            <a:cxnSpLocks/>
            <a:stCxn id="74" idx="4"/>
            <a:endCxn id="76" idx="0"/>
          </p:cNvCxnSpPr>
          <p:nvPr/>
        </p:nvCxnSpPr>
        <p:spPr>
          <a:xfrm>
            <a:off x="1944399" y="1087891"/>
            <a:ext cx="469645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AB5BEAAB-35F0-475A-A64A-D7803B5154E4}"/>
              </a:ext>
            </a:extLst>
          </p:cNvPr>
          <p:cNvSpPr/>
          <p:nvPr/>
        </p:nvSpPr>
        <p:spPr>
          <a:xfrm>
            <a:off x="411312" y="260210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Contct_Num</a:t>
            </a:r>
            <a:endParaRPr lang="ko-KR" altLang="en-US" sz="14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39458DE-8354-4720-B7EE-691B4243260A}"/>
              </a:ext>
            </a:extLst>
          </p:cNvPr>
          <p:cNvCxnSpPr>
            <a:cxnSpLocks/>
            <a:stCxn id="76" idx="1"/>
            <a:endCxn id="78" idx="0"/>
          </p:cNvCxnSpPr>
          <p:nvPr/>
        </p:nvCxnSpPr>
        <p:spPr>
          <a:xfrm flipH="1">
            <a:off x="1275378" y="1870499"/>
            <a:ext cx="679718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CD657595-E315-4174-8BB6-D8624EE8A319}"/>
              </a:ext>
            </a:extLst>
          </p:cNvPr>
          <p:cNvSpPr/>
          <p:nvPr/>
        </p:nvSpPr>
        <p:spPr>
          <a:xfrm>
            <a:off x="2216343" y="2602101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Affiliation</a:t>
            </a:r>
            <a:endParaRPr lang="ko-KR" altLang="en-US" sz="1400" dirty="0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6BA1DFA-E466-4A00-86CF-77BCB0D4CF06}"/>
              </a:ext>
            </a:extLst>
          </p:cNvPr>
          <p:cNvCxnSpPr>
            <a:cxnSpLocks/>
            <a:stCxn id="76" idx="2"/>
            <a:endCxn id="80" idx="0"/>
          </p:cNvCxnSpPr>
          <p:nvPr/>
        </p:nvCxnSpPr>
        <p:spPr>
          <a:xfrm>
            <a:off x="2414044" y="2092807"/>
            <a:ext cx="666365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CC464456-5A32-4D39-9702-17D601CE6001}"/>
              </a:ext>
            </a:extLst>
          </p:cNvPr>
          <p:cNvCxnSpPr>
            <a:cxnSpLocks/>
            <a:stCxn id="76" idx="3"/>
            <a:endCxn id="75" idx="1"/>
          </p:cNvCxnSpPr>
          <p:nvPr/>
        </p:nvCxnSpPr>
        <p:spPr>
          <a:xfrm>
            <a:off x="2872991" y="1870499"/>
            <a:ext cx="174298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C71C4FD-3F22-4BD1-AE24-CC993C65ACB0}"/>
              </a:ext>
            </a:extLst>
          </p:cNvPr>
          <p:cNvCxnSpPr/>
          <p:nvPr/>
        </p:nvCxnSpPr>
        <p:spPr>
          <a:xfrm>
            <a:off x="4557994" y="1857176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1F406785-0DDE-4BD8-9C96-06829C7D30DD}"/>
              </a:ext>
            </a:extLst>
          </p:cNvPr>
          <p:cNvCxnSpPr/>
          <p:nvPr/>
        </p:nvCxnSpPr>
        <p:spPr>
          <a:xfrm>
            <a:off x="4557994" y="1917297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E0B73072-D0EA-489F-9FCF-92FBB3BF79A8}"/>
              </a:ext>
            </a:extLst>
          </p:cNvPr>
          <p:cNvSpPr/>
          <p:nvPr/>
        </p:nvSpPr>
        <p:spPr>
          <a:xfrm>
            <a:off x="4913753" y="1511445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T-way Airline</a:t>
            </a:r>
            <a:endParaRPr lang="ko-KR" altLang="en-US" dirty="0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824D564-46D6-4D4C-AF94-2097ADC0374F}"/>
              </a:ext>
            </a:extLst>
          </p:cNvPr>
          <p:cNvCxnSpPr/>
          <p:nvPr/>
        </p:nvCxnSpPr>
        <p:spPr>
          <a:xfrm>
            <a:off x="1431622" y="970928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1F5F52C-CAC5-4896-9A6D-166C30DCE51C}"/>
              </a:ext>
            </a:extLst>
          </p:cNvPr>
          <p:cNvCxnSpPr>
            <a:cxnSpLocks/>
            <a:stCxn id="85" idx="0"/>
            <a:endCxn id="88" idx="4"/>
          </p:cNvCxnSpPr>
          <p:nvPr/>
        </p:nvCxnSpPr>
        <p:spPr>
          <a:xfrm flipH="1" flipV="1">
            <a:off x="4165384" y="1087891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320DCFF8-B810-4739-AE1A-1A279E66B496}"/>
              </a:ext>
            </a:extLst>
          </p:cNvPr>
          <p:cNvSpPr/>
          <p:nvPr/>
        </p:nvSpPr>
        <p:spPr>
          <a:xfrm>
            <a:off x="3288733" y="643274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rgbClr val="00B050"/>
                </a:solidFill>
              </a:rPr>
              <a:t>Aport_Name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5C64E7DC-2A7D-43D4-AB1A-385260B2F73A}"/>
              </a:ext>
            </a:extLst>
          </p:cNvPr>
          <p:cNvCxnSpPr>
            <a:cxnSpLocks/>
            <a:stCxn id="85" idx="0"/>
            <a:endCxn id="90" idx="4"/>
          </p:cNvCxnSpPr>
          <p:nvPr/>
        </p:nvCxnSpPr>
        <p:spPr>
          <a:xfrm flipV="1">
            <a:off x="5430375" y="1066828"/>
            <a:ext cx="681342" cy="4446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30FDF260-8EEE-48F3-881A-34A07CD87EEB}"/>
              </a:ext>
            </a:extLst>
          </p:cNvPr>
          <p:cNvSpPr/>
          <p:nvPr/>
        </p:nvSpPr>
        <p:spPr>
          <a:xfrm>
            <a:off x="5450734" y="62221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Director</a:t>
            </a:r>
            <a:endParaRPr lang="ko-KR" altLang="en-US" sz="1400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9E2BFA6-C719-4D98-BA77-BEFF409FF013}"/>
              </a:ext>
            </a:extLst>
          </p:cNvPr>
          <p:cNvSpPr/>
          <p:nvPr/>
        </p:nvSpPr>
        <p:spPr>
          <a:xfrm>
            <a:off x="4638487" y="1170292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CA6BE3FA-5730-43A4-AE43-7EFB9A96195C}"/>
              </a:ext>
            </a:extLst>
          </p:cNvPr>
          <p:cNvCxnSpPr>
            <a:cxnSpLocks/>
            <a:stCxn id="85" idx="3"/>
            <a:endCxn id="167" idx="1"/>
          </p:cNvCxnSpPr>
          <p:nvPr/>
        </p:nvCxnSpPr>
        <p:spPr>
          <a:xfrm>
            <a:off x="5946997" y="1855394"/>
            <a:ext cx="360029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62F34FB-BC73-401F-A776-2C61F7A1F16A}"/>
              </a:ext>
            </a:extLst>
          </p:cNvPr>
          <p:cNvCxnSpPr>
            <a:cxnSpLocks/>
          </p:cNvCxnSpPr>
          <p:nvPr/>
        </p:nvCxnSpPr>
        <p:spPr>
          <a:xfrm>
            <a:off x="8063450" y="1901621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A0A21CA-EB5B-4BCA-9B1E-9B750A1618A4}"/>
              </a:ext>
            </a:extLst>
          </p:cNvPr>
          <p:cNvSpPr/>
          <p:nvPr/>
        </p:nvSpPr>
        <p:spPr>
          <a:xfrm>
            <a:off x="8311452" y="1643662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Employee</a:t>
            </a:r>
            <a:endParaRPr lang="ko-KR" altLang="en-US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1F6CFE63-C871-4C00-873E-242B01D35EAF}"/>
              </a:ext>
            </a:extLst>
          </p:cNvPr>
          <p:cNvCxnSpPr>
            <a:cxnSpLocks/>
            <a:stCxn id="94" idx="0"/>
            <a:endCxn id="96" idx="4"/>
          </p:cNvCxnSpPr>
          <p:nvPr/>
        </p:nvCxnSpPr>
        <p:spPr>
          <a:xfrm flipH="1" flipV="1">
            <a:off x="7677923" y="1152205"/>
            <a:ext cx="1251780" cy="491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91930183-5985-43B5-B36F-1A89455B51AB}"/>
              </a:ext>
            </a:extLst>
          </p:cNvPr>
          <p:cNvSpPr/>
          <p:nvPr/>
        </p:nvSpPr>
        <p:spPr>
          <a:xfrm>
            <a:off x="7016940" y="707588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Emp No</a:t>
            </a:r>
            <a:endParaRPr lang="ko-KR" altLang="en-US" sz="1400" dirty="0"/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95350B2-3742-4307-83DD-C7D187005223}"/>
              </a:ext>
            </a:extLst>
          </p:cNvPr>
          <p:cNvCxnSpPr/>
          <p:nvPr/>
        </p:nvCxnSpPr>
        <p:spPr>
          <a:xfrm>
            <a:off x="7276649" y="1059471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F2C44BE-301B-476F-9242-A3C4977CB581}"/>
              </a:ext>
            </a:extLst>
          </p:cNvPr>
          <p:cNvCxnSpPr>
            <a:cxnSpLocks/>
            <a:stCxn id="94" idx="0"/>
            <a:endCxn id="99" idx="4"/>
          </p:cNvCxnSpPr>
          <p:nvPr/>
        </p:nvCxnSpPr>
        <p:spPr>
          <a:xfrm flipV="1">
            <a:off x="8929703" y="1159198"/>
            <a:ext cx="207026" cy="484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97214720-D929-4DA2-A95F-68489804C60A}"/>
              </a:ext>
            </a:extLst>
          </p:cNvPr>
          <p:cNvSpPr/>
          <p:nvPr/>
        </p:nvSpPr>
        <p:spPr>
          <a:xfrm>
            <a:off x="8475746" y="71458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Salary</a:t>
            </a:r>
            <a:endParaRPr lang="ko-KR" altLang="en-US" sz="1400" dirty="0"/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0A4E300-84F3-4002-8BBE-03C44AADEFFC}"/>
              </a:ext>
            </a:extLst>
          </p:cNvPr>
          <p:cNvCxnSpPr>
            <a:cxnSpLocks/>
            <a:stCxn id="94" idx="3"/>
            <a:endCxn id="101" idx="4"/>
          </p:cNvCxnSpPr>
          <p:nvPr/>
        </p:nvCxnSpPr>
        <p:spPr>
          <a:xfrm flipV="1">
            <a:off x="9547954" y="1268253"/>
            <a:ext cx="1214411" cy="597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549308E9-0D42-434D-9919-26B639BEADF5}"/>
              </a:ext>
            </a:extLst>
          </p:cNvPr>
          <p:cNvSpPr/>
          <p:nvPr/>
        </p:nvSpPr>
        <p:spPr>
          <a:xfrm>
            <a:off x="10101382" y="823636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Title</a:t>
            </a:r>
            <a:endParaRPr lang="ko-KR" altLang="en-US" sz="1400" dirty="0"/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25DC62D9-D690-4191-A9A4-2735B6F50046}"/>
              </a:ext>
            </a:extLst>
          </p:cNvPr>
          <p:cNvCxnSpPr/>
          <p:nvPr/>
        </p:nvCxnSpPr>
        <p:spPr>
          <a:xfrm>
            <a:off x="5689700" y="970928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46CC3FCD-A7D9-4B22-8030-DF68C69125BF}"/>
              </a:ext>
            </a:extLst>
          </p:cNvPr>
          <p:cNvCxnSpPr>
            <a:cxnSpLocks/>
            <a:stCxn id="94" idx="2"/>
            <a:endCxn id="104" idx="0"/>
          </p:cNvCxnSpPr>
          <p:nvPr/>
        </p:nvCxnSpPr>
        <p:spPr>
          <a:xfrm flipH="1">
            <a:off x="8857021" y="2088279"/>
            <a:ext cx="72682" cy="864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다이아몬드 103">
            <a:extLst>
              <a:ext uri="{FF2B5EF4-FFF2-40B4-BE49-F238E27FC236}">
                <a16:creationId xmlns:a16="http://schemas.microsoft.com/office/drawing/2014/main" id="{A6BE818E-1701-4FD7-93A0-D984D6AB3341}"/>
              </a:ext>
            </a:extLst>
          </p:cNvPr>
          <p:cNvSpPr/>
          <p:nvPr/>
        </p:nvSpPr>
        <p:spPr>
          <a:xfrm>
            <a:off x="8119883" y="2952792"/>
            <a:ext cx="1474276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Work for</a:t>
            </a:r>
            <a:endParaRPr lang="ko-KR" altLang="en-US" sz="1400" dirty="0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E9A8F38-3DCF-47F4-9E9F-C358898EB852}"/>
              </a:ext>
            </a:extLst>
          </p:cNvPr>
          <p:cNvCxnSpPr>
            <a:cxnSpLocks/>
            <a:stCxn id="104" idx="3"/>
            <a:endCxn id="108" idx="1"/>
          </p:cNvCxnSpPr>
          <p:nvPr/>
        </p:nvCxnSpPr>
        <p:spPr>
          <a:xfrm>
            <a:off x="9594159" y="3326103"/>
            <a:ext cx="420697" cy="218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87DBDD05-A7D2-4D8B-8BA2-3A033C8227CD}"/>
              </a:ext>
            </a:extLst>
          </p:cNvPr>
          <p:cNvCxnSpPr>
            <a:cxnSpLocks/>
            <a:stCxn id="104" idx="2"/>
            <a:endCxn id="155" idx="0"/>
          </p:cNvCxnSpPr>
          <p:nvPr/>
        </p:nvCxnSpPr>
        <p:spPr>
          <a:xfrm>
            <a:off x="8857021" y="3699413"/>
            <a:ext cx="27011" cy="3561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B630305-B3B0-4DE7-BFB6-72901AD5305B}"/>
              </a:ext>
            </a:extLst>
          </p:cNvPr>
          <p:cNvCxnSpPr>
            <a:cxnSpLocks/>
            <a:stCxn id="104" idx="1"/>
            <a:endCxn id="116" idx="3"/>
          </p:cNvCxnSpPr>
          <p:nvPr/>
        </p:nvCxnSpPr>
        <p:spPr>
          <a:xfrm flipH="1" flipV="1">
            <a:off x="7277233" y="3180542"/>
            <a:ext cx="842650" cy="1455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4DBF0EF6-DA8B-42AD-87E8-EFC8EFDABB04}"/>
              </a:ext>
            </a:extLst>
          </p:cNvPr>
          <p:cNvSpPr/>
          <p:nvPr/>
        </p:nvSpPr>
        <p:spPr>
          <a:xfrm>
            <a:off x="10014856" y="3322611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Customer</a:t>
            </a:r>
            <a:endParaRPr lang="ko-KR" altLang="en-US" dirty="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3DA1CA5B-3BA9-4B77-A9A6-11D5BBB521E1}"/>
              </a:ext>
            </a:extLst>
          </p:cNvPr>
          <p:cNvGrpSpPr/>
          <p:nvPr/>
        </p:nvGrpSpPr>
        <p:grpSpPr>
          <a:xfrm>
            <a:off x="9096915" y="2468810"/>
            <a:ext cx="1536192" cy="444617"/>
            <a:chOff x="9413889" y="2615453"/>
            <a:chExt cx="1536192" cy="444617"/>
          </a:xfrm>
        </p:grpSpPr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1C9B267D-CBA6-44E9-B405-305391CD55F8}"/>
                </a:ext>
              </a:extLst>
            </p:cNvPr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err="1"/>
                <a:t>PssprtNum</a:t>
              </a:r>
              <a:endParaRPr lang="ko-KR" altLang="en-US" sz="1400" dirty="0"/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F5F8339B-700F-4148-A0D3-4EE0019D9B7E}"/>
                </a:ext>
              </a:extLst>
            </p:cNvPr>
            <p:cNvCxnSpPr>
              <a:cxnSpLocks/>
            </p:cNvCxnSpPr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01505FD8-65AF-419C-A250-2312257793FE}"/>
              </a:ext>
            </a:extLst>
          </p:cNvPr>
          <p:cNvCxnSpPr>
            <a:stCxn id="110" idx="4"/>
            <a:endCxn id="108" idx="0"/>
          </p:cNvCxnSpPr>
          <p:nvPr/>
        </p:nvCxnSpPr>
        <p:spPr>
          <a:xfrm>
            <a:off x="9865011" y="2913427"/>
            <a:ext cx="768096" cy="409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C3DCA4C3-95FE-4EC7-AD9E-ABC3049E9449}"/>
              </a:ext>
            </a:extLst>
          </p:cNvPr>
          <p:cNvCxnSpPr>
            <a:cxnSpLocks/>
            <a:stCxn id="108" idx="0"/>
            <a:endCxn id="114" idx="4"/>
          </p:cNvCxnSpPr>
          <p:nvPr/>
        </p:nvCxnSpPr>
        <p:spPr>
          <a:xfrm flipV="1">
            <a:off x="10633107" y="2929388"/>
            <a:ext cx="777362" cy="393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타원 113">
            <a:extLst>
              <a:ext uri="{FF2B5EF4-FFF2-40B4-BE49-F238E27FC236}">
                <a16:creationId xmlns:a16="http://schemas.microsoft.com/office/drawing/2014/main" id="{54D8B882-275E-481A-8794-0194922418C8}"/>
              </a:ext>
            </a:extLst>
          </p:cNvPr>
          <p:cNvSpPr/>
          <p:nvPr/>
        </p:nvSpPr>
        <p:spPr>
          <a:xfrm>
            <a:off x="10749486" y="248477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Gender</a:t>
            </a:r>
            <a:endParaRPr lang="ko-KR" altLang="en-US" sz="1400" dirty="0"/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DC401C0C-3B75-4370-B2D5-E436FF30F5CB}"/>
              </a:ext>
            </a:extLst>
          </p:cNvPr>
          <p:cNvCxnSpPr>
            <a:cxnSpLocks/>
            <a:stCxn id="108" idx="3"/>
          </p:cNvCxnSpPr>
          <p:nvPr/>
        </p:nvCxnSpPr>
        <p:spPr>
          <a:xfrm flipV="1">
            <a:off x="11251358" y="3544919"/>
            <a:ext cx="20857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C5679B5D-4CA3-4B23-B80C-545F636258A0}"/>
              </a:ext>
            </a:extLst>
          </p:cNvPr>
          <p:cNvSpPr/>
          <p:nvPr/>
        </p:nvSpPr>
        <p:spPr>
          <a:xfrm>
            <a:off x="6040731" y="2902300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Service</a:t>
            </a:r>
            <a:endParaRPr lang="ko-KR" altLang="en-US" dirty="0"/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7E1564A6-C190-48FD-BB74-55459AB62DCE}"/>
              </a:ext>
            </a:extLst>
          </p:cNvPr>
          <p:cNvCxnSpPr>
            <a:cxnSpLocks/>
            <a:stCxn id="118" idx="2"/>
            <a:endCxn id="128" idx="0"/>
          </p:cNvCxnSpPr>
          <p:nvPr/>
        </p:nvCxnSpPr>
        <p:spPr>
          <a:xfrm flipH="1">
            <a:off x="6523452" y="5652768"/>
            <a:ext cx="655887" cy="568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354A232-384C-45E5-B05C-2E3A4466119B}"/>
              </a:ext>
            </a:extLst>
          </p:cNvPr>
          <p:cNvSpPr/>
          <p:nvPr/>
        </p:nvSpPr>
        <p:spPr>
          <a:xfrm>
            <a:off x="6561088" y="5096285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Boarding Pass</a:t>
            </a:r>
            <a:endParaRPr lang="ko-KR" altLang="en-US" dirty="0"/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97CA5732-59B0-4076-95A2-3C996D9AF207}"/>
              </a:ext>
            </a:extLst>
          </p:cNvPr>
          <p:cNvCxnSpPr>
            <a:cxnSpLocks/>
            <a:stCxn id="118" idx="3"/>
            <a:endCxn id="125" idx="2"/>
          </p:cNvCxnSpPr>
          <p:nvPr/>
        </p:nvCxnSpPr>
        <p:spPr>
          <a:xfrm>
            <a:off x="7797590" y="5374527"/>
            <a:ext cx="1644232" cy="257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DBC215EB-91A2-42BE-A6C5-C8D045491008}"/>
              </a:ext>
            </a:extLst>
          </p:cNvPr>
          <p:cNvCxnSpPr>
            <a:cxnSpLocks/>
            <a:stCxn id="118" idx="2"/>
            <a:endCxn id="126" idx="2"/>
          </p:cNvCxnSpPr>
          <p:nvPr/>
        </p:nvCxnSpPr>
        <p:spPr>
          <a:xfrm>
            <a:off x="7179339" y="5652768"/>
            <a:ext cx="2139857" cy="6289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B636DFAE-CD2F-4C41-8AA8-C1C45B4BE96C}"/>
              </a:ext>
            </a:extLst>
          </p:cNvPr>
          <p:cNvCxnSpPr>
            <a:cxnSpLocks/>
            <a:stCxn id="118" idx="2"/>
            <a:endCxn id="127" idx="0"/>
          </p:cNvCxnSpPr>
          <p:nvPr/>
        </p:nvCxnSpPr>
        <p:spPr>
          <a:xfrm>
            <a:off x="7179339" y="5652768"/>
            <a:ext cx="942071" cy="843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59E3A406-14A2-4501-99C3-5587BBC2916B}"/>
              </a:ext>
            </a:extLst>
          </p:cNvPr>
          <p:cNvCxnSpPr>
            <a:cxnSpLocks/>
            <a:stCxn id="118" idx="1"/>
            <a:endCxn id="129" idx="0"/>
          </p:cNvCxnSpPr>
          <p:nvPr/>
        </p:nvCxnSpPr>
        <p:spPr>
          <a:xfrm flipH="1">
            <a:off x="5018685" y="5374527"/>
            <a:ext cx="1542403" cy="749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454F208-5395-4CAC-8FB3-691FBA26CDE4}"/>
              </a:ext>
            </a:extLst>
          </p:cNvPr>
          <p:cNvCxnSpPr>
            <a:cxnSpLocks/>
            <a:stCxn id="118" idx="1"/>
            <a:endCxn id="131" idx="6"/>
          </p:cNvCxnSpPr>
          <p:nvPr/>
        </p:nvCxnSpPr>
        <p:spPr>
          <a:xfrm flipH="1" flipV="1">
            <a:off x="5638916" y="4806029"/>
            <a:ext cx="922172" cy="568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27F3607-EB74-4A22-B887-5AF7AEC8C042}"/>
              </a:ext>
            </a:extLst>
          </p:cNvPr>
          <p:cNvCxnSpPr>
            <a:cxnSpLocks/>
            <a:stCxn id="118" idx="1"/>
            <a:endCxn id="130" idx="6"/>
          </p:cNvCxnSpPr>
          <p:nvPr/>
        </p:nvCxnSpPr>
        <p:spPr>
          <a:xfrm flipH="1">
            <a:off x="5539404" y="5374527"/>
            <a:ext cx="1021684" cy="34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타원 124">
            <a:extLst>
              <a:ext uri="{FF2B5EF4-FFF2-40B4-BE49-F238E27FC236}">
                <a16:creationId xmlns:a16="http://schemas.microsoft.com/office/drawing/2014/main" id="{671EDBDB-C75F-44AD-B7B9-7C7B5DF4B479}"/>
              </a:ext>
            </a:extLst>
          </p:cNvPr>
          <p:cNvSpPr/>
          <p:nvPr/>
        </p:nvSpPr>
        <p:spPr>
          <a:xfrm>
            <a:off x="9441822" y="5409471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Arrival</a:t>
            </a:r>
            <a:endParaRPr lang="ko-KR" altLang="en-US" sz="1400" dirty="0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1C94DA25-8646-423F-B06C-321506828EF4}"/>
              </a:ext>
            </a:extLst>
          </p:cNvPr>
          <p:cNvSpPr/>
          <p:nvPr/>
        </p:nvSpPr>
        <p:spPr>
          <a:xfrm>
            <a:off x="9319196" y="6059410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Departure</a:t>
            </a:r>
            <a:endParaRPr lang="ko-KR" altLang="en-US" sz="1400" dirty="0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A3AE37A9-721D-48AF-9486-2A50E48A25BD}"/>
              </a:ext>
            </a:extLst>
          </p:cNvPr>
          <p:cNvSpPr/>
          <p:nvPr/>
        </p:nvSpPr>
        <p:spPr>
          <a:xfrm>
            <a:off x="7385233" y="6496487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rgbClr val="00B050"/>
                </a:solidFill>
              </a:rPr>
              <a:t>Fligt_No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277CDD01-02DB-4CDD-A55A-E75436A2A178}"/>
              </a:ext>
            </a:extLst>
          </p:cNvPr>
          <p:cNvSpPr/>
          <p:nvPr/>
        </p:nvSpPr>
        <p:spPr>
          <a:xfrm>
            <a:off x="5808641" y="6221222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Resrv</a:t>
            </a:r>
            <a:r>
              <a:rPr lang="en-US" altLang="ko-KR" sz="1400" dirty="0"/>
              <a:t> No</a:t>
            </a:r>
            <a:endParaRPr lang="ko-KR" altLang="en-US" sz="1400" dirty="0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2DACC25B-B7A3-4A4B-80A8-01E346542192}"/>
              </a:ext>
            </a:extLst>
          </p:cNvPr>
          <p:cNvSpPr/>
          <p:nvPr/>
        </p:nvSpPr>
        <p:spPr>
          <a:xfrm>
            <a:off x="4433691" y="6124076"/>
            <a:ext cx="1169987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Seat no</a:t>
            </a:r>
            <a:endParaRPr lang="ko-KR" altLang="en-US" sz="1400" dirty="0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A622E597-75C1-4667-AF6E-1C9F00922E7F}"/>
              </a:ext>
            </a:extLst>
          </p:cNvPr>
          <p:cNvSpPr/>
          <p:nvPr/>
        </p:nvSpPr>
        <p:spPr>
          <a:xfrm>
            <a:off x="4577215" y="5187162"/>
            <a:ext cx="962189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Class</a:t>
            </a:r>
            <a:endParaRPr lang="ko-KR" altLang="en-US" sz="1400" dirty="0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C5524A49-0BE1-4180-90AF-CFE8DA758047}"/>
              </a:ext>
            </a:extLst>
          </p:cNvPr>
          <p:cNvSpPr/>
          <p:nvPr/>
        </p:nvSpPr>
        <p:spPr>
          <a:xfrm>
            <a:off x="4853696" y="4583720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data</a:t>
            </a:r>
            <a:endParaRPr lang="ko-KR" altLang="en-US" sz="1400" dirty="0"/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F0A5A8A8-2442-43A2-955D-BA5534B44500}"/>
              </a:ext>
            </a:extLst>
          </p:cNvPr>
          <p:cNvCxnSpPr/>
          <p:nvPr/>
        </p:nvCxnSpPr>
        <p:spPr>
          <a:xfrm>
            <a:off x="6127452" y="6520359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1274EAD4-9AE3-4DAC-B06C-50CFB1CF5F4C}"/>
              </a:ext>
            </a:extLst>
          </p:cNvPr>
          <p:cNvCxnSpPr>
            <a:cxnSpLocks/>
            <a:stCxn id="116" idx="1"/>
            <a:endCxn id="135" idx="6"/>
          </p:cNvCxnSpPr>
          <p:nvPr/>
        </p:nvCxnSpPr>
        <p:spPr>
          <a:xfrm flipH="1">
            <a:off x="4204567" y="3180542"/>
            <a:ext cx="1836164" cy="583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87E8C0CF-7B61-4F9C-AA7C-CC168D94D0D7}"/>
              </a:ext>
            </a:extLst>
          </p:cNvPr>
          <p:cNvCxnSpPr>
            <a:cxnSpLocks/>
            <a:stCxn id="116" idx="1"/>
            <a:endCxn id="136" idx="7"/>
          </p:cNvCxnSpPr>
          <p:nvPr/>
        </p:nvCxnSpPr>
        <p:spPr>
          <a:xfrm flipH="1">
            <a:off x="4127090" y="3180542"/>
            <a:ext cx="1913641" cy="20367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타원 134">
            <a:extLst>
              <a:ext uri="{FF2B5EF4-FFF2-40B4-BE49-F238E27FC236}">
                <a16:creationId xmlns:a16="http://schemas.microsoft.com/office/drawing/2014/main" id="{54F6F79A-C56F-47E8-9200-CEA8B163C0B6}"/>
              </a:ext>
            </a:extLst>
          </p:cNvPr>
          <p:cNvSpPr/>
          <p:nvPr/>
        </p:nvSpPr>
        <p:spPr>
          <a:xfrm>
            <a:off x="2476436" y="3491337"/>
            <a:ext cx="1728131" cy="5461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Service</a:t>
            </a:r>
          </a:p>
          <a:p>
            <a:pPr algn="ctr"/>
            <a:r>
              <a:rPr lang="en-US" altLang="ko-KR" sz="1400" dirty="0"/>
              <a:t>in flight</a:t>
            </a:r>
            <a:endParaRPr lang="ko-KR" altLang="en-US" sz="1400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40434B06-6551-4835-B56D-848D2E859266}"/>
              </a:ext>
            </a:extLst>
          </p:cNvPr>
          <p:cNvSpPr/>
          <p:nvPr/>
        </p:nvSpPr>
        <p:spPr>
          <a:xfrm>
            <a:off x="2747226" y="5152219"/>
            <a:ext cx="161661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Airport Service</a:t>
            </a:r>
            <a:endParaRPr lang="ko-KR" altLang="en-US" sz="1400" dirty="0"/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DB2790B5-8E03-4C00-A046-4072804725D1}"/>
              </a:ext>
            </a:extLst>
          </p:cNvPr>
          <p:cNvCxnSpPr>
            <a:cxnSpLocks/>
            <a:stCxn id="135" idx="1"/>
            <a:endCxn id="141" idx="6"/>
          </p:cNvCxnSpPr>
          <p:nvPr/>
        </p:nvCxnSpPr>
        <p:spPr>
          <a:xfrm flipH="1" flipV="1">
            <a:off x="2043347" y="3393934"/>
            <a:ext cx="686168" cy="1773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04AB9DD-2F94-47F8-8440-93376D0A5068}"/>
              </a:ext>
            </a:extLst>
          </p:cNvPr>
          <p:cNvCxnSpPr>
            <a:cxnSpLocks/>
            <a:stCxn id="135" idx="2"/>
            <a:endCxn id="142" idx="6"/>
          </p:cNvCxnSpPr>
          <p:nvPr/>
        </p:nvCxnSpPr>
        <p:spPr>
          <a:xfrm flipH="1">
            <a:off x="2059397" y="3764395"/>
            <a:ext cx="417039" cy="203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1CA2DF27-6B0B-4D2A-85D1-320332F6B82C}"/>
              </a:ext>
            </a:extLst>
          </p:cNvPr>
          <p:cNvCxnSpPr>
            <a:cxnSpLocks/>
            <a:stCxn id="135" idx="3"/>
            <a:endCxn id="143" idx="7"/>
          </p:cNvCxnSpPr>
          <p:nvPr/>
        </p:nvCxnSpPr>
        <p:spPr>
          <a:xfrm flipH="1">
            <a:off x="1952857" y="3957476"/>
            <a:ext cx="776658" cy="434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344431AE-DD03-45B0-9715-4578EF952BE5}"/>
              </a:ext>
            </a:extLst>
          </p:cNvPr>
          <p:cNvCxnSpPr>
            <a:cxnSpLocks/>
            <a:stCxn id="135" idx="4"/>
            <a:endCxn id="144" idx="0"/>
          </p:cNvCxnSpPr>
          <p:nvPr/>
        </p:nvCxnSpPr>
        <p:spPr>
          <a:xfrm flipH="1">
            <a:off x="3264212" y="4037453"/>
            <a:ext cx="76290" cy="379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타원 140">
            <a:extLst>
              <a:ext uri="{FF2B5EF4-FFF2-40B4-BE49-F238E27FC236}">
                <a16:creationId xmlns:a16="http://schemas.microsoft.com/office/drawing/2014/main" id="{C6496872-82D1-4C37-BA22-B02F68F08E63}"/>
              </a:ext>
            </a:extLst>
          </p:cNvPr>
          <p:cNvSpPr/>
          <p:nvPr/>
        </p:nvSpPr>
        <p:spPr>
          <a:xfrm>
            <a:off x="569071" y="3171625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Duty-free goods</a:t>
            </a:r>
            <a:endParaRPr lang="ko-KR" altLang="en-US" sz="1400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6D7BF385-ECC6-443D-B1E4-5FE2B38CA065}"/>
              </a:ext>
            </a:extLst>
          </p:cNvPr>
          <p:cNvSpPr/>
          <p:nvPr/>
        </p:nvSpPr>
        <p:spPr>
          <a:xfrm>
            <a:off x="585121" y="3745265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Airline food</a:t>
            </a:r>
            <a:endParaRPr lang="ko-KR" altLang="en-US" sz="1400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4B5DED00-C9EF-4089-8A42-A5445ACB0EF9}"/>
              </a:ext>
            </a:extLst>
          </p:cNvPr>
          <p:cNvSpPr/>
          <p:nvPr/>
        </p:nvSpPr>
        <p:spPr>
          <a:xfrm>
            <a:off x="694484" y="4326560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Event</a:t>
            </a:r>
            <a:endParaRPr lang="ko-KR" altLang="en-US" sz="1400" dirty="0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2CD42DC4-5BCE-49E1-BF08-1873F8CFA35D}"/>
              </a:ext>
            </a:extLst>
          </p:cNvPr>
          <p:cNvSpPr/>
          <p:nvPr/>
        </p:nvSpPr>
        <p:spPr>
          <a:xfrm>
            <a:off x="2527074" y="4416958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WiFi</a:t>
            </a:r>
            <a:endParaRPr lang="en-US" altLang="ko-KR" sz="1400" dirty="0"/>
          </a:p>
          <a:p>
            <a:pPr algn="ctr"/>
            <a:r>
              <a:rPr lang="en-US" altLang="ko-KR" sz="1400" dirty="0"/>
              <a:t>in flight</a:t>
            </a:r>
            <a:endParaRPr lang="ko-KR" altLang="en-US" sz="1400" dirty="0"/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4119E466-AE68-42E6-9BDF-179D13D87D36}"/>
              </a:ext>
            </a:extLst>
          </p:cNvPr>
          <p:cNvCxnSpPr>
            <a:cxnSpLocks/>
            <a:stCxn id="136" idx="1"/>
            <a:endCxn id="146" idx="6"/>
          </p:cNvCxnSpPr>
          <p:nvPr/>
        </p:nvCxnSpPr>
        <p:spPr>
          <a:xfrm flipH="1" flipV="1">
            <a:off x="1885588" y="5215796"/>
            <a:ext cx="1098385" cy="1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타원 145">
            <a:extLst>
              <a:ext uri="{FF2B5EF4-FFF2-40B4-BE49-F238E27FC236}">
                <a16:creationId xmlns:a16="http://schemas.microsoft.com/office/drawing/2014/main" id="{94BC4EE4-31C4-4128-AC06-E9AC1831491C}"/>
              </a:ext>
            </a:extLst>
          </p:cNvPr>
          <p:cNvSpPr/>
          <p:nvPr/>
        </p:nvSpPr>
        <p:spPr>
          <a:xfrm>
            <a:off x="411312" y="4993487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Check-In</a:t>
            </a:r>
            <a:endParaRPr lang="ko-KR" altLang="en-US" sz="1400" dirty="0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C45C83D4-BC7D-4FCD-A977-83B0FF46E0FA}"/>
              </a:ext>
            </a:extLst>
          </p:cNvPr>
          <p:cNvSpPr/>
          <p:nvPr/>
        </p:nvSpPr>
        <p:spPr>
          <a:xfrm>
            <a:off x="411312" y="5626753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Hottel</a:t>
            </a:r>
            <a:endParaRPr lang="ko-KR" altLang="en-US" sz="1400" dirty="0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25BEFC00-871C-43B5-B83E-E0E13C59EFA3}"/>
              </a:ext>
            </a:extLst>
          </p:cNvPr>
          <p:cNvCxnSpPr>
            <a:stCxn id="136" idx="2"/>
            <a:endCxn id="147" idx="0"/>
          </p:cNvCxnSpPr>
          <p:nvPr/>
        </p:nvCxnSpPr>
        <p:spPr>
          <a:xfrm flipH="1">
            <a:off x="1148450" y="5374528"/>
            <a:ext cx="1598776" cy="252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6A33BE17-253E-4BF0-8677-5E11442D9111}"/>
              </a:ext>
            </a:extLst>
          </p:cNvPr>
          <p:cNvCxnSpPr>
            <a:cxnSpLocks/>
            <a:stCxn id="136" idx="3"/>
            <a:endCxn id="150" idx="0"/>
          </p:cNvCxnSpPr>
          <p:nvPr/>
        </p:nvCxnSpPr>
        <p:spPr>
          <a:xfrm flipH="1">
            <a:off x="1420170" y="5531723"/>
            <a:ext cx="1563803" cy="694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타원 149">
            <a:extLst>
              <a:ext uri="{FF2B5EF4-FFF2-40B4-BE49-F238E27FC236}">
                <a16:creationId xmlns:a16="http://schemas.microsoft.com/office/drawing/2014/main" id="{E8EF2CEA-0E75-4961-A548-978F8FAC04A3}"/>
              </a:ext>
            </a:extLst>
          </p:cNvPr>
          <p:cNvSpPr/>
          <p:nvPr/>
        </p:nvSpPr>
        <p:spPr>
          <a:xfrm>
            <a:off x="484635" y="6226142"/>
            <a:ext cx="1871069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Rental Car</a:t>
            </a:r>
            <a:endParaRPr lang="ko-KR" altLang="en-US" sz="1400" dirty="0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467C81D7-9286-429E-AAD3-FF7D5B97ADD7}"/>
              </a:ext>
            </a:extLst>
          </p:cNvPr>
          <p:cNvSpPr/>
          <p:nvPr/>
        </p:nvSpPr>
        <p:spPr>
          <a:xfrm>
            <a:off x="2551595" y="6250165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Shuttle Bus</a:t>
            </a:r>
            <a:endParaRPr lang="ko-KR" altLang="en-US" sz="1400" dirty="0"/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BE3BF7C6-0AA4-4446-A7B9-FAC5F6155BE4}"/>
              </a:ext>
            </a:extLst>
          </p:cNvPr>
          <p:cNvCxnSpPr>
            <a:cxnSpLocks/>
            <a:stCxn id="136" idx="4"/>
            <a:endCxn id="151" idx="0"/>
          </p:cNvCxnSpPr>
          <p:nvPr/>
        </p:nvCxnSpPr>
        <p:spPr>
          <a:xfrm flipH="1">
            <a:off x="3288733" y="5596836"/>
            <a:ext cx="266799" cy="653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FA537FDE-DC7E-4459-AE6B-27B05FAB3072}"/>
              </a:ext>
            </a:extLst>
          </p:cNvPr>
          <p:cNvCxnSpPr>
            <a:cxnSpLocks/>
            <a:stCxn id="94" idx="3"/>
            <a:endCxn id="154" idx="2"/>
          </p:cNvCxnSpPr>
          <p:nvPr/>
        </p:nvCxnSpPr>
        <p:spPr>
          <a:xfrm>
            <a:off x="9547954" y="1865971"/>
            <a:ext cx="1171330" cy="60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타원 153">
            <a:extLst>
              <a:ext uri="{FF2B5EF4-FFF2-40B4-BE49-F238E27FC236}">
                <a16:creationId xmlns:a16="http://schemas.microsoft.com/office/drawing/2014/main" id="{F6770192-1D5B-4FFB-BF5F-10A9DE8DECE2}"/>
              </a:ext>
            </a:extLst>
          </p:cNvPr>
          <p:cNvSpPr/>
          <p:nvPr/>
        </p:nvSpPr>
        <p:spPr>
          <a:xfrm>
            <a:off x="10719284" y="1703781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Manager</a:t>
            </a:r>
            <a:endParaRPr lang="ko-KR" altLang="en-US" sz="1400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CFBBFD2-E45E-4F18-B3EB-275DA363E244}"/>
              </a:ext>
            </a:extLst>
          </p:cNvPr>
          <p:cNvSpPr/>
          <p:nvPr/>
        </p:nvSpPr>
        <p:spPr>
          <a:xfrm>
            <a:off x="8265781" y="4055534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Airplane</a:t>
            </a:r>
            <a:endParaRPr lang="ko-KR" altLang="en-US" dirty="0"/>
          </a:p>
        </p:txBody>
      </p: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6F9A5FA1-C09E-40E8-98E1-F2ACC066736C}"/>
              </a:ext>
            </a:extLst>
          </p:cNvPr>
          <p:cNvCxnSpPr>
            <a:cxnSpLocks/>
            <a:stCxn id="155" idx="3"/>
            <a:endCxn id="157" idx="2"/>
          </p:cNvCxnSpPr>
          <p:nvPr/>
        </p:nvCxnSpPr>
        <p:spPr>
          <a:xfrm flipV="1">
            <a:off x="9502283" y="4130456"/>
            <a:ext cx="1012898" cy="20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타원 156">
            <a:extLst>
              <a:ext uri="{FF2B5EF4-FFF2-40B4-BE49-F238E27FC236}">
                <a16:creationId xmlns:a16="http://schemas.microsoft.com/office/drawing/2014/main" id="{ED48020F-8A92-4545-8340-C95F15EC206A}"/>
              </a:ext>
            </a:extLst>
          </p:cNvPr>
          <p:cNvSpPr/>
          <p:nvPr/>
        </p:nvSpPr>
        <p:spPr>
          <a:xfrm>
            <a:off x="10515181" y="3908147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Fligt_No</a:t>
            </a:r>
            <a:endParaRPr lang="ko-KR" altLang="en-US" sz="1400" dirty="0"/>
          </a:p>
        </p:txBody>
      </p: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11D2F32-E9EB-4CDF-A647-4C32C368E748}"/>
              </a:ext>
            </a:extLst>
          </p:cNvPr>
          <p:cNvCxnSpPr/>
          <p:nvPr/>
        </p:nvCxnSpPr>
        <p:spPr>
          <a:xfrm>
            <a:off x="10855358" y="4232116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15A54EEF-A825-4F2A-95E0-10E510F0CB55}"/>
              </a:ext>
            </a:extLst>
          </p:cNvPr>
          <p:cNvCxnSpPr>
            <a:cxnSpLocks/>
            <a:stCxn id="155" idx="3"/>
            <a:endCxn id="160" idx="6"/>
          </p:cNvCxnSpPr>
          <p:nvPr/>
        </p:nvCxnSpPr>
        <p:spPr>
          <a:xfrm>
            <a:off x="9502283" y="4333776"/>
            <a:ext cx="2485252" cy="356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타원 159">
            <a:extLst>
              <a:ext uri="{FF2B5EF4-FFF2-40B4-BE49-F238E27FC236}">
                <a16:creationId xmlns:a16="http://schemas.microsoft.com/office/drawing/2014/main" id="{554A02BF-AC0E-469F-B670-2211044659A1}"/>
              </a:ext>
            </a:extLst>
          </p:cNvPr>
          <p:cNvSpPr/>
          <p:nvPr/>
        </p:nvSpPr>
        <p:spPr>
          <a:xfrm>
            <a:off x="10515181" y="4467670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Captain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161" name="다이아몬드 160">
            <a:extLst>
              <a:ext uri="{FF2B5EF4-FFF2-40B4-BE49-F238E27FC236}">
                <a16:creationId xmlns:a16="http://schemas.microsoft.com/office/drawing/2014/main" id="{7D96F2C9-1317-4E71-B27F-C19C0BC757AE}"/>
              </a:ext>
            </a:extLst>
          </p:cNvPr>
          <p:cNvSpPr/>
          <p:nvPr/>
        </p:nvSpPr>
        <p:spPr>
          <a:xfrm>
            <a:off x="6227142" y="3962262"/>
            <a:ext cx="1896797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For boarding</a:t>
            </a:r>
            <a:endParaRPr lang="ko-KR" altLang="en-US" sz="1400" dirty="0"/>
          </a:p>
        </p:txBody>
      </p: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23BB93D9-748F-488A-AAFA-C81B218D0036}"/>
              </a:ext>
            </a:extLst>
          </p:cNvPr>
          <p:cNvCxnSpPr>
            <a:stCxn id="161" idx="3"/>
            <a:endCxn id="155" idx="1"/>
          </p:cNvCxnSpPr>
          <p:nvPr/>
        </p:nvCxnSpPr>
        <p:spPr>
          <a:xfrm flipV="1">
            <a:off x="8123939" y="4333776"/>
            <a:ext cx="141842" cy="1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5283BC93-B09C-4205-ADF0-32491135F99C}"/>
              </a:ext>
            </a:extLst>
          </p:cNvPr>
          <p:cNvCxnSpPr>
            <a:stCxn id="161" idx="2"/>
            <a:endCxn id="118" idx="0"/>
          </p:cNvCxnSpPr>
          <p:nvPr/>
        </p:nvCxnSpPr>
        <p:spPr>
          <a:xfrm>
            <a:off x="7175541" y="4708883"/>
            <a:ext cx="3798" cy="387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12F75E86-9A34-4411-A27E-B036382CC02F}"/>
              </a:ext>
            </a:extLst>
          </p:cNvPr>
          <p:cNvCxnSpPr>
            <a:cxnSpLocks/>
            <a:stCxn id="155" idx="2"/>
            <a:endCxn id="165" idx="0"/>
          </p:cNvCxnSpPr>
          <p:nvPr/>
        </p:nvCxnSpPr>
        <p:spPr>
          <a:xfrm>
            <a:off x="8884032" y="4612017"/>
            <a:ext cx="1064584" cy="28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타원 164">
            <a:extLst>
              <a:ext uri="{FF2B5EF4-FFF2-40B4-BE49-F238E27FC236}">
                <a16:creationId xmlns:a16="http://schemas.microsoft.com/office/drawing/2014/main" id="{E81C1F97-14E2-4E30-A0A8-135FC7EE7F7A}"/>
              </a:ext>
            </a:extLst>
          </p:cNvPr>
          <p:cNvSpPr/>
          <p:nvPr/>
        </p:nvSpPr>
        <p:spPr>
          <a:xfrm>
            <a:off x="9212439" y="4895300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B050"/>
                </a:solidFill>
              </a:rPr>
              <a:t>Attendant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51C9CC21-94BC-49A5-96F2-10C71AD843CD}"/>
              </a:ext>
            </a:extLst>
          </p:cNvPr>
          <p:cNvGrpSpPr/>
          <p:nvPr/>
        </p:nvGrpSpPr>
        <p:grpSpPr>
          <a:xfrm>
            <a:off x="6307026" y="1501701"/>
            <a:ext cx="1825648" cy="746621"/>
            <a:chOff x="6055105" y="1273684"/>
            <a:chExt cx="1825648" cy="746621"/>
          </a:xfrm>
        </p:grpSpPr>
        <p:sp>
          <p:nvSpPr>
            <p:cNvPr id="167" name="다이아몬드 166">
              <a:extLst>
                <a:ext uri="{FF2B5EF4-FFF2-40B4-BE49-F238E27FC236}">
                  <a16:creationId xmlns:a16="http://schemas.microsoft.com/office/drawing/2014/main" id="{4521858D-9696-40C8-A97D-D4AE0B477A49}"/>
                </a:ext>
              </a:extLst>
            </p:cNvPr>
            <p:cNvSpPr/>
            <p:nvPr/>
          </p:nvSpPr>
          <p:spPr>
            <a:xfrm>
              <a:off x="6055105" y="1273684"/>
              <a:ext cx="1825648" cy="746621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1E6D18D-F561-484D-86DE-E43A2AA948EF}"/>
                </a:ext>
              </a:extLst>
            </p:cNvPr>
            <p:cNvSpPr txBox="1"/>
            <p:nvPr/>
          </p:nvSpPr>
          <p:spPr>
            <a:xfrm>
              <a:off x="6079645" y="1484065"/>
              <a:ext cx="17073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Recruitment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225807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800">
                <a:solidFill>
                  <a:schemeClr val="accent1">
                    <a:lumMod val="50000"/>
                  </a:schemeClr>
                </a:solidFill>
                <a:latin typeface="+mj-ea"/>
              </a:rPr>
              <a:t>E-R Diagram</a:t>
            </a:r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7D1CB1A8-D523-4F88-8F43-846ADDE0E727}"/>
              </a:ext>
            </a:extLst>
          </p:cNvPr>
          <p:cNvCxnSpPr>
            <a:cxnSpLocks/>
          </p:cNvCxnSpPr>
          <p:nvPr/>
        </p:nvCxnSpPr>
        <p:spPr>
          <a:xfrm flipH="1">
            <a:off x="8838128" y="1952566"/>
            <a:ext cx="144212" cy="14091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9AD61EDE-0676-4A78-98DD-FAB86FD649D4}"/>
              </a:ext>
            </a:extLst>
          </p:cNvPr>
          <p:cNvCxnSpPr>
            <a:cxnSpLocks/>
          </p:cNvCxnSpPr>
          <p:nvPr/>
        </p:nvCxnSpPr>
        <p:spPr>
          <a:xfrm>
            <a:off x="8161939" y="1862383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F2E80AAE-8FAD-4D26-9C71-469637363857}"/>
              </a:ext>
            </a:extLst>
          </p:cNvPr>
          <p:cNvSpPr/>
          <p:nvPr/>
        </p:nvSpPr>
        <p:spPr>
          <a:xfrm>
            <a:off x="1250827" y="669750"/>
            <a:ext cx="161488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공항이름</a:t>
            </a:r>
          </a:p>
        </p:txBody>
      </p:sp>
      <p:sp>
        <p:nvSpPr>
          <p:cNvPr id="267" name="다이아몬드 266">
            <a:extLst>
              <a:ext uri="{FF2B5EF4-FFF2-40B4-BE49-F238E27FC236}">
                <a16:creationId xmlns:a16="http://schemas.microsoft.com/office/drawing/2014/main" id="{15E8BB58-4F68-45FE-9159-C11E060B0F7C}"/>
              </a:ext>
            </a:extLst>
          </p:cNvPr>
          <p:cNvSpPr/>
          <p:nvPr/>
        </p:nvSpPr>
        <p:spPr>
          <a:xfrm>
            <a:off x="3161158" y="1533016"/>
            <a:ext cx="1575208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입주</a:t>
            </a:r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FCCB5A27-B337-4B52-B6FF-1D3F5F131F4F}"/>
              </a:ext>
            </a:extLst>
          </p:cNvPr>
          <p:cNvSpPr/>
          <p:nvPr/>
        </p:nvSpPr>
        <p:spPr>
          <a:xfrm>
            <a:off x="2068965" y="1674666"/>
            <a:ext cx="917895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공항</a:t>
            </a:r>
          </a:p>
        </p:txBody>
      </p: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F352A8C4-4F7A-41E4-9982-B940D185FCDF}"/>
              </a:ext>
            </a:extLst>
          </p:cNvPr>
          <p:cNvCxnSpPr>
            <a:cxnSpLocks/>
            <a:stCxn id="266" idx="4"/>
            <a:endCxn id="268" idx="0"/>
          </p:cNvCxnSpPr>
          <p:nvPr/>
        </p:nvCxnSpPr>
        <p:spPr>
          <a:xfrm>
            <a:off x="2058268" y="1114367"/>
            <a:ext cx="469645" cy="560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0" name="타원 269">
            <a:extLst>
              <a:ext uri="{FF2B5EF4-FFF2-40B4-BE49-F238E27FC236}">
                <a16:creationId xmlns:a16="http://schemas.microsoft.com/office/drawing/2014/main" id="{FF0FF276-C159-4563-B6BF-96E319F1C49C}"/>
              </a:ext>
            </a:extLst>
          </p:cNvPr>
          <p:cNvSpPr/>
          <p:nvPr/>
        </p:nvSpPr>
        <p:spPr>
          <a:xfrm>
            <a:off x="525181" y="2628577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전화번호</a:t>
            </a:r>
          </a:p>
        </p:txBody>
      </p: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78FE3819-BF6E-46D2-B881-4BCD4EDA2C50}"/>
              </a:ext>
            </a:extLst>
          </p:cNvPr>
          <p:cNvCxnSpPr>
            <a:cxnSpLocks/>
            <a:stCxn id="268" idx="1"/>
            <a:endCxn id="270" idx="0"/>
          </p:cNvCxnSpPr>
          <p:nvPr/>
        </p:nvCxnSpPr>
        <p:spPr>
          <a:xfrm flipH="1">
            <a:off x="1389247" y="1896975"/>
            <a:ext cx="679718" cy="731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2" name="타원 271">
            <a:extLst>
              <a:ext uri="{FF2B5EF4-FFF2-40B4-BE49-F238E27FC236}">
                <a16:creationId xmlns:a16="http://schemas.microsoft.com/office/drawing/2014/main" id="{2A40DEBD-A0AE-457F-9DEF-D9236387B3E1}"/>
              </a:ext>
            </a:extLst>
          </p:cNvPr>
          <p:cNvSpPr/>
          <p:nvPr/>
        </p:nvSpPr>
        <p:spPr>
          <a:xfrm>
            <a:off x="2330212" y="2628577"/>
            <a:ext cx="1728132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소속</a:t>
            </a:r>
          </a:p>
        </p:txBody>
      </p: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4FA74D35-9DFD-4031-9615-86DC36453BAB}"/>
              </a:ext>
            </a:extLst>
          </p:cNvPr>
          <p:cNvCxnSpPr>
            <a:cxnSpLocks/>
            <a:stCxn id="268" idx="2"/>
            <a:endCxn id="272" idx="0"/>
          </p:cNvCxnSpPr>
          <p:nvPr/>
        </p:nvCxnSpPr>
        <p:spPr>
          <a:xfrm>
            <a:off x="2527913" y="2119283"/>
            <a:ext cx="666365" cy="5092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BC0AE6EA-DD28-44F9-BCDA-9E251245D3A2}"/>
              </a:ext>
            </a:extLst>
          </p:cNvPr>
          <p:cNvCxnSpPr>
            <a:cxnSpLocks/>
            <a:stCxn id="268" idx="3"/>
            <a:endCxn id="267" idx="1"/>
          </p:cNvCxnSpPr>
          <p:nvPr/>
        </p:nvCxnSpPr>
        <p:spPr>
          <a:xfrm>
            <a:off x="2986860" y="1896975"/>
            <a:ext cx="174298" cy="93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직선 연결선 274">
            <a:extLst>
              <a:ext uri="{FF2B5EF4-FFF2-40B4-BE49-F238E27FC236}">
                <a16:creationId xmlns:a16="http://schemas.microsoft.com/office/drawing/2014/main" id="{721B55F0-0A12-42B0-B51D-E5E07361B5DD}"/>
              </a:ext>
            </a:extLst>
          </p:cNvPr>
          <p:cNvCxnSpPr/>
          <p:nvPr/>
        </p:nvCxnSpPr>
        <p:spPr>
          <a:xfrm>
            <a:off x="4671863" y="1883652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968BA2C6-C79B-451C-8550-C47CBE381C1B}"/>
              </a:ext>
            </a:extLst>
          </p:cNvPr>
          <p:cNvCxnSpPr/>
          <p:nvPr/>
        </p:nvCxnSpPr>
        <p:spPr>
          <a:xfrm>
            <a:off x="4671863" y="1943773"/>
            <a:ext cx="10038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5DDE65CD-0FB8-42B9-98A8-C847015075C2}"/>
              </a:ext>
            </a:extLst>
          </p:cNvPr>
          <p:cNvSpPr/>
          <p:nvPr/>
        </p:nvSpPr>
        <p:spPr>
          <a:xfrm>
            <a:off x="5027622" y="1537921"/>
            <a:ext cx="1033244" cy="6878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티웨이</a:t>
            </a:r>
            <a:r>
              <a:rPr lang="ko-KR" altLang="en-US" dirty="0"/>
              <a:t> 항공사</a:t>
            </a:r>
          </a:p>
        </p:txBody>
      </p: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A74039BB-ECFC-43AC-A426-87A86CE632DF}"/>
              </a:ext>
            </a:extLst>
          </p:cNvPr>
          <p:cNvCxnSpPr/>
          <p:nvPr/>
        </p:nvCxnSpPr>
        <p:spPr>
          <a:xfrm>
            <a:off x="1545491" y="997404"/>
            <a:ext cx="1003883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34BCEED1-79E1-44FE-B4A9-9632AC11D2B7}"/>
              </a:ext>
            </a:extLst>
          </p:cNvPr>
          <p:cNvCxnSpPr>
            <a:cxnSpLocks/>
            <a:stCxn id="277" idx="0"/>
            <a:endCxn id="280" idx="4"/>
          </p:cNvCxnSpPr>
          <p:nvPr/>
        </p:nvCxnSpPr>
        <p:spPr>
          <a:xfrm flipH="1" flipV="1">
            <a:off x="4279253" y="1114367"/>
            <a:ext cx="1264991" cy="423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타원 279">
            <a:extLst>
              <a:ext uri="{FF2B5EF4-FFF2-40B4-BE49-F238E27FC236}">
                <a16:creationId xmlns:a16="http://schemas.microsoft.com/office/drawing/2014/main" id="{009E98CA-C3AA-44A1-947D-235F05287AB8}"/>
              </a:ext>
            </a:extLst>
          </p:cNvPr>
          <p:cNvSpPr/>
          <p:nvPr/>
        </p:nvSpPr>
        <p:spPr>
          <a:xfrm>
            <a:off x="3402602" y="669750"/>
            <a:ext cx="175330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B050"/>
                </a:solidFill>
              </a:rPr>
              <a:t>공항이름</a:t>
            </a:r>
          </a:p>
        </p:txBody>
      </p: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DE63D59E-A1D0-4859-99AC-7A61296FF8DF}"/>
              </a:ext>
            </a:extLst>
          </p:cNvPr>
          <p:cNvCxnSpPr>
            <a:cxnSpLocks/>
            <a:stCxn id="277" idx="0"/>
            <a:endCxn id="282" idx="4"/>
          </p:cNvCxnSpPr>
          <p:nvPr/>
        </p:nvCxnSpPr>
        <p:spPr>
          <a:xfrm flipV="1">
            <a:off x="5544244" y="994125"/>
            <a:ext cx="526671" cy="543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타원 281">
            <a:extLst>
              <a:ext uri="{FF2B5EF4-FFF2-40B4-BE49-F238E27FC236}">
                <a16:creationId xmlns:a16="http://schemas.microsoft.com/office/drawing/2014/main" id="{3C03F61E-B7E6-40D6-9374-9D90192280F0}"/>
              </a:ext>
            </a:extLst>
          </p:cNvPr>
          <p:cNvSpPr/>
          <p:nvPr/>
        </p:nvSpPr>
        <p:spPr>
          <a:xfrm>
            <a:off x="5409932" y="549508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경영자</a:t>
            </a:r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B63C1BC7-0894-45DA-A69E-2E37E43E4A2D}"/>
              </a:ext>
            </a:extLst>
          </p:cNvPr>
          <p:cNvSpPr/>
          <p:nvPr/>
        </p:nvSpPr>
        <p:spPr>
          <a:xfrm>
            <a:off x="4763243" y="1188802"/>
            <a:ext cx="1624495" cy="1245765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설계 </a:t>
            </a:r>
            <a:r>
              <a:rPr lang="en-US" altLang="ko-KR" dirty="0">
                <a:solidFill>
                  <a:srgbClr val="FF0000"/>
                </a:solidFill>
              </a:rPr>
              <a:t>Business</a:t>
            </a:r>
          </a:p>
          <a:p>
            <a:pPr algn="ctr"/>
            <a:endParaRPr lang="en-US" altLang="ko-KR" dirty="0">
              <a:solidFill>
                <a:srgbClr val="FF0000"/>
              </a:solidFill>
            </a:endParaRP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B5E3957F-9424-43A9-A91D-BD0225224B06}"/>
              </a:ext>
            </a:extLst>
          </p:cNvPr>
          <p:cNvCxnSpPr>
            <a:cxnSpLocks/>
            <a:stCxn id="277" idx="3"/>
            <a:endCxn id="285" idx="1"/>
          </p:cNvCxnSpPr>
          <p:nvPr/>
        </p:nvCxnSpPr>
        <p:spPr>
          <a:xfrm>
            <a:off x="6060866" y="1881870"/>
            <a:ext cx="473627" cy="19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5" name="다이아몬드 284">
            <a:extLst>
              <a:ext uri="{FF2B5EF4-FFF2-40B4-BE49-F238E27FC236}">
                <a16:creationId xmlns:a16="http://schemas.microsoft.com/office/drawing/2014/main" id="{281FF062-9F2F-4855-9065-EC8DEF5E11BD}"/>
              </a:ext>
            </a:extLst>
          </p:cNvPr>
          <p:cNvSpPr/>
          <p:nvPr/>
        </p:nvSpPr>
        <p:spPr>
          <a:xfrm>
            <a:off x="6534493" y="1528177"/>
            <a:ext cx="1712050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채용</a:t>
            </a:r>
          </a:p>
        </p:txBody>
      </p: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A4FC5A18-5465-41B4-A59F-C5BA9F3515D3}"/>
              </a:ext>
            </a:extLst>
          </p:cNvPr>
          <p:cNvCxnSpPr>
            <a:cxnSpLocks/>
          </p:cNvCxnSpPr>
          <p:nvPr/>
        </p:nvCxnSpPr>
        <p:spPr>
          <a:xfrm>
            <a:off x="8177319" y="1928097"/>
            <a:ext cx="34394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E30FF870-A643-47BF-87BB-E46711835680}"/>
              </a:ext>
            </a:extLst>
          </p:cNvPr>
          <p:cNvSpPr/>
          <p:nvPr/>
        </p:nvSpPr>
        <p:spPr>
          <a:xfrm>
            <a:off x="8425321" y="1670138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직원</a:t>
            </a:r>
          </a:p>
        </p:txBody>
      </p: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3C999F38-5642-496D-B620-B7B5E79C550F}"/>
              </a:ext>
            </a:extLst>
          </p:cNvPr>
          <p:cNvCxnSpPr>
            <a:cxnSpLocks/>
            <a:stCxn id="287" idx="0"/>
            <a:endCxn id="289" idx="4"/>
          </p:cNvCxnSpPr>
          <p:nvPr/>
        </p:nvCxnSpPr>
        <p:spPr>
          <a:xfrm flipH="1" flipV="1">
            <a:off x="7733198" y="1178681"/>
            <a:ext cx="1310374" cy="491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9" name="타원 288">
            <a:extLst>
              <a:ext uri="{FF2B5EF4-FFF2-40B4-BE49-F238E27FC236}">
                <a16:creationId xmlns:a16="http://schemas.microsoft.com/office/drawing/2014/main" id="{9E91B03E-7765-4D97-A71A-A28DB441277E}"/>
              </a:ext>
            </a:extLst>
          </p:cNvPr>
          <p:cNvSpPr/>
          <p:nvPr/>
        </p:nvSpPr>
        <p:spPr>
          <a:xfrm>
            <a:off x="7013620" y="734064"/>
            <a:ext cx="14391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직원 번호</a:t>
            </a:r>
            <a:endParaRPr lang="ko-KR" altLang="en-US" sz="1400" dirty="0"/>
          </a:p>
        </p:txBody>
      </p: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8AF13F8F-A768-487A-B061-42E489297D33}"/>
              </a:ext>
            </a:extLst>
          </p:cNvPr>
          <p:cNvCxnSpPr/>
          <p:nvPr/>
        </p:nvCxnSpPr>
        <p:spPr>
          <a:xfrm>
            <a:off x="7390518" y="1085947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6E8F4DAA-86FE-4279-9AC7-A055C98F690E}"/>
              </a:ext>
            </a:extLst>
          </p:cNvPr>
          <p:cNvCxnSpPr>
            <a:cxnSpLocks/>
            <a:stCxn id="287" idx="0"/>
            <a:endCxn id="292" idx="4"/>
          </p:cNvCxnSpPr>
          <p:nvPr/>
        </p:nvCxnSpPr>
        <p:spPr>
          <a:xfrm flipV="1">
            <a:off x="9043572" y="1185674"/>
            <a:ext cx="207026" cy="4844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E20FC814-D9DD-4D6F-8E85-45F22B70BD60}"/>
              </a:ext>
            </a:extLst>
          </p:cNvPr>
          <p:cNvSpPr/>
          <p:nvPr/>
        </p:nvSpPr>
        <p:spPr>
          <a:xfrm>
            <a:off x="8589615" y="741057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급여</a:t>
            </a:r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A740F522-F5D5-45A4-9556-ADD4F3BDCE3F}"/>
              </a:ext>
            </a:extLst>
          </p:cNvPr>
          <p:cNvCxnSpPr>
            <a:cxnSpLocks/>
            <a:stCxn id="287" idx="3"/>
            <a:endCxn id="294" idx="4"/>
          </p:cNvCxnSpPr>
          <p:nvPr/>
        </p:nvCxnSpPr>
        <p:spPr>
          <a:xfrm flipV="1">
            <a:off x="9661823" y="1294729"/>
            <a:ext cx="1214411" cy="597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4" name="타원 293">
            <a:extLst>
              <a:ext uri="{FF2B5EF4-FFF2-40B4-BE49-F238E27FC236}">
                <a16:creationId xmlns:a16="http://schemas.microsoft.com/office/drawing/2014/main" id="{DB5E2E28-11FE-4144-B285-F189A6E5224F}"/>
              </a:ext>
            </a:extLst>
          </p:cNvPr>
          <p:cNvSpPr/>
          <p:nvPr/>
        </p:nvSpPr>
        <p:spPr>
          <a:xfrm>
            <a:off x="10215251" y="850112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직책</a:t>
            </a:r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B1D7C93F-AE63-4AD8-9DD0-692A7FEED32F}"/>
              </a:ext>
            </a:extLst>
          </p:cNvPr>
          <p:cNvCxnSpPr/>
          <p:nvPr/>
        </p:nvCxnSpPr>
        <p:spPr>
          <a:xfrm>
            <a:off x="5669790" y="892058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837B13F7-0E41-4858-A73C-6B0393C5303F}"/>
              </a:ext>
            </a:extLst>
          </p:cNvPr>
          <p:cNvCxnSpPr>
            <a:cxnSpLocks/>
            <a:stCxn id="287" idx="2"/>
            <a:endCxn id="297" idx="0"/>
          </p:cNvCxnSpPr>
          <p:nvPr/>
        </p:nvCxnSpPr>
        <p:spPr>
          <a:xfrm flipH="1">
            <a:off x="8926693" y="2114755"/>
            <a:ext cx="116879" cy="953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" name="다이아몬드 296">
            <a:extLst>
              <a:ext uri="{FF2B5EF4-FFF2-40B4-BE49-F238E27FC236}">
                <a16:creationId xmlns:a16="http://schemas.microsoft.com/office/drawing/2014/main" id="{007C3637-190C-4BD7-B176-FBC0115551DF}"/>
              </a:ext>
            </a:extLst>
          </p:cNvPr>
          <p:cNvSpPr/>
          <p:nvPr/>
        </p:nvSpPr>
        <p:spPr>
          <a:xfrm>
            <a:off x="7975306" y="3068520"/>
            <a:ext cx="1902774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근무 형태</a:t>
            </a:r>
            <a:endParaRPr lang="ko-KR" altLang="en-US" sz="1400" dirty="0"/>
          </a:p>
        </p:txBody>
      </p:sp>
      <p:cxnSp>
        <p:nvCxnSpPr>
          <p:cNvPr id="298" name="직선 연결선 297">
            <a:extLst>
              <a:ext uri="{FF2B5EF4-FFF2-40B4-BE49-F238E27FC236}">
                <a16:creationId xmlns:a16="http://schemas.microsoft.com/office/drawing/2014/main" id="{C9D81627-71CB-415E-9010-5AAB8E3B9E04}"/>
              </a:ext>
            </a:extLst>
          </p:cNvPr>
          <p:cNvCxnSpPr>
            <a:cxnSpLocks/>
            <a:stCxn id="297" idx="3"/>
            <a:endCxn id="301" idx="1"/>
          </p:cNvCxnSpPr>
          <p:nvPr/>
        </p:nvCxnSpPr>
        <p:spPr>
          <a:xfrm>
            <a:off x="9878080" y="3441831"/>
            <a:ext cx="250645" cy="68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61BFDE7-21AE-480C-9B05-7CF2BA744724}"/>
              </a:ext>
            </a:extLst>
          </p:cNvPr>
          <p:cNvCxnSpPr>
            <a:cxnSpLocks/>
            <a:stCxn id="297" idx="2"/>
            <a:endCxn id="348" idx="0"/>
          </p:cNvCxnSpPr>
          <p:nvPr/>
        </p:nvCxnSpPr>
        <p:spPr>
          <a:xfrm>
            <a:off x="8926693" y="3815141"/>
            <a:ext cx="71208" cy="2668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직선 연결선 299">
            <a:extLst>
              <a:ext uri="{FF2B5EF4-FFF2-40B4-BE49-F238E27FC236}">
                <a16:creationId xmlns:a16="http://schemas.microsoft.com/office/drawing/2014/main" id="{3ADFC249-ECD2-4B9C-8833-ADD7EE8E0011}"/>
              </a:ext>
            </a:extLst>
          </p:cNvPr>
          <p:cNvCxnSpPr>
            <a:cxnSpLocks/>
            <a:stCxn id="297" idx="1"/>
            <a:endCxn id="309" idx="3"/>
          </p:cNvCxnSpPr>
          <p:nvPr/>
        </p:nvCxnSpPr>
        <p:spPr>
          <a:xfrm flipH="1" flipV="1">
            <a:off x="7391102" y="3207018"/>
            <a:ext cx="584204" cy="2348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719057D2-9A2F-4D05-976F-834917456D1E}"/>
              </a:ext>
            </a:extLst>
          </p:cNvPr>
          <p:cNvSpPr/>
          <p:nvPr/>
        </p:nvSpPr>
        <p:spPr>
          <a:xfrm>
            <a:off x="10128725" y="3287701"/>
            <a:ext cx="1236502" cy="44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소비자</a:t>
            </a:r>
          </a:p>
        </p:txBody>
      </p: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BFE96150-22AA-4456-AD3F-A5C03148CA79}"/>
              </a:ext>
            </a:extLst>
          </p:cNvPr>
          <p:cNvGrpSpPr/>
          <p:nvPr/>
        </p:nvGrpSpPr>
        <p:grpSpPr>
          <a:xfrm>
            <a:off x="9210784" y="2495286"/>
            <a:ext cx="1536192" cy="444617"/>
            <a:chOff x="9413889" y="2615453"/>
            <a:chExt cx="1536192" cy="444617"/>
          </a:xfrm>
        </p:grpSpPr>
        <p:sp>
          <p:nvSpPr>
            <p:cNvPr id="303" name="타원 302">
              <a:extLst>
                <a:ext uri="{FF2B5EF4-FFF2-40B4-BE49-F238E27FC236}">
                  <a16:creationId xmlns:a16="http://schemas.microsoft.com/office/drawing/2014/main" id="{BC466C24-04FA-46B0-AF5B-5694AE618586}"/>
                </a:ext>
              </a:extLst>
            </p:cNvPr>
            <p:cNvSpPr/>
            <p:nvPr/>
          </p:nvSpPr>
          <p:spPr>
            <a:xfrm>
              <a:off x="9413889" y="2615453"/>
              <a:ext cx="1536192" cy="44461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/>
                <a:t>여권 번호</a:t>
              </a:r>
            </a:p>
          </p:txBody>
        </p: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692098E9-9D60-41B6-B7C0-960508E90B69}"/>
                </a:ext>
              </a:extLst>
            </p:cNvPr>
            <p:cNvCxnSpPr>
              <a:cxnSpLocks/>
            </p:cNvCxnSpPr>
            <p:nvPr/>
          </p:nvCxnSpPr>
          <p:spPr>
            <a:xfrm>
              <a:off x="9718444" y="2961945"/>
              <a:ext cx="89046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05" name="직선 연결선 304">
            <a:extLst>
              <a:ext uri="{FF2B5EF4-FFF2-40B4-BE49-F238E27FC236}">
                <a16:creationId xmlns:a16="http://schemas.microsoft.com/office/drawing/2014/main" id="{BE285784-3B06-4262-929A-01773E8F6081}"/>
              </a:ext>
            </a:extLst>
          </p:cNvPr>
          <p:cNvCxnSpPr>
            <a:cxnSpLocks/>
            <a:stCxn id="303" idx="4"/>
            <a:endCxn id="301" idx="0"/>
          </p:cNvCxnSpPr>
          <p:nvPr/>
        </p:nvCxnSpPr>
        <p:spPr>
          <a:xfrm>
            <a:off x="9978880" y="2939903"/>
            <a:ext cx="768096" cy="3477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6" name="직선 연결선 305">
            <a:extLst>
              <a:ext uri="{FF2B5EF4-FFF2-40B4-BE49-F238E27FC236}">
                <a16:creationId xmlns:a16="http://schemas.microsoft.com/office/drawing/2014/main" id="{A0ECE496-D47B-411F-BCED-83EAFEDD1897}"/>
              </a:ext>
            </a:extLst>
          </p:cNvPr>
          <p:cNvCxnSpPr>
            <a:cxnSpLocks/>
            <a:stCxn id="301" idx="0"/>
            <a:endCxn id="307" idx="4"/>
          </p:cNvCxnSpPr>
          <p:nvPr/>
        </p:nvCxnSpPr>
        <p:spPr>
          <a:xfrm flipV="1">
            <a:off x="10746976" y="2955864"/>
            <a:ext cx="777362" cy="331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7" name="타원 306">
            <a:extLst>
              <a:ext uri="{FF2B5EF4-FFF2-40B4-BE49-F238E27FC236}">
                <a16:creationId xmlns:a16="http://schemas.microsoft.com/office/drawing/2014/main" id="{7A2D9026-36CA-4B6E-B4A4-C068EE281A06}"/>
              </a:ext>
            </a:extLst>
          </p:cNvPr>
          <p:cNvSpPr/>
          <p:nvPr/>
        </p:nvSpPr>
        <p:spPr>
          <a:xfrm>
            <a:off x="10863355" y="2511247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성별</a:t>
            </a:r>
          </a:p>
        </p:txBody>
      </p:sp>
      <p:cxnSp>
        <p:nvCxnSpPr>
          <p:cNvPr id="308" name="직선 연결선 307">
            <a:extLst>
              <a:ext uri="{FF2B5EF4-FFF2-40B4-BE49-F238E27FC236}">
                <a16:creationId xmlns:a16="http://schemas.microsoft.com/office/drawing/2014/main" id="{136D7B95-C486-4B18-9619-3419FBB3BFA5}"/>
              </a:ext>
            </a:extLst>
          </p:cNvPr>
          <p:cNvCxnSpPr>
            <a:cxnSpLocks/>
            <a:stCxn id="301" idx="3"/>
          </p:cNvCxnSpPr>
          <p:nvPr/>
        </p:nvCxnSpPr>
        <p:spPr>
          <a:xfrm>
            <a:off x="11365227" y="3510010"/>
            <a:ext cx="2085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28A72D08-D813-486E-A707-CD35B2F9FD51}"/>
              </a:ext>
            </a:extLst>
          </p:cNvPr>
          <p:cNvSpPr/>
          <p:nvPr/>
        </p:nvSpPr>
        <p:spPr>
          <a:xfrm>
            <a:off x="6154600" y="2928776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서비스</a:t>
            </a:r>
          </a:p>
        </p:txBody>
      </p: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BC9A0137-2198-4CC3-B3E9-6503B2E22DCC}"/>
              </a:ext>
            </a:extLst>
          </p:cNvPr>
          <p:cNvCxnSpPr>
            <a:cxnSpLocks/>
            <a:stCxn id="311" idx="2"/>
            <a:endCxn id="321" idx="0"/>
          </p:cNvCxnSpPr>
          <p:nvPr/>
        </p:nvCxnSpPr>
        <p:spPr>
          <a:xfrm flipH="1">
            <a:off x="6637321" y="5679244"/>
            <a:ext cx="655887" cy="5684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04B49182-81B1-4676-B7C0-B5B57EEB7765}"/>
              </a:ext>
            </a:extLst>
          </p:cNvPr>
          <p:cNvSpPr/>
          <p:nvPr/>
        </p:nvSpPr>
        <p:spPr>
          <a:xfrm>
            <a:off x="6674957" y="5122761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항공권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956FFFE9-EE75-426E-A621-EE70322F5A96}"/>
              </a:ext>
            </a:extLst>
          </p:cNvPr>
          <p:cNvCxnSpPr>
            <a:cxnSpLocks/>
            <a:stCxn id="311" idx="3"/>
            <a:endCxn id="318" idx="2"/>
          </p:cNvCxnSpPr>
          <p:nvPr/>
        </p:nvCxnSpPr>
        <p:spPr>
          <a:xfrm>
            <a:off x="7911459" y="5401003"/>
            <a:ext cx="1644232" cy="257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직선 연결선 312">
            <a:extLst>
              <a:ext uri="{FF2B5EF4-FFF2-40B4-BE49-F238E27FC236}">
                <a16:creationId xmlns:a16="http://schemas.microsoft.com/office/drawing/2014/main" id="{D5787377-8BD6-4B8D-B12F-965973ECFED3}"/>
              </a:ext>
            </a:extLst>
          </p:cNvPr>
          <p:cNvCxnSpPr>
            <a:cxnSpLocks/>
            <a:stCxn id="311" idx="2"/>
            <a:endCxn id="319" idx="2"/>
          </p:cNvCxnSpPr>
          <p:nvPr/>
        </p:nvCxnSpPr>
        <p:spPr>
          <a:xfrm>
            <a:off x="7293208" y="5679244"/>
            <a:ext cx="2139857" cy="6289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" name="직선 연결선 313">
            <a:extLst>
              <a:ext uri="{FF2B5EF4-FFF2-40B4-BE49-F238E27FC236}">
                <a16:creationId xmlns:a16="http://schemas.microsoft.com/office/drawing/2014/main" id="{E0FF4953-63B5-457D-A3DD-FC708985804C}"/>
              </a:ext>
            </a:extLst>
          </p:cNvPr>
          <p:cNvCxnSpPr>
            <a:cxnSpLocks/>
            <a:stCxn id="311" idx="2"/>
            <a:endCxn id="320" idx="0"/>
          </p:cNvCxnSpPr>
          <p:nvPr/>
        </p:nvCxnSpPr>
        <p:spPr>
          <a:xfrm>
            <a:off x="7293208" y="5679244"/>
            <a:ext cx="1013470" cy="843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직선 연결선 314">
            <a:extLst>
              <a:ext uri="{FF2B5EF4-FFF2-40B4-BE49-F238E27FC236}">
                <a16:creationId xmlns:a16="http://schemas.microsoft.com/office/drawing/2014/main" id="{CFB712DA-1181-4DDA-B21B-5565DF94E4A1}"/>
              </a:ext>
            </a:extLst>
          </p:cNvPr>
          <p:cNvCxnSpPr>
            <a:cxnSpLocks/>
            <a:stCxn id="311" idx="1"/>
            <a:endCxn id="322" idx="0"/>
          </p:cNvCxnSpPr>
          <p:nvPr/>
        </p:nvCxnSpPr>
        <p:spPr>
          <a:xfrm flipH="1">
            <a:off x="5235035" y="5401003"/>
            <a:ext cx="1439922" cy="749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직선 연결선 315">
            <a:extLst>
              <a:ext uri="{FF2B5EF4-FFF2-40B4-BE49-F238E27FC236}">
                <a16:creationId xmlns:a16="http://schemas.microsoft.com/office/drawing/2014/main" id="{560087AB-AFEB-48ED-BCEF-3224DA2EFD27}"/>
              </a:ext>
            </a:extLst>
          </p:cNvPr>
          <p:cNvCxnSpPr>
            <a:cxnSpLocks/>
            <a:stCxn id="311" idx="1"/>
            <a:endCxn id="324" idx="6"/>
          </p:cNvCxnSpPr>
          <p:nvPr/>
        </p:nvCxnSpPr>
        <p:spPr>
          <a:xfrm flipH="1" flipV="1">
            <a:off x="5752785" y="4832505"/>
            <a:ext cx="922172" cy="568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직선 연결선 316">
            <a:extLst>
              <a:ext uri="{FF2B5EF4-FFF2-40B4-BE49-F238E27FC236}">
                <a16:creationId xmlns:a16="http://schemas.microsoft.com/office/drawing/2014/main" id="{1189E722-FD88-4611-98EC-1EDCCE6D9654}"/>
              </a:ext>
            </a:extLst>
          </p:cNvPr>
          <p:cNvCxnSpPr>
            <a:cxnSpLocks/>
            <a:stCxn id="311" idx="1"/>
            <a:endCxn id="323" idx="6"/>
          </p:cNvCxnSpPr>
          <p:nvPr/>
        </p:nvCxnSpPr>
        <p:spPr>
          <a:xfrm flipH="1">
            <a:off x="5894505" y="5401003"/>
            <a:ext cx="780452" cy="124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" name="타원 317">
            <a:extLst>
              <a:ext uri="{FF2B5EF4-FFF2-40B4-BE49-F238E27FC236}">
                <a16:creationId xmlns:a16="http://schemas.microsoft.com/office/drawing/2014/main" id="{2D384F0C-5829-4ECC-A1C4-9F5FBAF826D0}"/>
              </a:ext>
            </a:extLst>
          </p:cNvPr>
          <p:cNvSpPr/>
          <p:nvPr/>
        </p:nvSpPr>
        <p:spPr>
          <a:xfrm>
            <a:off x="9555691" y="5435947"/>
            <a:ext cx="110571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도착지</a:t>
            </a:r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473EBA42-6760-4C81-8B62-48290CD73959}"/>
              </a:ext>
            </a:extLst>
          </p:cNvPr>
          <p:cNvSpPr/>
          <p:nvPr/>
        </p:nvSpPr>
        <p:spPr>
          <a:xfrm>
            <a:off x="9433065" y="6085886"/>
            <a:ext cx="1472355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출발지</a:t>
            </a: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05133D98-A562-4AAE-918F-6781FCBBF94F}"/>
              </a:ext>
            </a:extLst>
          </p:cNvPr>
          <p:cNvSpPr/>
          <p:nvPr/>
        </p:nvSpPr>
        <p:spPr>
          <a:xfrm>
            <a:off x="7499102" y="6522963"/>
            <a:ext cx="161515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rgbClr val="00B050"/>
                </a:solidFill>
              </a:rPr>
              <a:t>항공기 번호</a:t>
            </a:r>
            <a:endParaRPr lang="ko-KR" altLang="en-US" sz="1400" dirty="0">
              <a:solidFill>
                <a:srgbClr val="00B050"/>
              </a:solidFill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6FA86E04-2B72-425B-AA7B-EA765A00B868}"/>
              </a:ext>
            </a:extLst>
          </p:cNvPr>
          <p:cNvSpPr/>
          <p:nvPr/>
        </p:nvSpPr>
        <p:spPr>
          <a:xfrm>
            <a:off x="5922510" y="6247698"/>
            <a:ext cx="1429622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예약 번호</a:t>
            </a: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558CE49B-3F2A-468D-B420-334FC997C372}"/>
              </a:ext>
            </a:extLst>
          </p:cNvPr>
          <p:cNvSpPr/>
          <p:nvPr/>
        </p:nvSpPr>
        <p:spPr>
          <a:xfrm>
            <a:off x="4547560" y="6150552"/>
            <a:ext cx="137495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좌석 번호</a:t>
            </a:r>
            <a:endParaRPr lang="ko-KR" altLang="en-US" sz="1400" dirty="0"/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2AE294D2-8110-4C60-9F03-EB90CC5A8883}"/>
              </a:ext>
            </a:extLst>
          </p:cNvPr>
          <p:cNvSpPr/>
          <p:nvPr/>
        </p:nvSpPr>
        <p:spPr>
          <a:xfrm>
            <a:off x="4542249" y="5302771"/>
            <a:ext cx="135225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좌석 등급</a:t>
            </a:r>
            <a:endParaRPr lang="ko-KR" altLang="en-US" sz="1400" dirty="0"/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E7B6AFD0-0F45-44DD-9852-EC7A48D43A3F}"/>
              </a:ext>
            </a:extLst>
          </p:cNvPr>
          <p:cNvSpPr/>
          <p:nvPr/>
        </p:nvSpPr>
        <p:spPr>
          <a:xfrm>
            <a:off x="4967565" y="4610196"/>
            <a:ext cx="78522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날짜</a:t>
            </a:r>
          </a:p>
        </p:txBody>
      </p: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053B63E7-1A08-4712-B659-1ED8FA7D3D5A}"/>
              </a:ext>
            </a:extLst>
          </p:cNvPr>
          <p:cNvCxnSpPr/>
          <p:nvPr/>
        </p:nvCxnSpPr>
        <p:spPr>
          <a:xfrm>
            <a:off x="6241321" y="6546835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직선 연결선 325">
            <a:extLst>
              <a:ext uri="{FF2B5EF4-FFF2-40B4-BE49-F238E27FC236}">
                <a16:creationId xmlns:a16="http://schemas.microsoft.com/office/drawing/2014/main" id="{AC91D226-B1B5-41E2-8183-CB1AF07A94A6}"/>
              </a:ext>
            </a:extLst>
          </p:cNvPr>
          <p:cNvCxnSpPr>
            <a:cxnSpLocks/>
            <a:stCxn id="309" idx="1"/>
            <a:endCxn id="328" idx="6"/>
          </p:cNvCxnSpPr>
          <p:nvPr/>
        </p:nvCxnSpPr>
        <p:spPr>
          <a:xfrm flipH="1">
            <a:off x="4318436" y="3207018"/>
            <a:ext cx="1836164" cy="5838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9852AFFD-FF33-46D6-9363-AD72173ADEB2}"/>
              </a:ext>
            </a:extLst>
          </p:cNvPr>
          <p:cNvCxnSpPr>
            <a:cxnSpLocks/>
            <a:stCxn id="309" idx="1"/>
            <a:endCxn id="329" idx="7"/>
          </p:cNvCxnSpPr>
          <p:nvPr/>
        </p:nvCxnSpPr>
        <p:spPr>
          <a:xfrm flipH="1">
            <a:off x="4240959" y="3207018"/>
            <a:ext cx="1913641" cy="20367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8" name="타원 327">
            <a:extLst>
              <a:ext uri="{FF2B5EF4-FFF2-40B4-BE49-F238E27FC236}">
                <a16:creationId xmlns:a16="http://schemas.microsoft.com/office/drawing/2014/main" id="{2AF25144-B55A-467B-A145-3726BB6049D7}"/>
              </a:ext>
            </a:extLst>
          </p:cNvPr>
          <p:cNvSpPr/>
          <p:nvPr/>
        </p:nvSpPr>
        <p:spPr>
          <a:xfrm>
            <a:off x="2590305" y="3517813"/>
            <a:ext cx="1728131" cy="54611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기내서비스</a:t>
            </a:r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3C9B645E-788F-4AC4-8BCE-A6BE6ADFCF5F}"/>
              </a:ext>
            </a:extLst>
          </p:cNvPr>
          <p:cNvSpPr/>
          <p:nvPr/>
        </p:nvSpPr>
        <p:spPr>
          <a:xfrm>
            <a:off x="2861095" y="5178695"/>
            <a:ext cx="1616611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공항서비스</a:t>
            </a:r>
          </a:p>
        </p:txBody>
      </p: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668DC87A-AFFD-442C-83E4-87BDAA263415}"/>
              </a:ext>
            </a:extLst>
          </p:cNvPr>
          <p:cNvCxnSpPr>
            <a:cxnSpLocks/>
            <a:stCxn id="328" idx="1"/>
            <a:endCxn id="334" idx="6"/>
          </p:cNvCxnSpPr>
          <p:nvPr/>
        </p:nvCxnSpPr>
        <p:spPr>
          <a:xfrm flipH="1" flipV="1">
            <a:off x="2157216" y="3420410"/>
            <a:ext cx="686168" cy="1773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A35F5107-F225-4012-BED0-CAB410996726}"/>
              </a:ext>
            </a:extLst>
          </p:cNvPr>
          <p:cNvCxnSpPr>
            <a:cxnSpLocks/>
            <a:stCxn id="328" idx="2"/>
            <a:endCxn id="335" idx="6"/>
          </p:cNvCxnSpPr>
          <p:nvPr/>
        </p:nvCxnSpPr>
        <p:spPr>
          <a:xfrm flipH="1">
            <a:off x="2173266" y="3790871"/>
            <a:ext cx="417039" cy="2031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직선 연결선 331">
            <a:extLst>
              <a:ext uri="{FF2B5EF4-FFF2-40B4-BE49-F238E27FC236}">
                <a16:creationId xmlns:a16="http://schemas.microsoft.com/office/drawing/2014/main" id="{47F0CC8D-7E31-499F-B6FF-20AA925C0A13}"/>
              </a:ext>
            </a:extLst>
          </p:cNvPr>
          <p:cNvCxnSpPr>
            <a:cxnSpLocks/>
            <a:stCxn id="328" idx="3"/>
            <a:endCxn id="336" idx="7"/>
          </p:cNvCxnSpPr>
          <p:nvPr/>
        </p:nvCxnSpPr>
        <p:spPr>
          <a:xfrm flipH="1">
            <a:off x="2066726" y="3983952"/>
            <a:ext cx="776658" cy="434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4532E8A8-D021-4AB9-877B-0EAF453E3428}"/>
              </a:ext>
            </a:extLst>
          </p:cNvPr>
          <p:cNvCxnSpPr>
            <a:cxnSpLocks/>
            <a:stCxn id="328" idx="4"/>
            <a:endCxn id="337" idx="0"/>
          </p:cNvCxnSpPr>
          <p:nvPr/>
        </p:nvCxnSpPr>
        <p:spPr>
          <a:xfrm flipH="1">
            <a:off x="3378081" y="4063929"/>
            <a:ext cx="76290" cy="379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4" name="타원 333">
            <a:extLst>
              <a:ext uri="{FF2B5EF4-FFF2-40B4-BE49-F238E27FC236}">
                <a16:creationId xmlns:a16="http://schemas.microsoft.com/office/drawing/2014/main" id="{DAAF28AD-701E-4D63-B56F-D4EA96033011}"/>
              </a:ext>
            </a:extLst>
          </p:cNvPr>
          <p:cNvSpPr/>
          <p:nvPr/>
        </p:nvSpPr>
        <p:spPr>
          <a:xfrm>
            <a:off x="682940" y="3198101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면세품</a:t>
            </a:r>
          </a:p>
        </p:txBody>
      </p:sp>
      <p:sp>
        <p:nvSpPr>
          <p:cNvPr id="335" name="타원 334">
            <a:extLst>
              <a:ext uri="{FF2B5EF4-FFF2-40B4-BE49-F238E27FC236}">
                <a16:creationId xmlns:a16="http://schemas.microsoft.com/office/drawing/2014/main" id="{09B28F77-C0A9-4D15-BE19-B0F63E0DC7E4}"/>
              </a:ext>
            </a:extLst>
          </p:cNvPr>
          <p:cNvSpPr/>
          <p:nvPr/>
        </p:nvSpPr>
        <p:spPr>
          <a:xfrm>
            <a:off x="698990" y="3771741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기내식</a:t>
            </a:r>
          </a:p>
        </p:txBody>
      </p:sp>
      <p:sp>
        <p:nvSpPr>
          <p:cNvPr id="336" name="타원 335">
            <a:extLst>
              <a:ext uri="{FF2B5EF4-FFF2-40B4-BE49-F238E27FC236}">
                <a16:creationId xmlns:a16="http://schemas.microsoft.com/office/drawing/2014/main" id="{E9E34778-AD74-48A9-978F-88655E7AECFC}"/>
              </a:ext>
            </a:extLst>
          </p:cNvPr>
          <p:cNvSpPr/>
          <p:nvPr/>
        </p:nvSpPr>
        <p:spPr>
          <a:xfrm>
            <a:off x="808353" y="4353036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이벤트</a:t>
            </a:r>
          </a:p>
        </p:txBody>
      </p:sp>
      <p:sp>
        <p:nvSpPr>
          <p:cNvPr id="337" name="타원 336">
            <a:extLst>
              <a:ext uri="{FF2B5EF4-FFF2-40B4-BE49-F238E27FC236}">
                <a16:creationId xmlns:a16="http://schemas.microsoft.com/office/drawing/2014/main" id="{59B9382D-B1E8-48D0-B4D1-1DDE43416E9A}"/>
              </a:ext>
            </a:extLst>
          </p:cNvPr>
          <p:cNvSpPr/>
          <p:nvPr/>
        </p:nvSpPr>
        <p:spPr>
          <a:xfrm>
            <a:off x="2640943" y="4443434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기내 </a:t>
            </a:r>
            <a:r>
              <a:rPr lang="en-US" altLang="ko-KR" sz="1400" dirty="0"/>
              <a:t>Wi-Fi</a:t>
            </a:r>
            <a:endParaRPr lang="ko-KR" altLang="en-US" sz="1400" dirty="0"/>
          </a:p>
        </p:txBody>
      </p:sp>
      <p:cxnSp>
        <p:nvCxnSpPr>
          <p:cNvPr id="338" name="직선 연결선 337">
            <a:extLst>
              <a:ext uri="{FF2B5EF4-FFF2-40B4-BE49-F238E27FC236}">
                <a16:creationId xmlns:a16="http://schemas.microsoft.com/office/drawing/2014/main" id="{67D35628-55F9-47B5-AC3D-B86CF3024A1E}"/>
              </a:ext>
            </a:extLst>
          </p:cNvPr>
          <p:cNvCxnSpPr>
            <a:cxnSpLocks/>
            <a:stCxn id="329" idx="1"/>
            <a:endCxn id="339" idx="6"/>
          </p:cNvCxnSpPr>
          <p:nvPr/>
        </p:nvCxnSpPr>
        <p:spPr>
          <a:xfrm flipH="1" flipV="1">
            <a:off x="1999457" y="5242272"/>
            <a:ext cx="1098385" cy="1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9" name="타원 338">
            <a:extLst>
              <a:ext uri="{FF2B5EF4-FFF2-40B4-BE49-F238E27FC236}">
                <a16:creationId xmlns:a16="http://schemas.microsoft.com/office/drawing/2014/main" id="{B3C059E8-904C-4DF5-BBA9-A562BD91A755}"/>
              </a:ext>
            </a:extLst>
          </p:cNvPr>
          <p:cNvSpPr/>
          <p:nvPr/>
        </p:nvSpPr>
        <p:spPr>
          <a:xfrm>
            <a:off x="525181" y="5019963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체크인</a:t>
            </a:r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C5AA902C-71E7-4782-934B-CBD47479616E}"/>
              </a:ext>
            </a:extLst>
          </p:cNvPr>
          <p:cNvSpPr/>
          <p:nvPr/>
        </p:nvSpPr>
        <p:spPr>
          <a:xfrm>
            <a:off x="525181" y="5653229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호텔</a:t>
            </a:r>
          </a:p>
        </p:txBody>
      </p:sp>
      <p:cxnSp>
        <p:nvCxnSpPr>
          <p:cNvPr id="341" name="직선 연결선 340">
            <a:extLst>
              <a:ext uri="{FF2B5EF4-FFF2-40B4-BE49-F238E27FC236}">
                <a16:creationId xmlns:a16="http://schemas.microsoft.com/office/drawing/2014/main" id="{69E59D3C-A3DE-4A1B-8EBE-A341A36A7828}"/>
              </a:ext>
            </a:extLst>
          </p:cNvPr>
          <p:cNvCxnSpPr>
            <a:stCxn id="329" idx="2"/>
            <a:endCxn id="340" idx="0"/>
          </p:cNvCxnSpPr>
          <p:nvPr/>
        </p:nvCxnSpPr>
        <p:spPr>
          <a:xfrm flipH="1">
            <a:off x="1262319" y="5401004"/>
            <a:ext cx="1598776" cy="2522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D57C3166-8DEE-49B9-9CF7-2761B6C4AB8F}"/>
              </a:ext>
            </a:extLst>
          </p:cNvPr>
          <p:cNvCxnSpPr>
            <a:cxnSpLocks/>
            <a:stCxn id="329" idx="3"/>
            <a:endCxn id="343" idx="0"/>
          </p:cNvCxnSpPr>
          <p:nvPr/>
        </p:nvCxnSpPr>
        <p:spPr>
          <a:xfrm flipH="1">
            <a:off x="1534039" y="5558199"/>
            <a:ext cx="1563803" cy="6944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3" name="타원 342">
            <a:extLst>
              <a:ext uri="{FF2B5EF4-FFF2-40B4-BE49-F238E27FC236}">
                <a16:creationId xmlns:a16="http://schemas.microsoft.com/office/drawing/2014/main" id="{70E0976D-C8CD-49E9-8203-DD9689ED1EDE}"/>
              </a:ext>
            </a:extLst>
          </p:cNvPr>
          <p:cNvSpPr/>
          <p:nvPr/>
        </p:nvSpPr>
        <p:spPr>
          <a:xfrm>
            <a:off x="598504" y="6252618"/>
            <a:ext cx="1871069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렌터카</a:t>
            </a:r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429515E8-8497-4265-A6E3-FA71DFE57801}"/>
              </a:ext>
            </a:extLst>
          </p:cNvPr>
          <p:cNvSpPr/>
          <p:nvPr/>
        </p:nvSpPr>
        <p:spPr>
          <a:xfrm>
            <a:off x="2665464" y="6276641"/>
            <a:ext cx="1474276" cy="44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셔틀버스</a:t>
            </a:r>
          </a:p>
        </p:txBody>
      </p: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834CFD68-33A3-46DF-88EB-D985466F8CFF}"/>
              </a:ext>
            </a:extLst>
          </p:cNvPr>
          <p:cNvCxnSpPr>
            <a:cxnSpLocks/>
            <a:stCxn id="329" idx="4"/>
            <a:endCxn id="344" idx="0"/>
          </p:cNvCxnSpPr>
          <p:nvPr/>
        </p:nvCxnSpPr>
        <p:spPr>
          <a:xfrm flipH="1">
            <a:off x="3402602" y="5623312"/>
            <a:ext cx="266799" cy="653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6" name="직선 연결선 345">
            <a:extLst>
              <a:ext uri="{FF2B5EF4-FFF2-40B4-BE49-F238E27FC236}">
                <a16:creationId xmlns:a16="http://schemas.microsoft.com/office/drawing/2014/main" id="{62FD5530-96D0-437E-9A53-25B55EE509D4}"/>
              </a:ext>
            </a:extLst>
          </p:cNvPr>
          <p:cNvCxnSpPr>
            <a:cxnSpLocks/>
            <a:stCxn id="287" idx="3"/>
            <a:endCxn id="347" idx="2"/>
          </p:cNvCxnSpPr>
          <p:nvPr/>
        </p:nvCxnSpPr>
        <p:spPr>
          <a:xfrm>
            <a:off x="9661823" y="1892447"/>
            <a:ext cx="1171330" cy="601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7" name="타원 346">
            <a:extLst>
              <a:ext uri="{FF2B5EF4-FFF2-40B4-BE49-F238E27FC236}">
                <a16:creationId xmlns:a16="http://schemas.microsoft.com/office/drawing/2014/main" id="{C1448651-B85C-434C-8B82-8EFAA5B6BD66}"/>
              </a:ext>
            </a:extLst>
          </p:cNvPr>
          <p:cNvSpPr/>
          <p:nvPr/>
        </p:nvSpPr>
        <p:spPr>
          <a:xfrm>
            <a:off x="10833153" y="1730257"/>
            <a:ext cx="1321966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관리자</a:t>
            </a:r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0744E912-A45F-4ACA-823B-9AB08AC1FA2F}"/>
              </a:ext>
            </a:extLst>
          </p:cNvPr>
          <p:cNvSpPr/>
          <p:nvPr/>
        </p:nvSpPr>
        <p:spPr>
          <a:xfrm>
            <a:off x="8379650" y="4082010"/>
            <a:ext cx="1236502" cy="5564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항공기</a:t>
            </a:r>
          </a:p>
        </p:txBody>
      </p:sp>
      <p:cxnSp>
        <p:nvCxnSpPr>
          <p:cNvPr id="349" name="직선 연결선 348">
            <a:extLst>
              <a:ext uri="{FF2B5EF4-FFF2-40B4-BE49-F238E27FC236}">
                <a16:creationId xmlns:a16="http://schemas.microsoft.com/office/drawing/2014/main" id="{65EF277C-D886-422E-97F9-5E8246A1CDD0}"/>
              </a:ext>
            </a:extLst>
          </p:cNvPr>
          <p:cNvCxnSpPr>
            <a:cxnSpLocks/>
            <a:stCxn id="348" idx="3"/>
            <a:endCxn id="350" idx="2"/>
          </p:cNvCxnSpPr>
          <p:nvPr/>
        </p:nvCxnSpPr>
        <p:spPr>
          <a:xfrm flipV="1">
            <a:off x="9616152" y="4156932"/>
            <a:ext cx="1012898" cy="203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0" name="타원 349">
            <a:extLst>
              <a:ext uri="{FF2B5EF4-FFF2-40B4-BE49-F238E27FC236}">
                <a16:creationId xmlns:a16="http://schemas.microsoft.com/office/drawing/2014/main" id="{E10F6E98-67DE-4B69-8F55-3899BA928F5C}"/>
              </a:ext>
            </a:extLst>
          </p:cNvPr>
          <p:cNvSpPr/>
          <p:nvPr/>
        </p:nvSpPr>
        <p:spPr>
          <a:xfrm>
            <a:off x="10629050" y="3934623"/>
            <a:ext cx="1595540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항공기 번호</a:t>
            </a:r>
            <a:endParaRPr lang="ko-KR" altLang="en-US" sz="1400" dirty="0"/>
          </a:p>
        </p:txBody>
      </p:sp>
      <p:cxnSp>
        <p:nvCxnSpPr>
          <p:cNvPr id="351" name="직선 연결선 350">
            <a:extLst>
              <a:ext uri="{FF2B5EF4-FFF2-40B4-BE49-F238E27FC236}">
                <a16:creationId xmlns:a16="http://schemas.microsoft.com/office/drawing/2014/main" id="{485D325F-EFD6-4BD2-B629-C67F403B6916}"/>
              </a:ext>
            </a:extLst>
          </p:cNvPr>
          <p:cNvCxnSpPr/>
          <p:nvPr/>
        </p:nvCxnSpPr>
        <p:spPr>
          <a:xfrm>
            <a:off x="10969227" y="4258592"/>
            <a:ext cx="792000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2" name="직선 연결선 351">
            <a:extLst>
              <a:ext uri="{FF2B5EF4-FFF2-40B4-BE49-F238E27FC236}">
                <a16:creationId xmlns:a16="http://schemas.microsoft.com/office/drawing/2014/main" id="{DD065B0D-C48C-4240-9539-C9E27F879861}"/>
              </a:ext>
            </a:extLst>
          </p:cNvPr>
          <p:cNvCxnSpPr>
            <a:cxnSpLocks/>
            <a:stCxn id="348" idx="3"/>
            <a:endCxn id="353" idx="6"/>
          </p:cNvCxnSpPr>
          <p:nvPr/>
        </p:nvCxnSpPr>
        <p:spPr>
          <a:xfrm>
            <a:off x="9616152" y="4360252"/>
            <a:ext cx="2485252" cy="356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3" name="타원 352">
            <a:extLst>
              <a:ext uri="{FF2B5EF4-FFF2-40B4-BE49-F238E27FC236}">
                <a16:creationId xmlns:a16="http://schemas.microsoft.com/office/drawing/2014/main" id="{7E753110-EA59-4D38-95A2-3F2D1B54EB0F}"/>
              </a:ext>
            </a:extLst>
          </p:cNvPr>
          <p:cNvSpPr/>
          <p:nvPr/>
        </p:nvSpPr>
        <p:spPr>
          <a:xfrm>
            <a:off x="10629050" y="4494146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B050"/>
                </a:solidFill>
              </a:rPr>
              <a:t>기장</a:t>
            </a:r>
          </a:p>
        </p:txBody>
      </p:sp>
      <p:sp>
        <p:nvSpPr>
          <p:cNvPr id="354" name="다이아몬드 353">
            <a:extLst>
              <a:ext uri="{FF2B5EF4-FFF2-40B4-BE49-F238E27FC236}">
                <a16:creationId xmlns:a16="http://schemas.microsoft.com/office/drawing/2014/main" id="{0E27DF5B-9980-4FA7-B097-21880112D03D}"/>
              </a:ext>
            </a:extLst>
          </p:cNvPr>
          <p:cNvSpPr/>
          <p:nvPr/>
        </p:nvSpPr>
        <p:spPr>
          <a:xfrm>
            <a:off x="6341011" y="3988738"/>
            <a:ext cx="1896797" cy="74662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For Boarding</a:t>
            </a:r>
            <a:endParaRPr lang="ko-KR" altLang="en-US" sz="1400" dirty="0"/>
          </a:p>
        </p:txBody>
      </p: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46579E4E-CD8C-4C57-8A9C-5A0DED38B354}"/>
              </a:ext>
            </a:extLst>
          </p:cNvPr>
          <p:cNvCxnSpPr>
            <a:stCxn id="354" idx="3"/>
            <a:endCxn id="348" idx="1"/>
          </p:cNvCxnSpPr>
          <p:nvPr/>
        </p:nvCxnSpPr>
        <p:spPr>
          <a:xfrm flipV="1">
            <a:off x="8237808" y="4360252"/>
            <a:ext cx="141842" cy="1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" name="직선 연결선 355">
            <a:extLst>
              <a:ext uri="{FF2B5EF4-FFF2-40B4-BE49-F238E27FC236}">
                <a16:creationId xmlns:a16="http://schemas.microsoft.com/office/drawing/2014/main" id="{B1566AE3-6F04-42E0-803C-B107CB58950D}"/>
              </a:ext>
            </a:extLst>
          </p:cNvPr>
          <p:cNvCxnSpPr>
            <a:stCxn id="354" idx="2"/>
            <a:endCxn id="311" idx="0"/>
          </p:cNvCxnSpPr>
          <p:nvPr/>
        </p:nvCxnSpPr>
        <p:spPr>
          <a:xfrm>
            <a:off x="7289410" y="4735359"/>
            <a:ext cx="3798" cy="3874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7" name="직선 연결선 356">
            <a:extLst>
              <a:ext uri="{FF2B5EF4-FFF2-40B4-BE49-F238E27FC236}">
                <a16:creationId xmlns:a16="http://schemas.microsoft.com/office/drawing/2014/main" id="{08075E89-F393-4645-89E0-8832620004E1}"/>
              </a:ext>
            </a:extLst>
          </p:cNvPr>
          <p:cNvCxnSpPr>
            <a:cxnSpLocks/>
            <a:stCxn id="348" idx="2"/>
            <a:endCxn id="358" idx="0"/>
          </p:cNvCxnSpPr>
          <p:nvPr/>
        </p:nvCxnSpPr>
        <p:spPr>
          <a:xfrm>
            <a:off x="8997901" y="4638493"/>
            <a:ext cx="1064584" cy="28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8" name="타원 357">
            <a:extLst>
              <a:ext uri="{FF2B5EF4-FFF2-40B4-BE49-F238E27FC236}">
                <a16:creationId xmlns:a16="http://schemas.microsoft.com/office/drawing/2014/main" id="{059B0C1A-AFC6-4532-956F-7D5E3B48598E}"/>
              </a:ext>
            </a:extLst>
          </p:cNvPr>
          <p:cNvSpPr/>
          <p:nvPr/>
        </p:nvSpPr>
        <p:spPr>
          <a:xfrm>
            <a:off x="9326308" y="4921776"/>
            <a:ext cx="1472354" cy="4446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B050"/>
                </a:solidFill>
              </a:rPr>
              <a:t>승무원</a:t>
            </a:r>
          </a:p>
        </p:txBody>
      </p:sp>
    </p:spTree>
    <p:extLst>
      <p:ext uri="{BB962C8B-B14F-4D97-AF65-F5344CB8AC3E}">
        <p14:creationId xmlns:p14="http://schemas.microsoft.com/office/powerpoint/2010/main" val="2929643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3"/>
          <p:cNvSpPr txBox="1"/>
          <p:nvPr/>
        </p:nvSpPr>
        <p:spPr>
          <a:xfrm>
            <a:off x="792039" y="62547"/>
            <a:ext cx="3898556" cy="44080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120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F18D6E2A-AEEF-41EE-A51E-BDFD75FA9CD4}"/>
              </a:ext>
            </a:extLst>
          </p:cNvPr>
          <p:cNvSpPr/>
          <p:nvPr/>
        </p:nvSpPr>
        <p:spPr>
          <a:xfrm>
            <a:off x="0" y="663997"/>
            <a:ext cx="2324101" cy="6381328"/>
          </a:xfrm>
          <a:custGeom>
            <a:avLst/>
            <a:gdLst>
              <a:gd name="connsiteX0" fmla="*/ 736600 w 2324101"/>
              <a:gd name="connsiteY0" fmla="*/ 0 h 6858000"/>
              <a:gd name="connsiteX1" fmla="*/ 736600 w 2324101"/>
              <a:gd name="connsiteY1" fmla="*/ 0 h 6858000"/>
              <a:gd name="connsiteX2" fmla="*/ 736600 w 2324101"/>
              <a:gd name="connsiteY2" fmla="*/ 0 h 6858000"/>
              <a:gd name="connsiteX3" fmla="*/ 736600 w 2324101"/>
              <a:gd name="connsiteY3" fmla="*/ 1 h 6858000"/>
              <a:gd name="connsiteX4" fmla="*/ 2324101 w 2324101"/>
              <a:gd name="connsiteY4" fmla="*/ 3429000 h 6858000"/>
              <a:gd name="connsiteX5" fmla="*/ 736600 w 2324101"/>
              <a:gd name="connsiteY5" fmla="*/ 6857999 h 6858000"/>
              <a:gd name="connsiteX6" fmla="*/ 736600 w 2324101"/>
              <a:gd name="connsiteY6" fmla="*/ 6858000 h 6858000"/>
              <a:gd name="connsiteX7" fmla="*/ 0 w 2324101"/>
              <a:gd name="connsiteY7" fmla="*/ 6858000 h 6858000"/>
              <a:gd name="connsiteX8" fmla="*/ 0 w 2324101"/>
              <a:gd name="connsiteY8" fmla="*/ 0 h 6858000"/>
              <a:gd name="connsiteX9" fmla="*/ 736600 w 2324101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4101" h="6858000">
                <a:moveTo>
                  <a:pt x="736600" y="0"/>
                </a:moveTo>
                <a:lnTo>
                  <a:pt x="736600" y="0"/>
                </a:lnTo>
                <a:lnTo>
                  <a:pt x="736600" y="0"/>
                </a:lnTo>
                <a:lnTo>
                  <a:pt x="736600" y="1"/>
                </a:lnTo>
                <a:lnTo>
                  <a:pt x="2324101" y="3429000"/>
                </a:lnTo>
                <a:lnTo>
                  <a:pt x="736600" y="6857999"/>
                </a:lnTo>
                <a:lnTo>
                  <a:pt x="736600" y="6858000"/>
                </a:lnTo>
                <a:lnTo>
                  <a:pt x="0" y="6858000"/>
                </a:lnTo>
                <a:lnTo>
                  <a:pt x="0" y="0"/>
                </a:lnTo>
                <a:lnTo>
                  <a:pt x="736600" y="0"/>
                </a:lnTo>
                <a:close/>
              </a:path>
            </a:pathLst>
          </a:custGeom>
          <a:solidFill>
            <a:srgbClr val="6D1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17C3ABF5-3220-4D96-BCFC-5289FDAFD821}"/>
              </a:ext>
            </a:extLst>
          </p:cNvPr>
          <p:cNvSpPr txBox="1">
            <a:spLocks/>
          </p:cNvSpPr>
          <p:nvPr/>
        </p:nvSpPr>
        <p:spPr>
          <a:xfrm>
            <a:off x="1857375" y="2234311"/>
            <a:ext cx="9144000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ko-KR" altLang="en-US" sz="10000"/>
              <a:t>감사합니다</a:t>
            </a:r>
            <a:r>
              <a:rPr lang="en-US" altLang="ko-KR" sz="10000"/>
              <a:t>.</a:t>
            </a:r>
            <a:endParaRPr lang="en-US" altLang="ko-KR" sz="10000" dirty="0"/>
          </a:p>
        </p:txBody>
      </p:sp>
    </p:spTree>
    <p:extLst>
      <p:ext uri="{BB962C8B-B14F-4D97-AF65-F5344CB8AC3E}">
        <p14:creationId xmlns:p14="http://schemas.microsoft.com/office/powerpoint/2010/main" val="2975908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2000">
        <p14:gallery dir="l"/>
      </p:transition>
    </mc:Choice>
    <mc:Fallback>
      <p:transition spd="slow" advTm="2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B0B960D-BD16-4E1D-BCAD-1DA796D98E4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PRESENTATION_TITLE" val="49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NUMBER"/>
  <p:tag name="ID" val="545839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NUMBER"/>
  <p:tag name="ID" val="545839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NUMBER"/>
  <p:tag name="ID" val="545839"/>
  <p:tag name="MH_ORD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NUMBER"/>
  <p:tag name="ID" val="545839"/>
  <p:tag name="MH_ORDER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ENTRY"/>
  <p:tag name="ID" val="545839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ENTRY"/>
  <p:tag name="ID" val="545839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ENTRY"/>
  <p:tag name="ID" val="545839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600"/>
  <p:tag name="MH_LIBRARY" val="CONTENTS"/>
  <p:tag name="MH_TYPE" val="ENTRY"/>
  <p:tag name="ID" val="545839"/>
  <p:tag name="MH_ORDER" val="4"/>
</p:tagLst>
</file>

<file path=ppt/theme/theme1.xml><?xml version="1.0" encoding="utf-8"?>
<a:theme xmlns:a="http://schemas.openxmlformats.org/drawingml/2006/main" name="第一PPT，www.1ppt.com">
  <a:themeElements>
    <a:clrScheme name="自定义 7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3195F"/>
      </a:accent1>
      <a:accent2>
        <a:srgbClr val="E1B721"/>
      </a:accent2>
      <a:accent3>
        <a:srgbClr val="13195F"/>
      </a:accent3>
      <a:accent4>
        <a:srgbClr val="E1B721"/>
      </a:accent4>
      <a:accent5>
        <a:srgbClr val="13195F"/>
      </a:accent5>
      <a:accent6>
        <a:srgbClr val="E1B721"/>
      </a:accent6>
      <a:hlink>
        <a:srgbClr val="13195F"/>
      </a:hlink>
      <a:folHlink>
        <a:srgbClr val="E1B721"/>
      </a:folHlink>
    </a:clrScheme>
    <a:fontScheme name="사용자 지정 1">
      <a:majorFont>
        <a:latin typeface="Calibri Light"/>
        <a:ea typeface="휴먼모음T"/>
        <a:cs typeface=""/>
      </a:majorFont>
      <a:minorFont>
        <a:latin typeface="Calibri"/>
        <a:ea typeface="휴먼모음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1301</Words>
  <Application>Microsoft Office PowerPoint</Application>
  <PresentationFormat>사용자 지정</PresentationFormat>
  <Paragraphs>256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ITC Avant Garde Std Bk</vt:lpstr>
      <vt:lpstr>微软雅黑</vt:lpstr>
      <vt:lpstr>휴먼모음T</vt:lpstr>
      <vt:lpstr>Arial</vt:lpstr>
      <vt:lpstr>Calibri</vt:lpstr>
      <vt:lpstr>Calibri Light</vt:lpstr>
      <vt:lpstr>第一PPT，www.1ppt.com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2016-10-17T14:00:15Z</dcterms:created>
  <dcterms:modified xsi:type="dcterms:W3CDTF">2020-11-08T12:45:09Z</dcterms:modified>
</cp:coreProperties>
</file>