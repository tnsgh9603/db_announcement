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diagrams/data1.xml" ContentType="application/vnd.openxmlformats-officedocument.drawingml.diagramData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drawing1.xml" ContentType="application/vnd.ms-office.drawingml.diagramDrawing+xml"/>
  <Override PartName="/ppt/diagrams/_rels/data1.xml.rels" ContentType="application/vnd.openxmlformats-package.relationships+xml"/>
  <Override PartName="/ppt/diagrams/_rels/drawing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media/OOXDiagramDataRels1_4.png" ContentType="image/png"/>
  <Override PartName="/ppt/media/OOXDiagramDataRels1_1.svg" ContentType="image/svg"/>
  <Override PartName="/ppt/media/image1.jpeg" ContentType="image/jpeg"/>
  <Override PartName="/ppt/media/OOXDiagramDrawingRels1_0.png" ContentType="image/png"/>
  <Override PartName="/ppt/media/image2.jpeg" ContentType="image/jpeg"/>
  <Override PartName="/ppt/media/OOXDiagramDataRels1_5.svg" ContentType="image/svg"/>
  <Override PartName="/ppt/media/OOXDiagramDataRels1_0.png" ContentType="image/png"/>
  <Override PartName="/ppt/media/OOXDiagramDataRels1_2.png" ContentType="image/png"/>
  <Override PartName="/ppt/media/OOXDiagramDataRels1_6.png" ContentType="image/png"/>
  <Override PartName="/ppt/media/OOXDiagramDataRels1_3.svg" ContentType="image/svg"/>
  <Override PartName="/ppt/media/OOXDiagramDataRels1_7.svg" ContentType="image/svg"/>
  <Override PartName="/ppt/media/OOXDiagramDrawingRels1_1.svg" ContentType="image/svg"/>
  <Override PartName="/ppt/media/OOXDiagramDrawingRels1_2.png" ContentType="image/png"/>
  <Override PartName="/ppt/media/OOXDiagramDrawingRels1_3.svg" ContentType="image/svg"/>
  <Override PartName="/ppt/media/OOXDiagramDrawingRels1_4.png" ContentType="image/png"/>
  <Override PartName="/ppt/media/OOXDiagramDrawingRels1_5.svg" ContentType="image/svg"/>
  <Override PartName="/ppt/media/OOXDiagramDrawingRels1_6.png" ContentType="image/png"/>
  <Override PartName="/ppt/media/OOXDiagramDrawingRels1_7.svg" ContentType="image/sv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
</Relationships>
</file>

<file path=ppt/diagrams/_rels/data1.xml.rels><?xml version="1.0" encoding="UTF-8"?>
<Relationships xmlns="http://schemas.openxmlformats.org/package/2006/relationships"><Relationship Id="rId1" Type="http://schemas.openxmlformats.org/officeDocument/2006/relationships/image" Target="../media/OOXDiagramDataRels1_0.png"/><Relationship Id="rId2" Type="http://schemas.openxmlformats.org/officeDocument/2006/relationships/image" Target="../media/OOXDiagramDataRels1_1.svg"/><Relationship Id="rId3" Type="http://schemas.openxmlformats.org/officeDocument/2006/relationships/image" Target="../media/OOXDiagramDataRels1_2.png"/><Relationship Id="rId4" Type="http://schemas.openxmlformats.org/officeDocument/2006/relationships/image" Target="../media/OOXDiagramDataRels1_3.svg"/><Relationship Id="rId5" Type="http://schemas.openxmlformats.org/officeDocument/2006/relationships/image" Target="../media/OOXDiagramDataRels1_4.png"/><Relationship Id="rId6" Type="http://schemas.openxmlformats.org/officeDocument/2006/relationships/image" Target="../media/OOXDiagramDataRels1_5.svg"/><Relationship Id="rId7" Type="http://schemas.openxmlformats.org/officeDocument/2006/relationships/image" Target="../media/OOXDiagramDataRels1_6.png"/><Relationship Id="rId8" Type="http://schemas.openxmlformats.org/officeDocument/2006/relationships/image" Target="../media/OOXDiagramDataRels1_7.svg"/>
</Relationships>
</file>

<file path=ppt/diagrams/_rels/drawing1.xml.rels><?xml version="1.0" encoding="UTF-8"?>
<Relationships xmlns="http://schemas.openxmlformats.org/package/2006/relationships"><Relationship Id="rId1" Type="http://schemas.openxmlformats.org/officeDocument/2006/relationships/image" Target="../media/OOXDiagramDrawingRels1_0.png"/><Relationship Id="rId2" Type="http://schemas.openxmlformats.org/officeDocument/2006/relationships/image" Target="../media/OOXDiagramDrawingRels1_1.svg"/><Relationship Id="rId3" Type="http://schemas.openxmlformats.org/officeDocument/2006/relationships/image" Target="../media/OOXDiagramDrawingRels1_2.png"/><Relationship Id="rId4" Type="http://schemas.openxmlformats.org/officeDocument/2006/relationships/image" Target="../media/OOXDiagramDrawingRels1_3.svg"/><Relationship Id="rId5" Type="http://schemas.openxmlformats.org/officeDocument/2006/relationships/image" Target="../media/OOXDiagramDrawingRels1_4.png"/><Relationship Id="rId6" Type="http://schemas.openxmlformats.org/officeDocument/2006/relationships/image" Target="../media/OOXDiagramDrawingRels1_5.svg"/><Relationship Id="rId7" Type="http://schemas.openxmlformats.org/officeDocument/2006/relationships/image" Target="../media/OOXDiagramDrawingRels1_6.png"/><Relationship Id="rId8" Type="http://schemas.openxmlformats.org/officeDocument/2006/relationships/image" Target="../media/OOXDiagramDrawingRels1_7.svg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1790D6-E5A5-46E9-8D45-E7BC59C5884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8AB9D94-97EE-4B61-955B-1A4192A5D78C}">
      <dgm:prSet/>
      <dgm:spPr/>
      <dgm:t>
        <a:bodyPr/>
        <a:lstStyle/>
        <a:p>
          <a:r>
            <a:rPr lang="en-US" dirty="0"/>
            <a:t>1. </a:t>
          </a:r>
          <a:r>
            <a:rPr lang="ko-KR" dirty="0"/>
            <a:t>주제 선</a:t>
          </a:r>
          <a:r>
            <a:rPr lang="ko-KR" altLang="en-US" dirty="0"/>
            <a:t>정</a:t>
          </a:r>
          <a:endParaRPr lang="en-US" dirty="0"/>
        </a:p>
      </dgm:t>
    </dgm:pt>
    <dgm:pt modelId="{01C4D3F0-A234-473D-AE7D-E58F2038955E}" type="parTrans" cxnId="{4CE2099D-016C-4701-9F0D-054FFEAC8CB4}">
      <dgm:prSet/>
      <dgm:spPr/>
      <dgm:t>
        <a:bodyPr/>
        <a:lstStyle/>
        <a:p>
          <a:endParaRPr lang="en-US"/>
        </a:p>
      </dgm:t>
    </dgm:pt>
    <dgm:pt modelId="{2AE119CA-BCF2-407A-BBED-4AF8E889E03B}" type="sibTrans" cxnId="{4CE2099D-016C-4701-9F0D-054FFEAC8CB4}">
      <dgm:prSet/>
      <dgm:spPr/>
      <dgm:t>
        <a:bodyPr/>
        <a:lstStyle/>
        <a:p>
          <a:endParaRPr lang="en-US"/>
        </a:p>
      </dgm:t>
    </dgm:pt>
    <dgm:pt modelId="{0C2B92F6-D500-4454-BF3E-26919AA67318}">
      <dgm:prSet/>
      <dgm:spPr/>
      <dgm:t>
        <a:bodyPr/>
        <a:lstStyle/>
        <a:p>
          <a:r>
            <a:rPr lang="en-US"/>
            <a:t>2. </a:t>
          </a:r>
          <a:r>
            <a:rPr lang="ko-KR" altLang="en-US"/>
            <a:t>요구사항 명세서</a:t>
          </a:r>
          <a:endParaRPr lang="en-US"/>
        </a:p>
      </dgm:t>
    </dgm:pt>
    <dgm:pt modelId="{80811B2E-58A5-4EF4-95BA-C4DAA52AB2F6}" type="parTrans" cxnId="{5D2A1F43-4E35-4FE3-A6CC-76777E9DB90C}">
      <dgm:prSet/>
      <dgm:spPr/>
      <dgm:t>
        <a:bodyPr/>
        <a:lstStyle/>
        <a:p>
          <a:endParaRPr lang="en-US"/>
        </a:p>
      </dgm:t>
    </dgm:pt>
    <dgm:pt modelId="{A35CD6A9-31D7-4F07-BD41-472DFE9896FD}" type="sibTrans" cxnId="{5D2A1F43-4E35-4FE3-A6CC-76777E9DB90C}">
      <dgm:prSet/>
      <dgm:spPr/>
      <dgm:t>
        <a:bodyPr/>
        <a:lstStyle/>
        <a:p>
          <a:endParaRPr lang="en-US"/>
        </a:p>
      </dgm:t>
    </dgm:pt>
    <dgm:pt modelId="{70503A1B-CD9A-4A70-BEB9-857B26165F4D}">
      <dgm:prSet/>
      <dgm:spPr/>
      <dgm:t>
        <a:bodyPr/>
        <a:lstStyle/>
        <a:p>
          <a:r>
            <a:rPr lang="en-US" dirty="0"/>
            <a:t>3. </a:t>
          </a:r>
          <a:r>
            <a:rPr lang="en-US" altLang="ko-KR" dirty="0"/>
            <a:t>DB </a:t>
          </a:r>
          <a:r>
            <a:rPr lang="ko-KR" altLang="en-US" dirty="0"/>
            <a:t>모델 개념적 설계</a:t>
          </a:r>
          <a:endParaRPr lang="en-US" dirty="0"/>
        </a:p>
      </dgm:t>
    </dgm:pt>
    <dgm:pt modelId="{D637163B-CA07-47E2-9D76-DD4C6FB14701}" type="parTrans" cxnId="{894F258D-97F8-4B69-B802-1034A2DB2D40}">
      <dgm:prSet/>
      <dgm:spPr/>
      <dgm:t>
        <a:bodyPr/>
        <a:lstStyle/>
        <a:p>
          <a:endParaRPr lang="en-US"/>
        </a:p>
      </dgm:t>
    </dgm:pt>
    <dgm:pt modelId="{1966DF3E-9638-49CE-90E9-D6C79E9AE8FC}" type="sibTrans" cxnId="{894F258D-97F8-4B69-B802-1034A2DB2D40}">
      <dgm:prSet/>
      <dgm:spPr/>
      <dgm:t>
        <a:bodyPr/>
        <a:lstStyle/>
        <a:p>
          <a:endParaRPr lang="en-US"/>
        </a:p>
      </dgm:t>
    </dgm:pt>
    <dgm:pt modelId="{80542971-3D25-4C91-BA09-BF01BD8A4903}">
      <dgm:prSet/>
      <dgm:spPr/>
      <dgm:t>
        <a:bodyPr/>
        <a:lstStyle/>
        <a:p>
          <a:r>
            <a:rPr lang="en-US"/>
            <a:t>4. </a:t>
          </a:r>
          <a:r>
            <a:rPr lang="en-US" altLang="ko-KR"/>
            <a:t>ER </a:t>
          </a:r>
          <a:r>
            <a:rPr lang="ko-KR" altLang="en-US"/>
            <a:t>다이어그램</a:t>
          </a:r>
          <a:endParaRPr lang="en-US"/>
        </a:p>
      </dgm:t>
    </dgm:pt>
    <dgm:pt modelId="{1BB7523A-7B9F-4187-900C-DACBF554F4A5}" type="parTrans" cxnId="{BDF1640D-38E8-4AB3-88F2-6C93DBEA2C92}">
      <dgm:prSet/>
      <dgm:spPr/>
      <dgm:t>
        <a:bodyPr/>
        <a:lstStyle/>
        <a:p>
          <a:endParaRPr lang="en-US"/>
        </a:p>
      </dgm:t>
    </dgm:pt>
    <dgm:pt modelId="{37C759BA-A613-4EDC-AFBC-28B56C44FDA4}" type="sibTrans" cxnId="{BDF1640D-38E8-4AB3-88F2-6C93DBEA2C92}">
      <dgm:prSet/>
      <dgm:spPr/>
      <dgm:t>
        <a:bodyPr/>
        <a:lstStyle/>
        <a:p>
          <a:endParaRPr lang="en-US"/>
        </a:p>
      </dgm:t>
    </dgm:pt>
    <dgm:pt modelId="{80CEC838-0E5F-4EEE-8871-E7D2819199D4}" type="pres">
      <dgm:prSet presAssocID="{EA1790D6-E5A5-46E9-8D45-E7BC59C58841}" presName="root" presStyleCnt="0">
        <dgm:presLayoutVars>
          <dgm:dir/>
          <dgm:resizeHandles val="exact"/>
        </dgm:presLayoutVars>
      </dgm:prSet>
      <dgm:spPr/>
    </dgm:pt>
    <dgm:pt modelId="{2603F8C9-41C4-44B1-827B-C017D6A2E737}" type="pres">
      <dgm:prSet presAssocID="{08AB9D94-97EE-4B61-955B-1A4192A5D78C}" presName="compNode" presStyleCnt="0"/>
      <dgm:spPr/>
    </dgm:pt>
    <dgm:pt modelId="{B5B86DF2-6934-4E10-AA89-4B723C5612C4}" type="pres">
      <dgm:prSet presAssocID="{08AB9D94-97EE-4B61-955B-1A4192A5D78C}" presName="bgRect" presStyleLbl="bgShp" presStyleIdx="0" presStyleCnt="4" custLinFactNeighborY="13531"/>
      <dgm:spPr>
        <a:solidFill>
          <a:srgbClr val="7030A0"/>
        </a:solidFill>
        <a:effectLst>
          <a:innerShdw blurRad="114300">
            <a:prstClr val="black"/>
          </a:innerShdw>
        </a:effectLst>
      </dgm:spPr>
    </dgm:pt>
    <dgm:pt modelId="{BE7C2FC0-73F7-4123-B83B-CE4B4577D7FB}" type="pres">
      <dgm:prSet presAssocID="{08AB9D94-97EE-4B61-955B-1A4192A5D7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교사"/>
        </a:ext>
      </dgm:extLst>
    </dgm:pt>
    <dgm:pt modelId="{E2A1D20E-5D78-4550-A363-AEB33997E07A}" type="pres">
      <dgm:prSet presAssocID="{08AB9D94-97EE-4B61-955B-1A4192A5D78C}" presName="spaceRect" presStyleCnt="0"/>
      <dgm:spPr/>
    </dgm:pt>
    <dgm:pt modelId="{82002A12-ED6A-4C7B-A82D-F0591A60ACE8}" type="pres">
      <dgm:prSet presAssocID="{08AB9D94-97EE-4B61-955B-1A4192A5D78C}" presName="parTx" presStyleLbl="revTx" presStyleIdx="0" presStyleCnt="4">
        <dgm:presLayoutVars>
          <dgm:chMax val="0"/>
          <dgm:chPref val="0"/>
        </dgm:presLayoutVars>
      </dgm:prSet>
      <dgm:spPr/>
    </dgm:pt>
    <dgm:pt modelId="{C9D0C884-C369-4E52-9080-94217B99A98B}" type="pres">
      <dgm:prSet presAssocID="{2AE119CA-BCF2-407A-BBED-4AF8E889E03B}" presName="sibTrans" presStyleCnt="0"/>
      <dgm:spPr/>
    </dgm:pt>
    <dgm:pt modelId="{5344DE6B-AEEB-4F45-8DA2-5B7D144F2576}" type="pres">
      <dgm:prSet presAssocID="{0C2B92F6-D500-4454-BF3E-26919AA67318}" presName="compNode" presStyleCnt="0"/>
      <dgm:spPr/>
    </dgm:pt>
    <dgm:pt modelId="{DB4AE7B9-B50D-49E5-81C9-75A5B715F7E7}" type="pres">
      <dgm:prSet presAssocID="{0C2B92F6-D500-4454-BF3E-26919AA67318}" presName="bgRect" presStyleLbl="bgShp" presStyleIdx="1" presStyleCnt="4"/>
      <dgm:spPr>
        <a:effectLst>
          <a:innerShdw blurRad="114300">
            <a:prstClr val="black"/>
          </a:innerShdw>
        </a:effectLst>
      </dgm:spPr>
    </dgm:pt>
    <dgm:pt modelId="{2A780A8B-A442-45E9-9F79-0C6884B39D93}" type="pres">
      <dgm:prSet presAssocID="{0C2B92F6-D500-4454-BF3E-26919AA6731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확인 표시"/>
        </a:ext>
      </dgm:extLst>
    </dgm:pt>
    <dgm:pt modelId="{A7B31003-61E2-4E42-8851-439A452797EC}" type="pres">
      <dgm:prSet presAssocID="{0C2B92F6-D500-4454-BF3E-26919AA67318}" presName="spaceRect" presStyleCnt="0"/>
      <dgm:spPr/>
    </dgm:pt>
    <dgm:pt modelId="{057CFA2D-DC3E-415C-ABF0-FB4CFAF5B605}" type="pres">
      <dgm:prSet presAssocID="{0C2B92F6-D500-4454-BF3E-26919AA67318}" presName="parTx" presStyleLbl="revTx" presStyleIdx="1" presStyleCnt="4">
        <dgm:presLayoutVars>
          <dgm:chMax val="0"/>
          <dgm:chPref val="0"/>
        </dgm:presLayoutVars>
      </dgm:prSet>
      <dgm:spPr/>
    </dgm:pt>
    <dgm:pt modelId="{962DBA92-A31D-4669-80DE-AAB8D318E071}" type="pres">
      <dgm:prSet presAssocID="{A35CD6A9-31D7-4F07-BD41-472DFE9896FD}" presName="sibTrans" presStyleCnt="0"/>
      <dgm:spPr/>
    </dgm:pt>
    <dgm:pt modelId="{4673E6B7-A403-4516-A710-BCFE6C64AB81}" type="pres">
      <dgm:prSet presAssocID="{70503A1B-CD9A-4A70-BEB9-857B26165F4D}" presName="compNode" presStyleCnt="0"/>
      <dgm:spPr/>
    </dgm:pt>
    <dgm:pt modelId="{FA5A260C-9FFA-44B3-8131-E16D4B6A7FC5}" type="pres">
      <dgm:prSet presAssocID="{70503A1B-CD9A-4A70-BEB9-857B26165F4D}" presName="bgRect" presStyleLbl="bgShp" presStyleIdx="2" presStyleCnt="4" custLinFactNeighborX="264" custLinFactNeighborY="915"/>
      <dgm:spPr>
        <a:solidFill>
          <a:srgbClr val="0070C0"/>
        </a:solidFill>
        <a:effectLst>
          <a:innerShdw blurRad="114300">
            <a:prstClr val="black"/>
          </a:innerShdw>
        </a:effectLst>
      </dgm:spPr>
    </dgm:pt>
    <dgm:pt modelId="{0ED43FD0-67B8-41E8-B04D-18CDFCEAF0FF}" type="pres">
      <dgm:prSet presAssocID="{70503A1B-CD9A-4A70-BEB9-857B26165F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트로피"/>
        </a:ext>
      </dgm:extLst>
    </dgm:pt>
    <dgm:pt modelId="{A3FA5FD7-2EBB-40F2-A719-F5E66CC95A1F}" type="pres">
      <dgm:prSet presAssocID="{70503A1B-CD9A-4A70-BEB9-857B26165F4D}" presName="spaceRect" presStyleCnt="0"/>
      <dgm:spPr/>
    </dgm:pt>
    <dgm:pt modelId="{EA35C2BD-8122-4761-9947-4CC58BDA5BCA}" type="pres">
      <dgm:prSet presAssocID="{70503A1B-CD9A-4A70-BEB9-857B26165F4D}" presName="parTx" presStyleLbl="revTx" presStyleIdx="2" presStyleCnt="4">
        <dgm:presLayoutVars>
          <dgm:chMax val="0"/>
          <dgm:chPref val="0"/>
        </dgm:presLayoutVars>
      </dgm:prSet>
      <dgm:spPr/>
    </dgm:pt>
    <dgm:pt modelId="{BF194BF0-82FD-42EC-9304-5CC83DCCEB67}" type="pres">
      <dgm:prSet presAssocID="{1966DF3E-9638-49CE-90E9-D6C79E9AE8FC}" presName="sibTrans" presStyleCnt="0"/>
      <dgm:spPr/>
    </dgm:pt>
    <dgm:pt modelId="{EC593637-1A60-4836-9939-A73326DFE969}" type="pres">
      <dgm:prSet presAssocID="{80542971-3D25-4C91-BA09-BF01BD8A4903}" presName="compNode" presStyleCnt="0"/>
      <dgm:spPr/>
    </dgm:pt>
    <dgm:pt modelId="{43F03C19-DB3E-49E3-AE2E-482C17E4259B}" type="pres">
      <dgm:prSet presAssocID="{80542971-3D25-4C91-BA09-BF01BD8A4903}" presName="bgRect" presStyleLbl="bgShp" presStyleIdx="3" presStyleCnt="4"/>
      <dgm:spPr>
        <a:effectLst>
          <a:innerShdw blurRad="114300">
            <a:prstClr val="black"/>
          </a:innerShdw>
        </a:effectLst>
      </dgm:spPr>
    </dgm:pt>
    <dgm:pt modelId="{F29DD12B-E715-479E-A640-AC9E34EDCB1C}" type="pres">
      <dgm:prSet presAssocID="{80542971-3D25-4C91-BA09-BF01BD8A490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리본 메뉴"/>
        </a:ext>
      </dgm:extLst>
    </dgm:pt>
    <dgm:pt modelId="{D77705FD-4DF9-4252-949F-EAFD7A66E0E0}" type="pres">
      <dgm:prSet presAssocID="{80542971-3D25-4C91-BA09-BF01BD8A4903}" presName="spaceRect" presStyleCnt="0"/>
      <dgm:spPr/>
    </dgm:pt>
    <dgm:pt modelId="{25AD2BCC-3BC1-4E15-A5D5-3F0EF3AB8872}" type="pres">
      <dgm:prSet presAssocID="{80542971-3D25-4C91-BA09-BF01BD8A490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DF1640D-38E8-4AB3-88F2-6C93DBEA2C92}" srcId="{EA1790D6-E5A5-46E9-8D45-E7BC59C58841}" destId="{80542971-3D25-4C91-BA09-BF01BD8A4903}" srcOrd="3" destOrd="0" parTransId="{1BB7523A-7B9F-4187-900C-DACBF554F4A5}" sibTransId="{37C759BA-A613-4EDC-AFBC-28B56C44FDA4}"/>
    <dgm:cxn modelId="{FEE7F961-4131-4209-8377-F2AA34ADD35C}" type="presOf" srcId="{0C2B92F6-D500-4454-BF3E-26919AA67318}" destId="{057CFA2D-DC3E-415C-ABF0-FB4CFAF5B605}" srcOrd="0" destOrd="0" presId="urn:microsoft.com/office/officeart/2018/2/layout/IconVerticalSolidList"/>
    <dgm:cxn modelId="{5D2A1F43-4E35-4FE3-A6CC-76777E9DB90C}" srcId="{EA1790D6-E5A5-46E9-8D45-E7BC59C58841}" destId="{0C2B92F6-D500-4454-BF3E-26919AA67318}" srcOrd="1" destOrd="0" parTransId="{80811B2E-58A5-4EF4-95BA-C4DAA52AB2F6}" sibTransId="{A35CD6A9-31D7-4F07-BD41-472DFE9896FD}"/>
    <dgm:cxn modelId="{3932987E-6123-4DE1-AD47-25FC375651A0}" type="presOf" srcId="{EA1790D6-E5A5-46E9-8D45-E7BC59C58841}" destId="{80CEC838-0E5F-4EEE-8871-E7D2819199D4}" srcOrd="0" destOrd="0" presId="urn:microsoft.com/office/officeart/2018/2/layout/IconVerticalSolidList"/>
    <dgm:cxn modelId="{894F258D-97F8-4B69-B802-1034A2DB2D40}" srcId="{EA1790D6-E5A5-46E9-8D45-E7BC59C58841}" destId="{70503A1B-CD9A-4A70-BEB9-857B26165F4D}" srcOrd="2" destOrd="0" parTransId="{D637163B-CA07-47E2-9D76-DD4C6FB14701}" sibTransId="{1966DF3E-9638-49CE-90E9-D6C79E9AE8FC}"/>
    <dgm:cxn modelId="{4CE2099D-016C-4701-9F0D-054FFEAC8CB4}" srcId="{EA1790D6-E5A5-46E9-8D45-E7BC59C58841}" destId="{08AB9D94-97EE-4B61-955B-1A4192A5D78C}" srcOrd="0" destOrd="0" parTransId="{01C4D3F0-A234-473D-AE7D-E58F2038955E}" sibTransId="{2AE119CA-BCF2-407A-BBED-4AF8E889E03B}"/>
    <dgm:cxn modelId="{B373A39E-1693-47CD-8C13-82C9A8977D6D}" type="presOf" srcId="{70503A1B-CD9A-4A70-BEB9-857B26165F4D}" destId="{EA35C2BD-8122-4761-9947-4CC58BDA5BCA}" srcOrd="0" destOrd="0" presId="urn:microsoft.com/office/officeart/2018/2/layout/IconVerticalSolidList"/>
    <dgm:cxn modelId="{223B3ECB-6F75-4CC8-BB3B-03D33A724DC8}" type="presOf" srcId="{80542971-3D25-4C91-BA09-BF01BD8A4903}" destId="{25AD2BCC-3BC1-4E15-A5D5-3F0EF3AB8872}" srcOrd="0" destOrd="0" presId="urn:microsoft.com/office/officeart/2018/2/layout/IconVerticalSolidList"/>
    <dgm:cxn modelId="{4E97E1F6-AF19-44F0-A07C-9889FAF37F95}" type="presOf" srcId="{08AB9D94-97EE-4B61-955B-1A4192A5D78C}" destId="{82002A12-ED6A-4C7B-A82D-F0591A60ACE8}" srcOrd="0" destOrd="0" presId="urn:microsoft.com/office/officeart/2018/2/layout/IconVerticalSolidList"/>
    <dgm:cxn modelId="{52F84D05-FA44-497C-86BC-D4836C965D44}" type="presParOf" srcId="{80CEC838-0E5F-4EEE-8871-E7D2819199D4}" destId="{2603F8C9-41C4-44B1-827B-C017D6A2E737}" srcOrd="0" destOrd="0" presId="urn:microsoft.com/office/officeart/2018/2/layout/IconVerticalSolidList"/>
    <dgm:cxn modelId="{731CCC09-1EC2-4311-BA38-56ADF50D9B3A}" type="presParOf" srcId="{2603F8C9-41C4-44B1-827B-C017D6A2E737}" destId="{B5B86DF2-6934-4E10-AA89-4B723C5612C4}" srcOrd="0" destOrd="0" presId="urn:microsoft.com/office/officeart/2018/2/layout/IconVerticalSolidList"/>
    <dgm:cxn modelId="{1B5F508C-D882-4D19-BFDE-67358799E644}" type="presParOf" srcId="{2603F8C9-41C4-44B1-827B-C017D6A2E737}" destId="{BE7C2FC0-73F7-4123-B83B-CE4B4577D7FB}" srcOrd="1" destOrd="0" presId="urn:microsoft.com/office/officeart/2018/2/layout/IconVerticalSolidList"/>
    <dgm:cxn modelId="{C1C672A9-00D9-4FC4-8419-6A592D7E4521}" type="presParOf" srcId="{2603F8C9-41C4-44B1-827B-C017D6A2E737}" destId="{E2A1D20E-5D78-4550-A363-AEB33997E07A}" srcOrd="2" destOrd="0" presId="urn:microsoft.com/office/officeart/2018/2/layout/IconVerticalSolidList"/>
    <dgm:cxn modelId="{27C433D1-C82C-4046-AB75-E443725E25FF}" type="presParOf" srcId="{2603F8C9-41C4-44B1-827B-C017D6A2E737}" destId="{82002A12-ED6A-4C7B-A82D-F0591A60ACE8}" srcOrd="3" destOrd="0" presId="urn:microsoft.com/office/officeart/2018/2/layout/IconVerticalSolidList"/>
    <dgm:cxn modelId="{A2DEE962-889B-450A-9A37-11A033887851}" type="presParOf" srcId="{80CEC838-0E5F-4EEE-8871-E7D2819199D4}" destId="{C9D0C884-C369-4E52-9080-94217B99A98B}" srcOrd="1" destOrd="0" presId="urn:microsoft.com/office/officeart/2018/2/layout/IconVerticalSolidList"/>
    <dgm:cxn modelId="{7D603228-A6D1-47C8-A803-F41B2AF4CA6A}" type="presParOf" srcId="{80CEC838-0E5F-4EEE-8871-E7D2819199D4}" destId="{5344DE6B-AEEB-4F45-8DA2-5B7D144F2576}" srcOrd="2" destOrd="0" presId="urn:microsoft.com/office/officeart/2018/2/layout/IconVerticalSolidList"/>
    <dgm:cxn modelId="{A0A6A0D4-C066-492C-AF2B-4D27FFF9ED4A}" type="presParOf" srcId="{5344DE6B-AEEB-4F45-8DA2-5B7D144F2576}" destId="{DB4AE7B9-B50D-49E5-81C9-75A5B715F7E7}" srcOrd="0" destOrd="0" presId="urn:microsoft.com/office/officeart/2018/2/layout/IconVerticalSolidList"/>
    <dgm:cxn modelId="{4EF63D05-4F83-4579-8B51-D91BB799CB6D}" type="presParOf" srcId="{5344DE6B-AEEB-4F45-8DA2-5B7D144F2576}" destId="{2A780A8B-A442-45E9-9F79-0C6884B39D93}" srcOrd="1" destOrd="0" presId="urn:microsoft.com/office/officeart/2018/2/layout/IconVerticalSolidList"/>
    <dgm:cxn modelId="{9372D65D-DCBD-4AA1-9730-D79A18ADD96F}" type="presParOf" srcId="{5344DE6B-AEEB-4F45-8DA2-5B7D144F2576}" destId="{A7B31003-61E2-4E42-8851-439A452797EC}" srcOrd="2" destOrd="0" presId="urn:microsoft.com/office/officeart/2018/2/layout/IconVerticalSolidList"/>
    <dgm:cxn modelId="{070480B8-6621-474E-8FFB-75C916252290}" type="presParOf" srcId="{5344DE6B-AEEB-4F45-8DA2-5B7D144F2576}" destId="{057CFA2D-DC3E-415C-ABF0-FB4CFAF5B605}" srcOrd="3" destOrd="0" presId="urn:microsoft.com/office/officeart/2018/2/layout/IconVerticalSolidList"/>
    <dgm:cxn modelId="{D095C1BE-CD03-4BC2-8197-2902DCCC53EA}" type="presParOf" srcId="{80CEC838-0E5F-4EEE-8871-E7D2819199D4}" destId="{962DBA92-A31D-4669-80DE-AAB8D318E071}" srcOrd="3" destOrd="0" presId="urn:microsoft.com/office/officeart/2018/2/layout/IconVerticalSolidList"/>
    <dgm:cxn modelId="{9F2F413E-7508-426A-9EDE-40B8CE0B9D68}" type="presParOf" srcId="{80CEC838-0E5F-4EEE-8871-E7D2819199D4}" destId="{4673E6B7-A403-4516-A710-BCFE6C64AB81}" srcOrd="4" destOrd="0" presId="urn:microsoft.com/office/officeart/2018/2/layout/IconVerticalSolidList"/>
    <dgm:cxn modelId="{F94D1FC4-4CD5-4846-9EDC-DE639A165D11}" type="presParOf" srcId="{4673E6B7-A403-4516-A710-BCFE6C64AB81}" destId="{FA5A260C-9FFA-44B3-8131-E16D4B6A7FC5}" srcOrd="0" destOrd="0" presId="urn:microsoft.com/office/officeart/2018/2/layout/IconVerticalSolidList"/>
    <dgm:cxn modelId="{CF719A7A-5849-4BEC-8B4D-7C079E0F26C5}" type="presParOf" srcId="{4673E6B7-A403-4516-A710-BCFE6C64AB81}" destId="{0ED43FD0-67B8-41E8-B04D-18CDFCEAF0FF}" srcOrd="1" destOrd="0" presId="urn:microsoft.com/office/officeart/2018/2/layout/IconVerticalSolidList"/>
    <dgm:cxn modelId="{88FB36CA-33B2-41B9-8B4E-F3FA78FDABAB}" type="presParOf" srcId="{4673E6B7-A403-4516-A710-BCFE6C64AB81}" destId="{A3FA5FD7-2EBB-40F2-A719-F5E66CC95A1F}" srcOrd="2" destOrd="0" presId="urn:microsoft.com/office/officeart/2018/2/layout/IconVerticalSolidList"/>
    <dgm:cxn modelId="{CA830A00-7EF4-4597-A4A9-FF7E069A7731}" type="presParOf" srcId="{4673E6B7-A403-4516-A710-BCFE6C64AB81}" destId="{EA35C2BD-8122-4761-9947-4CC58BDA5BCA}" srcOrd="3" destOrd="0" presId="urn:microsoft.com/office/officeart/2018/2/layout/IconVerticalSolidList"/>
    <dgm:cxn modelId="{F56B6574-0168-4CF4-B068-A988E2BEB015}" type="presParOf" srcId="{80CEC838-0E5F-4EEE-8871-E7D2819199D4}" destId="{BF194BF0-82FD-42EC-9304-5CC83DCCEB67}" srcOrd="5" destOrd="0" presId="urn:microsoft.com/office/officeart/2018/2/layout/IconVerticalSolidList"/>
    <dgm:cxn modelId="{3A17974A-59B3-4F8F-B36A-CA2DBDEAE5CA}" type="presParOf" srcId="{80CEC838-0E5F-4EEE-8871-E7D2819199D4}" destId="{EC593637-1A60-4836-9939-A73326DFE969}" srcOrd="6" destOrd="0" presId="urn:microsoft.com/office/officeart/2018/2/layout/IconVerticalSolidList"/>
    <dgm:cxn modelId="{E8DD09E9-B518-47E5-A906-66A07FBA8678}" type="presParOf" srcId="{EC593637-1A60-4836-9939-A73326DFE969}" destId="{43F03C19-DB3E-49E3-AE2E-482C17E4259B}" srcOrd="0" destOrd="0" presId="urn:microsoft.com/office/officeart/2018/2/layout/IconVerticalSolidList"/>
    <dgm:cxn modelId="{17DE881E-A939-4204-9344-64900000805C}" type="presParOf" srcId="{EC593637-1A60-4836-9939-A73326DFE969}" destId="{F29DD12B-E715-479E-A640-AC9E34EDCB1C}" srcOrd="1" destOrd="0" presId="urn:microsoft.com/office/officeart/2018/2/layout/IconVerticalSolidList"/>
    <dgm:cxn modelId="{424B8507-7B26-4732-BE30-D68FE85781B9}" type="presParOf" srcId="{EC593637-1A60-4836-9939-A73326DFE969}" destId="{D77705FD-4DF9-4252-949F-EAFD7A66E0E0}" srcOrd="2" destOrd="0" presId="urn:microsoft.com/office/officeart/2018/2/layout/IconVerticalSolidList"/>
    <dgm:cxn modelId="{1E4D33E9-7B5F-416F-BDFF-532EA704C8B6}" type="presParOf" srcId="{EC593637-1A60-4836-9939-A73326DFE969}" destId="{25AD2BCC-3BC1-4E15-A5D5-3F0EF3AB887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86DF2-6934-4E10-AA89-4B723C5612C4}">
      <dsp:nvSpPr>
        <dsp:cNvPr id="0" name=""/>
        <dsp:cNvSpPr/>
      </dsp:nvSpPr>
      <dsp:spPr>
        <a:xfrm>
          <a:off x="0" y="125835"/>
          <a:ext cx="10515600" cy="916611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C2FC0-73F7-4123-B83B-CE4B4577D7FB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02A12-ED6A-4C7B-A82D-F0591A60ACE8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1. </a:t>
          </a:r>
          <a:r>
            <a:rPr lang="ko-KR" sz="2200" kern="1200" dirty="0"/>
            <a:t>주제 선</a:t>
          </a:r>
          <a:r>
            <a:rPr lang="ko-KR" altLang="en-US" sz="2200" kern="1200" dirty="0"/>
            <a:t>정</a:t>
          </a:r>
          <a:endParaRPr lang="en-US" sz="2200" kern="1200" dirty="0"/>
        </a:p>
      </dsp:txBody>
      <dsp:txXfrm>
        <a:off x="1058686" y="1808"/>
        <a:ext cx="9456913" cy="916611"/>
      </dsp:txXfrm>
    </dsp:sp>
    <dsp:sp modelId="{DB4AE7B9-B50D-49E5-81C9-75A5B715F7E7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80A8B-A442-45E9-9F79-0C6884B39D93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CFA2D-DC3E-415C-ABF0-FB4CFAF5B605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</a:t>
          </a:r>
          <a:r>
            <a:rPr lang="ko-KR" altLang="en-US" sz="2200" kern="1200"/>
            <a:t>요구사항 명세서</a:t>
          </a:r>
          <a:endParaRPr lang="en-US" sz="2200" kern="1200"/>
        </a:p>
      </dsp:txBody>
      <dsp:txXfrm>
        <a:off x="1058686" y="1147573"/>
        <a:ext cx="9456913" cy="916611"/>
      </dsp:txXfrm>
    </dsp:sp>
    <dsp:sp modelId="{FA5A260C-9FFA-44B3-8131-E16D4B6A7FC5}">
      <dsp:nvSpPr>
        <dsp:cNvPr id="0" name=""/>
        <dsp:cNvSpPr/>
      </dsp:nvSpPr>
      <dsp:spPr>
        <a:xfrm>
          <a:off x="0" y="2301725"/>
          <a:ext cx="10515600" cy="916611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43FD0-67B8-41E8-B04D-18CDFCEAF0FF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35C2BD-8122-4761-9947-4CC58BDA5BCA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3. </a:t>
          </a:r>
          <a:r>
            <a:rPr lang="en-US" altLang="ko-KR" sz="2200" kern="1200" dirty="0"/>
            <a:t>DB </a:t>
          </a:r>
          <a:r>
            <a:rPr lang="ko-KR" altLang="en-US" sz="2200" kern="1200" dirty="0"/>
            <a:t>모델 개념적 설계</a:t>
          </a:r>
          <a:endParaRPr lang="en-US" sz="2200" kern="1200" dirty="0"/>
        </a:p>
      </dsp:txBody>
      <dsp:txXfrm>
        <a:off x="1058686" y="2293338"/>
        <a:ext cx="9456913" cy="916611"/>
      </dsp:txXfrm>
    </dsp:sp>
    <dsp:sp modelId="{43F03C19-DB3E-49E3-AE2E-482C17E4259B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114300">
            <a:prstClr val="black"/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DD12B-E715-479E-A640-AC9E34EDCB1C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D2BCC-3BC1-4E15-A5D5-3F0EF3AB8872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4. </a:t>
          </a:r>
          <a:r>
            <a:rPr lang="en-US" altLang="ko-KR" sz="2200" kern="1200"/>
            <a:t>ER </a:t>
          </a:r>
          <a:r>
            <a:rPr lang="ko-KR" altLang="en-US" sz="2200" kern="1200"/>
            <a:t>다이어그램</a:t>
          </a:r>
          <a:endParaRPr lang="en-US" sz="2200" kern="1200"/>
        </a:p>
      </dsp:txBody>
      <dsp:txXfrm>
        <a:off x="1058686" y="3439103"/>
        <a:ext cx="94569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115640" y="2477880"/>
            <a:ext cx="10167840" cy="3693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굴림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10167840" cy="3693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4961880" cy="3693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325920" y="2477880"/>
            <a:ext cx="4961880" cy="3693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115640" y="548640"/>
            <a:ext cx="10167840" cy="5468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굴림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325920" y="2477880"/>
            <a:ext cx="4961880" cy="3693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1115640" y="44074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4961880" cy="3693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325920" y="24778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325920" y="44074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325920" y="24778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1115640" y="4407480"/>
            <a:ext cx="10167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10167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1115640" y="4407480"/>
            <a:ext cx="10167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325920" y="24778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115640" y="44074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325920" y="44074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3273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53640" y="2477880"/>
            <a:ext cx="3273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7991640" y="2477880"/>
            <a:ext cx="3273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1115640" y="4407480"/>
            <a:ext cx="3273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553640" y="4407480"/>
            <a:ext cx="3273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7991640" y="4407480"/>
            <a:ext cx="3273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115640" y="2477880"/>
            <a:ext cx="10167840" cy="3693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굴림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10167840" cy="3693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4961880" cy="3693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325920" y="2477880"/>
            <a:ext cx="4961880" cy="3693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1115640" y="548640"/>
            <a:ext cx="10167840" cy="5468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굴림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325920" y="2477880"/>
            <a:ext cx="4961880" cy="3693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1115640" y="44074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4961880" cy="3693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325920" y="24778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325920" y="44074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325920" y="24778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1115640" y="4407480"/>
            <a:ext cx="10167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10167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1115640" y="4407480"/>
            <a:ext cx="10167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6325920" y="24778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1115640" y="44074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325920" y="4407480"/>
            <a:ext cx="496188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3273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553640" y="2477880"/>
            <a:ext cx="3273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7991640" y="2477880"/>
            <a:ext cx="3273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1115640" y="4407480"/>
            <a:ext cx="3273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body"/>
          </p:nvPr>
        </p:nvSpPr>
        <p:spPr>
          <a:xfrm>
            <a:off x="4553640" y="4407480"/>
            <a:ext cx="3273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7991640" y="4407480"/>
            <a:ext cx="3273840" cy="1761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76000" y="1124640"/>
            <a:ext cx="11036520" cy="3172680"/>
          </a:xfrm>
          <a:prstGeom prst="rect">
            <a:avLst/>
          </a:prstGeom>
        </p:spPr>
        <p:txBody>
          <a:bodyPr anchor="b">
            <a:normAutofit/>
          </a:bodyPr>
          <a:p>
            <a:pPr>
              <a:lnSpc>
                <a:spcPct val="90000"/>
              </a:lnSpc>
            </a:pPr>
            <a:r>
              <a:rPr b="1" lang="ko-KR" sz="8000" spc="-1" strike="noStrike">
                <a:solidFill>
                  <a:srgbClr val="000000"/>
                </a:solidFill>
                <a:latin typeface="Avenir Next LT Pro"/>
              </a:rPr>
              <a:t>Click to edit Master title style</a:t>
            </a:r>
            <a:endParaRPr b="0" lang="ko-KR" sz="8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57600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B7F7E6CE-1A9F-496A-A30F-03A66CF9C87B}" type="datetime">
              <a:rPr b="0" lang="en-US" sz="1200" spc="-1" strike="noStrike">
                <a:solidFill>
                  <a:srgbClr val="8b8b8b"/>
                </a:solidFill>
                <a:latin typeface="Avenir Next LT Pro"/>
              </a:rPr>
              <a:t>11/8/20</a:t>
            </a:fld>
            <a:endParaRPr b="0" lang="en-US" sz="1200" spc="-1" strike="noStrike">
              <a:latin typeface="바탕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바탕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8696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7EBE7B57-217A-4B9D-9F79-661BA2A8E2EB}" type="slidenum">
              <a:rPr b="0" lang="en-US" sz="1200" spc="-1" strike="noStrike">
                <a:solidFill>
                  <a:srgbClr val="8b8b8b"/>
                </a:solidFill>
                <a:latin typeface="Avenir Next LT Pro"/>
              </a:rPr>
              <a:t>&lt;숫자&gt;</a:t>
            </a:fld>
            <a:endParaRPr b="0" lang="en-US" sz="1200" spc="-1" strike="noStrike">
              <a:latin typeface="바탕"/>
            </a:endParaRPr>
          </a:p>
        </p:txBody>
      </p:sp>
      <p:sp>
        <p:nvSpPr>
          <p:cNvPr id="4" name="CustomShape 5"/>
          <p:cNvSpPr/>
          <p:nvPr/>
        </p:nvSpPr>
        <p:spPr>
          <a:xfrm rot="5400000">
            <a:off x="857880" y="346320"/>
            <a:ext cx="145800" cy="70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CustomShape 6"/>
          <p:cNvSpPr/>
          <p:nvPr/>
        </p:nvSpPr>
        <p:spPr>
          <a:xfrm flipV="1">
            <a:off x="578520" y="4500720"/>
            <a:ext cx="11034360" cy="1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24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PlaceHolder 7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800" spc="-1" strike="noStrike">
                <a:solidFill>
                  <a:srgbClr val="000000"/>
                </a:solidFill>
                <a:latin typeface="Avenir Next LT Pro"/>
              </a:rPr>
              <a:t>개요 텍스트의 서식을 편집하려면 클릭하십시오</a:t>
            </a:r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2000" spc="-1" strike="noStrike">
                <a:solidFill>
                  <a:srgbClr val="000000"/>
                </a:solidFill>
                <a:latin typeface="Avenir Next LT Pro"/>
              </a:rPr>
              <a:t>2</a:t>
            </a:r>
            <a:r>
              <a:rPr b="0" lang="ko-KR" sz="2000" spc="-1" strike="noStrike">
                <a:solidFill>
                  <a:srgbClr val="000000"/>
                </a:solidFill>
                <a:latin typeface="Avenir Next LT Pro"/>
              </a:rPr>
              <a:t>번째 개요 수준</a:t>
            </a:r>
            <a:endParaRPr b="0" lang="ko-KR" sz="2000" spc="-1" strike="noStrike">
              <a:solidFill>
                <a:srgbClr val="000000"/>
              </a:solidFill>
              <a:latin typeface="Avenir Next LT Pro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번째 개요 수준</a:t>
            </a:r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번째 개요 수준</a:t>
            </a:r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000" spc="-1" strike="noStrike">
                <a:solidFill>
                  <a:srgbClr val="000000"/>
                </a:solidFill>
                <a:latin typeface="Avenir Next LT Pro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Avenir Next LT Pro"/>
              </a:rPr>
              <a:t>번째 개요 수준</a:t>
            </a:r>
            <a:endParaRPr b="0" lang="ko-KR" sz="2000" spc="-1" strike="noStrike">
              <a:solidFill>
                <a:srgbClr val="000000"/>
              </a:solidFill>
              <a:latin typeface="Avenir Next LT Pro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000" spc="-1" strike="noStrike">
                <a:solidFill>
                  <a:srgbClr val="000000"/>
                </a:solidFill>
                <a:latin typeface="Avenir Next LT Pro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Avenir Next LT Pro"/>
              </a:rPr>
              <a:t>번째 개요 수준</a:t>
            </a:r>
            <a:endParaRPr b="0" lang="ko-KR" sz="2000" spc="-1" strike="noStrike">
              <a:solidFill>
                <a:srgbClr val="000000"/>
              </a:solidFill>
              <a:latin typeface="Avenir Next LT Pro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000" spc="-1" strike="noStrike">
                <a:solidFill>
                  <a:srgbClr val="000000"/>
                </a:solidFill>
                <a:latin typeface="Avenir Next LT Pro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Avenir Next LT Pro"/>
              </a:rPr>
              <a:t>번째 개요 수준</a:t>
            </a:r>
            <a:endParaRPr b="0" lang="ko-KR" sz="2000" spc="-1" strike="noStrike">
              <a:solidFill>
                <a:srgbClr val="000000"/>
              </a:solidFill>
              <a:latin typeface="Avenir Next LT Pr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558360" y="0"/>
            <a:ext cx="11167200" cy="2018520"/>
          </a:xfrm>
          <a:prstGeom prst="rect">
            <a:avLst/>
          </a:prstGeom>
          <a:ln w="9360">
            <a:solidFill>
              <a:schemeClr val="tx2">
                <a:lumMod val="10000"/>
                <a:lumOff val="90000"/>
              </a:schemeClr>
            </a:solidFill>
          </a:ln>
          <a:effectLst>
            <a:outerShdw algn="tl" blurRad="5080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CustomShape 2"/>
          <p:cNvSpPr/>
          <p:nvPr/>
        </p:nvSpPr>
        <p:spPr>
          <a:xfrm>
            <a:off x="567000" y="0"/>
            <a:ext cx="11155320" cy="2011320"/>
          </a:xfrm>
          <a:prstGeom prst="rect">
            <a:avLst/>
          </a:prstGeom>
          <a:ln w="936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CustomShape 3"/>
          <p:cNvSpPr/>
          <p:nvPr/>
        </p:nvSpPr>
        <p:spPr>
          <a:xfrm>
            <a:off x="498960" y="787320"/>
            <a:ext cx="127800" cy="70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Click to edit Master title style</a:t>
            </a:r>
            <a:endParaRPr b="0" lang="ko-KR" sz="4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1115640" y="2477880"/>
            <a:ext cx="10167840" cy="3693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rgbClr val="000000"/>
                </a:solidFill>
                <a:latin typeface="Avenir Next LT Pro"/>
              </a:rPr>
              <a:t>Click to edit Master text styles</a:t>
            </a:r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  <a:p>
            <a:pPr lvl="1" marL="685800" indent="-2282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rgbClr val="000000"/>
                </a:solidFill>
                <a:latin typeface="Avenir Next LT Pro"/>
              </a:rPr>
              <a:t>Second level</a:t>
            </a:r>
            <a:endParaRPr b="0" lang="ko-KR" sz="2400" spc="-1" strike="noStrike">
              <a:solidFill>
                <a:srgbClr val="000000"/>
              </a:solidFill>
              <a:latin typeface="Avenir Next LT Pro"/>
            </a:endParaRPr>
          </a:p>
          <a:p>
            <a:pPr lvl="2" marL="1143000" indent="-2282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rgbClr val="000000"/>
                </a:solidFill>
                <a:latin typeface="Avenir Next LT Pro"/>
              </a:rPr>
              <a:t>Third level</a:t>
            </a:r>
            <a:endParaRPr b="0" lang="ko-KR" sz="2000" spc="-1" strike="noStrike">
              <a:solidFill>
                <a:srgbClr val="000000"/>
              </a:solidFill>
              <a:latin typeface="Avenir Next LT Pro"/>
            </a:endParaRPr>
          </a:p>
          <a:p>
            <a:pPr lvl="3" marL="1600200" indent="-2282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Fourth level</a:t>
            </a:r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  <a:p>
            <a:pPr lvl="4" marL="2057400" indent="-2282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Fifth level</a:t>
            </a:r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/>
          </p:nvPr>
        </p:nvSpPr>
        <p:spPr>
          <a:xfrm>
            <a:off x="111564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1C3B3A89-0041-4169-A9FC-8C6860829371}" type="datetime">
              <a:rPr b="0" lang="en-US" sz="1200" spc="-1" strike="noStrike">
                <a:solidFill>
                  <a:srgbClr val="8b8b8b"/>
                </a:solidFill>
                <a:latin typeface="Avenir Next LT Pro"/>
              </a:rPr>
              <a:t>11/8/20</a:t>
            </a:fld>
            <a:endParaRPr b="0" lang="en-US" sz="1200" spc="-1" strike="noStrike">
              <a:latin typeface="바탕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바탕"/>
            </a:endParaRPr>
          </a:p>
        </p:txBody>
      </p:sp>
      <p:sp>
        <p:nvSpPr>
          <p:cNvPr id="50" name="PlaceHolder 8"/>
          <p:cNvSpPr>
            <a:spLocks noGrp="1"/>
          </p:cNvSpPr>
          <p:nvPr>
            <p:ph type="sldNum"/>
          </p:nvPr>
        </p:nvSpPr>
        <p:spPr>
          <a:xfrm>
            <a:off x="854064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2DAF6505-1BAC-418D-853E-D9F20007046E}" type="slidenum">
              <a:rPr b="0" lang="en-US" sz="1200" spc="-1" strike="noStrike">
                <a:solidFill>
                  <a:srgbClr val="8b8b8b"/>
                </a:solidFill>
                <a:latin typeface="Avenir Next LT Pro"/>
              </a:rPr>
              <a:t>&lt;숫자&gt;</a:t>
            </a:fld>
            <a:endParaRPr b="0" lang="en-US" sz="1200" spc="-1" strike="noStrike"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58360" y="0"/>
            <a:ext cx="11167200" cy="2018520"/>
          </a:xfrm>
          <a:prstGeom prst="rect">
            <a:avLst/>
          </a:prstGeom>
          <a:solidFill>
            <a:schemeClr val="bg1"/>
          </a:solidFill>
          <a:ln w="9360">
            <a:solidFill>
              <a:schemeClr val="tx2">
                <a:lumMod val="10000"/>
                <a:lumOff val="90000"/>
              </a:schemeClr>
            </a:solidFill>
          </a:ln>
          <a:effectLst>
            <a:outerShdw algn="tl" blurRad="5080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CustomShape 2"/>
          <p:cNvSpPr/>
          <p:nvPr/>
        </p:nvSpPr>
        <p:spPr>
          <a:xfrm>
            <a:off x="567000" y="0"/>
            <a:ext cx="11155320" cy="2011320"/>
          </a:xfrm>
          <a:prstGeom prst="rect">
            <a:avLst/>
          </a:prstGeom>
          <a:solidFill>
            <a:schemeClr val="bg1"/>
          </a:solidFill>
          <a:ln w="936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CustomShape 3"/>
          <p:cNvSpPr/>
          <p:nvPr/>
        </p:nvSpPr>
        <p:spPr>
          <a:xfrm>
            <a:off x="498960" y="787320"/>
            <a:ext cx="127800" cy="70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CustomShap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1" name="Picture 3" descr=""/>
          <p:cNvPicPr/>
          <p:nvPr/>
        </p:nvPicPr>
        <p:blipFill>
          <a:blip r:embed="rId1">
            <a:alphaModFix amt="40000"/>
          </a:blip>
          <a:srcRect l="0" t="15729" r="0" b="0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92" name="TextShape 5"/>
          <p:cNvSpPr txBox="1"/>
          <p:nvPr/>
        </p:nvSpPr>
        <p:spPr>
          <a:xfrm>
            <a:off x="841320" y="941760"/>
            <a:ext cx="10506240" cy="14382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1" lang="ko-KR" sz="5000" spc="-1" strike="noStrike">
                <a:solidFill>
                  <a:srgbClr val="ffffff"/>
                </a:solidFill>
                <a:latin typeface="Avenir Next LT Pro"/>
              </a:rPr>
              <a:t>db</a:t>
            </a:r>
            <a:endParaRPr b="0" lang="ko-KR" sz="5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93" name="CustomShape 6"/>
          <p:cNvSpPr/>
          <p:nvPr/>
        </p:nvSpPr>
        <p:spPr>
          <a:xfrm rot="5400000">
            <a:off x="1120680" y="346320"/>
            <a:ext cx="145800" cy="70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" name="CustomShape 7"/>
          <p:cNvSpPr/>
          <p:nvPr/>
        </p:nvSpPr>
        <p:spPr>
          <a:xfrm>
            <a:off x="841320" y="3241080"/>
            <a:ext cx="10506240" cy="18000"/>
          </a:xfrm>
          <a:prstGeom prst="rect">
            <a:avLst/>
          </a:prstGeom>
          <a:solidFill>
            <a:schemeClr val="tx1"/>
          </a:solidFill>
          <a:ln w="324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" name="TextShape 8"/>
          <p:cNvSpPr txBox="1"/>
          <p:nvPr/>
        </p:nvSpPr>
        <p:spPr>
          <a:xfrm>
            <a:off x="7076520" y="3919320"/>
            <a:ext cx="4748760" cy="291996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>
            <a:normAutofit fontScale="73000"/>
          </a:bodyPr>
          <a:p>
            <a:pPr marL="114480" algn="ctr">
              <a:lnSpc>
                <a:spcPct val="100000"/>
              </a:lnSpc>
              <a:spcBef>
                <a:spcPts val="1001"/>
              </a:spcBef>
            </a:pP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2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조</a:t>
            </a:r>
            <a:endParaRPr b="0" lang="en-US" sz="2200" spc="-1" strike="noStrike">
              <a:latin typeface="굴림"/>
            </a:endParaRPr>
          </a:p>
          <a:p>
            <a:pPr marL="343080" indent="-228240" algn="r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조장  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:  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컴퓨터공학전공 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2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학년 권순호 </a:t>
            </a:r>
            <a:endParaRPr b="0" lang="en-US" sz="2200" spc="-1" strike="noStrike">
              <a:latin typeface="굴림"/>
            </a:endParaRPr>
          </a:p>
          <a:p>
            <a:pPr marL="343080" indent="-228240" algn="r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조원  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:       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기계공학과    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3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학년 류연동</a:t>
            </a:r>
            <a:endParaRPr b="0" lang="en-US" sz="2200" spc="-1" strike="noStrike">
              <a:latin typeface="굴림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</a:pP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컴퓨터공학전공 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2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학년 배준일</a:t>
            </a:r>
            <a:endParaRPr b="0" lang="en-US" sz="2200" spc="-1" strike="noStrike">
              <a:latin typeface="굴림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</a:pP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컴퓨터공학전공 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2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학년 유승주</a:t>
            </a:r>
            <a:endParaRPr b="0" lang="en-US" sz="2200" spc="-1" strike="noStrike">
              <a:latin typeface="굴림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</a:pP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컴퓨터공학전공 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2</a:t>
            </a:r>
            <a:r>
              <a:rPr b="1" lang="en-US" sz="2200" spc="-1" strike="noStrike">
                <a:solidFill>
                  <a:srgbClr val="ffffff"/>
                </a:solidFill>
                <a:latin typeface="Avenir Next LT Pro"/>
              </a:rPr>
              <a:t>학년 정우영</a:t>
            </a:r>
            <a:endParaRPr b="0" lang="en-US" sz="2200" spc="-1" strike="noStrike">
              <a:latin typeface="굴림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</a:pPr>
            <a:endParaRPr b="0" lang="en-US" sz="2200" spc="-1" strike="noStrike">
              <a:latin typeface="굴림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</a:pPr>
            <a:endParaRPr b="0" lang="en-US" sz="2200" spc="-1" strike="noStrike">
              <a:latin typeface="굴림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</a:pPr>
            <a:endParaRPr b="0" lang="en-US" sz="2200" spc="-1" strike="noStrike">
              <a:latin typeface="굴림"/>
            </a:endParaRPr>
          </a:p>
        </p:txBody>
      </p:sp>
      <p:pic>
        <p:nvPicPr>
          <p:cNvPr id="96" name="그림 6" descr=""/>
          <p:cNvPicPr/>
          <p:nvPr/>
        </p:nvPicPr>
        <p:blipFill>
          <a:blip r:embed="rId2"/>
          <a:stretch/>
        </p:blipFill>
        <p:spPr>
          <a:xfrm>
            <a:off x="4784760" y="5371560"/>
            <a:ext cx="2619000" cy="1486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TextShape 2"/>
          <p:cNvSpPr txBox="1"/>
          <p:nvPr/>
        </p:nvSpPr>
        <p:spPr>
          <a:xfrm>
            <a:off x="841320" y="251280"/>
            <a:ext cx="10506240" cy="10098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</a:pP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INDEX</a:t>
            </a:r>
            <a:endParaRPr b="0" lang="ko-KR" sz="4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99" name="CustomShape 3"/>
          <p:cNvSpPr/>
          <p:nvPr/>
        </p:nvSpPr>
        <p:spPr>
          <a:xfrm>
            <a:off x="0" y="417600"/>
            <a:ext cx="127800" cy="631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CustomShape 4"/>
          <p:cNvSpPr/>
          <p:nvPr/>
        </p:nvSpPr>
        <p:spPr>
          <a:xfrm>
            <a:off x="841320" y="1380960"/>
            <a:ext cx="10506240" cy="1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24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1897196333"/>
              </p:ext>
            </p:extLst>
          </p:nvPr>
        </p:nvGraphicFramePr>
        <p:xfrm>
          <a:off x="838080" y="1926360"/>
          <a:ext cx="10515240" cy="4357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2712240" y="2444760"/>
            <a:ext cx="3383640" cy="19684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ko-KR" sz="5400" spc="-1" strike="noStrike">
                <a:solidFill>
                  <a:srgbClr val="000000"/>
                </a:solidFill>
                <a:latin typeface="휴먼편지체"/>
                <a:ea typeface="휴먼편지체"/>
              </a:rPr>
              <a:t>주제 선정</a:t>
            </a:r>
            <a:endParaRPr b="0" lang="ko-KR" sz="5400" spc="-1" strike="noStrike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102" name="그림 7" descr=""/>
          <p:cNvPicPr/>
          <p:nvPr/>
        </p:nvPicPr>
        <p:blipFill>
          <a:blip r:embed="rId1"/>
          <a:stretch/>
        </p:blipFill>
        <p:spPr>
          <a:xfrm>
            <a:off x="7005960" y="1879200"/>
            <a:ext cx="3383640" cy="3383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업무 선정 과정</a:t>
            </a:r>
            <a:endParaRPr b="0" lang="ko-KR" sz="4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04" name="TextShape 2"/>
          <p:cNvSpPr txBox="1"/>
          <p:nvPr/>
        </p:nvSpPr>
        <p:spPr>
          <a:xfrm>
            <a:off x="28080" y="24480"/>
            <a:ext cx="1865880" cy="63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>
            <a:noAutofit/>
          </a:bodyPr>
          <a:p>
            <a:pPr>
              <a:lnSpc>
                <a:spcPct val="110000"/>
              </a:lnSpc>
              <a:spcBef>
                <a:spcPts val="1001"/>
              </a:spcBef>
            </a:pPr>
            <a:r>
              <a:rPr b="0" lang="ko-KR" sz="2800" spc="-1" strike="noStrike">
                <a:solidFill>
                  <a:srgbClr val="ffffff"/>
                </a:solidFill>
                <a:latin typeface="Avenir Next LT Pro"/>
              </a:rPr>
              <a:t> </a:t>
            </a:r>
            <a:r>
              <a:rPr b="0" lang="ko-KR" sz="2800" spc="-1" strike="noStrike">
                <a:solidFill>
                  <a:srgbClr val="ffffff"/>
                </a:solidFill>
                <a:latin typeface="Avenir Next LT Pro"/>
              </a:rPr>
              <a:t>주제 선정</a:t>
            </a:r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105" name="그림 5" descr=""/>
          <p:cNvPicPr/>
          <p:nvPr/>
        </p:nvPicPr>
        <p:blipFill>
          <a:blip r:embed="rId1"/>
          <a:srcRect l="0" t="7752" r="0" b="0"/>
          <a:stretch/>
        </p:blipFill>
        <p:spPr>
          <a:xfrm>
            <a:off x="8568360" y="957960"/>
            <a:ext cx="2901600" cy="476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6" name="CustomShape 3"/>
          <p:cNvSpPr/>
          <p:nvPr/>
        </p:nvSpPr>
        <p:spPr>
          <a:xfrm>
            <a:off x="5261760" y="2659320"/>
            <a:ext cx="1875240" cy="13593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>
              <a:hueOff val="0"/>
              <a:satOff val="0"/>
              <a:lumOff val="0"/>
              <a:alphaOff val="0"/>
            </a:schemeClr>
          </a:solidFill>
          <a:ln/>
          <a:effectLst>
            <a:innerShdw blurRad="114300">
              <a:srgbClr val="000000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투표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107" name="CustomShape 4"/>
          <p:cNvSpPr/>
          <p:nvPr/>
        </p:nvSpPr>
        <p:spPr>
          <a:xfrm>
            <a:off x="1144440" y="2877480"/>
            <a:ext cx="3401640" cy="11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업무 관련 내부적인 논의를 거쳐 모든 의견을 고려하여 투표를 통한 합리적인 업무 선정 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108" name="CustomShape 5"/>
          <p:cNvSpPr/>
          <p:nvPr/>
        </p:nvSpPr>
        <p:spPr>
          <a:xfrm>
            <a:off x="961200" y="5129640"/>
            <a:ext cx="1123560" cy="709200"/>
          </a:xfrm>
          <a:prstGeom prst="rightArrow">
            <a:avLst>
              <a:gd name="adj1" fmla="val 50000"/>
              <a:gd name="adj2" fmla="val 5000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09" name="CustomShape 6"/>
          <p:cNvSpPr/>
          <p:nvPr/>
        </p:nvSpPr>
        <p:spPr>
          <a:xfrm>
            <a:off x="2630160" y="5351040"/>
            <a:ext cx="377748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항공 관련 사업을 선정하게 되었다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 (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수정 필요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)</a:t>
            </a:r>
            <a:endParaRPr b="0" lang="en-US" sz="1800" spc="-1" strike="noStrike"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1"/>
          <p:cNvSpPr txBox="1"/>
          <p:nvPr/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</a:pP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항공 서비스를 구현한 데이터베이스 설계</a:t>
            </a:r>
            <a:br/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(T-Way Airline)</a:t>
            </a:r>
            <a:endParaRPr b="0" lang="ko-KR" sz="4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11" name="TextShape 2"/>
          <p:cNvSpPr txBox="1"/>
          <p:nvPr/>
        </p:nvSpPr>
        <p:spPr>
          <a:xfrm>
            <a:off x="817560" y="2448360"/>
            <a:ext cx="10311120" cy="3693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10000"/>
              </a:lnSpc>
              <a:spcBef>
                <a:spcPts val="1001"/>
              </a:spcBef>
            </a:pPr>
            <a:r>
              <a:rPr b="0" lang="ko-KR" sz="2800" spc="-1" strike="noStrike">
                <a:solidFill>
                  <a:srgbClr val="000000"/>
                </a:solidFill>
                <a:latin typeface="Avenir Next LT Pro"/>
              </a:rPr>
              <a:t>                    </a:t>
            </a:r>
            <a:r>
              <a:rPr b="0" lang="ko-KR" sz="2800" spc="-1" strike="noStrike">
                <a:solidFill>
                  <a:srgbClr val="000000"/>
                </a:solidFill>
                <a:latin typeface="Avenir Next LT Pro"/>
              </a:rPr>
              <a:t>선정 이유</a:t>
            </a:r>
            <a:endParaRPr b="0" lang="ko-KR" sz="2800" spc="-1" strike="noStrike">
              <a:solidFill>
                <a:srgbClr val="000000"/>
              </a:solidFill>
              <a:latin typeface="Avenir Next LT Pro"/>
            </a:endParaRPr>
          </a:p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타 후보군에 비해 업무의 분담이 잘 되어있다</a:t>
            </a: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타 업무에 비해 많은 소비자가 예상되어 경쟁력이 높다</a:t>
            </a: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서비스와 소속 공항</a:t>
            </a: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, </a:t>
            </a: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예약의 관리 효율을 위한 경제적인 </a:t>
            </a: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DBMS</a:t>
            </a: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가 요구된다</a:t>
            </a: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(</a:t>
            </a: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추가적인 구성 필요</a:t>
            </a:r>
            <a:r>
              <a:rPr b="0" lang="ko-KR" sz="1800" spc="-1" strike="noStrike">
                <a:solidFill>
                  <a:srgbClr val="000000"/>
                </a:solidFill>
                <a:latin typeface="Avenir Next LT Pro"/>
              </a:rPr>
              <a:t>)</a:t>
            </a:r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  <a:p>
            <a:pPr>
              <a:lnSpc>
                <a:spcPct val="110000"/>
              </a:lnSpc>
              <a:spcBef>
                <a:spcPts val="1001"/>
              </a:spcBef>
            </a:pPr>
            <a:endParaRPr b="0" lang="ko-KR" sz="18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12" name="CustomShape 3"/>
          <p:cNvSpPr/>
          <p:nvPr/>
        </p:nvSpPr>
        <p:spPr>
          <a:xfrm>
            <a:off x="28080" y="24480"/>
            <a:ext cx="1865880" cy="635760"/>
          </a:xfrm>
          <a:prstGeom prst="roundRect">
            <a:avLst>
              <a:gd name="adj" fmla="val 10000"/>
            </a:avLst>
          </a:prstGeom>
          <a:solidFill>
            <a:srgbClr val="7030a0"/>
          </a:solidFill>
          <a:ln>
            <a:noFill/>
          </a:ln>
          <a:effectLst>
            <a:innerShdw blurRad="114300">
              <a:srgbClr val="000000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0"/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rmAutofit/>
          </a:bodyPr>
          <a:p>
            <a:pPr>
              <a:lnSpc>
                <a:spcPct val="110000"/>
              </a:lnSpc>
              <a:spcBef>
                <a:spcPts val="1001"/>
              </a:spcBef>
            </a:pPr>
            <a:r>
              <a:rPr b="0" lang="en-US" sz="2800" spc="-1" strike="noStrike">
                <a:solidFill>
                  <a:srgbClr val="ffffff"/>
                </a:solidFill>
                <a:latin typeface="Avenir Next LT Pro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venir Next LT Pro"/>
              </a:rPr>
              <a:t>주제 선정</a:t>
            </a:r>
            <a:endParaRPr b="0" lang="en-US" sz="2800" spc="-1" strike="noStrike"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Shape 1"/>
          <p:cNvSpPr txBox="1"/>
          <p:nvPr/>
        </p:nvSpPr>
        <p:spPr>
          <a:xfrm>
            <a:off x="2511720" y="2205720"/>
            <a:ext cx="3962160" cy="19684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ko-KR" sz="5400" spc="-1" strike="noStrike">
                <a:solidFill>
                  <a:srgbClr val="000000"/>
                </a:solidFill>
                <a:latin typeface="휴먼편지체"/>
                <a:ea typeface="휴먼편지체"/>
              </a:rPr>
              <a:t>요구사항 명세</a:t>
            </a:r>
            <a:endParaRPr b="0" lang="ko-KR" sz="54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7699320" y="1771560"/>
            <a:ext cx="2955240" cy="264096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style>
          <a:lnRef idx="2"/>
          <a:fillRef idx="0"/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Shape 1"/>
          <p:cNvSpPr txBox="1"/>
          <p:nvPr/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데이터 요구사항</a:t>
            </a:r>
            <a:endParaRPr b="0" lang="ko-KR" sz="4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16" name="TextShape 2"/>
          <p:cNvSpPr txBox="1"/>
          <p:nvPr/>
        </p:nvSpPr>
        <p:spPr>
          <a:xfrm>
            <a:off x="28080" y="26280"/>
            <a:ext cx="2500200" cy="522000"/>
          </a:xfrm>
          <a:prstGeom prst="rect">
            <a:avLst/>
          </a:prstGeom>
          <a:solidFill>
            <a:srgbClr val="09963b"/>
          </a:solidFill>
          <a:ln>
            <a:noFill/>
          </a:ln>
        </p:spPr>
        <p:txBody>
          <a:bodyPr>
            <a:noAutofit/>
          </a:bodyPr>
          <a:p>
            <a:pPr>
              <a:lnSpc>
                <a:spcPct val="110000"/>
              </a:lnSpc>
              <a:spcBef>
                <a:spcPts val="1001"/>
              </a:spcBef>
            </a:pPr>
            <a:r>
              <a:rPr b="0" lang="ko-KR" sz="2400" spc="-1" strike="noStrike">
                <a:solidFill>
                  <a:srgbClr val="ffffff"/>
                </a:solidFill>
                <a:latin typeface="Avenir Next LT Pro"/>
              </a:rPr>
              <a:t> </a:t>
            </a:r>
            <a:r>
              <a:rPr b="0" lang="ko-KR" sz="2400" spc="-1" strike="noStrike">
                <a:solidFill>
                  <a:srgbClr val="ffffff"/>
                </a:solidFill>
                <a:latin typeface="Avenir Next LT Pro"/>
              </a:rPr>
              <a:t>요구사항 명세서</a:t>
            </a:r>
            <a:endParaRPr b="0" lang="ko-KR" sz="24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17" name="CustomShape 3"/>
          <p:cNvSpPr/>
          <p:nvPr/>
        </p:nvSpPr>
        <p:spPr>
          <a:xfrm>
            <a:off x="1296000" y="1987560"/>
            <a:ext cx="9461160" cy="420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항공 및 서비스의 표기 범위는 국내이다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T-way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항공사가 있는 공항의 경영자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(Director)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는 각 한명이 관리한다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각 부서는 한 명의 책임자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(Manager)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가 직원 및 서비스를 관리한다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각 공항에 위치한 각각의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T-way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항공사가 해당하는 전체의 서비스를 관리한다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각 항공기는 한 명의 기장을 배치하며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,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각각 하나의 항공기 번호를 소유하고 있다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6.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각 항공기에는 최소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10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명 이상의 승무원이 배치된다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7.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모든 직원은 직원 번호와 직책을 가지고 있으며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,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관리자는 이 직원들을 관리한다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8.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소비자는 여권 번호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,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성별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, ID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등을 가지고 있다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  <a:ea typeface="굴림"/>
              </a:rPr>
              <a:t>.</a:t>
            </a:r>
            <a:endParaRPr b="0" lang="en-US" sz="1800" spc="-1" strike="noStrike"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데이터 요구사항</a:t>
            </a:r>
            <a:endParaRPr b="0" lang="ko-KR" sz="4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19" name="TextShape 2"/>
          <p:cNvSpPr txBox="1"/>
          <p:nvPr/>
        </p:nvSpPr>
        <p:spPr>
          <a:xfrm>
            <a:off x="28080" y="26280"/>
            <a:ext cx="2500200" cy="522000"/>
          </a:xfrm>
          <a:prstGeom prst="rect">
            <a:avLst/>
          </a:prstGeom>
          <a:solidFill>
            <a:srgbClr val="09963b"/>
          </a:solidFill>
          <a:ln>
            <a:noFill/>
          </a:ln>
        </p:spPr>
        <p:txBody>
          <a:bodyPr>
            <a:noAutofit/>
          </a:bodyPr>
          <a:p>
            <a:pPr>
              <a:lnSpc>
                <a:spcPct val="110000"/>
              </a:lnSpc>
              <a:spcBef>
                <a:spcPts val="1001"/>
              </a:spcBef>
            </a:pPr>
            <a:r>
              <a:rPr b="0" lang="ko-KR" sz="2400" spc="-1" strike="noStrike">
                <a:solidFill>
                  <a:srgbClr val="ffffff"/>
                </a:solidFill>
                <a:latin typeface="Avenir Next LT Pro"/>
              </a:rPr>
              <a:t> </a:t>
            </a:r>
            <a:r>
              <a:rPr b="0" lang="ko-KR" sz="2400" spc="-1" strike="noStrike">
                <a:solidFill>
                  <a:srgbClr val="ffffff"/>
                </a:solidFill>
                <a:latin typeface="Avenir Next LT Pro"/>
              </a:rPr>
              <a:t>요구사항 명세서</a:t>
            </a:r>
            <a:endParaRPr b="0" lang="ko-KR" sz="24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20" name="TextShape 3"/>
          <p:cNvSpPr txBox="1"/>
          <p:nvPr/>
        </p:nvSpPr>
        <p:spPr>
          <a:xfrm>
            <a:off x="1152000" y="2175840"/>
            <a:ext cx="9720000" cy="7761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spAutoFit/>
          </a:bodyPr>
          <a:p>
            <a:r>
              <a:rPr b="0" lang="en-US" sz="1800" spc="-1" strike="noStrike">
                <a:latin typeface="굴림"/>
              </a:rPr>
              <a:t>9. </a:t>
            </a:r>
            <a:r>
              <a:rPr b="0" lang="en-US" sz="1800" spc="-1" strike="noStrike">
                <a:latin typeface="굴림"/>
              </a:rPr>
              <a:t>서비스는 크게 기내 서비스와 공항 서비스 </a:t>
            </a:r>
            <a:r>
              <a:rPr b="0" lang="en-US" sz="1800" spc="-1" strike="noStrike">
                <a:latin typeface="굴림"/>
              </a:rPr>
              <a:t>2</a:t>
            </a:r>
            <a:r>
              <a:rPr b="0" lang="en-US" sz="1800" spc="-1" strike="noStrike">
                <a:latin typeface="굴림"/>
              </a:rPr>
              <a:t>개로 분류된다</a:t>
            </a:r>
            <a:r>
              <a:rPr b="0" lang="en-US" sz="1800" spc="-1" strike="noStrike">
                <a:latin typeface="굴림"/>
              </a:rPr>
              <a:t>.</a:t>
            </a:r>
            <a:endParaRPr b="0" lang="en-US" sz="1800" spc="-1" strike="noStrike">
              <a:latin typeface="굴림"/>
            </a:endParaRPr>
          </a:p>
          <a:p>
            <a:endParaRPr b="0" lang="en-US" sz="1800" spc="-1" strike="noStrike">
              <a:latin typeface="굴림"/>
            </a:endParaRPr>
          </a:p>
          <a:p>
            <a:r>
              <a:rPr b="0" lang="en-US" sz="1800" spc="-1" strike="noStrike">
                <a:latin typeface="굴림"/>
              </a:rPr>
              <a:t>10.</a:t>
            </a:r>
            <a:r>
              <a:rPr b="0" lang="en-US" sz="1800" spc="-1" strike="noStrike">
                <a:latin typeface="굴림"/>
              </a:rPr>
              <a:t>항공권에는 좌석 번호와 좌석등급</a:t>
            </a:r>
            <a:r>
              <a:rPr b="0" lang="en-US" sz="1800" spc="-1" strike="noStrike">
                <a:latin typeface="굴림"/>
              </a:rPr>
              <a:t>, </a:t>
            </a:r>
            <a:r>
              <a:rPr b="0" lang="en-US" sz="1800" spc="-1" strike="noStrike">
                <a:latin typeface="굴림"/>
              </a:rPr>
              <a:t>날짜와 탑승할 항공기 번호가 적혀있다</a:t>
            </a:r>
            <a:r>
              <a:rPr b="0" lang="en-US" sz="1800" spc="-1" strike="noStrike">
                <a:latin typeface="굴림"/>
              </a:rPr>
              <a:t>.</a:t>
            </a:r>
            <a:endParaRPr b="0" lang="en-US" sz="1800" spc="-1" strike="noStrike"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기능 요구사항</a:t>
            </a:r>
            <a:endParaRPr b="0" lang="ko-KR" sz="4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28080" y="26280"/>
            <a:ext cx="2707920" cy="522000"/>
          </a:xfrm>
          <a:prstGeom prst="rect">
            <a:avLst/>
          </a:prstGeom>
          <a:solidFill>
            <a:srgbClr val="09963b"/>
          </a:solidFill>
          <a:ln>
            <a:noFill/>
          </a:ln>
        </p:spPr>
        <p:txBody>
          <a:bodyPr>
            <a:noAutofit/>
          </a:bodyPr>
          <a:p>
            <a:pPr>
              <a:lnSpc>
                <a:spcPct val="110000"/>
              </a:lnSpc>
              <a:spcBef>
                <a:spcPts val="1001"/>
              </a:spcBef>
            </a:pPr>
            <a:r>
              <a:rPr b="0" lang="ko-KR" sz="2400" spc="-1" strike="noStrike">
                <a:solidFill>
                  <a:srgbClr val="ffffff"/>
                </a:solidFill>
                <a:latin typeface="Avenir Next LT Pro"/>
              </a:rPr>
              <a:t> </a:t>
            </a:r>
            <a:r>
              <a:rPr b="0" lang="ko-KR" sz="2400" spc="-1" strike="noStrike">
                <a:solidFill>
                  <a:srgbClr val="ffffff"/>
                </a:solidFill>
                <a:latin typeface="Avenir Next LT Pro"/>
              </a:rPr>
              <a:t>요구사항 명세서</a:t>
            </a:r>
            <a:endParaRPr b="0" lang="ko-KR" sz="24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23" name="CustomShape 3"/>
          <p:cNvSpPr/>
          <p:nvPr/>
        </p:nvSpPr>
        <p:spPr>
          <a:xfrm>
            <a:off x="5843880" y="3177000"/>
            <a:ext cx="503640" cy="50364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style>
          <a:lnRef idx="2"/>
          <a:fillRef idx="0"/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24" name="CustomShape 4"/>
          <p:cNvSpPr/>
          <p:nvPr/>
        </p:nvSpPr>
        <p:spPr>
          <a:xfrm>
            <a:off x="759960" y="2342160"/>
            <a:ext cx="10968480" cy="3656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각 경영자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(Director)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는 소비자의 예약 등 권리를 제외한 모든 권한을 갖을 수 있다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각 부서의 책임자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(Manager)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는 부서의 모든 권한을 갖으며 직원의 급여를 조정할 수 있다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각 부서의 직원은 재고관리를 할 수 있으며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,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재고가 있는 경우 소비자로부터 예약이 될 수 있다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.(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트랜잭션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)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소비자는 자신의 예약 정보 및 원하는 부서의 재고를 확인할 수 있는 권한을 갖는다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기장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(Captain)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은 객관적인 판단 하에 결항 및 출발 시간을 조정할 수 있는 권한을 갖는다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소비자는 추가적인 과정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(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예약 변경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,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추가구매 등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)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을 통해 기능을 다시 선택할 수 있다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1861560" y="2239200"/>
            <a:ext cx="4949640" cy="19684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65000"/>
          </a:bodyPr>
          <a:p>
            <a:pPr>
              <a:lnSpc>
                <a:spcPct val="90000"/>
              </a:lnSpc>
            </a:pPr>
            <a:r>
              <a:rPr b="1" lang="ko-KR" sz="5400" spc="-1" strike="noStrike">
                <a:solidFill>
                  <a:srgbClr val="000000"/>
                </a:solidFill>
                <a:latin typeface="휴먼편지체"/>
                <a:ea typeface="휴먼편지체"/>
              </a:rPr>
              <a:t>개념적 관계 데이터 베이스 설계</a:t>
            </a:r>
            <a:endParaRPr b="0" lang="ko-KR" sz="54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7725600" y="2054160"/>
            <a:ext cx="2305800" cy="233892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style>
          <a:lnRef idx="2"/>
          <a:fillRef idx="0"/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T-Way </a:t>
            </a: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항공사 </a:t>
            </a: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System </a:t>
            </a: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분석</a:t>
            </a:r>
            <a:endParaRPr b="0" lang="ko-KR" sz="4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28080" y="26280"/>
            <a:ext cx="1902960" cy="522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>
            <a:innerShdw blurRad="114300">
              <a:srgbClr val="000000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0"/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p>
            <a:pPr>
              <a:lnSpc>
                <a:spcPct val="11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ffffff"/>
                </a:solidFill>
                <a:latin typeface="Avenir Next LT Pro"/>
              </a:rPr>
              <a:t>개념적 설계</a:t>
            </a:r>
            <a:endParaRPr b="0" lang="en-US" sz="2400" spc="-1" strike="noStrike">
              <a:latin typeface="굴림"/>
            </a:endParaRPr>
          </a:p>
        </p:txBody>
      </p:sp>
      <p:sp>
        <p:nvSpPr>
          <p:cNvPr id="129" name="CustomShape 3"/>
          <p:cNvSpPr/>
          <p:nvPr/>
        </p:nvSpPr>
        <p:spPr>
          <a:xfrm>
            <a:off x="6682320" y="2125440"/>
            <a:ext cx="5130000" cy="379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5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해당 항공사는 국내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8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개의 주요 공항에 입주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latin typeface="굴림"/>
            </a:endParaRPr>
          </a:p>
          <a:p>
            <a:pPr marL="343080" indent="-342720">
              <a:lnSpc>
                <a:spcPct val="15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항공사는 다양한 서비스를 소비자에게 제공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latin typeface="굴림"/>
            </a:endParaRPr>
          </a:p>
          <a:p>
            <a:pPr marL="343080" indent="-342720">
              <a:lnSpc>
                <a:spcPct val="15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티웨이 항공사는 마일리지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/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포인트 프로그램 제공을 하지 않는다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latin typeface="굴림"/>
            </a:endParaRPr>
          </a:p>
          <a:p>
            <a:pPr marL="343080" indent="-342720">
              <a:lnSpc>
                <a:spcPct val="15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소비자는 자신이 원하는 서비스를 취사선택 할 수 있다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</p:txBody>
      </p:sp>
      <p:pic>
        <p:nvPicPr>
          <p:cNvPr id="130" name="그림 3" descr=""/>
          <p:cNvPicPr/>
          <p:nvPr/>
        </p:nvPicPr>
        <p:blipFill>
          <a:blip r:embed="rId1"/>
          <a:stretch/>
        </p:blipFill>
        <p:spPr>
          <a:xfrm>
            <a:off x="379440" y="1702440"/>
            <a:ext cx="6076440" cy="3427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1" name="그림 6" descr=""/>
          <p:cNvPicPr/>
          <p:nvPr/>
        </p:nvPicPr>
        <p:blipFill>
          <a:blip r:embed="rId2"/>
          <a:stretch/>
        </p:blipFill>
        <p:spPr>
          <a:xfrm>
            <a:off x="4057920" y="3979440"/>
            <a:ext cx="2397960" cy="2574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2" name="CustomShape 4"/>
          <p:cNvSpPr/>
          <p:nvPr/>
        </p:nvSpPr>
        <p:spPr>
          <a:xfrm>
            <a:off x="852480" y="5155560"/>
            <a:ext cx="5130000" cy="50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( T’Way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항공사 메인 페이지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)</a:t>
            </a:r>
            <a:endParaRPr b="0" lang="en-US" sz="1800" spc="-1" strike="noStrike"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 txBox="1"/>
          <p:nvPr/>
        </p:nvSpPr>
        <p:spPr>
          <a:xfrm>
            <a:off x="1011960" y="450360"/>
            <a:ext cx="10167840" cy="11793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T-Way </a:t>
            </a: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항공사 보유 기체 분석</a:t>
            </a:r>
            <a:endParaRPr b="0" lang="ko-KR" sz="4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34" name="CustomShape 2"/>
          <p:cNvSpPr/>
          <p:nvPr/>
        </p:nvSpPr>
        <p:spPr>
          <a:xfrm>
            <a:off x="28080" y="26280"/>
            <a:ext cx="1902960" cy="522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>
            <a:innerShdw blurRad="114300">
              <a:srgbClr val="000000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0"/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p>
            <a:pPr>
              <a:lnSpc>
                <a:spcPct val="11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ffffff"/>
                </a:solidFill>
                <a:latin typeface="Avenir Next LT Pro"/>
              </a:rPr>
              <a:t>개념적 설계</a:t>
            </a:r>
            <a:endParaRPr b="0" lang="en-US" sz="2400" spc="-1" strike="noStrike">
              <a:latin typeface="굴림"/>
            </a:endParaRPr>
          </a:p>
        </p:txBody>
      </p:sp>
      <p:sp>
        <p:nvSpPr>
          <p:cNvPr id="135" name="CustomShape 3"/>
          <p:cNvSpPr/>
          <p:nvPr/>
        </p:nvSpPr>
        <p:spPr>
          <a:xfrm>
            <a:off x="5873400" y="2422080"/>
            <a:ext cx="5130000" cy="283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2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운행 중인 항공기는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2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BOEING 737 – 800 Series – 24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대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2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BOEING 737 – MAX 8 Series – 3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대</a:t>
            </a:r>
            <a:endParaRPr b="0" lang="en-US" sz="1800" spc="-1" strike="noStrike">
              <a:latin typeface="굴림"/>
            </a:endParaRPr>
          </a:p>
          <a:p>
            <a:pPr marL="285840" indent="-285480">
              <a:lnSpc>
                <a:spcPct val="2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총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27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대의 항공기를 보유하고 있으며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2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각 항공기는 고유한 번호를 부여하여 관리한다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</p:txBody>
      </p:sp>
      <p:pic>
        <p:nvPicPr>
          <p:cNvPr id="136" name="그림 4" descr=""/>
          <p:cNvPicPr/>
          <p:nvPr/>
        </p:nvPicPr>
        <p:blipFill>
          <a:blip r:embed="rId1"/>
          <a:stretch/>
        </p:blipFill>
        <p:spPr>
          <a:xfrm>
            <a:off x="1606680" y="1539360"/>
            <a:ext cx="3207600" cy="51469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Entity Type</a:t>
            </a:r>
            <a:endParaRPr b="0" lang="ko-KR" sz="4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38" name="TextShape 2"/>
          <p:cNvSpPr txBox="1"/>
          <p:nvPr/>
        </p:nvSpPr>
        <p:spPr>
          <a:xfrm>
            <a:off x="28080" y="26280"/>
            <a:ext cx="1902960" cy="52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>
            <a:noAutofit/>
          </a:bodyPr>
          <a:p>
            <a:pPr>
              <a:lnSpc>
                <a:spcPct val="110000"/>
              </a:lnSpc>
              <a:spcBef>
                <a:spcPts val="1001"/>
              </a:spcBef>
            </a:pPr>
            <a:r>
              <a:rPr b="0" lang="ko-KR" sz="2400" spc="-1" strike="noStrike">
                <a:solidFill>
                  <a:srgbClr val="ffffff"/>
                </a:solidFill>
                <a:latin typeface="Avenir Next LT Pro"/>
              </a:rPr>
              <a:t>개념적 설계</a:t>
            </a:r>
            <a:endParaRPr b="0" lang="ko-KR" sz="2400" spc="-1" strike="noStrike">
              <a:solidFill>
                <a:srgbClr val="000000"/>
              </a:solidFill>
              <a:latin typeface="Avenir Next LT Pro"/>
            </a:endParaRPr>
          </a:p>
        </p:txBody>
      </p:sp>
      <p:grpSp>
        <p:nvGrpSpPr>
          <p:cNvPr id="139" name="Group 3"/>
          <p:cNvGrpSpPr/>
          <p:nvPr/>
        </p:nvGrpSpPr>
        <p:grpSpPr>
          <a:xfrm>
            <a:off x="349920" y="1540080"/>
            <a:ext cx="3532680" cy="2403000"/>
            <a:chOff x="349920" y="1540080"/>
            <a:chExt cx="3532680" cy="2403000"/>
          </a:xfrm>
        </p:grpSpPr>
        <p:sp>
          <p:nvSpPr>
            <p:cNvPr id="140" name="CustomShape 4"/>
            <p:cNvSpPr/>
            <p:nvPr/>
          </p:nvSpPr>
          <p:spPr>
            <a:xfrm>
              <a:off x="1075680" y="1540080"/>
              <a:ext cx="161460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Arpt_Name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41" name="CustomShape 5"/>
            <p:cNvSpPr/>
            <p:nvPr/>
          </p:nvSpPr>
          <p:spPr>
            <a:xfrm>
              <a:off x="1915200" y="2840400"/>
              <a:ext cx="917640" cy="44424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venir Next LT Pro"/>
                </a:rPr>
                <a:t>AirPort</a:t>
              </a:r>
              <a:endParaRPr b="0" lang="en-US" sz="1800" spc="-1" strike="noStrike">
                <a:latin typeface="굴림"/>
              </a:endParaRPr>
            </a:p>
          </p:txBody>
        </p:sp>
        <p:sp>
          <p:nvSpPr>
            <p:cNvPr id="142" name="Line 6"/>
            <p:cNvSpPr/>
            <p:nvPr/>
          </p:nvSpPr>
          <p:spPr>
            <a:xfrm>
              <a:off x="1882800" y="1984320"/>
              <a:ext cx="491400" cy="85572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43" name="CustomShape 7"/>
            <p:cNvSpPr/>
            <p:nvPr/>
          </p:nvSpPr>
          <p:spPr>
            <a:xfrm>
              <a:off x="349920" y="3498840"/>
              <a:ext cx="172764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Contct_Num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44" name="Line 8"/>
            <p:cNvSpPr/>
            <p:nvPr/>
          </p:nvSpPr>
          <p:spPr>
            <a:xfrm flipH="1">
              <a:off x="1213920" y="3062520"/>
              <a:ext cx="701280" cy="4359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45" name="CustomShape 9"/>
            <p:cNvSpPr/>
            <p:nvPr/>
          </p:nvSpPr>
          <p:spPr>
            <a:xfrm>
              <a:off x="2154960" y="3498840"/>
              <a:ext cx="172764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Affiliation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46" name="Line 10"/>
            <p:cNvSpPr/>
            <p:nvPr/>
          </p:nvSpPr>
          <p:spPr>
            <a:xfrm>
              <a:off x="2374200" y="3284640"/>
              <a:ext cx="644760" cy="21384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47" name="Line 11"/>
            <p:cNvSpPr/>
            <p:nvPr/>
          </p:nvSpPr>
          <p:spPr>
            <a:xfrm>
              <a:off x="1370160" y="1867320"/>
              <a:ext cx="1004040" cy="0"/>
            </a:xfrm>
            <a:prstGeom prst="line">
              <a:avLst/>
            </a:prstGeom>
            <a:ln w="2556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</p:grpSp>
      <p:grpSp>
        <p:nvGrpSpPr>
          <p:cNvPr id="148" name="Group 12"/>
          <p:cNvGrpSpPr/>
          <p:nvPr/>
        </p:nvGrpSpPr>
        <p:grpSpPr>
          <a:xfrm>
            <a:off x="3511080" y="1578960"/>
            <a:ext cx="3216240" cy="1918080"/>
            <a:chOff x="3511080" y="1578960"/>
            <a:chExt cx="3216240" cy="1918080"/>
          </a:xfrm>
        </p:grpSpPr>
        <p:sp>
          <p:nvSpPr>
            <p:cNvPr id="149" name="CustomShape 13"/>
            <p:cNvSpPr/>
            <p:nvPr/>
          </p:nvSpPr>
          <p:spPr>
            <a:xfrm>
              <a:off x="5126040" y="2809440"/>
              <a:ext cx="1032840" cy="6876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venir Next LT Pro"/>
                </a:rPr>
                <a:t>T-way Airline</a:t>
              </a:r>
              <a:endParaRPr b="0" lang="en-US" sz="1800" spc="-1" strike="noStrike">
                <a:latin typeface="굴림"/>
              </a:endParaRPr>
            </a:p>
          </p:txBody>
        </p:sp>
        <p:sp>
          <p:nvSpPr>
            <p:cNvPr id="150" name="Line 14"/>
            <p:cNvSpPr/>
            <p:nvPr/>
          </p:nvSpPr>
          <p:spPr>
            <a:xfrm flipH="1" flipV="1">
              <a:off x="4387680" y="2023560"/>
              <a:ext cx="1254960" cy="78588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51" name="CustomShape 15"/>
            <p:cNvSpPr/>
            <p:nvPr/>
          </p:nvSpPr>
          <p:spPr>
            <a:xfrm>
              <a:off x="3511080" y="1578960"/>
              <a:ext cx="175284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b050"/>
                  </a:solidFill>
                  <a:latin typeface="Avenir Next LT Pro"/>
                </a:rPr>
                <a:t>Aport_Name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52" name="Line 16"/>
            <p:cNvSpPr/>
            <p:nvPr/>
          </p:nvSpPr>
          <p:spPr>
            <a:xfrm flipV="1">
              <a:off x="5642640" y="2053080"/>
              <a:ext cx="424080" cy="7563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53" name="CustomShape 17"/>
            <p:cNvSpPr/>
            <p:nvPr/>
          </p:nvSpPr>
          <p:spPr>
            <a:xfrm>
              <a:off x="5405760" y="1608480"/>
              <a:ext cx="132156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Director</a:t>
              </a:r>
              <a:endParaRPr b="0" lang="en-US" sz="1400" spc="-1" strike="noStrike">
                <a:latin typeface="굴림"/>
              </a:endParaRPr>
            </a:p>
          </p:txBody>
        </p:sp>
      </p:grpSp>
      <p:grpSp>
        <p:nvGrpSpPr>
          <p:cNvPr id="154" name="Group 18"/>
          <p:cNvGrpSpPr/>
          <p:nvPr/>
        </p:nvGrpSpPr>
        <p:grpSpPr>
          <a:xfrm>
            <a:off x="6955560" y="1631160"/>
            <a:ext cx="5023800" cy="1723680"/>
            <a:chOff x="6955560" y="1631160"/>
            <a:chExt cx="5023800" cy="1723680"/>
          </a:xfrm>
        </p:grpSpPr>
        <p:sp>
          <p:nvSpPr>
            <p:cNvPr id="155" name="CustomShape 19"/>
            <p:cNvSpPr/>
            <p:nvPr/>
          </p:nvSpPr>
          <p:spPr>
            <a:xfrm>
              <a:off x="8249040" y="2910600"/>
              <a:ext cx="1236240" cy="44424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venir Next LT Pro"/>
                </a:rPr>
                <a:t>Employee</a:t>
              </a:r>
              <a:endParaRPr b="0" lang="en-US" sz="1800" spc="-1" strike="noStrike">
                <a:latin typeface="굴림"/>
              </a:endParaRPr>
            </a:p>
          </p:txBody>
        </p:sp>
        <p:sp>
          <p:nvSpPr>
            <p:cNvPr id="156" name="Line 20"/>
            <p:cNvSpPr/>
            <p:nvPr/>
          </p:nvSpPr>
          <p:spPr>
            <a:xfrm flipH="1" flipV="1">
              <a:off x="7616160" y="2075760"/>
              <a:ext cx="1251000" cy="83448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57" name="CustomShape 21"/>
            <p:cNvSpPr/>
            <p:nvPr/>
          </p:nvSpPr>
          <p:spPr>
            <a:xfrm>
              <a:off x="6955560" y="1631160"/>
              <a:ext cx="132156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Emp No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58" name="Line 22"/>
            <p:cNvSpPr/>
            <p:nvPr/>
          </p:nvSpPr>
          <p:spPr>
            <a:xfrm>
              <a:off x="7215120" y="1982880"/>
              <a:ext cx="792000" cy="0"/>
            </a:xfrm>
            <a:prstGeom prst="line">
              <a:avLst/>
            </a:prstGeom>
            <a:ln w="2556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59" name="Line 23"/>
            <p:cNvSpPr/>
            <p:nvPr/>
          </p:nvSpPr>
          <p:spPr>
            <a:xfrm flipV="1">
              <a:off x="8867160" y="2082600"/>
              <a:ext cx="207720" cy="82764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60" name="CustomShape 24"/>
            <p:cNvSpPr/>
            <p:nvPr/>
          </p:nvSpPr>
          <p:spPr>
            <a:xfrm>
              <a:off x="8414280" y="1638360"/>
              <a:ext cx="132156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Salary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61" name="CustomShape 25"/>
            <p:cNvSpPr/>
            <p:nvPr/>
          </p:nvSpPr>
          <p:spPr>
            <a:xfrm>
              <a:off x="10040040" y="1747080"/>
              <a:ext cx="132156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Title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62" name="Line 26"/>
            <p:cNvSpPr/>
            <p:nvPr/>
          </p:nvSpPr>
          <p:spPr>
            <a:xfrm flipV="1">
              <a:off x="9485280" y="2849400"/>
              <a:ext cx="1172160" cy="28332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63" name="CustomShape 27"/>
            <p:cNvSpPr/>
            <p:nvPr/>
          </p:nvSpPr>
          <p:spPr>
            <a:xfrm>
              <a:off x="10657800" y="2627280"/>
              <a:ext cx="132156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Manager</a:t>
              </a:r>
              <a:endParaRPr b="0" lang="en-US" sz="1400" spc="-1" strike="noStrike">
                <a:latin typeface="굴림"/>
              </a:endParaRPr>
            </a:p>
          </p:txBody>
        </p:sp>
      </p:grpSp>
      <p:grpSp>
        <p:nvGrpSpPr>
          <p:cNvPr id="164" name="Group 28"/>
          <p:cNvGrpSpPr/>
          <p:nvPr/>
        </p:nvGrpSpPr>
        <p:grpSpPr>
          <a:xfrm>
            <a:off x="5843160" y="3355200"/>
            <a:ext cx="6231960" cy="2266920"/>
            <a:chOff x="5843160" y="3355200"/>
            <a:chExt cx="6231960" cy="2266920"/>
          </a:xfrm>
        </p:grpSpPr>
        <p:sp>
          <p:nvSpPr>
            <p:cNvPr id="165" name="CustomShape 29"/>
            <p:cNvSpPr/>
            <p:nvPr/>
          </p:nvSpPr>
          <p:spPr>
            <a:xfrm>
              <a:off x="8260920" y="3753000"/>
              <a:ext cx="1236240" cy="556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venir Next LT Pro"/>
                </a:rPr>
                <a:t>Boarding Pass</a:t>
              </a:r>
              <a:endParaRPr b="0" lang="en-US" sz="1800" spc="-1" strike="noStrike">
                <a:latin typeface="굴림"/>
              </a:endParaRPr>
            </a:p>
          </p:txBody>
        </p:sp>
        <p:sp>
          <p:nvSpPr>
            <p:cNvPr id="166" name="Line 30"/>
            <p:cNvSpPr/>
            <p:nvPr/>
          </p:nvSpPr>
          <p:spPr>
            <a:xfrm flipV="1">
              <a:off x="9497160" y="3605040"/>
              <a:ext cx="967320" cy="21492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67" name="Line 31"/>
            <p:cNvSpPr/>
            <p:nvPr/>
          </p:nvSpPr>
          <p:spPr>
            <a:xfrm>
              <a:off x="9497160" y="4031280"/>
              <a:ext cx="1105560" cy="2919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68" name="Line 32"/>
            <p:cNvSpPr/>
            <p:nvPr/>
          </p:nvSpPr>
          <p:spPr>
            <a:xfrm>
              <a:off x="9497160" y="4309560"/>
              <a:ext cx="1599480" cy="6483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69" name="Line 33"/>
            <p:cNvSpPr/>
            <p:nvPr/>
          </p:nvSpPr>
          <p:spPr>
            <a:xfrm>
              <a:off x="8879040" y="4309560"/>
              <a:ext cx="240840" cy="8679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70" name="Line 34"/>
            <p:cNvSpPr/>
            <p:nvPr/>
          </p:nvSpPr>
          <p:spPr>
            <a:xfrm flipH="1">
              <a:off x="7314840" y="4321440"/>
              <a:ext cx="961920" cy="78624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71" name="Line 35"/>
            <p:cNvSpPr/>
            <p:nvPr/>
          </p:nvSpPr>
          <p:spPr>
            <a:xfrm flipH="1">
              <a:off x="6628320" y="3749400"/>
              <a:ext cx="1632240" cy="28512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72" name="Line 36"/>
            <p:cNvSpPr/>
            <p:nvPr/>
          </p:nvSpPr>
          <p:spPr>
            <a:xfrm flipH="1">
              <a:off x="6896160" y="4031280"/>
              <a:ext cx="1364400" cy="61380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73" name="CustomShape 37"/>
            <p:cNvSpPr/>
            <p:nvPr/>
          </p:nvSpPr>
          <p:spPr>
            <a:xfrm>
              <a:off x="10464480" y="3355200"/>
              <a:ext cx="110520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Arrival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74" name="CustomShape 38"/>
            <p:cNvSpPr/>
            <p:nvPr/>
          </p:nvSpPr>
          <p:spPr>
            <a:xfrm>
              <a:off x="10603080" y="4101120"/>
              <a:ext cx="147204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Departure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75" name="CustomShape 39"/>
            <p:cNvSpPr/>
            <p:nvPr/>
          </p:nvSpPr>
          <p:spPr>
            <a:xfrm>
              <a:off x="10360800" y="4958280"/>
              <a:ext cx="147204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b050"/>
                  </a:solidFill>
                  <a:latin typeface="Avenir Next LT Pro"/>
                </a:rPr>
                <a:t>Fligt_No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76" name="CustomShape 40"/>
            <p:cNvSpPr/>
            <p:nvPr/>
          </p:nvSpPr>
          <p:spPr>
            <a:xfrm>
              <a:off x="8405280" y="5177880"/>
              <a:ext cx="142920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Resrv No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77" name="CustomShape 41"/>
            <p:cNvSpPr/>
            <p:nvPr/>
          </p:nvSpPr>
          <p:spPr>
            <a:xfrm>
              <a:off x="6729840" y="5107680"/>
              <a:ext cx="116964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Seat no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78" name="CustomShape 42"/>
            <p:cNvSpPr/>
            <p:nvPr/>
          </p:nvSpPr>
          <p:spPr>
            <a:xfrm>
              <a:off x="5933880" y="4422960"/>
              <a:ext cx="96192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Class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79" name="CustomShape 43"/>
            <p:cNvSpPr/>
            <p:nvPr/>
          </p:nvSpPr>
          <p:spPr>
            <a:xfrm>
              <a:off x="5843160" y="3812400"/>
              <a:ext cx="78480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data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80" name="Line 44"/>
            <p:cNvSpPr/>
            <p:nvPr/>
          </p:nvSpPr>
          <p:spPr>
            <a:xfrm>
              <a:off x="8723880" y="5542920"/>
              <a:ext cx="792000" cy="0"/>
            </a:xfrm>
            <a:prstGeom prst="line">
              <a:avLst/>
            </a:prstGeom>
            <a:ln w="2556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</p:grpSp>
      <p:grpSp>
        <p:nvGrpSpPr>
          <p:cNvPr id="181" name="Group 45"/>
          <p:cNvGrpSpPr/>
          <p:nvPr/>
        </p:nvGrpSpPr>
        <p:grpSpPr>
          <a:xfrm>
            <a:off x="518040" y="4194000"/>
            <a:ext cx="3273840" cy="1385280"/>
            <a:chOff x="518040" y="4194000"/>
            <a:chExt cx="3273840" cy="1385280"/>
          </a:xfrm>
        </p:grpSpPr>
        <p:sp>
          <p:nvSpPr>
            <p:cNvPr id="182" name="CustomShape 46"/>
            <p:cNvSpPr/>
            <p:nvPr/>
          </p:nvSpPr>
          <p:spPr>
            <a:xfrm>
              <a:off x="1504800" y="5135040"/>
              <a:ext cx="1236240" cy="44424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venir Next LT Pro"/>
                </a:rPr>
                <a:t>Customer</a:t>
              </a:r>
              <a:endParaRPr b="0" lang="en-US" sz="1800" spc="-1" strike="noStrike">
                <a:latin typeface="굴림"/>
              </a:endParaRPr>
            </a:p>
          </p:txBody>
        </p:sp>
        <p:grpSp>
          <p:nvGrpSpPr>
            <p:cNvPr id="183" name="Group 47"/>
            <p:cNvGrpSpPr/>
            <p:nvPr/>
          </p:nvGrpSpPr>
          <p:grpSpPr>
            <a:xfrm>
              <a:off x="518040" y="4205880"/>
              <a:ext cx="1535760" cy="444240"/>
              <a:chOff x="518040" y="4205880"/>
              <a:chExt cx="1535760" cy="444240"/>
            </a:xfrm>
          </p:grpSpPr>
          <p:sp>
            <p:nvSpPr>
              <p:cNvPr id="184" name="CustomShape 48"/>
              <p:cNvSpPr/>
              <p:nvPr/>
            </p:nvSpPr>
            <p:spPr>
              <a:xfrm>
                <a:off x="518040" y="4205880"/>
                <a:ext cx="1535760" cy="444240"/>
              </a:xfrm>
              <a:prstGeom prst="ellips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en-US" sz="1400" spc="-1" strike="noStrike">
                    <a:solidFill>
                      <a:srgbClr val="000000"/>
                    </a:solidFill>
                    <a:latin typeface="Avenir Next LT Pro"/>
                  </a:rPr>
                  <a:t>PssprtNum</a:t>
                </a:r>
                <a:endParaRPr b="0" lang="en-US" sz="1400" spc="-1" strike="noStrike">
                  <a:latin typeface="굴림"/>
                </a:endParaRPr>
              </a:p>
            </p:txBody>
          </p:sp>
          <p:sp>
            <p:nvSpPr>
              <p:cNvPr id="185" name="Line 49"/>
              <p:cNvSpPr/>
              <p:nvPr/>
            </p:nvSpPr>
            <p:spPr>
              <a:xfrm>
                <a:off x="822240" y="4552200"/>
                <a:ext cx="890640" cy="0"/>
              </a:xfrm>
              <a:prstGeom prst="line">
                <a:avLst/>
              </a:prstGeom>
              <a:ln w="2556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/>
            </p:style>
          </p:sp>
        </p:grpSp>
        <p:sp>
          <p:nvSpPr>
            <p:cNvPr id="186" name="Line 50"/>
            <p:cNvSpPr/>
            <p:nvPr/>
          </p:nvSpPr>
          <p:spPr>
            <a:xfrm>
              <a:off x="1285920" y="4650480"/>
              <a:ext cx="837000" cy="4845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87" name="Line 51"/>
            <p:cNvSpPr/>
            <p:nvPr/>
          </p:nvSpPr>
          <p:spPr>
            <a:xfrm flipV="1">
              <a:off x="2122920" y="4638600"/>
              <a:ext cx="742320" cy="49644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88" name="CustomShape 52"/>
            <p:cNvSpPr/>
            <p:nvPr/>
          </p:nvSpPr>
          <p:spPr>
            <a:xfrm>
              <a:off x="2204640" y="4194000"/>
              <a:ext cx="132156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Gender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89" name="Line 53"/>
            <p:cNvSpPr/>
            <p:nvPr/>
          </p:nvSpPr>
          <p:spPr>
            <a:xfrm>
              <a:off x="2741040" y="5357160"/>
              <a:ext cx="266040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90" name="CustomShape 54"/>
            <p:cNvSpPr/>
            <p:nvPr/>
          </p:nvSpPr>
          <p:spPr>
            <a:xfrm>
              <a:off x="3007080" y="5135040"/>
              <a:ext cx="78480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ID</a:t>
              </a:r>
              <a:endParaRPr b="0" lang="en-US" sz="1400" spc="-1" strike="noStrike">
                <a:latin typeface="굴림"/>
              </a:endParaRPr>
            </a:p>
          </p:txBody>
        </p:sp>
      </p:grpSp>
      <p:grpSp>
        <p:nvGrpSpPr>
          <p:cNvPr id="191" name="Group 55"/>
          <p:cNvGrpSpPr/>
          <p:nvPr/>
        </p:nvGrpSpPr>
        <p:grpSpPr>
          <a:xfrm>
            <a:off x="3488760" y="5646240"/>
            <a:ext cx="3826080" cy="1028880"/>
            <a:chOff x="3488760" y="5646240"/>
            <a:chExt cx="3826080" cy="1028880"/>
          </a:xfrm>
        </p:grpSpPr>
        <p:sp>
          <p:nvSpPr>
            <p:cNvPr id="192" name="CustomShape 56"/>
            <p:cNvSpPr/>
            <p:nvPr/>
          </p:nvSpPr>
          <p:spPr>
            <a:xfrm>
              <a:off x="3488760" y="5712120"/>
              <a:ext cx="1236240" cy="556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venir Next LT Pro"/>
                </a:rPr>
                <a:t>Airplane</a:t>
              </a:r>
              <a:endParaRPr b="0" lang="en-US" sz="1800" spc="-1" strike="noStrike">
                <a:latin typeface="굴림"/>
              </a:endParaRPr>
            </a:p>
          </p:txBody>
        </p:sp>
        <p:sp>
          <p:nvSpPr>
            <p:cNvPr id="193" name="Line 57"/>
            <p:cNvSpPr/>
            <p:nvPr/>
          </p:nvSpPr>
          <p:spPr>
            <a:xfrm flipV="1">
              <a:off x="4725000" y="5868360"/>
              <a:ext cx="1101600" cy="12204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94" name="CustomShape 58"/>
            <p:cNvSpPr/>
            <p:nvPr/>
          </p:nvSpPr>
          <p:spPr>
            <a:xfrm>
              <a:off x="5826600" y="5646240"/>
              <a:ext cx="147204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Fligt_No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195" name="Line 59"/>
            <p:cNvSpPr/>
            <p:nvPr/>
          </p:nvSpPr>
          <p:spPr>
            <a:xfrm>
              <a:off x="6166800" y="5992920"/>
              <a:ext cx="792000" cy="0"/>
            </a:xfrm>
            <a:prstGeom prst="line">
              <a:avLst/>
            </a:prstGeom>
            <a:ln w="2556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96" name="Line 60"/>
            <p:cNvSpPr/>
            <p:nvPr/>
          </p:nvSpPr>
          <p:spPr>
            <a:xfrm>
              <a:off x="4725000" y="5990400"/>
              <a:ext cx="2589840" cy="46260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197" name="CustomShape 61"/>
            <p:cNvSpPr/>
            <p:nvPr/>
          </p:nvSpPr>
          <p:spPr>
            <a:xfrm>
              <a:off x="5842440" y="6230880"/>
              <a:ext cx="147204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b050"/>
                  </a:solidFill>
                  <a:latin typeface="Avenir Next LT Pro"/>
                </a:rPr>
                <a:t>Captain</a:t>
              </a:r>
              <a:endParaRPr b="0" lang="en-US" sz="1400" spc="-1" strike="noStrike">
                <a:latin typeface="굴림"/>
              </a:endParaRPr>
            </a:p>
          </p:txBody>
        </p:sp>
      </p:grpSp>
      <p:sp>
        <p:nvSpPr>
          <p:cNvPr id="198" name="CustomShape 62"/>
          <p:cNvSpPr/>
          <p:nvPr/>
        </p:nvSpPr>
        <p:spPr>
          <a:xfrm>
            <a:off x="1458000" y="5882040"/>
            <a:ext cx="14720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Avenir Next LT Pro"/>
              </a:rPr>
              <a:t>Attendant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199" name="Line 63"/>
          <p:cNvSpPr/>
          <p:nvPr/>
        </p:nvSpPr>
        <p:spPr>
          <a:xfrm flipH="1">
            <a:off x="2930040" y="5990400"/>
            <a:ext cx="558720" cy="1137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Shape 1"/>
          <p:cNvSpPr txBox="1"/>
          <p:nvPr/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ko-KR" sz="4000" spc="-1" strike="noStrike">
                <a:solidFill>
                  <a:srgbClr val="000000"/>
                </a:solidFill>
                <a:latin typeface="Avenir Next LT Pro"/>
              </a:rPr>
              <a:t>복합 애트리뷰트</a:t>
            </a:r>
            <a:endParaRPr b="0" lang="ko-KR" sz="40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01" name="CustomShape 2"/>
          <p:cNvSpPr/>
          <p:nvPr/>
        </p:nvSpPr>
        <p:spPr>
          <a:xfrm>
            <a:off x="28080" y="26280"/>
            <a:ext cx="1902960" cy="522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>
            <a:innerShdw blurRad="114300">
              <a:srgbClr val="000000"/>
            </a:innerShdw>
          </a:effectLst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0"/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>
            <a:noAutofit/>
          </a:bodyPr>
          <a:p>
            <a:pPr>
              <a:lnSpc>
                <a:spcPct val="11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ffffff"/>
                </a:solidFill>
                <a:latin typeface="Avenir Next LT Pro"/>
              </a:rPr>
              <a:t>개념적 설계</a:t>
            </a:r>
            <a:endParaRPr b="0" lang="en-US" sz="2400" spc="-1" strike="noStrike">
              <a:latin typeface="굴림"/>
            </a:endParaRPr>
          </a:p>
        </p:txBody>
      </p:sp>
      <p:grpSp>
        <p:nvGrpSpPr>
          <p:cNvPr id="202" name="Group 3"/>
          <p:cNvGrpSpPr/>
          <p:nvPr/>
        </p:nvGrpSpPr>
        <p:grpSpPr>
          <a:xfrm>
            <a:off x="657720" y="2604960"/>
            <a:ext cx="6293520" cy="3441240"/>
            <a:chOff x="657720" y="2604960"/>
            <a:chExt cx="6293520" cy="3441240"/>
          </a:xfrm>
        </p:grpSpPr>
        <p:sp>
          <p:nvSpPr>
            <p:cNvPr id="203" name="CustomShape 4"/>
            <p:cNvSpPr/>
            <p:nvPr/>
          </p:nvSpPr>
          <p:spPr>
            <a:xfrm>
              <a:off x="5777280" y="2931840"/>
              <a:ext cx="1173960" cy="556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venir Next LT Pro"/>
                </a:rPr>
                <a:t>Service</a:t>
              </a:r>
              <a:endParaRPr b="0" lang="en-US" sz="1800" spc="-1" strike="noStrike">
                <a:latin typeface="굴림"/>
              </a:endParaRPr>
            </a:p>
          </p:txBody>
        </p:sp>
        <p:sp>
          <p:nvSpPr>
            <p:cNvPr id="204" name="Line 5"/>
            <p:cNvSpPr/>
            <p:nvPr/>
          </p:nvSpPr>
          <p:spPr>
            <a:xfrm flipH="1" flipV="1">
              <a:off x="4420800" y="3206520"/>
              <a:ext cx="1356120" cy="324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205" name="Line 6"/>
            <p:cNvSpPr/>
            <p:nvPr/>
          </p:nvSpPr>
          <p:spPr>
            <a:xfrm flipH="1">
              <a:off x="4433400" y="3209760"/>
              <a:ext cx="1343520" cy="167904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206" name="CustomShape 7"/>
            <p:cNvSpPr/>
            <p:nvPr/>
          </p:nvSpPr>
          <p:spPr>
            <a:xfrm>
              <a:off x="3002040" y="2984400"/>
              <a:ext cx="141840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기내서비스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207" name="CustomShape 8"/>
            <p:cNvSpPr/>
            <p:nvPr/>
          </p:nvSpPr>
          <p:spPr>
            <a:xfrm>
              <a:off x="3123000" y="4823640"/>
              <a:ext cx="153468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공항서비스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208" name="Line 9"/>
            <p:cNvSpPr/>
            <p:nvPr/>
          </p:nvSpPr>
          <p:spPr>
            <a:xfrm flipH="1" flipV="1">
              <a:off x="2080440" y="2827080"/>
              <a:ext cx="1129320" cy="22212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209" name="Line 10"/>
            <p:cNvSpPr/>
            <p:nvPr/>
          </p:nvSpPr>
          <p:spPr>
            <a:xfrm flipH="1">
              <a:off x="2057760" y="3206520"/>
              <a:ext cx="943920" cy="8928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210" name="Line 11"/>
            <p:cNvSpPr/>
            <p:nvPr/>
          </p:nvSpPr>
          <p:spPr>
            <a:xfrm flipH="1">
              <a:off x="1883520" y="3363840"/>
              <a:ext cx="1326240" cy="3927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211" name="Line 12"/>
            <p:cNvSpPr/>
            <p:nvPr/>
          </p:nvSpPr>
          <p:spPr>
            <a:xfrm flipH="1">
              <a:off x="2624760" y="3429000"/>
              <a:ext cx="1086480" cy="61200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212" name="CustomShape 13"/>
            <p:cNvSpPr/>
            <p:nvPr/>
          </p:nvSpPr>
          <p:spPr>
            <a:xfrm>
              <a:off x="680760" y="2604960"/>
              <a:ext cx="139968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면세품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213" name="CustomShape 14"/>
            <p:cNvSpPr/>
            <p:nvPr/>
          </p:nvSpPr>
          <p:spPr>
            <a:xfrm>
              <a:off x="657720" y="3073680"/>
              <a:ext cx="139968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기내식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214" name="CustomShape 15"/>
            <p:cNvSpPr/>
            <p:nvPr/>
          </p:nvSpPr>
          <p:spPr>
            <a:xfrm>
              <a:off x="688680" y="3691440"/>
              <a:ext cx="139968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이벤트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215" name="CustomShape 16"/>
            <p:cNvSpPr/>
            <p:nvPr/>
          </p:nvSpPr>
          <p:spPr>
            <a:xfrm>
              <a:off x="1850400" y="4041000"/>
              <a:ext cx="154800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기내 </a:t>
              </a: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Wi-Fi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216" name="Line 17"/>
            <p:cNvSpPr/>
            <p:nvPr/>
          </p:nvSpPr>
          <p:spPr>
            <a:xfrm flipH="1" flipV="1">
              <a:off x="2444040" y="4871520"/>
              <a:ext cx="903600" cy="1728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217" name="CustomShape 18"/>
            <p:cNvSpPr/>
            <p:nvPr/>
          </p:nvSpPr>
          <p:spPr>
            <a:xfrm>
              <a:off x="1044360" y="4649400"/>
              <a:ext cx="139968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체크인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218" name="CustomShape 19"/>
            <p:cNvSpPr/>
            <p:nvPr/>
          </p:nvSpPr>
          <p:spPr>
            <a:xfrm>
              <a:off x="934200" y="5395320"/>
              <a:ext cx="139968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호텔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219" name="Line 20"/>
            <p:cNvSpPr/>
            <p:nvPr/>
          </p:nvSpPr>
          <p:spPr>
            <a:xfrm flipH="1">
              <a:off x="3202560" y="5203080"/>
              <a:ext cx="145080" cy="39888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220" name="CustomShape 21"/>
            <p:cNvSpPr/>
            <p:nvPr/>
          </p:nvSpPr>
          <p:spPr>
            <a:xfrm>
              <a:off x="2314440" y="5601960"/>
              <a:ext cx="177624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렌터카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221" name="CustomShape 22"/>
            <p:cNvSpPr/>
            <p:nvPr/>
          </p:nvSpPr>
          <p:spPr>
            <a:xfrm>
              <a:off x="4216680" y="5594040"/>
              <a:ext cx="139968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셔틀버스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222" name="Line 23"/>
            <p:cNvSpPr/>
            <p:nvPr/>
          </p:nvSpPr>
          <p:spPr>
            <a:xfrm>
              <a:off x="4433400" y="5203080"/>
              <a:ext cx="483120" cy="3909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</p:grpSp>
      <p:sp>
        <p:nvSpPr>
          <p:cNvPr id="223" name="CustomShape 24"/>
          <p:cNvSpPr/>
          <p:nvPr/>
        </p:nvSpPr>
        <p:spPr>
          <a:xfrm>
            <a:off x="7911000" y="2371680"/>
            <a:ext cx="3592080" cy="379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각 서비스가 단일 애트리뷰트로 구성하기 어렵고 고유한 관계 성립이 어려워 발생하였다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5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-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복잡성 수준 저하가 요구된다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latin typeface="굴림"/>
            </a:endParaRPr>
          </a:p>
          <a:p>
            <a:pPr>
              <a:lnSpc>
                <a:spcPct val="15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-&gt; </a:t>
            </a: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논리적 설계를 거친 후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5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복잡성 및 무결성 제약 조건을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5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고려한 뒤 적절한 관계를 갖는</a:t>
            </a:r>
            <a:endParaRPr b="0" lang="en-US" sz="1800" spc="-1" strike="noStrike">
              <a:latin typeface="굴림"/>
            </a:endParaRPr>
          </a:p>
          <a:p>
            <a:pPr>
              <a:lnSpc>
                <a:spcPct val="15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엔티티 타입으로 재구현 필요</a:t>
            </a:r>
            <a:endParaRPr b="0" lang="en-US" sz="1800" spc="-1" strike="noStrike"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Shape 1"/>
          <p:cNvSpPr txBox="1"/>
          <p:nvPr/>
        </p:nvSpPr>
        <p:spPr>
          <a:xfrm>
            <a:off x="2232720" y="2219040"/>
            <a:ext cx="4379760" cy="19684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ko-KR" sz="5400" spc="-1" strike="noStrike">
                <a:solidFill>
                  <a:srgbClr val="000000"/>
                </a:solidFill>
                <a:latin typeface="휴먼편지체"/>
                <a:ea typeface="휴먼편지체"/>
              </a:rPr>
              <a:t>ER </a:t>
            </a:r>
            <a:r>
              <a:rPr b="1" lang="ko-KR" sz="5400" spc="-1" strike="noStrike">
                <a:solidFill>
                  <a:srgbClr val="000000"/>
                </a:solidFill>
                <a:latin typeface="휴먼편지체"/>
                <a:ea typeface="휴먼편지체"/>
              </a:rPr>
              <a:t>다이어그램</a:t>
            </a:r>
            <a:endParaRPr b="0" lang="ko-KR" sz="54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25" name="CustomShape 2"/>
          <p:cNvSpPr/>
          <p:nvPr/>
        </p:nvSpPr>
        <p:spPr>
          <a:xfrm>
            <a:off x="8308800" y="2346840"/>
            <a:ext cx="2186640" cy="21636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style>
          <a:lnRef idx="2"/>
          <a:fillRef idx="0"/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Shape 1"/>
          <p:cNvSpPr txBox="1"/>
          <p:nvPr/>
        </p:nvSpPr>
        <p:spPr>
          <a:xfrm>
            <a:off x="28080" y="26280"/>
            <a:ext cx="1959480" cy="522000"/>
          </a:xfrm>
          <a:prstGeom prst="rect">
            <a:avLst/>
          </a:prstGeom>
          <a:solidFill>
            <a:srgbClr val="7a5300"/>
          </a:solidFill>
          <a:ln>
            <a:noFill/>
          </a:ln>
        </p:spPr>
        <p:txBody>
          <a:bodyPr>
            <a:noAutofit/>
          </a:bodyPr>
          <a:p>
            <a:pPr>
              <a:lnSpc>
                <a:spcPct val="110000"/>
              </a:lnSpc>
              <a:spcBef>
                <a:spcPts val="1001"/>
              </a:spcBef>
            </a:pPr>
            <a:r>
              <a:rPr b="0" lang="ko-KR" sz="2400" spc="-1" strike="noStrike">
                <a:solidFill>
                  <a:srgbClr val="ffffff"/>
                </a:solidFill>
                <a:latin typeface="Avenir Next LT Pro"/>
              </a:rPr>
              <a:t>E-R Diagram</a:t>
            </a:r>
            <a:endParaRPr b="0" lang="ko-KR" sz="24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27" name="Line 2"/>
          <p:cNvSpPr/>
          <p:nvPr/>
        </p:nvSpPr>
        <p:spPr>
          <a:xfrm flipH="1">
            <a:off x="8472240" y="1697760"/>
            <a:ext cx="144000" cy="1409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28" name="Line 3"/>
          <p:cNvSpPr/>
          <p:nvPr/>
        </p:nvSpPr>
        <p:spPr>
          <a:xfrm>
            <a:off x="7795800" y="1607760"/>
            <a:ext cx="34416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29" name="CustomShape 4"/>
          <p:cNvSpPr/>
          <p:nvPr/>
        </p:nvSpPr>
        <p:spPr>
          <a:xfrm>
            <a:off x="884880" y="415080"/>
            <a:ext cx="16146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Arpt_Name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30" name="CustomShape 5"/>
          <p:cNvSpPr/>
          <p:nvPr/>
        </p:nvSpPr>
        <p:spPr>
          <a:xfrm>
            <a:off x="2795400" y="1278360"/>
            <a:ext cx="1575000" cy="746280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Residnt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31" name="CustomShape 6"/>
          <p:cNvSpPr/>
          <p:nvPr/>
        </p:nvSpPr>
        <p:spPr>
          <a:xfrm>
            <a:off x="1703160" y="1420200"/>
            <a:ext cx="917640" cy="4442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AirPort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232" name="Line 7"/>
          <p:cNvSpPr/>
          <p:nvPr/>
        </p:nvSpPr>
        <p:spPr>
          <a:xfrm>
            <a:off x="1692360" y="859680"/>
            <a:ext cx="469440" cy="5601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33" name="CustomShape 8"/>
          <p:cNvSpPr/>
          <p:nvPr/>
        </p:nvSpPr>
        <p:spPr>
          <a:xfrm>
            <a:off x="159480" y="2374200"/>
            <a:ext cx="17276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Contct_Num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34" name="Line 9"/>
          <p:cNvSpPr/>
          <p:nvPr/>
        </p:nvSpPr>
        <p:spPr>
          <a:xfrm flipH="1">
            <a:off x="1023120" y="1642320"/>
            <a:ext cx="680040" cy="7315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35" name="CustomShape 10"/>
          <p:cNvSpPr/>
          <p:nvPr/>
        </p:nvSpPr>
        <p:spPr>
          <a:xfrm>
            <a:off x="1964520" y="2374200"/>
            <a:ext cx="17276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Affiliation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36" name="Line 11"/>
          <p:cNvSpPr/>
          <p:nvPr/>
        </p:nvSpPr>
        <p:spPr>
          <a:xfrm>
            <a:off x="2161800" y="1864440"/>
            <a:ext cx="666360" cy="509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37" name="Line 12"/>
          <p:cNvSpPr/>
          <p:nvPr/>
        </p:nvSpPr>
        <p:spPr>
          <a:xfrm>
            <a:off x="2620800" y="1642320"/>
            <a:ext cx="174240" cy="93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38" name="Line 13"/>
          <p:cNvSpPr/>
          <p:nvPr/>
        </p:nvSpPr>
        <p:spPr>
          <a:xfrm>
            <a:off x="4305960" y="1629000"/>
            <a:ext cx="100368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39" name="Line 14"/>
          <p:cNvSpPr/>
          <p:nvPr/>
        </p:nvSpPr>
        <p:spPr>
          <a:xfrm>
            <a:off x="4305960" y="1689120"/>
            <a:ext cx="100368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40" name="CustomShape 15"/>
          <p:cNvSpPr/>
          <p:nvPr/>
        </p:nvSpPr>
        <p:spPr>
          <a:xfrm>
            <a:off x="4662000" y="1283400"/>
            <a:ext cx="1032840" cy="6876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T-way Airline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241" name="Line 16"/>
          <p:cNvSpPr/>
          <p:nvPr/>
        </p:nvSpPr>
        <p:spPr>
          <a:xfrm>
            <a:off x="1179360" y="742680"/>
            <a:ext cx="1004040" cy="0"/>
          </a:xfrm>
          <a:prstGeom prst="line">
            <a:avLst/>
          </a:prstGeom>
          <a:ln w="2556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42" name="Line 17"/>
          <p:cNvSpPr/>
          <p:nvPr/>
        </p:nvSpPr>
        <p:spPr>
          <a:xfrm flipH="1" flipV="1">
            <a:off x="3913200" y="859680"/>
            <a:ext cx="1265040" cy="4237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43" name="CustomShape 18"/>
          <p:cNvSpPr/>
          <p:nvPr/>
        </p:nvSpPr>
        <p:spPr>
          <a:xfrm>
            <a:off x="3036960" y="415080"/>
            <a:ext cx="1752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Avenir Next LT Pro"/>
              </a:rPr>
              <a:t>Aport_Name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44" name="Line 19"/>
          <p:cNvSpPr/>
          <p:nvPr/>
        </p:nvSpPr>
        <p:spPr>
          <a:xfrm flipV="1">
            <a:off x="5178240" y="739440"/>
            <a:ext cx="526680" cy="5439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45" name="CustomShape 20"/>
          <p:cNvSpPr/>
          <p:nvPr/>
        </p:nvSpPr>
        <p:spPr>
          <a:xfrm>
            <a:off x="5044320" y="294840"/>
            <a:ext cx="1321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Director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46" name="CustomShape 21"/>
          <p:cNvSpPr/>
          <p:nvPr/>
        </p:nvSpPr>
        <p:spPr>
          <a:xfrm>
            <a:off x="4386600" y="942120"/>
            <a:ext cx="1623960" cy="1245240"/>
          </a:xfrm>
          <a:prstGeom prst="rec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venir Next LT Pro"/>
              </a:rPr>
              <a:t>설계 </a:t>
            </a:r>
            <a:r>
              <a:rPr b="0" lang="en-US" sz="1800" spc="-1" strike="noStrike">
                <a:solidFill>
                  <a:srgbClr val="ff0000"/>
                </a:solidFill>
                <a:latin typeface="Avenir Next LT Pro"/>
              </a:rPr>
              <a:t>Business</a:t>
            </a:r>
            <a:endParaRPr b="0" lang="en-US" sz="1800" spc="-1" strike="noStrike">
              <a:latin typeface="굴림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</p:txBody>
      </p:sp>
      <p:sp>
        <p:nvSpPr>
          <p:cNvPr id="247" name="Line 22"/>
          <p:cNvSpPr/>
          <p:nvPr/>
        </p:nvSpPr>
        <p:spPr>
          <a:xfrm>
            <a:off x="5694840" y="1627200"/>
            <a:ext cx="360000" cy="194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48" name="Line 23"/>
          <p:cNvSpPr/>
          <p:nvPr/>
        </p:nvSpPr>
        <p:spPr>
          <a:xfrm>
            <a:off x="7811280" y="1673280"/>
            <a:ext cx="34416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49" name="CustomShape 24"/>
          <p:cNvSpPr/>
          <p:nvPr/>
        </p:nvSpPr>
        <p:spPr>
          <a:xfrm>
            <a:off x="8059680" y="1415520"/>
            <a:ext cx="1236240" cy="4442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Employee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250" name="Line 25"/>
          <p:cNvSpPr/>
          <p:nvPr/>
        </p:nvSpPr>
        <p:spPr>
          <a:xfrm flipH="1" flipV="1">
            <a:off x="7425720" y="924120"/>
            <a:ext cx="1251720" cy="491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51" name="CustomShape 26"/>
          <p:cNvSpPr/>
          <p:nvPr/>
        </p:nvSpPr>
        <p:spPr>
          <a:xfrm>
            <a:off x="6765120" y="479520"/>
            <a:ext cx="1321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Emp No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52" name="Line 27"/>
          <p:cNvSpPr/>
          <p:nvPr/>
        </p:nvSpPr>
        <p:spPr>
          <a:xfrm>
            <a:off x="7024680" y="831240"/>
            <a:ext cx="792000" cy="0"/>
          </a:xfrm>
          <a:prstGeom prst="line">
            <a:avLst/>
          </a:prstGeom>
          <a:ln w="2556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53" name="Line 28"/>
          <p:cNvSpPr/>
          <p:nvPr/>
        </p:nvSpPr>
        <p:spPr>
          <a:xfrm flipV="1">
            <a:off x="8677440" y="930960"/>
            <a:ext cx="207360" cy="4845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54" name="CustomShape 29"/>
          <p:cNvSpPr/>
          <p:nvPr/>
        </p:nvSpPr>
        <p:spPr>
          <a:xfrm>
            <a:off x="8223840" y="486720"/>
            <a:ext cx="1321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Salary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55" name="Line 30"/>
          <p:cNvSpPr/>
          <p:nvPr/>
        </p:nvSpPr>
        <p:spPr>
          <a:xfrm flipV="1">
            <a:off x="9295920" y="1040040"/>
            <a:ext cx="1214280" cy="5976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56" name="CustomShape 31"/>
          <p:cNvSpPr/>
          <p:nvPr/>
        </p:nvSpPr>
        <p:spPr>
          <a:xfrm>
            <a:off x="9849600" y="595440"/>
            <a:ext cx="1321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Title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57" name="Line 32"/>
          <p:cNvSpPr/>
          <p:nvPr/>
        </p:nvSpPr>
        <p:spPr>
          <a:xfrm>
            <a:off x="5303880" y="637560"/>
            <a:ext cx="792000" cy="0"/>
          </a:xfrm>
          <a:prstGeom prst="line">
            <a:avLst/>
          </a:prstGeom>
          <a:ln w="2556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58" name="Line 33"/>
          <p:cNvSpPr/>
          <p:nvPr/>
        </p:nvSpPr>
        <p:spPr>
          <a:xfrm flipH="1">
            <a:off x="8605080" y="1860120"/>
            <a:ext cx="72360" cy="8643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59" name="CustomShape 34"/>
          <p:cNvSpPr/>
          <p:nvPr/>
        </p:nvSpPr>
        <p:spPr>
          <a:xfrm>
            <a:off x="7867800" y="2724840"/>
            <a:ext cx="1473840" cy="746280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Work for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60" name="Line 35"/>
          <p:cNvSpPr/>
          <p:nvPr/>
        </p:nvSpPr>
        <p:spPr>
          <a:xfrm>
            <a:off x="9342000" y="3097800"/>
            <a:ext cx="420840" cy="2188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61" name="Line 36"/>
          <p:cNvSpPr/>
          <p:nvPr/>
        </p:nvSpPr>
        <p:spPr>
          <a:xfrm>
            <a:off x="8605080" y="3471120"/>
            <a:ext cx="27000" cy="3560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62" name="Line 37"/>
          <p:cNvSpPr/>
          <p:nvPr/>
        </p:nvSpPr>
        <p:spPr>
          <a:xfrm flipH="1" flipV="1">
            <a:off x="7025040" y="2952360"/>
            <a:ext cx="842760" cy="1454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63" name="CustomShape 38"/>
          <p:cNvSpPr/>
          <p:nvPr/>
        </p:nvSpPr>
        <p:spPr>
          <a:xfrm>
            <a:off x="9762840" y="3094560"/>
            <a:ext cx="1236240" cy="4442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Customer</a:t>
            </a:r>
            <a:endParaRPr b="0" lang="en-US" sz="1800" spc="-1" strike="noStrike">
              <a:latin typeface="굴림"/>
            </a:endParaRPr>
          </a:p>
        </p:txBody>
      </p:sp>
      <p:grpSp>
        <p:nvGrpSpPr>
          <p:cNvPr id="264" name="Group 39"/>
          <p:cNvGrpSpPr/>
          <p:nvPr/>
        </p:nvGrpSpPr>
        <p:grpSpPr>
          <a:xfrm>
            <a:off x="8844840" y="2240640"/>
            <a:ext cx="1535760" cy="444240"/>
            <a:chOff x="8844840" y="2240640"/>
            <a:chExt cx="1535760" cy="444240"/>
          </a:xfrm>
        </p:grpSpPr>
        <p:sp>
          <p:nvSpPr>
            <p:cNvPr id="265" name="CustomShape 40"/>
            <p:cNvSpPr/>
            <p:nvPr/>
          </p:nvSpPr>
          <p:spPr>
            <a:xfrm>
              <a:off x="8844840" y="2240640"/>
              <a:ext cx="153576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PssprtNum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266" name="Line 41"/>
            <p:cNvSpPr/>
            <p:nvPr/>
          </p:nvSpPr>
          <p:spPr>
            <a:xfrm>
              <a:off x="9149400" y="2586960"/>
              <a:ext cx="890280" cy="0"/>
            </a:xfrm>
            <a:prstGeom prst="line">
              <a:avLst/>
            </a:prstGeom>
            <a:ln w="2556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</p:grpSp>
      <p:sp>
        <p:nvSpPr>
          <p:cNvPr id="267" name="Line 42"/>
          <p:cNvSpPr/>
          <p:nvPr/>
        </p:nvSpPr>
        <p:spPr>
          <a:xfrm>
            <a:off x="9613080" y="2685240"/>
            <a:ext cx="767880" cy="4093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68" name="Line 43"/>
          <p:cNvSpPr/>
          <p:nvPr/>
        </p:nvSpPr>
        <p:spPr>
          <a:xfrm flipV="1">
            <a:off x="10380960" y="2701080"/>
            <a:ext cx="777240" cy="3934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69" name="CustomShape 44"/>
          <p:cNvSpPr/>
          <p:nvPr/>
        </p:nvSpPr>
        <p:spPr>
          <a:xfrm>
            <a:off x="10497600" y="2256840"/>
            <a:ext cx="1321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Gender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70" name="Line 45"/>
          <p:cNvSpPr/>
          <p:nvPr/>
        </p:nvSpPr>
        <p:spPr>
          <a:xfrm>
            <a:off x="10999080" y="3316680"/>
            <a:ext cx="2088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71" name="CustomShape 46"/>
          <p:cNvSpPr/>
          <p:nvPr/>
        </p:nvSpPr>
        <p:spPr>
          <a:xfrm>
            <a:off x="11207880" y="3094560"/>
            <a:ext cx="7848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ID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72" name="CustomShape 47"/>
          <p:cNvSpPr/>
          <p:nvPr/>
        </p:nvSpPr>
        <p:spPr>
          <a:xfrm>
            <a:off x="5788800" y="2674440"/>
            <a:ext cx="1236240" cy="556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Service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273" name="Line 48"/>
          <p:cNvSpPr/>
          <p:nvPr/>
        </p:nvSpPr>
        <p:spPr>
          <a:xfrm flipH="1">
            <a:off x="6271200" y="5424480"/>
            <a:ext cx="655920" cy="5684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74" name="CustomShape 49"/>
          <p:cNvSpPr/>
          <p:nvPr/>
        </p:nvSpPr>
        <p:spPr>
          <a:xfrm>
            <a:off x="6309000" y="4868280"/>
            <a:ext cx="1236240" cy="556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Boarding Pass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275" name="Line 50"/>
          <p:cNvSpPr/>
          <p:nvPr/>
        </p:nvSpPr>
        <p:spPr>
          <a:xfrm>
            <a:off x="7545600" y="5146200"/>
            <a:ext cx="1644120" cy="257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76" name="Line 51"/>
          <p:cNvSpPr/>
          <p:nvPr/>
        </p:nvSpPr>
        <p:spPr>
          <a:xfrm>
            <a:off x="6927120" y="5424480"/>
            <a:ext cx="2139840" cy="6289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77" name="Line 52"/>
          <p:cNvSpPr/>
          <p:nvPr/>
        </p:nvSpPr>
        <p:spPr>
          <a:xfrm>
            <a:off x="6927120" y="5424480"/>
            <a:ext cx="942120" cy="8438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78" name="Line 53"/>
          <p:cNvSpPr/>
          <p:nvPr/>
        </p:nvSpPr>
        <p:spPr>
          <a:xfrm flipH="1">
            <a:off x="4766760" y="5146200"/>
            <a:ext cx="1542240" cy="7495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79" name="Line 54"/>
          <p:cNvSpPr/>
          <p:nvPr/>
        </p:nvSpPr>
        <p:spPr>
          <a:xfrm flipH="1" flipV="1">
            <a:off x="5386680" y="4577760"/>
            <a:ext cx="922320" cy="5684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80" name="Line 55"/>
          <p:cNvSpPr/>
          <p:nvPr/>
        </p:nvSpPr>
        <p:spPr>
          <a:xfrm flipH="1">
            <a:off x="5287320" y="5146200"/>
            <a:ext cx="1021680" cy="349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81" name="CustomShape 56"/>
          <p:cNvSpPr/>
          <p:nvPr/>
        </p:nvSpPr>
        <p:spPr>
          <a:xfrm>
            <a:off x="9190080" y="5181480"/>
            <a:ext cx="11052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Arrival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82" name="CustomShape 57"/>
          <p:cNvSpPr/>
          <p:nvPr/>
        </p:nvSpPr>
        <p:spPr>
          <a:xfrm>
            <a:off x="9067320" y="5831280"/>
            <a:ext cx="14720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Departure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83" name="CustomShape 58"/>
          <p:cNvSpPr/>
          <p:nvPr/>
        </p:nvSpPr>
        <p:spPr>
          <a:xfrm>
            <a:off x="7133400" y="6268320"/>
            <a:ext cx="14720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Avenir Next LT Pro"/>
              </a:rPr>
              <a:t>Fligt_No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84" name="CustomShape 59"/>
          <p:cNvSpPr/>
          <p:nvPr/>
        </p:nvSpPr>
        <p:spPr>
          <a:xfrm>
            <a:off x="5556600" y="5993280"/>
            <a:ext cx="14292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Resrv No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85" name="CustomShape 60"/>
          <p:cNvSpPr/>
          <p:nvPr/>
        </p:nvSpPr>
        <p:spPr>
          <a:xfrm>
            <a:off x="4181760" y="5896080"/>
            <a:ext cx="11696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Seat no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86" name="CustomShape 61"/>
          <p:cNvSpPr/>
          <p:nvPr/>
        </p:nvSpPr>
        <p:spPr>
          <a:xfrm>
            <a:off x="4325400" y="4959000"/>
            <a:ext cx="96192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Class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87" name="CustomShape 62"/>
          <p:cNvSpPr/>
          <p:nvPr/>
        </p:nvSpPr>
        <p:spPr>
          <a:xfrm>
            <a:off x="4601880" y="4355640"/>
            <a:ext cx="7848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data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88" name="Line 63"/>
          <p:cNvSpPr/>
          <p:nvPr/>
        </p:nvSpPr>
        <p:spPr>
          <a:xfrm>
            <a:off x="5875200" y="6292080"/>
            <a:ext cx="792000" cy="0"/>
          </a:xfrm>
          <a:prstGeom prst="line">
            <a:avLst/>
          </a:prstGeom>
          <a:ln w="2556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89" name="Line 64"/>
          <p:cNvSpPr/>
          <p:nvPr/>
        </p:nvSpPr>
        <p:spPr>
          <a:xfrm flipH="1">
            <a:off x="3952440" y="2952360"/>
            <a:ext cx="1836360" cy="5839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90" name="Line 65"/>
          <p:cNvSpPr/>
          <p:nvPr/>
        </p:nvSpPr>
        <p:spPr>
          <a:xfrm flipH="1">
            <a:off x="3875040" y="2952360"/>
            <a:ext cx="1913760" cy="20368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91" name="CustomShape 66"/>
          <p:cNvSpPr/>
          <p:nvPr/>
        </p:nvSpPr>
        <p:spPr>
          <a:xfrm>
            <a:off x="2224440" y="3263400"/>
            <a:ext cx="1727640" cy="54576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Service</a:t>
            </a:r>
            <a:endParaRPr b="0" lang="en-US" sz="1400" spc="-1" strike="noStrike">
              <a:latin typeface="굴림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in flight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92" name="CustomShape 67"/>
          <p:cNvSpPr/>
          <p:nvPr/>
        </p:nvSpPr>
        <p:spPr>
          <a:xfrm>
            <a:off x="2495160" y="4924080"/>
            <a:ext cx="16164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Airport Service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93" name="Line 68"/>
          <p:cNvSpPr/>
          <p:nvPr/>
        </p:nvSpPr>
        <p:spPr>
          <a:xfrm flipH="1" flipV="1">
            <a:off x="1791360" y="3165840"/>
            <a:ext cx="686160" cy="1771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94" name="Line 69"/>
          <p:cNvSpPr/>
          <p:nvPr/>
        </p:nvSpPr>
        <p:spPr>
          <a:xfrm flipH="1">
            <a:off x="1807200" y="3536280"/>
            <a:ext cx="417240" cy="2030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95" name="Line 70"/>
          <p:cNvSpPr/>
          <p:nvPr/>
        </p:nvSpPr>
        <p:spPr>
          <a:xfrm flipH="1">
            <a:off x="1700640" y="3729240"/>
            <a:ext cx="776880" cy="4341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96" name="Line 71"/>
          <p:cNvSpPr/>
          <p:nvPr/>
        </p:nvSpPr>
        <p:spPr>
          <a:xfrm flipH="1">
            <a:off x="3012120" y="3809160"/>
            <a:ext cx="76320" cy="3794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97" name="CustomShape 72"/>
          <p:cNvSpPr/>
          <p:nvPr/>
        </p:nvSpPr>
        <p:spPr>
          <a:xfrm>
            <a:off x="317160" y="294372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Duty-free goods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98" name="CustomShape 73"/>
          <p:cNvSpPr/>
          <p:nvPr/>
        </p:nvSpPr>
        <p:spPr>
          <a:xfrm>
            <a:off x="333360" y="351720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Airline food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299" name="CustomShape 74"/>
          <p:cNvSpPr/>
          <p:nvPr/>
        </p:nvSpPr>
        <p:spPr>
          <a:xfrm>
            <a:off x="442440" y="409860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Event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00" name="CustomShape 75"/>
          <p:cNvSpPr/>
          <p:nvPr/>
        </p:nvSpPr>
        <p:spPr>
          <a:xfrm>
            <a:off x="2275200" y="418896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WiFi</a:t>
            </a:r>
            <a:endParaRPr b="0" lang="en-US" sz="1400" spc="-1" strike="noStrike">
              <a:latin typeface="굴림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in flight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01" name="Line 76"/>
          <p:cNvSpPr/>
          <p:nvPr/>
        </p:nvSpPr>
        <p:spPr>
          <a:xfrm flipH="1" flipV="1">
            <a:off x="1633320" y="4987440"/>
            <a:ext cx="1098720" cy="18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02" name="CustomShape 77"/>
          <p:cNvSpPr/>
          <p:nvPr/>
        </p:nvSpPr>
        <p:spPr>
          <a:xfrm>
            <a:off x="159480" y="476532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Check-In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03" name="CustomShape 78"/>
          <p:cNvSpPr/>
          <p:nvPr/>
        </p:nvSpPr>
        <p:spPr>
          <a:xfrm>
            <a:off x="159480" y="539856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Hottel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04" name="Line 79"/>
          <p:cNvSpPr/>
          <p:nvPr/>
        </p:nvSpPr>
        <p:spPr>
          <a:xfrm flipH="1">
            <a:off x="896400" y="5146200"/>
            <a:ext cx="1598760" cy="2523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05" name="Line 80"/>
          <p:cNvSpPr/>
          <p:nvPr/>
        </p:nvSpPr>
        <p:spPr>
          <a:xfrm flipH="1">
            <a:off x="1168200" y="5303520"/>
            <a:ext cx="1563840" cy="6944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06" name="CustomShape 81"/>
          <p:cNvSpPr/>
          <p:nvPr/>
        </p:nvSpPr>
        <p:spPr>
          <a:xfrm>
            <a:off x="232560" y="5997960"/>
            <a:ext cx="1870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Rental Car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07" name="CustomShape 82"/>
          <p:cNvSpPr/>
          <p:nvPr/>
        </p:nvSpPr>
        <p:spPr>
          <a:xfrm>
            <a:off x="2299680" y="602208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Shuttle Bus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08" name="Line 83"/>
          <p:cNvSpPr/>
          <p:nvPr/>
        </p:nvSpPr>
        <p:spPr>
          <a:xfrm flipH="1">
            <a:off x="3036600" y="5368680"/>
            <a:ext cx="266760" cy="653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09" name="Line 84"/>
          <p:cNvSpPr/>
          <p:nvPr/>
        </p:nvSpPr>
        <p:spPr>
          <a:xfrm>
            <a:off x="9295920" y="1637640"/>
            <a:ext cx="1171440" cy="601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10" name="CustomShape 85"/>
          <p:cNvSpPr/>
          <p:nvPr/>
        </p:nvSpPr>
        <p:spPr>
          <a:xfrm>
            <a:off x="10467360" y="1475640"/>
            <a:ext cx="1321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Manager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11" name="CustomShape 86"/>
          <p:cNvSpPr/>
          <p:nvPr/>
        </p:nvSpPr>
        <p:spPr>
          <a:xfrm>
            <a:off x="8013960" y="3827520"/>
            <a:ext cx="1236240" cy="556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Airplane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312" name="Line 87"/>
          <p:cNvSpPr/>
          <p:nvPr/>
        </p:nvSpPr>
        <p:spPr>
          <a:xfrm flipV="1">
            <a:off x="9250200" y="3902400"/>
            <a:ext cx="1013040" cy="2030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13" name="CustomShape 88"/>
          <p:cNvSpPr/>
          <p:nvPr/>
        </p:nvSpPr>
        <p:spPr>
          <a:xfrm>
            <a:off x="10263240" y="3680280"/>
            <a:ext cx="14720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Fligt_No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14" name="Line 89"/>
          <p:cNvSpPr/>
          <p:nvPr/>
        </p:nvSpPr>
        <p:spPr>
          <a:xfrm>
            <a:off x="10603080" y="4003920"/>
            <a:ext cx="792000" cy="0"/>
          </a:xfrm>
          <a:prstGeom prst="line">
            <a:avLst/>
          </a:prstGeom>
          <a:ln w="2556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15" name="Line 90"/>
          <p:cNvSpPr/>
          <p:nvPr/>
        </p:nvSpPr>
        <p:spPr>
          <a:xfrm>
            <a:off x="9250200" y="4105440"/>
            <a:ext cx="2485080" cy="356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16" name="CustomShape 91"/>
          <p:cNvSpPr/>
          <p:nvPr/>
        </p:nvSpPr>
        <p:spPr>
          <a:xfrm>
            <a:off x="10263240" y="4239720"/>
            <a:ext cx="14720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Avenir Next LT Pro"/>
              </a:rPr>
              <a:t>Captain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17" name="CustomShape 92"/>
          <p:cNvSpPr/>
          <p:nvPr/>
        </p:nvSpPr>
        <p:spPr>
          <a:xfrm>
            <a:off x="5975280" y="3734280"/>
            <a:ext cx="1896480" cy="746280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For boarding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18" name="Line 93"/>
          <p:cNvSpPr/>
          <p:nvPr/>
        </p:nvSpPr>
        <p:spPr>
          <a:xfrm flipV="1">
            <a:off x="7871760" y="4105440"/>
            <a:ext cx="141840" cy="18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19" name="Line 94"/>
          <p:cNvSpPr/>
          <p:nvPr/>
        </p:nvSpPr>
        <p:spPr>
          <a:xfrm>
            <a:off x="6923520" y="4480560"/>
            <a:ext cx="3600" cy="3873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20" name="Line 95"/>
          <p:cNvSpPr/>
          <p:nvPr/>
        </p:nvSpPr>
        <p:spPr>
          <a:xfrm>
            <a:off x="8632080" y="4383720"/>
            <a:ext cx="1064520" cy="2833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21" name="CustomShape 96"/>
          <p:cNvSpPr/>
          <p:nvPr/>
        </p:nvSpPr>
        <p:spPr>
          <a:xfrm>
            <a:off x="8960400" y="4667400"/>
            <a:ext cx="14720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Avenir Next LT Pro"/>
              </a:rPr>
              <a:t>Attendant</a:t>
            </a:r>
            <a:endParaRPr b="0" lang="en-US" sz="1400" spc="-1" strike="noStrike">
              <a:latin typeface="굴림"/>
            </a:endParaRPr>
          </a:p>
        </p:txBody>
      </p:sp>
      <p:grpSp>
        <p:nvGrpSpPr>
          <p:cNvPr id="322" name="Group 97"/>
          <p:cNvGrpSpPr/>
          <p:nvPr/>
        </p:nvGrpSpPr>
        <p:grpSpPr>
          <a:xfrm>
            <a:off x="6055200" y="1273680"/>
            <a:ext cx="1825200" cy="746280"/>
            <a:chOff x="6055200" y="1273680"/>
            <a:chExt cx="1825200" cy="746280"/>
          </a:xfrm>
        </p:grpSpPr>
        <p:sp>
          <p:nvSpPr>
            <p:cNvPr id="323" name="CustomShape 98"/>
            <p:cNvSpPr/>
            <p:nvPr/>
          </p:nvSpPr>
          <p:spPr>
            <a:xfrm>
              <a:off x="6055200" y="1273680"/>
              <a:ext cx="1825200" cy="746280"/>
            </a:xfrm>
            <a:prstGeom prst="diamond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</p:sp>
        <p:sp>
          <p:nvSpPr>
            <p:cNvPr id="324" name="CustomShape 99"/>
            <p:cNvSpPr/>
            <p:nvPr/>
          </p:nvSpPr>
          <p:spPr>
            <a:xfrm>
              <a:off x="6079680" y="1483920"/>
              <a:ext cx="170712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Recruitment</a:t>
              </a:r>
              <a:endParaRPr b="0" lang="en-US" sz="1400" spc="-1" strike="noStrike">
                <a:latin typeface="굴림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Shape 1"/>
          <p:cNvSpPr txBox="1"/>
          <p:nvPr/>
        </p:nvSpPr>
        <p:spPr>
          <a:xfrm>
            <a:off x="28080" y="26280"/>
            <a:ext cx="1959480" cy="522000"/>
          </a:xfrm>
          <a:prstGeom prst="rect">
            <a:avLst/>
          </a:prstGeom>
          <a:solidFill>
            <a:srgbClr val="7a5300"/>
          </a:solidFill>
          <a:ln>
            <a:noFill/>
          </a:ln>
        </p:spPr>
        <p:txBody>
          <a:bodyPr>
            <a:noAutofit/>
          </a:bodyPr>
          <a:p>
            <a:pPr>
              <a:lnSpc>
                <a:spcPct val="110000"/>
              </a:lnSpc>
              <a:spcBef>
                <a:spcPts val="1001"/>
              </a:spcBef>
            </a:pPr>
            <a:r>
              <a:rPr b="0" lang="ko-KR" sz="2400" spc="-1" strike="noStrike">
                <a:solidFill>
                  <a:srgbClr val="ffffff"/>
                </a:solidFill>
                <a:latin typeface="Avenir Next LT Pro"/>
              </a:rPr>
              <a:t>E-R Diagram</a:t>
            </a:r>
            <a:endParaRPr b="0" lang="ko-KR" sz="24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26" name="Line 2"/>
          <p:cNvSpPr/>
          <p:nvPr/>
        </p:nvSpPr>
        <p:spPr>
          <a:xfrm flipH="1">
            <a:off x="8472240" y="1697760"/>
            <a:ext cx="144000" cy="1409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27" name="Line 3"/>
          <p:cNvSpPr/>
          <p:nvPr/>
        </p:nvSpPr>
        <p:spPr>
          <a:xfrm>
            <a:off x="7795800" y="1607760"/>
            <a:ext cx="34416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28" name="CustomShape 4"/>
          <p:cNvSpPr/>
          <p:nvPr/>
        </p:nvSpPr>
        <p:spPr>
          <a:xfrm>
            <a:off x="884880" y="415080"/>
            <a:ext cx="16146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공항이름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29" name="CustomShape 5"/>
          <p:cNvSpPr/>
          <p:nvPr/>
        </p:nvSpPr>
        <p:spPr>
          <a:xfrm>
            <a:off x="2795400" y="1278360"/>
            <a:ext cx="1575000" cy="746280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입주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30" name="CustomShape 6"/>
          <p:cNvSpPr/>
          <p:nvPr/>
        </p:nvSpPr>
        <p:spPr>
          <a:xfrm>
            <a:off x="1703160" y="1420200"/>
            <a:ext cx="917640" cy="4442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공항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331" name="Line 7"/>
          <p:cNvSpPr/>
          <p:nvPr/>
        </p:nvSpPr>
        <p:spPr>
          <a:xfrm>
            <a:off x="1692360" y="859680"/>
            <a:ext cx="469440" cy="5601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32" name="CustomShape 8"/>
          <p:cNvSpPr/>
          <p:nvPr/>
        </p:nvSpPr>
        <p:spPr>
          <a:xfrm>
            <a:off x="159480" y="2374200"/>
            <a:ext cx="17276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전화번호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33" name="Line 9"/>
          <p:cNvSpPr/>
          <p:nvPr/>
        </p:nvSpPr>
        <p:spPr>
          <a:xfrm flipH="1">
            <a:off x="1023120" y="1642320"/>
            <a:ext cx="680040" cy="7315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34" name="CustomShape 10"/>
          <p:cNvSpPr/>
          <p:nvPr/>
        </p:nvSpPr>
        <p:spPr>
          <a:xfrm>
            <a:off x="1964520" y="2374200"/>
            <a:ext cx="17276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소속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35" name="Line 11"/>
          <p:cNvSpPr/>
          <p:nvPr/>
        </p:nvSpPr>
        <p:spPr>
          <a:xfrm>
            <a:off x="2161800" y="1864440"/>
            <a:ext cx="666360" cy="509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36" name="Line 12"/>
          <p:cNvSpPr/>
          <p:nvPr/>
        </p:nvSpPr>
        <p:spPr>
          <a:xfrm>
            <a:off x="2620800" y="1642320"/>
            <a:ext cx="174240" cy="93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37" name="Line 13"/>
          <p:cNvSpPr/>
          <p:nvPr/>
        </p:nvSpPr>
        <p:spPr>
          <a:xfrm>
            <a:off x="4305960" y="1629000"/>
            <a:ext cx="100368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38" name="Line 14"/>
          <p:cNvSpPr/>
          <p:nvPr/>
        </p:nvSpPr>
        <p:spPr>
          <a:xfrm>
            <a:off x="4305960" y="1689120"/>
            <a:ext cx="100368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39" name="CustomShape 15"/>
          <p:cNvSpPr/>
          <p:nvPr/>
        </p:nvSpPr>
        <p:spPr>
          <a:xfrm>
            <a:off x="4662000" y="1283400"/>
            <a:ext cx="1032840" cy="6876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티웨이 항공사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340" name="Line 16"/>
          <p:cNvSpPr/>
          <p:nvPr/>
        </p:nvSpPr>
        <p:spPr>
          <a:xfrm>
            <a:off x="1179360" y="742680"/>
            <a:ext cx="1004040" cy="0"/>
          </a:xfrm>
          <a:prstGeom prst="line">
            <a:avLst/>
          </a:prstGeom>
          <a:ln w="2556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41" name="Line 17"/>
          <p:cNvSpPr/>
          <p:nvPr/>
        </p:nvSpPr>
        <p:spPr>
          <a:xfrm flipH="1" flipV="1">
            <a:off x="3913200" y="859680"/>
            <a:ext cx="1265040" cy="4237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42" name="CustomShape 18"/>
          <p:cNvSpPr/>
          <p:nvPr/>
        </p:nvSpPr>
        <p:spPr>
          <a:xfrm>
            <a:off x="3036960" y="415080"/>
            <a:ext cx="1752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Avenir Next LT Pro"/>
              </a:rPr>
              <a:t>공항이름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43" name="Line 19"/>
          <p:cNvSpPr/>
          <p:nvPr/>
        </p:nvSpPr>
        <p:spPr>
          <a:xfrm flipV="1">
            <a:off x="5178240" y="739440"/>
            <a:ext cx="526680" cy="5439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44" name="CustomShape 20"/>
          <p:cNvSpPr/>
          <p:nvPr/>
        </p:nvSpPr>
        <p:spPr>
          <a:xfrm>
            <a:off x="5044320" y="294840"/>
            <a:ext cx="1321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경영자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45" name="CustomShape 21"/>
          <p:cNvSpPr/>
          <p:nvPr/>
        </p:nvSpPr>
        <p:spPr>
          <a:xfrm>
            <a:off x="4397400" y="934200"/>
            <a:ext cx="1623960" cy="1245240"/>
          </a:xfrm>
          <a:prstGeom prst="rec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venir Next LT Pro"/>
              </a:rPr>
              <a:t>설계 </a:t>
            </a:r>
            <a:r>
              <a:rPr b="0" lang="en-US" sz="1800" spc="-1" strike="noStrike">
                <a:solidFill>
                  <a:srgbClr val="ff0000"/>
                </a:solidFill>
                <a:latin typeface="Avenir Next LT Pro"/>
              </a:rPr>
              <a:t>Business</a:t>
            </a:r>
            <a:endParaRPr b="0" lang="en-US" sz="1800" spc="-1" strike="noStrike">
              <a:latin typeface="굴림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굴림"/>
            </a:endParaRPr>
          </a:p>
        </p:txBody>
      </p:sp>
      <p:sp>
        <p:nvSpPr>
          <p:cNvPr id="346" name="Line 22"/>
          <p:cNvSpPr/>
          <p:nvPr/>
        </p:nvSpPr>
        <p:spPr>
          <a:xfrm>
            <a:off x="5694840" y="1627200"/>
            <a:ext cx="473760" cy="194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47" name="CustomShape 23"/>
          <p:cNvSpPr/>
          <p:nvPr/>
        </p:nvSpPr>
        <p:spPr>
          <a:xfrm>
            <a:off x="6168600" y="1273680"/>
            <a:ext cx="1711800" cy="746280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채용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48" name="Line 24"/>
          <p:cNvSpPr/>
          <p:nvPr/>
        </p:nvSpPr>
        <p:spPr>
          <a:xfrm>
            <a:off x="7811280" y="1673280"/>
            <a:ext cx="34416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49" name="CustomShape 25"/>
          <p:cNvSpPr/>
          <p:nvPr/>
        </p:nvSpPr>
        <p:spPr>
          <a:xfrm>
            <a:off x="8059680" y="1415520"/>
            <a:ext cx="1236240" cy="4442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직원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350" name="Line 26"/>
          <p:cNvSpPr/>
          <p:nvPr/>
        </p:nvSpPr>
        <p:spPr>
          <a:xfrm flipH="1" flipV="1">
            <a:off x="7367400" y="924120"/>
            <a:ext cx="1310040" cy="491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51" name="CustomShape 27"/>
          <p:cNvSpPr/>
          <p:nvPr/>
        </p:nvSpPr>
        <p:spPr>
          <a:xfrm>
            <a:off x="6647760" y="479520"/>
            <a:ext cx="143892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직원 번호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52" name="Line 28"/>
          <p:cNvSpPr/>
          <p:nvPr/>
        </p:nvSpPr>
        <p:spPr>
          <a:xfrm>
            <a:off x="7024680" y="831240"/>
            <a:ext cx="792000" cy="0"/>
          </a:xfrm>
          <a:prstGeom prst="line">
            <a:avLst/>
          </a:prstGeom>
          <a:ln w="2556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53" name="Line 29"/>
          <p:cNvSpPr/>
          <p:nvPr/>
        </p:nvSpPr>
        <p:spPr>
          <a:xfrm flipV="1">
            <a:off x="8677440" y="930960"/>
            <a:ext cx="207360" cy="4845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54" name="CustomShape 30"/>
          <p:cNvSpPr/>
          <p:nvPr/>
        </p:nvSpPr>
        <p:spPr>
          <a:xfrm>
            <a:off x="8223840" y="486720"/>
            <a:ext cx="1321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급여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55" name="Line 31"/>
          <p:cNvSpPr/>
          <p:nvPr/>
        </p:nvSpPr>
        <p:spPr>
          <a:xfrm flipV="1">
            <a:off x="9295920" y="1040040"/>
            <a:ext cx="1214280" cy="5976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56" name="CustomShape 32"/>
          <p:cNvSpPr/>
          <p:nvPr/>
        </p:nvSpPr>
        <p:spPr>
          <a:xfrm>
            <a:off x="9849600" y="595440"/>
            <a:ext cx="1321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직책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57" name="Line 33"/>
          <p:cNvSpPr/>
          <p:nvPr/>
        </p:nvSpPr>
        <p:spPr>
          <a:xfrm>
            <a:off x="5303880" y="637560"/>
            <a:ext cx="792000" cy="0"/>
          </a:xfrm>
          <a:prstGeom prst="line">
            <a:avLst/>
          </a:prstGeom>
          <a:ln w="2556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58" name="Line 34"/>
          <p:cNvSpPr/>
          <p:nvPr/>
        </p:nvSpPr>
        <p:spPr>
          <a:xfrm flipH="1">
            <a:off x="8560800" y="1860120"/>
            <a:ext cx="116640" cy="9536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59" name="CustomShape 35"/>
          <p:cNvSpPr/>
          <p:nvPr/>
        </p:nvSpPr>
        <p:spPr>
          <a:xfrm>
            <a:off x="7609680" y="2814120"/>
            <a:ext cx="1902240" cy="746280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근무 형태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60" name="Line 36"/>
          <p:cNvSpPr/>
          <p:nvPr/>
        </p:nvSpPr>
        <p:spPr>
          <a:xfrm>
            <a:off x="9512280" y="3187080"/>
            <a:ext cx="250560" cy="68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61" name="Line 37"/>
          <p:cNvSpPr/>
          <p:nvPr/>
        </p:nvSpPr>
        <p:spPr>
          <a:xfrm>
            <a:off x="8560800" y="3560400"/>
            <a:ext cx="71280" cy="2667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62" name="Line 38"/>
          <p:cNvSpPr/>
          <p:nvPr/>
        </p:nvSpPr>
        <p:spPr>
          <a:xfrm flipH="1" flipV="1">
            <a:off x="7025040" y="2952360"/>
            <a:ext cx="584280" cy="2347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63" name="CustomShape 39"/>
          <p:cNvSpPr/>
          <p:nvPr/>
        </p:nvSpPr>
        <p:spPr>
          <a:xfrm>
            <a:off x="9762840" y="3033360"/>
            <a:ext cx="1236240" cy="4442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소비자</a:t>
            </a:r>
            <a:endParaRPr b="0" lang="en-US" sz="1800" spc="-1" strike="noStrike">
              <a:latin typeface="굴림"/>
            </a:endParaRPr>
          </a:p>
        </p:txBody>
      </p:sp>
      <p:grpSp>
        <p:nvGrpSpPr>
          <p:cNvPr id="364" name="Group 40"/>
          <p:cNvGrpSpPr/>
          <p:nvPr/>
        </p:nvGrpSpPr>
        <p:grpSpPr>
          <a:xfrm>
            <a:off x="8844840" y="2240640"/>
            <a:ext cx="1535760" cy="444240"/>
            <a:chOff x="8844840" y="2240640"/>
            <a:chExt cx="1535760" cy="444240"/>
          </a:xfrm>
        </p:grpSpPr>
        <p:sp>
          <p:nvSpPr>
            <p:cNvPr id="365" name="CustomShape 41"/>
            <p:cNvSpPr/>
            <p:nvPr/>
          </p:nvSpPr>
          <p:spPr>
            <a:xfrm>
              <a:off x="8844840" y="2240640"/>
              <a:ext cx="1535760" cy="44424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venir Next LT Pro"/>
                </a:rPr>
                <a:t>여권 번호</a:t>
              </a:r>
              <a:endParaRPr b="0" lang="en-US" sz="1400" spc="-1" strike="noStrike">
                <a:latin typeface="굴림"/>
              </a:endParaRPr>
            </a:p>
          </p:txBody>
        </p:sp>
        <p:sp>
          <p:nvSpPr>
            <p:cNvPr id="366" name="Line 42"/>
            <p:cNvSpPr/>
            <p:nvPr/>
          </p:nvSpPr>
          <p:spPr>
            <a:xfrm>
              <a:off x="9149400" y="2586960"/>
              <a:ext cx="890280" cy="0"/>
            </a:xfrm>
            <a:prstGeom prst="line">
              <a:avLst/>
            </a:prstGeom>
            <a:ln w="2556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</p:grpSp>
      <p:sp>
        <p:nvSpPr>
          <p:cNvPr id="367" name="Line 43"/>
          <p:cNvSpPr/>
          <p:nvPr/>
        </p:nvSpPr>
        <p:spPr>
          <a:xfrm>
            <a:off x="9613080" y="2685240"/>
            <a:ext cx="767880" cy="3477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68" name="Line 44"/>
          <p:cNvSpPr/>
          <p:nvPr/>
        </p:nvSpPr>
        <p:spPr>
          <a:xfrm flipV="1">
            <a:off x="10380960" y="2701080"/>
            <a:ext cx="777240" cy="3319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69" name="CustomShape 45"/>
          <p:cNvSpPr/>
          <p:nvPr/>
        </p:nvSpPr>
        <p:spPr>
          <a:xfrm>
            <a:off x="10497600" y="2256840"/>
            <a:ext cx="1321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성별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70" name="Line 46"/>
          <p:cNvSpPr/>
          <p:nvPr/>
        </p:nvSpPr>
        <p:spPr>
          <a:xfrm>
            <a:off x="10999080" y="3255480"/>
            <a:ext cx="2088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71" name="CustomShape 47"/>
          <p:cNvSpPr/>
          <p:nvPr/>
        </p:nvSpPr>
        <p:spPr>
          <a:xfrm>
            <a:off x="11207880" y="3033360"/>
            <a:ext cx="7848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ID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72" name="CustomShape 48"/>
          <p:cNvSpPr/>
          <p:nvPr/>
        </p:nvSpPr>
        <p:spPr>
          <a:xfrm>
            <a:off x="5788800" y="2674440"/>
            <a:ext cx="1236240" cy="556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서비스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373" name="Line 49"/>
          <p:cNvSpPr/>
          <p:nvPr/>
        </p:nvSpPr>
        <p:spPr>
          <a:xfrm flipH="1">
            <a:off x="6271200" y="5424480"/>
            <a:ext cx="655920" cy="5684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74" name="CustomShape 50"/>
          <p:cNvSpPr/>
          <p:nvPr/>
        </p:nvSpPr>
        <p:spPr>
          <a:xfrm>
            <a:off x="6309000" y="4868280"/>
            <a:ext cx="1236240" cy="556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항공권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375" name="Line 51"/>
          <p:cNvSpPr/>
          <p:nvPr/>
        </p:nvSpPr>
        <p:spPr>
          <a:xfrm>
            <a:off x="7545600" y="5146200"/>
            <a:ext cx="1644120" cy="257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76" name="Line 52"/>
          <p:cNvSpPr/>
          <p:nvPr/>
        </p:nvSpPr>
        <p:spPr>
          <a:xfrm>
            <a:off x="6927120" y="5424480"/>
            <a:ext cx="2139840" cy="6289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77" name="Line 53"/>
          <p:cNvSpPr/>
          <p:nvPr/>
        </p:nvSpPr>
        <p:spPr>
          <a:xfrm>
            <a:off x="6927120" y="5424480"/>
            <a:ext cx="1013760" cy="8438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78" name="Line 54"/>
          <p:cNvSpPr/>
          <p:nvPr/>
        </p:nvSpPr>
        <p:spPr>
          <a:xfrm flipH="1">
            <a:off x="4869000" y="5146200"/>
            <a:ext cx="1440000" cy="7495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79" name="Line 55"/>
          <p:cNvSpPr/>
          <p:nvPr/>
        </p:nvSpPr>
        <p:spPr>
          <a:xfrm flipH="1" flipV="1">
            <a:off x="5386680" y="4577760"/>
            <a:ext cx="922320" cy="5684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80" name="Line 56"/>
          <p:cNvSpPr/>
          <p:nvPr/>
        </p:nvSpPr>
        <p:spPr>
          <a:xfrm flipH="1">
            <a:off x="5528520" y="5146200"/>
            <a:ext cx="780480" cy="1242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81" name="CustomShape 57"/>
          <p:cNvSpPr/>
          <p:nvPr/>
        </p:nvSpPr>
        <p:spPr>
          <a:xfrm>
            <a:off x="9190080" y="5181480"/>
            <a:ext cx="11052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도착지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82" name="CustomShape 58"/>
          <p:cNvSpPr/>
          <p:nvPr/>
        </p:nvSpPr>
        <p:spPr>
          <a:xfrm>
            <a:off x="9067320" y="5831280"/>
            <a:ext cx="14720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출발지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83" name="CustomShape 59"/>
          <p:cNvSpPr/>
          <p:nvPr/>
        </p:nvSpPr>
        <p:spPr>
          <a:xfrm>
            <a:off x="7133400" y="6268320"/>
            <a:ext cx="16149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Avenir Next LT Pro"/>
              </a:rPr>
              <a:t>항공기 번호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84" name="CustomShape 60"/>
          <p:cNvSpPr/>
          <p:nvPr/>
        </p:nvSpPr>
        <p:spPr>
          <a:xfrm>
            <a:off x="5556600" y="5993280"/>
            <a:ext cx="14292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예약 번호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85" name="CustomShape 61"/>
          <p:cNvSpPr/>
          <p:nvPr/>
        </p:nvSpPr>
        <p:spPr>
          <a:xfrm>
            <a:off x="4181760" y="5896080"/>
            <a:ext cx="137448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좌석 번호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86" name="CustomShape 62"/>
          <p:cNvSpPr/>
          <p:nvPr/>
        </p:nvSpPr>
        <p:spPr>
          <a:xfrm>
            <a:off x="4176360" y="5048280"/>
            <a:ext cx="13518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좌석 등급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87" name="CustomShape 63"/>
          <p:cNvSpPr/>
          <p:nvPr/>
        </p:nvSpPr>
        <p:spPr>
          <a:xfrm>
            <a:off x="4601880" y="4355640"/>
            <a:ext cx="7848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날짜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88" name="Line 64"/>
          <p:cNvSpPr/>
          <p:nvPr/>
        </p:nvSpPr>
        <p:spPr>
          <a:xfrm>
            <a:off x="5875200" y="6292080"/>
            <a:ext cx="792000" cy="0"/>
          </a:xfrm>
          <a:prstGeom prst="line">
            <a:avLst/>
          </a:prstGeom>
          <a:ln w="2556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89" name="Line 65"/>
          <p:cNvSpPr/>
          <p:nvPr/>
        </p:nvSpPr>
        <p:spPr>
          <a:xfrm flipH="1">
            <a:off x="3952440" y="2952360"/>
            <a:ext cx="1836360" cy="5839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90" name="Line 66"/>
          <p:cNvSpPr/>
          <p:nvPr/>
        </p:nvSpPr>
        <p:spPr>
          <a:xfrm flipH="1">
            <a:off x="3875040" y="2952360"/>
            <a:ext cx="1913760" cy="203688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91" name="CustomShape 67"/>
          <p:cNvSpPr/>
          <p:nvPr/>
        </p:nvSpPr>
        <p:spPr>
          <a:xfrm>
            <a:off x="2224440" y="3263400"/>
            <a:ext cx="1727640" cy="54576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기내서비스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92" name="CustomShape 68"/>
          <p:cNvSpPr/>
          <p:nvPr/>
        </p:nvSpPr>
        <p:spPr>
          <a:xfrm>
            <a:off x="2495160" y="4924080"/>
            <a:ext cx="161640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공항서비스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93" name="Line 69"/>
          <p:cNvSpPr/>
          <p:nvPr/>
        </p:nvSpPr>
        <p:spPr>
          <a:xfrm flipH="1" flipV="1">
            <a:off x="1791360" y="3165840"/>
            <a:ext cx="686160" cy="1771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94" name="Line 70"/>
          <p:cNvSpPr/>
          <p:nvPr/>
        </p:nvSpPr>
        <p:spPr>
          <a:xfrm flipH="1">
            <a:off x="1807200" y="3536280"/>
            <a:ext cx="417240" cy="2030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95" name="Line 71"/>
          <p:cNvSpPr/>
          <p:nvPr/>
        </p:nvSpPr>
        <p:spPr>
          <a:xfrm flipH="1">
            <a:off x="1700640" y="3729240"/>
            <a:ext cx="776880" cy="4341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96" name="Line 72"/>
          <p:cNvSpPr/>
          <p:nvPr/>
        </p:nvSpPr>
        <p:spPr>
          <a:xfrm flipH="1">
            <a:off x="3012120" y="3809160"/>
            <a:ext cx="76320" cy="3794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397" name="CustomShape 73"/>
          <p:cNvSpPr/>
          <p:nvPr/>
        </p:nvSpPr>
        <p:spPr>
          <a:xfrm>
            <a:off x="317160" y="294372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면세품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98" name="CustomShape 74"/>
          <p:cNvSpPr/>
          <p:nvPr/>
        </p:nvSpPr>
        <p:spPr>
          <a:xfrm>
            <a:off x="333360" y="351720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기내식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399" name="CustomShape 75"/>
          <p:cNvSpPr/>
          <p:nvPr/>
        </p:nvSpPr>
        <p:spPr>
          <a:xfrm>
            <a:off x="442440" y="409860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이벤트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400" name="CustomShape 76"/>
          <p:cNvSpPr/>
          <p:nvPr/>
        </p:nvSpPr>
        <p:spPr>
          <a:xfrm>
            <a:off x="2275200" y="418896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기내 </a:t>
            </a: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Wi-Fi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401" name="Line 77"/>
          <p:cNvSpPr/>
          <p:nvPr/>
        </p:nvSpPr>
        <p:spPr>
          <a:xfrm flipH="1" flipV="1">
            <a:off x="1633320" y="4987440"/>
            <a:ext cx="1098720" cy="18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02" name="CustomShape 78"/>
          <p:cNvSpPr/>
          <p:nvPr/>
        </p:nvSpPr>
        <p:spPr>
          <a:xfrm>
            <a:off x="159480" y="476532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체크인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403" name="CustomShape 79"/>
          <p:cNvSpPr/>
          <p:nvPr/>
        </p:nvSpPr>
        <p:spPr>
          <a:xfrm>
            <a:off x="159480" y="539856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호텔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404" name="Line 80"/>
          <p:cNvSpPr/>
          <p:nvPr/>
        </p:nvSpPr>
        <p:spPr>
          <a:xfrm flipH="1">
            <a:off x="896400" y="5146200"/>
            <a:ext cx="1598760" cy="2523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05" name="Line 81"/>
          <p:cNvSpPr/>
          <p:nvPr/>
        </p:nvSpPr>
        <p:spPr>
          <a:xfrm flipH="1">
            <a:off x="1168200" y="5303520"/>
            <a:ext cx="1563840" cy="6944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06" name="CustomShape 82"/>
          <p:cNvSpPr/>
          <p:nvPr/>
        </p:nvSpPr>
        <p:spPr>
          <a:xfrm>
            <a:off x="232560" y="5997960"/>
            <a:ext cx="1870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렌터카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407" name="CustomShape 83"/>
          <p:cNvSpPr/>
          <p:nvPr/>
        </p:nvSpPr>
        <p:spPr>
          <a:xfrm>
            <a:off x="2299680" y="6022080"/>
            <a:ext cx="14738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셔틀버스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408" name="Line 84"/>
          <p:cNvSpPr/>
          <p:nvPr/>
        </p:nvSpPr>
        <p:spPr>
          <a:xfrm flipH="1">
            <a:off x="3036600" y="5368680"/>
            <a:ext cx="266760" cy="653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09" name="Line 85"/>
          <p:cNvSpPr/>
          <p:nvPr/>
        </p:nvSpPr>
        <p:spPr>
          <a:xfrm>
            <a:off x="9295920" y="1637640"/>
            <a:ext cx="1171440" cy="601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10" name="CustomShape 86"/>
          <p:cNvSpPr/>
          <p:nvPr/>
        </p:nvSpPr>
        <p:spPr>
          <a:xfrm>
            <a:off x="10467360" y="1475640"/>
            <a:ext cx="13215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관리자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411" name="CustomShape 87"/>
          <p:cNvSpPr/>
          <p:nvPr/>
        </p:nvSpPr>
        <p:spPr>
          <a:xfrm>
            <a:off x="8013960" y="3827520"/>
            <a:ext cx="1236240" cy="5562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venir Next LT Pro"/>
              </a:rPr>
              <a:t>항공기</a:t>
            </a:r>
            <a:endParaRPr b="0" lang="en-US" sz="1800" spc="-1" strike="noStrike">
              <a:latin typeface="굴림"/>
            </a:endParaRPr>
          </a:p>
        </p:txBody>
      </p:sp>
      <p:sp>
        <p:nvSpPr>
          <p:cNvPr id="412" name="Line 88"/>
          <p:cNvSpPr/>
          <p:nvPr/>
        </p:nvSpPr>
        <p:spPr>
          <a:xfrm flipV="1">
            <a:off x="9250200" y="3902400"/>
            <a:ext cx="1013040" cy="20304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13" name="CustomShape 89"/>
          <p:cNvSpPr/>
          <p:nvPr/>
        </p:nvSpPr>
        <p:spPr>
          <a:xfrm>
            <a:off x="10263240" y="3680280"/>
            <a:ext cx="159516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항공기 번호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414" name="Line 90"/>
          <p:cNvSpPr/>
          <p:nvPr/>
        </p:nvSpPr>
        <p:spPr>
          <a:xfrm>
            <a:off x="10603080" y="4003920"/>
            <a:ext cx="792000" cy="0"/>
          </a:xfrm>
          <a:prstGeom prst="line">
            <a:avLst/>
          </a:prstGeom>
          <a:ln w="2556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15" name="Line 91"/>
          <p:cNvSpPr/>
          <p:nvPr/>
        </p:nvSpPr>
        <p:spPr>
          <a:xfrm>
            <a:off x="9250200" y="4105440"/>
            <a:ext cx="2485080" cy="3564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16" name="CustomShape 92"/>
          <p:cNvSpPr/>
          <p:nvPr/>
        </p:nvSpPr>
        <p:spPr>
          <a:xfrm>
            <a:off x="10263240" y="4239720"/>
            <a:ext cx="14720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Avenir Next LT Pro"/>
              </a:rPr>
              <a:t>기장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417" name="CustomShape 93"/>
          <p:cNvSpPr/>
          <p:nvPr/>
        </p:nvSpPr>
        <p:spPr>
          <a:xfrm>
            <a:off x="5975280" y="3734280"/>
            <a:ext cx="1896480" cy="746280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venir Next LT Pro"/>
              </a:rPr>
              <a:t>For Boarding</a:t>
            </a:r>
            <a:endParaRPr b="0" lang="en-US" sz="1400" spc="-1" strike="noStrike">
              <a:latin typeface="굴림"/>
            </a:endParaRPr>
          </a:p>
        </p:txBody>
      </p:sp>
      <p:sp>
        <p:nvSpPr>
          <p:cNvPr id="418" name="Line 94"/>
          <p:cNvSpPr/>
          <p:nvPr/>
        </p:nvSpPr>
        <p:spPr>
          <a:xfrm flipV="1">
            <a:off x="7871760" y="4105440"/>
            <a:ext cx="141840" cy="18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19" name="Line 95"/>
          <p:cNvSpPr/>
          <p:nvPr/>
        </p:nvSpPr>
        <p:spPr>
          <a:xfrm>
            <a:off x="6923520" y="4480560"/>
            <a:ext cx="3600" cy="38736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20" name="Line 96"/>
          <p:cNvSpPr/>
          <p:nvPr/>
        </p:nvSpPr>
        <p:spPr>
          <a:xfrm>
            <a:off x="8632080" y="4383720"/>
            <a:ext cx="1064520" cy="2833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21" name="CustomShape 97"/>
          <p:cNvSpPr/>
          <p:nvPr/>
        </p:nvSpPr>
        <p:spPr>
          <a:xfrm>
            <a:off x="8960400" y="4667400"/>
            <a:ext cx="1472040" cy="44424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Avenir Next LT Pro"/>
              </a:rPr>
              <a:t>승무원</a:t>
            </a:r>
            <a:endParaRPr b="0" lang="en-US" sz="1400" spc="-1" strike="noStrike">
              <a:latin typeface="굴림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CustomShape 1"/>
          <p:cNvSpPr/>
          <p:nvPr/>
        </p:nvSpPr>
        <p:spPr>
          <a:xfrm rot="5400000">
            <a:off x="857880" y="346320"/>
            <a:ext cx="145800" cy="70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3" name="CustomShape 2"/>
          <p:cNvSpPr/>
          <p:nvPr/>
        </p:nvSpPr>
        <p:spPr>
          <a:xfrm flipV="1">
            <a:off x="578520" y="4500720"/>
            <a:ext cx="11034360" cy="1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24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4" name="CustomShap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5" name="CustomShape 4"/>
          <p:cNvSpPr/>
          <p:nvPr/>
        </p:nvSpPr>
        <p:spPr>
          <a:xfrm>
            <a:off x="1114560" y="0"/>
            <a:ext cx="9962640" cy="6857640"/>
          </a:xfrm>
          <a:custGeom>
            <a:avLst/>
            <a:gdLst/>
            <a:ahLst/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bg1"/>
          </a:solidFill>
          <a:ln w="9360">
            <a:solidFill>
              <a:schemeClr val="tx2">
                <a:lumMod val="10000"/>
                <a:lumOff val="90000"/>
              </a:schemeClr>
            </a:solidFill>
          </a:ln>
          <a:effectLst>
            <a:outerShdw algn="ctr" blurRad="63500" rotWithShape="0" sx="102000" sy="10200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6" name="CustomShape 5"/>
          <p:cNvSpPr/>
          <p:nvPr/>
        </p:nvSpPr>
        <p:spPr>
          <a:xfrm>
            <a:off x="1121760" y="0"/>
            <a:ext cx="9948240" cy="6857640"/>
          </a:xfrm>
          <a:custGeom>
            <a:avLst/>
            <a:gdLst/>
            <a:ahLst/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bg1"/>
          </a:solidFill>
          <a:ln w="936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7" name="TextShape 6"/>
          <p:cNvSpPr txBox="1"/>
          <p:nvPr/>
        </p:nvSpPr>
        <p:spPr>
          <a:xfrm>
            <a:off x="1523880" y="1999440"/>
            <a:ext cx="9143640" cy="27637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</a:pPr>
            <a:r>
              <a:rPr b="1" lang="ko-KR" sz="7200" spc="-1" strike="noStrike">
                <a:solidFill>
                  <a:srgbClr val="000000"/>
                </a:solidFill>
                <a:latin typeface="Avenir Next LT Pro"/>
              </a:rPr>
              <a:t>감사합니다</a:t>
            </a:r>
            <a:r>
              <a:rPr b="1" lang="ko-KR" sz="7200" spc="-1" strike="noStrike">
                <a:solidFill>
                  <a:srgbClr val="000000"/>
                </a:solidFill>
                <a:latin typeface="Avenir Next LT Pro"/>
              </a:rPr>
              <a:t>.</a:t>
            </a:r>
            <a:endParaRPr b="0" lang="ko-KR" sz="7200" spc="-1" strike="noStrik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28" name="CustomShape 7"/>
          <p:cNvSpPr/>
          <p:nvPr/>
        </p:nvSpPr>
        <p:spPr>
          <a:xfrm>
            <a:off x="3718440" y="5524920"/>
            <a:ext cx="4754520" cy="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1323</TotalTime>
  <Application>Neat_Office/6.2.8.2$Windows_x86 LibreOffice_project/</Application>
  <Words>633</Words>
  <Paragraphs>221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2020-11-04T15:12:07Z</dcterms:created>
  <dc:creator>류연동(2014110015)</dc:creator>
  <dc:description/>
  <dc:language>ko-KR</dc:language>
  <cp:lastModifiedBy/>
  <dcterms:modified xsi:type="dcterms:W3CDTF">2020-11-08T19:51:13Z</dcterms:modified>
  <cp:revision>33</cp:revision>
  <dc:subject/>
  <dc:title>db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와이드스크린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18</vt:i4>
  </property>
</Properties>
</file>