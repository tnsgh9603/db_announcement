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40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12" y="108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presProps" Target="presProps.xml"  /><Relationship Id="rId21" Type="http://schemas.openxmlformats.org/officeDocument/2006/relationships/viewProps" Target="viewProps.xml"  /><Relationship Id="rId22" Type="http://schemas.openxmlformats.org/officeDocument/2006/relationships/theme" Target="theme/theme1.xml"  /><Relationship Id="rId23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diagrams/_rels/data1.x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Relationship Id="rId2" Type="http://schemas.openxmlformats.org/officeDocument/2006/relationships/image" Target="../media/image4.svg"  /><Relationship Id="rId3" Type="http://schemas.openxmlformats.org/officeDocument/2006/relationships/image" Target="../media/image5.png"  /><Relationship Id="rId4" Type="http://schemas.openxmlformats.org/officeDocument/2006/relationships/image" Target="../media/image6.svg"  /><Relationship Id="rId5" Type="http://schemas.openxmlformats.org/officeDocument/2006/relationships/image" Target="../media/image7.png"  /><Relationship Id="rId6" Type="http://schemas.openxmlformats.org/officeDocument/2006/relationships/image" Target="../media/image8.svg"  /><Relationship Id="rId7" Type="http://schemas.openxmlformats.org/officeDocument/2006/relationships/image" Target="../media/image9.png"  /><Relationship Id="rId8" Type="http://schemas.openxmlformats.org/officeDocument/2006/relationships/image" Target="../media/image10.svg"  /></Relationships>
</file>

<file path=ppt/diagrams/_rels/drawing1.x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Relationship Id="rId2" Type="http://schemas.openxmlformats.org/officeDocument/2006/relationships/image" Target="../media/image4.svg"  /><Relationship Id="rId3" Type="http://schemas.openxmlformats.org/officeDocument/2006/relationships/image" Target="../media/image5.png"  /><Relationship Id="rId4" Type="http://schemas.openxmlformats.org/officeDocument/2006/relationships/image" Target="../media/image6.svg"  /><Relationship Id="rId5" Type="http://schemas.openxmlformats.org/officeDocument/2006/relationships/image" Target="../media/image7.png"  /><Relationship Id="rId6" Type="http://schemas.openxmlformats.org/officeDocument/2006/relationships/image" Target="../media/image8.svg"  /><Relationship Id="rId7" Type="http://schemas.openxmlformats.org/officeDocument/2006/relationships/image" Target="../media/image9.png"  /><Relationship Id="rId8" Type="http://schemas.openxmlformats.org/officeDocument/2006/relationships/image" Target="../media/image10.svg" 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1790D6-E5A5-46E9-8D45-E7BC59C5884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8AB9D94-97EE-4B61-955B-1A4192A5D78C}">
      <dgm:prSet/>
      <dgm:spPr/>
      <dgm:t>
        <a:bodyPr/>
        <a:lstStyle/>
        <a:p>
          <a:r>
            <a:rPr lang="en-US" dirty="0"/>
            <a:t>1. </a:t>
          </a:r>
          <a:r>
            <a:rPr lang="ko-KR" dirty="0"/>
            <a:t>주제 선</a:t>
          </a:r>
          <a:r>
            <a:rPr lang="ko-KR" altLang="en-US" dirty="0"/>
            <a:t>정</a:t>
          </a:r>
          <a:endParaRPr lang="en-US" dirty="0"/>
        </a:p>
      </dgm:t>
    </dgm:pt>
    <dgm:pt modelId="{01C4D3F0-A234-473D-AE7D-E58F2038955E}" type="parTrans" cxnId="{4CE2099D-016C-4701-9F0D-054FFEAC8CB4}">
      <dgm:prSet/>
      <dgm:spPr/>
      <dgm:t>
        <a:bodyPr/>
        <a:lstStyle/>
        <a:p>
          <a:endParaRPr lang="en-US"/>
        </a:p>
      </dgm:t>
    </dgm:pt>
    <dgm:pt modelId="{2AE119CA-BCF2-407A-BBED-4AF8E889E03B}" type="sibTrans" cxnId="{4CE2099D-016C-4701-9F0D-054FFEAC8CB4}">
      <dgm:prSet/>
      <dgm:spPr/>
      <dgm:t>
        <a:bodyPr/>
        <a:lstStyle/>
        <a:p>
          <a:endParaRPr lang="en-US"/>
        </a:p>
      </dgm:t>
    </dgm:pt>
    <dgm:pt modelId="{0C2B92F6-D500-4454-BF3E-26919AA67318}">
      <dgm:prSet/>
      <dgm:spPr/>
      <dgm:t>
        <a:bodyPr/>
        <a:lstStyle/>
        <a:p>
          <a:r>
            <a:rPr lang="en-US"/>
            <a:t>2. </a:t>
          </a:r>
          <a:r>
            <a:rPr lang="ko-KR" altLang="en-US"/>
            <a:t>요구사항 명세서</a:t>
          </a:r>
          <a:endParaRPr lang="en-US"/>
        </a:p>
      </dgm:t>
    </dgm:pt>
    <dgm:pt modelId="{80811B2E-58A5-4EF4-95BA-C4DAA52AB2F6}" type="parTrans" cxnId="{5D2A1F43-4E35-4FE3-A6CC-76777E9DB90C}">
      <dgm:prSet/>
      <dgm:spPr/>
      <dgm:t>
        <a:bodyPr/>
        <a:lstStyle/>
        <a:p>
          <a:endParaRPr lang="en-US"/>
        </a:p>
      </dgm:t>
    </dgm:pt>
    <dgm:pt modelId="{A35CD6A9-31D7-4F07-BD41-472DFE9896FD}" type="sibTrans" cxnId="{5D2A1F43-4E35-4FE3-A6CC-76777E9DB90C}">
      <dgm:prSet/>
      <dgm:spPr/>
      <dgm:t>
        <a:bodyPr/>
        <a:lstStyle/>
        <a:p>
          <a:endParaRPr lang="en-US"/>
        </a:p>
      </dgm:t>
    </dgm:pt>
    <dgm:pt modelId="{70503A1B-CD9A-4A70-BEB9-857B26165F4D}">
      <dgm:prSet/>
      <dgm:spPr/>
      <dgm:t>
        <a:bodyPr/>
        <a:lstStyle/>
        <a:p>
          <a:r>
            <a:rPr lang="en-US" dirty="0"/>
            <a:t>3. </a:t>
          </a:r>
          <a:r>
            <a:rPr lang="en-US" altLang="ko-KR" dirty="0"/>
            <a:t>DB </a:t>
          </a:r>
          <a:r>
            <a:rPr lang="ko-KR" altLang="en-US" dirty="0"/>
            <a:t>모델 개념적 설계</a:t>
          </a:r>
          <a:endParaRPr lang="en-US" dirty="0"/>
        </a:p>
      </dgm:t>
    </dgm:pt>
    <dgm:pt modelId="{D637163B-CA07-47E2-9D76-DD4C6FB14701}" type="parTrans" cxnId="{894F258D-97F8-4B69-B802-1034A2DB2D40}">
      <dgm:prSet/>
      <dgm:spPr/>
      <dgm:t>
        <a:bodyPr/>
        <a:lstStyle/>
        <a:p>
          <a:endParaRPr lang="en-US"/>
        </a:p>
      </dgm:t>
    </dgm:pt>
    <dgm:pt modelId="{1966DF3E-9638-49CE-90E9-D6C79E9AE8FC}" type="sibTrans" cxnId="{894F258D-97F8-4B69-B802-1034A2DB2D40}">
      <dgm:prSet/>
      <dgm:spPr/>
      <dgm:t>
        <a:bodyPr/>
        <a:lstStyle/>
        <a:p>
          <a:endParaRPr lang="en-US"/>
        </a:p>
      </dgm:t>
    </dgm:pt>
    <dgm:pt modelId="{80542971-3D25-4C91-BA09-BF01BD8A4903}">
      <dgm:prSet/>
      <dgm:spPr/>
      <dgm:t>
        <a:bodyPr/>
        <a:lstStyle/>
        <a:p>
          <a:r>
            <a:rPr lang="en-US"/>
            <a:t>4. </a:t>
          </a:r>
          <a:r>
            <a:rPr lang="en-US" altLang="ko-KR"/>
            <a:t>ER </a:t>
          </a:r>
          <a:r>
            <a:rPr lang="ko-KR" altLang="en-US"/>
            <a:t>다이어그램</a:t>
          </a:r>
          <a:endParaRPr lang="en-US"/>
        </a:p>
      </dgm:t>
    </dgm:pt>
    <dgm:pt modelId="{1BB7523A-7B9F-4187-900C-DACBF554F4A5}" type="parTrans" cxnId="{BDF1640D-38E8-4AB3-88F2-6C93DBEA2C92}">
      <dgm:prSet/>
      <dgm:spPr/>
      <dgm:t>
        <a:bodyPr/>
        <a:lstStyle/>
        <a:p>
          <a:endParaRPr lang="en-US"/>
        </a:p>
      </dgm:t>
    </dgm:pt>
    <dgm:pt modelId="{37C759BA-A613-4EDC-AFBC-28B56C44FDA4}" type="sibTrans" cxnId="{BDF1640D-38E8-4AB3-88F2-6C93DBEA2C92}">
      <dgm:prSet/>
      <dgm:spPr/>
      <dgm:t>
        <a:bodyPr/>
        <a:lstStyle/>
        <a:p>
          <a:endParaRPr lang="en-US"/>
        </a:p>
      </dgm:t>
    </dgm:pt>
    <dgm:pt modelId="{80CEC838-0E5F-4EEE-8871-E7D2819199D4}" type="pres">
      <dgm:prSet presAssocID="{EA1790D6-E5A5-46E9-8D45-E7BC59C58841}" presName="root" presStyleCnt="0">
        <dgm:presLayoutVars>
          <dgm:dir/>
          <dgm:resizeHandles val="exact"/>
        </dgm:presLayoutVars>
      </dgm:prSet>
      <dgm:spPr/>
    </dgm:pt>
    <dgm:pt modelId="{2603F8C9-41C4-44B1-827B-C017D6A2E737}" type="pres">
      <dgm:prSet presAssocID="{08AB9D94-97EE-4B61-955B-1A4192A5D78C}" presName="compNode" presStyleCnt="0"/>
      <dgm:spPr/>
    </dgm:pt>
    <dgm:pt modelId="{B5B86DF2-6934-4E10-AA89-4B723C5612C4}" type="pres">
      <dgm:prSet presAssocID="{08AB9D94-97EE-4B61-955B-1A4192A5D78C}" presName="bgRect" presStyleLbl="bgShp" presStyleIdx="0" presStyleCnt="4" custLinFactNeighborY="13531"/>
      <dgm:spPr>
        <a:solidFill>
          <a:srgbClr val="7030A0"/>
        </a:solidFill>
        <a:effectLst>
          <a:innerShdw blurRad="114300">
            <a:prstClr val="black"/>
          </a:innerShdw>
        </a:effectLst>
      </dgm:spPr>
    </dgm:pt>
    <dgm:pt modelId="{BE7C2FC0-73F7-4123-B83B-CE4B4577D7FB}" type="pres">
      <dgm:prSet presAssocID="{08AB9D94-97EE-4B61-955B-1A4192A5D7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교사"/>
        </a:ext>
      </dgm:extLst>
    </dgm:pt>
    <dgm:pt modelId="{E2A1D20E-5D78-4550-A363-AEB33997E07A}" type="pres">
      <dgm:prSet presAssocID="{08AB9D94-97EE-4B61-955B-1A4192A5D78C}" presName="spaceRect" presStyleCnt="0"/>
      <dgm:spPr/>
    </dgm:pt>
    <dgm:pt modelId="{82002A12-ED6A-4C7B-A82D-F0591A60ACE8}" type="pres">
      <dgm:prSet presAssocID="{08AB9D94-97EE-4B61-955B-1A4192A5D78C}" presName="parTx" presStyleLbl="revTx" presStyleIdx="0" presStyleCnt="4">
        <dgm:presLayoutVars>
          <dgm:chMax val="0"/>
          <dgm:chPref val="0"/>
        </dgm:presLayoutVars>
      </dgm:prSet>
      <dgm:spPr/>
    </dgm:pt>
    <dgm:pt modelId="{C9D0C884-C369-4E52-9080-94217B99A98B}" type="pres">
      <dgm:prSet presAssocID="{2AE119CA-BCF2-407A-BBED-4AF8E889E03B}" presName="sibTrans" presStyleCnt="0"/>
      <dgm:spPr/>
    </dgm:pt>
    <dgm:pt modelId="{5344DE6B-AEEB-4F45-8DA2-5B7D144F2576}" type="pres">
      <dgm:prSet presAssocID="{0C2B92F6-D500-4454-BF3E-26919AA67318}" presName="compNode" presStyleCnt="0"/>
      <dgm:spPr/>
    </dgm:pt>
    <dgm:pt modelId="{DB4AE7B9-B50D-49E5-81C9-75A5B715F7E7}" type="pres">
      <dgm:prSet presAssocID="{0C2B92F6-D500-4454-BF3E-26919AA67318}" presName="bgRect" presStyleLbl="bgShp" presStyleIdx="1" presStyleCnt="4"/>
      <dgm:spPr>
        <a:effectLst>
          <a:innerShdw blurRad="114300">
            <a:prstClr val="black"/>
          </a:innerShdw>
        </a:effectLst>
      </dgm:spPr>
    </dgm:pt>
    <dgm:pt modelId="{2A780A8B-A442-45E9-9F79-0C6884B39D93}" type="pres">
      <dgm:prSet presAssocID="{0C2B92F6-D500-4454-BF3E-26919AA6731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확인 표시"/>
        </a:ext>
      </dgm:extLst>
    </dgm:pt>
    <dgm:pt modelId="{A7B31003-61E2-4E42-8851-439A452797EC}" type="pres">
      <dgm:prSet presAssocID="{0C2B92F6-D500-4454-BF3E-26919AA67318}" presName="spaceRect" presStyleCnt="0"/>
      <dgm:spPr/>
    </dgm:pt>
    <dgm:pt modelId="{057CFA2D-DC3E-415C-ABF0-FB4CFAF5B605}" type="pres">
      <dgm:prSet presAssocID="{0C2B92F6-D500-4454-BF3E-26919AA67318}" presName="parTx" presStyleLbl="revTx" presStyleIdx="1" presStyleCnt="4">
        <dgm:presLayoutVars>
          <dgm:chMax val="0"/>
          <dgm:chPref val="0"/>
        </dgm:presLayoutVars>
      </dgm:prSet>
      <dgm:spPr/>
    </dgm:pt>
    <dgm:pt modelId="{962DBA92-A31D-4669-80DE-AAB8D318E071}" type="pres">
      <dgm:prSet presAssocID="{A35CD6A9-31D7-4F07-BD41-472DFE9896FD}" presName="sibTrans" presStyleCnt="0"/>
      <dgm:spPr/>
    </dgm:pt>
    <dgm:pt modelId="{4673E6B7-A403-4516-A710-BCFE6C64AB81}" type="pres">
      <dgm:prSet presAssocID="{70503A1B-CD9A-4A70-BEB9-857B26165F4D}" presName="compNode" presStyleCnt="0"/>
      <dgm:spPr/>
    </dgm:pt>
    <dgm:pt modelId="{FA5A260C-9FFA-44B3-8131-E16D4B6A7FC5}" type="pres">
      <dgm:prSet presAssocID="{70503A1B-CD9A-4A70-BEB9-857B26165F4D}" presName="bgRect" presStyleLbl="bgShp" presStyleIdx="2" presStyleCnt="4" custLinFactNeighborX="264" custLinFactNeighborY="915"/>
      <dgm:spPr>
        <a:solidFill>
          <a:srgbClr val="0070C0"/>
        </a:solidFill>
        <a:effectLst>
          <a:innerShdw blurRad="114300">
            <a:prstClr val="black"/>
          </a:innerShdw>
        </a:effectLst>
      </dgm:spPr>
    </dgm:pt>
    <dgm:pt modelId="{0ED43FD0-67B8-41E8-B04D-18CDFCEAF0FF}" type="pres">
      <dgm:prSet presAssocID="{70503A1B-CD9A-4A70-BEB9-857B26165F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트로피"/>
        </a:ext>
      </dgm:extLst>
    </dgm:pt>
    <dgm:pt modelId="{A3FA5FD7-2EBB-40F2-A719-F5E66CC95A1F}" type="pres">
      <dgm:prSet presAssocID="{70503A1B-CD9A-4A70-BEB9-857B26165F4D}" presName="spaceRect" presStyleCnt="0"/>
      <dgm:spPr/>
    </dgm:pt>
    <dgm:pt modelId="{EA35C2BD-8122-4761-9947-4CC58BDA5BCA}" type="pres">
      <dgm:prSet presAssocID="{70503A1B-CD9A-4A70-BEB9-857B26165F4D}" presName="parTx" presStyleLbl="revTx" presStyleIdx="2" presStyleCnt="4">
        <dgm:presLayoutVars>
          <dgm:chMax val="0"/>
          <dgm:chPref val="0"/>
        </dgm:presLayoutVars>
      </dgm:prSet>
      <dgm:spPr/>
    </dgm:pt>
    <dgm:pt modelId="{BF194BF0-82FD-42EC-9304-5CC83DCCEB67}" type="pres">
      <dgm:prSet presAssocID="{1966DF3E-9638-49CE-90E9-D6C79E9AE8FC}" presName="sibTrans" presStyleCnt="0"/>
      <dgm:spPr/>
    </dgm:pt>
    <dgm:pt modelId="{EC593637-1A60-4836-9939-A73326DFE969}" type="pres">
      <dgm:prSet presAssocID="{80542971-3D25-4C91-BA09-BF01BD8A4903}" presName="compNode" presStyleCnt="0"/>
      <dgm:spPr/>
    </dgm:pt>
    <dgm:pt modelId="{43F03C19-DB3E-49E3-AE2E-482C17E4259B}" type="pres">
      <dgm:prSet presAssocID="{80542971-3D25-4C91-BA09-BF01BD8A4903}" presName="bgRect" presStyleLbl="bgShp" presStyleIdx="3" presStyleCnt="4"/>
      <dgm:spPr>
        <a:effectLst>
          <a:innerShdw blurRad="114300">
            <a:prstClr val="black"/>
          </a:innerShdw>
        </a:effectLst>
      </dgm:spPr>
    </dgm:pt>
    <dgm:pt modelId="{F29DD12B-E715-479E-A640-AC9E34EDCB1C}" type="pres">
      <dgm:prSet presAssocID="{80542971-3D25-4C91-BA09-BF01BD8A490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리본 메뉴"/>
        </a:ext>
      </dgm:extLst>
    </dgm:pt>
    <dgm:pt modelId="{D77705FD-4DF9-4252-949F-EAFD7A66E0E0}" type="pres">
      <dgm:prSet presAssocID="{80542971-3D25-4C91-BA09-BF01BD8A4903}" presName="spaceRect" presStyleCnt="0"/>
      <dgm:spPr/>
    </dgm:pt>
    <dgm:pt modelId="{25AD2BCC-3BC1-4E15-A5D5-3F0EF3AB8872}" type="pres">
      <dgm:prSet presAssocID="{80542971-3D25-4C91-BA09-BF01BD8A490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DF1640D-38E8-4AB3-88F2-6C93DBEA2C92}" srcId="{EA1790D6-E5A5-46E9-8D45-E7BC59C58841}" destId="{80542971-3D25-4C91-BA09-BF01BD8A4903}" srcOrd="3" destOrd="0" parTransId="{1BB7523A-7B9F-4187-900C-DACBF554F4A5}" sibTransId="{37C759BA-A613-4EDC-AFBC-28B56C44FDA4}"/>
    <dgm:cxn modelId="{FEE7F961-4131-4209-8377-F2AA34ADD35C}" type="presOf" srcId="{0C2B92F6-D500-4454-BF3E-26919AA67318}" destId="{057CFA2D-DC3E-415C-ABF0-FB4CFAF5B605}" srcOrd="0" destOrd="0" presId="urn:microsoft.com/office/officeart/2018/2/layout/IconVerticalSolidList"/>
    <dgm:cxn modelId="{5D2A1F43-4E35-4FE3-A6CC-76777E9DB90C}" srcId="{EA1790D6-E5A5-46E9-8D45-E7BC59C58841}" destId="{0C2B92F6-D500-4454-BF3E-26919AA67318}" srcOrd="1" destOrd="0" parTransId="{80811B2E-58A5-4EF4-95BA-C4DAA52AB2F6}" sibTransId="{A35CD6A9-31D7-4F07-BD41-472DFE9896FD}"/>
    <dgm:cxn modelId="{3932987E-6123-4DE1-AD47-25FC375651A0}" type="presOf" srcId="{EA1790D6-E5A5-46E9-8D45-E7BC59C58841}" destId="{80CEC838-0E5F-4EEE-8871-E7D2819199D4}" srcOrd="0" destOrd="0" presId="urn:microsoft.com/office/officeart/2018/2/layout/IconVerticalSolidList"/>
    <dgm:cxn modelId="{894F258D-97F8-4B69-B802-1034A2DB2D40}" srcId="{EA1790D6-E5A5-46E9-8D45-E7BC59C58841}" destId="{70503A1B-CD9A-4A70-BEB9-857B26165F4D}" srcOrd="2" destOrd="0" parTransId="{D637163B-CA07-47E2-9D76-DD4C6FB14701}" sibTransId="{1966DF3E-9638-49CE-90E9-D6C79E9AE8FC}"/>
    <dgm:cxn modelId="{4CE2099D-016C-4701-9F0D-054FFEAC8CB4}" srcId="{EA1790D6-E5A5-46E9-8D45-E7BC59C58841}" destId="{08AB9D94-97EE-4B61-955B-1A4192A5D78C}" srcOrd="0" destOrd="0" parTransId="{01C4D3F0-A234-473D-AE7D-E58F2038955E}" sibTransId="{2AE119CA-BCF2-407A-BBED-4AF8E889E03B}"/>
    <dgm:cxn modelId="{B373A39E-1693-47CD-8C13-82C9A8977D6D}" type="presOf" srcId="{70503A1B-CD9A-4A70-BEB9-857B26165F4D}" destId="{EA35C2BD-8122-4761-9947-4CC58BDA5BCA}" srcOrd="0" destOrd="0" presId="urn:microsoft.com/office/officeart/2018/2/layout/IconVerticalSolidList"/>
    <dgm:cxn modelId="{223B3ECB-6F75-4CC8-BB3B-03D33A724DC8}" type="presOf" srcId="{80542971-3D25-4C91-BA09-BF01BD8A4903}" destId="{25AD2BCC-3BC1-4E15-A5D5-3F0EF3AB8872}" srcOrd="0" destOrd="0" presId="urn:microsoft.com/office/officeart/2018/2/layout/IconVerticalSolidList"/>
    <dgm:cxn modelId="{4E97E1F6-AF19-44F0-A07C-9889FAF37F95}" type="presOf" srcId="{08AB9D94-97EE-4B61-955B-1A4192A5D78C}" destId="{82002A12-ED6A-4C7B-A82D-F0591A60ACE8}" srcOrd="0" destOrd="0" presId="urn:microsoft.com/office/officeart/2018/2/layout/IconVerticalSolidList"/>
    <dgm:cxn modelId="{52F84D05-FA44-497C-86BC-D4836C965D44}" type="presParOf" srcId="{80CEC838-0E5F-4EEE-8871-E7D2819199D4}" destId="{2603F8C9-41C4-44B1-827B-C017D6A2E737}" srcOrd="0" destOrd="0" presId="urn:microsoft.com/office/officeart/2018/2/layout/IconVerticalSolidList"/>
    <dgm:cxn modelId="{731CCC09-1EC2-4311-BA38-56ADF50D9B3A}" type="presParOf" srcId="{2603F8C9-41C4-44B1-827B-C017D6A2E737}" destId="{B5B86DF2-6934-4E10-AA89-4B723C5612C4}" srcOrd="0" destOrd="0" presId="urn:microsoft.com/office/officeart/2018/2/layout/IconVerticalSolidList"/>
    <dgm:cxn modelId="{1B5F508C-D882-4D19-BFDE-67358799E644}" type="presParOf" srcId="{2603F8C9-41C4-44B1-827B-C017D6A2E737}" destId="{BE7C2FC0-73F7-4123-B83B-CE4B4577D7FB}" srcOrd="1" destOrd="0" presId="urn:microsoft.com/office/officeart/2018/2/layout/IconVerticalSolidList"/>
    <dgm:cxn modelId="{C1C672A9-00D9-4FC4-8419-6A592D7E4521}" type="presParOf" srcId="{2603F8C9-41C4-44B1-827B-C017D6A2E737}" destId="{E2A1D20E-5D78-4550-A363-AEB33997E07A}" srcOrd="2" destOrd="0" presId="urn:microsoft.com/office/officeart/2018/2/layout/IconVerticalSolidList"/>
    <dgm:cxn modelId="{27C433D1-C82C-4046-AB75-E443725E25FF}" type="presParOf" srcId="{2603F8C9-41C4-44B1-827B-C017D6A2E737}" destId="{82002A12-ED6A-4C7B-A82D-F0591A60ACE8}" srcOrd="3" destOrd="0" presId="urn:microsoft.com/office/officeart/2018/2/layout/IconVerticalSolidList"/>
    <dgm:cxn modelId="{A2DEE962-889B-450A-9A37-11A033887851}" type="presParOf" srcId="{80CEC838-0E5F-4EEE-8871-E7D2819199D4}" destId="{C9D0C884-C369-4E52-9080-94217B99A98B}" srcOrd="1" destOrd="0" presId="urn:microsoft.com/office/officeart/2018/2/layout/IconVerticalSolidList"/>
    <dgm:cxn modelId="{7D603228-A6D1-47C8-A803-F41B2AF4CA6A}" type="presParOf" srcId="{80CEC838-0E5F-4EEE-8871-E7D2819199D4}" destId="{5344DE6B-AEEB-4F45-8DA2-5B7D144F2576}" srcOrd="2" destOrd="0" presId="urn:microsoft.com/office/officeart/2018/2/layout/IconVerticalSolidList"/>
    <dgm:cxn modelId="{A0A6A0D4-C066-492C-AF2B-4D27FFF9ED4A}" type="presParOf" srcId="{5344DE6B-AEEB-4F45-8DA2-5B7D144F2576}" destId="{DB4AE7B9-B50D-49E5-81C9-75A5B715F7E7}" srcOrd="0" destOrd="0" presId="urn:microsoft.com/office/officeart/2018/2/layout/IconVerticalSolidList"/>
    <dgm:cxn modelId="{4EF63D05-4F83-4579-8B51-D91BB799CB6D}" type="presParOf" srcId="{5344DE6B-AEEB-4F45-8DA2-5B7D144F2576}" destId="{2A780A8B-A442-45E9-9F79-0C6884B39D93}" srcOrd="1" destOrd="0" presId="urn:microsoft.com/office/officeart/2018/2/layout/IconVerticalSolidList"/>
    <dgm:cxn modelId="{9372D65D-DCBD-4AA1-9730-D79A18ADD96F}" type="presParOf" srcId="{5344DE6B-AEEB-4F45-8DA2-5B7D144F2576}" destId="{A7B31003-61E2-4E42-8851-439A452797EC}" srcOrd="2" destOrd="0" presId="urn:microsoft.com/office/officeart/2018/2/layout/IconVerticalSolidList"/>
    <dgm:cxn modelId="{070480B8-6621-474E-8FFB-75C916252290}" type="presParOf" srcId="{5344DE6B-AEEB-4F45-8DA2-5B7D144F2576}" destId="{057CFA2D-DC3E-415C-ABF0-FB4CFAF5B605}" srcOrd="3" destOrd="0" presId="urn:microsoft.com/office/officeart/2018/2/layout/IconVerticalSolidList"/>
    <dgm:cxn modelId="{D095C1BE-CD03-4BC2-8197-2902DCCC53EA}" type="presParOf" srcId="{80CEC838-0E5F-4EEE-8871-E7D2819199D4}" destId="{962DBA92-A31D-4669-80DE-AAB8D318E071}" srcOrd="3" destOrd="0" presId="urn:microsoft.com/office/officeart/2018/2/layout/IconVerticalSolidList"/>
    <dgm:cxn modelId="{9F2F413E-7508-426A-9EDE-40B8CE0B9D68}" type="presParOf" srcId="{80CEC838-0E5F-4EEE-8871-E7D2819199D4}" destId="{4673E6B7-A403-4516-A710-BCFE6C64AB81}" srcOrd="4" destOrd="0" presId="urn:microsoft.com/office/officeart/2018/2/layout/IconVerticalSolidList"/>
    <dgm:cxn modelId="{F94D1FC4-4CD5-4846-9EDC-DE639A165D11}" type="presParOf" srcId="{4673E6B7-A403-4516-A710-BCFE6C64AB81}" destId="{FA5A260C-9FFA-44B3-8131-E16D4B6A7FC5}" srcOrd="0" destOrd="0" presId="urn:microsoft.com/office/officeart/2018/2/layout/IconVerticalSolidList"/>
    <dgm:cxn modelId="{CF719A7A-5849-4BEC-8B4D-7C079E0F26C5}" type="presParOf" srcId="{4673E6B7-A403-4516-A710-BCFE6C64AB81}" destId="{0ED43FD0-67B8-41E8-B04D-18CDFCEAF0FF}" srcOrd="1" destOrd="0" presId="urn:microsoft.com/office/officeart/2018/2/layout/IconVerticalSolidList"/>
    <dgm:cxn modelId="{88FB36CA-33B2-41B9-8B4E-F3FA78FDABAB}" type="presParOf" srcId="{4673E6B7-A403-4516-A710-BCFE6C64AB81}" destId="{A3FA5FD7-2EBB-40F2-A719-F5E66CC95A1F}" srcOrd="2" destOrd="0" presId="urn:microsoft.com/office/officeart/2018/2/layout/IconVerticalSolidList"/>
    <dgm:cxn modelId="{CA830A00-7EF4-4597-A4A9-FF7E069A7731}" type="presParOf" srcId="{4673E6B7-A403-4516-A710-BCFE6C64AB81}" destId="{EA35C2BD-8122-4761-9947-4CC58BDA5BCA}" srcOrd="3" destOrd="0" presId="urn:microsoft.com/office/officeart/2018/2/layout/IconVerticalSolidList"/>
    <dgm:cxn modelId="{F56B6574-0168-4CF4-B068-A988E2BEB015}" type="presParOf" srcId="{80CEC838-0E5F-4EEE-8871-E7D2819199D4}" destId="{BF194BF0-82FD-42EC-9304-5CC83DCCEB67}" srcOrd="5" destOrd="0" presId="urn:microsoft.com/office/officeart/2018/2/layout/IconVerticalSolidList"/>
    <dgm:cxn modelId="{3A17974A-59B3-4F8F-B36A-CA2DBDEAE5CA}" type="presParOf" srcId="{80CEC838-0E5F-4EEE-8871-E7D2819199D4}" destId="{EC593637-1A60-4836-9939-A73326DFE969}" srcOrd="6" destOrd="0" presId="urn:microsoft.com/office/officeart/2018/2/layout/IconVerticalSolidList"/>
    <dgm:cxn modelId="{E8DD09E9-B518-47E5-A906-66A07FBA8678}" type="presParOf" srcId="{EC593637-1A60-4836-9939-A73326DFE969}" destId="{43F03C19-DB3E-49E3-AE2E-482C17E4259B}" srcOrd="0" destOrd="0" presId="urn:microsoft.com/office/officeart/2018/2/layout/IconVerticalSolidList"/>
    <dgm:cxn modelId="{17DE881E-A939-4204-9344-64900000805C}" type="presParOf" srcId="{EC593637-1A60-4836-9939-A73326DFE969}" destId="{F29DD12B-E715-479E-A640-AC9E34EDCB1C}" srcOrd="1" destOrd="0" presId="urn:microsoft.com/office/officeart/2018/2/layout/IconVerticalSolidList"/>
    <dgm:cxn modelId="{424B8507-7B26-4732-BE30-D68FE85781B9}" type="presParOf" srcId="{EC593637-1A60-4836-9939-A73326DFE969}" destId="{D77705FD-4DF9-4252-949F-EAFD7A66E0E0}" srcOrd="2" destOrd="0" presId="urn:microsoft.com/office/officeart/2018/2/layout/IconVerticalSolidList"/>
    <dgm:cxn modelId="{1E4D33E9-7B5F-416F-BDFF-532EA704C8B6}" type="presParOf" srcId="{EC593637-1A60-4836-9939-A73326DFE969}" destId="{25AD2BCC-3BC1-4E15-A5D5-3F0EF3AB88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86DF2-6934-4E10-AA89-4B723C5612C4}">
      <dsp:nvSpPr>
        <dsp:cNvPr id="0" name=""/>
        <dsp:cNvSpPr/>
      </dsp:nvSpPr>
      <dsp:spPr>
        <a:xfrm>
          <a:off x="0" y="125835"/>
          <a:ext cx="10515600" cy="916611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C2FC0-73F7-4123-B83B-CE4B4577D7FB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02A12-ED6A-4C7B-A82D-F0591A60ACE8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1. </a:t>
          </a:r>
          <a:r>
            <a:rPr lang="ko-KR" sz="2200" kern="1200" dirty="0"/>
            <a:t>주제 선</a:t>
          </a:r>
          <a:r>
            <a:rPr lang="ko-KR" altLang="en-US" sz="2200" kern="1200" dirty="0"/>
            <a:t>정</a:t>
          </a:r>
          <a:endParaRPr lang="en-US" sz="2200" kern="1200" dirty="0"/>
        </a:p>
      </dsp:txBody>
      <dsp:txXfrm>
        <a:off x="1058686" y="1808"/>
        <a:ext cx="9456913" cy="916611"/>
      </dsp:txXfrm>
    </dsp:sp>
    <dsp:sp modelId="{DB4AE7B9-B50D-49E5-81C9-75A5B715F7E7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80A8B-A442-45E9-9F79-0C6884B39D93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CFA2D-DC3E-415C-ABF0-FB4CFAF5B605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</a:t>
          </a:r>
          <a:r>
            <a:rPr lang="ko-KR" altLang="en-US" sz="2200" kern="1200"/>
            <a:t>요구사항 명세서</a:t>
          </a:r>
          <a:endParaRPr lang="en-US" sz="2200" kern="1200"/>
        </a:p>
      </dsp:txBody>
      <dsp:txXfrm>
        <a:off x="1058686" y="1147573"/>
        <a:ext cx="9456913" cy="916611"/>
      </dsp:txXfrm>
    </dsp:sp>
    <dsp:sp modelId="{FA5A260C-9FFA-44B3-8131-E16D4B6A7FC5}">
      <dsp:nvSpPr>
        <dsp:cNvPr id="0" name=""/>
        <dsp:cNvSpPr/>
      </dsp:nvSpPr>
      <dsp:spPr>
        <a:xfrm>
          <a:off x="0" y="2301725"/>
          <a:ext cx="10515600" cy="916611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43FD0-67B8-41E8-B04D-18CDFCEAF0FF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35C2BD-8122-4761-9947-4CC58BDA5BCA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3. </a:t>
          </a:r>
          <a:r>
            <a:rPr lang="en-US" altLang="ko-KR" sz="2200" kern="1200" dirty="0"/>
            <a:t>DB </a:t>
          </a:r>
          <a:r>
            <a:rPr lang="ko-KR" altLang="en-US" sz="2200" kern="1200" dirty="0"/>
            <a:t>모델 개념적 설계</a:t>
          </a:r>
          <a:endParaRPr lang="en-US" sz="2200" kern="1200" dirty="0"/>
        </a:p>
      </dsp:txBody>
      <dsp:txXfrm>
        <a:off x="1058686" y="2293338"/>
        <a:ext cx="9456913" cy="916611"/>
      </dsp:txXfrm>
    </dsp:sp>
    <dsp:sp modelId="{43F03C19-DB3E-49E3-AE2E-482C17E4259B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DD12B-E715-479E-A640-AC9E34EDCB1C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D2BCC-3BC1-4E15-A5D5-3F0EF3AB8872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4. </a:t>
          </a:r>
          <a:r>
            <a:rPr lang="en-US" altLang="ko-KR" sz="2200" kern="1200"/>
            <a:t>ER </a:t>
          </a:r>
          <a:r>
            <a:rPr lang="ko-KR" altLang="en-US" sz="2200" kern="1200"/>
            <a:t>다이어그램</a:t>
          </a:r>
          <a:endParaRPr lang="en-US" sz="2200" kern="1200"/>
        </a:p>
      </dsp:txBody>
      <dsp:txXfrm>
        <a:off x="1058686" y="3439103"/>
        <a:ext cx="94569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65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8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6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4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2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8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7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0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9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2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8300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2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83" r:id="rId6"/>
    <p:sldLayoutId id="2147483979" r:id="rId7"/>
    <p:sldLayoutId id="2147483980" r:id="rId8"/>
    <p:sldLayoutId id="2147483981" r:id="rId9"/>
    <p:sldLayoutId id="2147483982" r:id="rId10"/>
    <p:sldLayoutId id="21474839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diagramData" Target="../diagrams/data1.xml"  /><Relationship Id="rId3" Type="http://schemas.openxmlformats.org/officeDocument/2006/relationships/diagramLayout" Target="../diagrams/layout1.xml"  /><Relationship Id="rId4" Type="http://schemas.openxmlformats.org/officeDocument/2006/relationships/diagramQuickStyle" Target="../diagrams/quickStyle1.xml"  /><Relationship Id="rId5" Type="http://schemas.openxmlformats.org/officeDocument/2006/relationships/diagramColors" Target="../diagrams/colors1.xml"  /><Relationship Id="rId6" Type="http://schemas.microsoft.com/office/2007/relationships/diagramDrawing" Target="../diagrams/drawing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4.sv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Relationship Id="rId3" Type="http://schemas.openxmlformats.org/officeDocument/2006/relationships/image" Target="../media/image17.sv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1.png"  /><Relationship Id="rId3" Type="http://schemas.openxmlformats.org/officeDocument/2006/relationships/image" Target="../media/image22.sv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58" name="Rectangle 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62" name="Rectangle 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Picture 3" descr="실외이(가) 표시된 사진  자동 생성된 설명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841249" y="941832"/>
            <a:ext cx="10506456" cy="1438396"/>
          </a:xfrm>
        </p:spPr>
        <p:txBody>
          <a:bodyPr vert="horz" lIns="91440" tIns="45720" rIns="91440" bIns="45720" anchor="b">
            <a:normAutofit/>
          </a:bodyPr>
          <a:lstStyle/>
          <a:p>
            <a:pPr algn="ctr">
              <a:defRPr/>
            </a:pPr>
            <a:r>
              <a:rPr lang="en-US" altLang="ko-KR" sz="5000"/>
              <a:t>T-Way </a:t>
            </a:r>
            <a:r>
              <a:rPr lang="ko-KR" altLang="en-US" sz="5000"/>
              <a:t>항공서비스 </a:t>
            </a:r>
            <a:r>
              <a:rPr lang="en-US" altLang="ko-KR" sz="5000"/>
              <a:t>DB</a:t>
            </a:r>
            <a:endParaRPr lang="en-US" altLang="ko-KR" sz="5000"/>
          </a:p>
        </p:txBody>
      </p:sp>
      <p:sp>
        <p:nvSpPr>
          <p:cNvPr id="66" name="Rectangle 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076660" y="3919296"/>
            <a:ext cx="4748993" cy="2920406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>
            <a:normAutofit fontScale="92500"/>
          </a:bodyPr>
          <a:lstStyle/>
          <a:p>
            <a:pPr marL="114300" algn="ctr">
              <a:lnSpc>
                <a:spcPct val="100000"/>
              </a:lnSpc>
              <a:defRPr/>
            </a:pPr>
            <a:r>
              <a:rPr lang="en-US" altLang="ko-KR" sz="2200" b="1"/>
              <a:t>2</a:t>
            </a:r>
            <a:r>
              <a:rPr lang="ko-KR" altLang="en-US" sz="2200" b="1"/>
              <a:t>조</a:t>
            </a:r>
            <a:endParaRPr lang="ko-KR" altLang="en-US" sz="2200" b="1"/>
          </a:p>
          <a:p>
            <a:pPr marL="342900" indent="-228600" algn="r">
              <a:lnSpc>
                <a:spcPct val="100000"/>
              </a:lnSpc>
              <a:buFont typeface="Arial"/>
              <a:buChar char="•"/>
              <a:defRPr/>
            </a:pPr>
            <a:r>
              <a:rPr lang="ko-KR" altLang="en-US" sz="2200" b="1"/>
              <a:t>조장  </a:t>
            </a:r>
            <a:r>
              <a:rPr lang="en-US" altLang="ko-KR" sz="2200" b="1"/>
              <a:t>:  </a:t>
            </a: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권순호</a:t>
            </a:r>
            <a:r>
              <a:rPr lang="en-US" altLang="ko-KR" sz="2200" b="1"/>
              <a:t> </a:t>
            </a:r>
            <a:endParaRPr lang="en-US" altLang="ko-KR" sz="2200" b="1"/>
          </a:p>
          <a:p>
            <a:pPr marL="342900" indent="-228600" algn="r">
              <a:lnSpc>
                <a:spcPct val="100000"/>
              </a:lnSpc>
              <a:buFont typeface="Arial"/>
              <a:buChar char="•"/>
              <a:defRPr/>
            </a:pPr>
            <a:r>
              <a:rPr lang="ko-KR" altLang="en-US" sz="2200" b="1"/>
              <a:t>조원  </a:t>
            </a:r>
            <a:r>
              <a:rPr lang="en-US" altLang="ko-KR" sz="2200" b="1"/>
              <a:t>:       </a:t>
            </a:r>
            <a:r>
              <a:rPr lang="ko-KR" altLang="en-US" sz="2200" b="1"/>
              <a:t>기계공학과    </a:t>
            </a:r>
            <a:r>
              <a:rPr lang="en-US" altLang="ko-KR" sz="2200" b="1"/>
              <a:t>3</a:t>
            </a:r>
            <a:r>
              <a:rPr lang="ko-KR" altLang="en-US" sz="2200" b="1"/>
              <a:t>학년</a:t>
            </a:r>
            <a:r>
              <a:rPr lang="en-US" altLang="ko-KR" sz="2200" b="1"/>
              <a:t> </a:t>
            </a:r>
            <a:r>
              <a:rPr lang="ko-KR" altLang="en-US" sz="2200" b="1"/>
              <a:t>류연동</a:t>
            </a:r>
            <a:endParaRPr lang="ko-KR" altLang="en-US" sz="2200" b="1"/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배준일</a:t>
            </a:r>
            <a:endParaRPr lang="ko-KR" altLang="en-US" sz="2200" b="1"/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유승주</a:t>
            </a:r>
            <a:endParaRPr lang="ko-KR" altLang="en-US" sz="2200" b="1"/>
          </a:p>
          <a:p>
            <a:pPr algn="r">
              <a:lnSpc>
                <a:spcPct val="100000"/>
              </a:lnSpc>
              <a:defRPr/>
            </a:pPr>
            <a:r>
              <a:rPr lang="ko-KR" altLang="en-US" sz="2200" b="1"/>
              <a:t>컴퓨터공학전공 </a:t>
            </a:r>
            <a:r>
              <a:rPr lang="en-US" altLang="ko-KR" sz="2200" b="1"/>
              <a:t>2</a:t>
            </a:r>
            <a:r>
              <a:rPr lang="ko-KR" altLang="en-US" sz="2200" b="1"/>
              <a:t>학년 정우영</a:t>
            </a:r>
            <a:endParaRPr lang="ko-KR" altLang="en-US" sz="2200" b="1"/>
          </a:p>
          <a:p>
            <a:pPr indent="-228600"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  <a:p>
            <a:pPr marL="342900" indent="-228600"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  <a:p>
            <a:pPr indent="-228600"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84826" y="5371462"/>
            <a:ext cx="2619299" cy="148662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E60DE4A-27B0-4433-8BB2-A4D0E1BB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6" name="내용 개체 틀 2">
            <a:extLst>
              <a:ext uri="{FF2B5EF4-FFF2-40B4-BE49-F238E27FC236}">
                <a16:creationId xmlns:a16="http://schemas.microsoft.com/office/drawing/2014/main" id="{5A26ED27-0FD3-47B7-89F7-2701C2EDF3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119431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313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168" y="2444634"/>
            <a:ext cx="3383832" cy="1968732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주제 선정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61A5BA-9035-41D8-9B33-D70AABE3F72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005872" y="1879269"/>
            <a:ext cx="3383832" cy="338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03354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업무 선정 과정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4624"/>
            <a:ext cx="1866123" cy="636237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/>
          <a:lstStyle/>
          <a:p>
            <a:pPr marL="0" indent="0">
              <a:buNone/>
              <a:defRPr/>
            </a:pPr>
            <a:r>
              <a:rPr lang="ko-KR" altLang="en-US">
                <a:solidFill>
                  <a:schemeClr val="bg2"/>
                </a:solidFill>
              </a:rPr>
              <a:t> 주제 선정</a:t>
            </a:r>
            <a:endParaRPr lang="ko-KR" altLang="en-US">
              <a:solidFill>
                <a:schemeClr val="bg2"/>
              </a:solidFill>
            </a:endParaRPr>
          </a:p>
        </p:txBody>
      </p:sp>
      <p:pic>
        <p:nvPicPr>
          <p:cNvPr id="6" name="그림 5" descr="텍스트이(가) 표시된 사진  자동 생성된 설명"/>
          <p:cNvPicPr>
            <a:picLocks noChangeAspect="1"/>
          </p:cNvPicPr>
          <p:nvPr/>
        </p:nvPicPr>
        <p:blipFill rotWithShape="1">
          <a:blip r:embed="rId2"/>
          <a:srcRect t="7750"/>
          <a:stretch>
            <a:fillRect/>
          </a:stretch>
        </p:blipFill>
        <p:spPr>
          <a:xfrm>
            <a:off x="8568490" y="957890"/>
            <a:ext cx="2901820" cy="47625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화살표: 오른쪽 6"/>
          <p:cNvSpPr/>
          <p:nvPr/>
        </p:nvSpPr>
        <p:spPr>
          <a:xfrm>
            <a:off x="5261905" y="2659224"/>
            <a:ext cx="1875453" cy="1359564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투표</a:t>
            </a: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144434" y="2877341"/>
            <a:ext cx="34019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업무 관련 내부적인 논의를 거쳐 모든 의견을 고려하여 투표를   통한 합리적인 업무 선정 </a:t>
            </a:r>
            <a:endParaRPr lang="ko-KR" altLang="en-US"/>
          </a:p>
        </p:txBody>
      </p:sp>
      <p:sp>
        <p:nvSpPr>
          <p:cNvPr id="10" name="화살표: 오른쪽 9"/>
          <p:cNvSpPr/>
          <p:nvPr/>
        </p:nvSpPr>
        <p:spPr>
          <a:xfrm>
            <a:off x="961054" y="5129785"/>
            <a:ext cx="1123779" cy="70953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630114" y="5351120"/>
            <a:ext cx="3777779" cy="90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항공 분야에서도 항공이 고객들에게 제공하는 서비스들을 주제로          선정하게 되었다</a:t>
            </a:r>
            <a:r>
              <a:rPr lang="en-US" altLang="ko-KR"/>
              <a:t>.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>
            <a:normAutofit fontScale="90000"/>
          </a:bodyPr>
          <a:lstStyle/>
          <a:p>
            <a:pPr algn="ctr">
              <a:defRPr/>
            </a:pPr>
            <a:r>
              <a:rPr lang="ko-KR" altLang="en-US"/>
              <a:t>항공 서비스를 구현한 데이터베이스 설계</a:t>
            </a:r>
            <a:br>
              <a:rPr lang="en-US" altLang="ko-KR"/>
            </a:br>
            <a:r>
              <a:rPr lang="en-US" altLang="ko-KR"/>
              <a:t>(T-Way Airline)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817685" y="2448539"/>
            <a:ext cx="10311497" cy="369417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/>
              <a:t>                    선정 이유</a:t>
            </a:r>
            <a:endParaRPr lang="ko-KR" altLang="en-US"/>
          </a:p>
          <a:p>
            <a:pPr lvl="0">
              <a:defRPr/>
            </a:pPr>
            <a:r>
              <a:rPr lang="ko-KR" altLang="en-US" sz="1800"/>
              <a:t>타 후보군에 비해 업무의 분담이 잘 되어있다</a:t>
            </a:r>
            <a:r>
              <a:rPr lang="en-US" altLang="ko-KR" sz="1800"/>
              <a:t>.</a:t>
            </a:r>
            <a:endParaRPr lang="en-US" altLang="ko-KR" sz="1800"/>
          </a:p>
          <a:p>
            <a:pPr lvl="0">
              <a:defRPr/>
            </a:pPr>
            <a:r>
              <a:rPr lang="ko-KR" altLang="en-US" sz="1800"/>
              <a:t>타 업무에 비해 많은 소비자가 예상되어 경쟁력이 높다</a:t>
            </a:r>
            <a:r>
              <a:rPr lang="en-US" altLang="ko-KR" sz="1800"/>
              <a:t>.</a:t>
            </a:r>
            <a:endParaRPr lang="en-US" altLang="ko-KR" sz="1800"/>
          </a:p>
          <a:p>
            <a:pPr lvl="0">
              <a:defRPr/>
            </a:pPr>
            <a:r>
              <a:rPr lang="ko-KR" altLang="en-US" sz="1800"/>
              <a:t>서비스와 소속 공항</a:t>
            </a:r>
            <a:r>
              <a:rPr lang="en-US" altLang="ko-KR" sz="1800"/>
              <a:t>, </a:t>
            </a:r>
            <a:r>
              <a:rPr lang="ko-KR" altLang="en-US" sz="1800"/>
              <a:t>예약의 관리 효율을 위한 경제적인 </a:t>
            </a:r>
            <a:r>
              <a:rPr lang="en-US" altLang="ko-KR" sz="1800"/>
              <a:t>DBMS</a:t>
            </a:r>
            <a:r>
              <a:rPr lang="ko-KR" altLang="en-US" sz="1800"/>
              <a:t>가 요구된다</a:t>
            </a:r>
            <a:r>
              <a:rPr lang="en-US" altLang="ko-KR" sz="1800"/>
              <a:t>.</a:t>
            </a:r>
            <a:endParaRPr lang="en-US" altLang="ko-KR" sz="1800"/>
          </a:p>
          <a:p>
            <a:pPr lvl="0">
              <a:defRPr/>
            </a:pPr>
            <a:r>
              <a:rPr lang="ko-KR" altLang="en-US" sz="1800"/>
              <a:t>실세계를 바탕으로한 다양한 서비스들이 존재한다</a:t>
            </a:r>
            <a:r>
              <a:rPr lang="en-US" altLang="ko-KR" sz="1800"/>
              <a:t>.</a:t>
            </a:r>
            <a:r>
              <a:rPr lang="ko-KR" altLang="en-US" sz="1800"/>
              <a:t> </a:t>
            </a:r>
            <a:endParaRPr lang="ko-KR" altLang="en-US" sz="1800"/>
          </a:p>
          <a:p>
            <a:pPr lvl="0">
              <a:defRPr/>
            </a:pPr>
            <a:endParaRPr lang="ko-KR" altLang="en-US" sz="2400"/>
          </a:p>
        </p:txBody>
      </p:sp>
      <p:sp>
        <p:nvSpPr>
          <p:cNvPr id="9" name="내용 개체 틀 3"/>
          <p:cNvSpPr txBox="1"/>
          <p:nvPr/>
        </p:nvSpPr>
        <p:spPr>
          <a:xfrm>
            <a:off x="27993" y="24624"/>
            <a:ext cx="1866123" cy="636237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 vert="horz" lIns="91440" tIns="45720" rIns="91440" bIns="4572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>
                <a:solidFill>
                  <a:schemeClr val="bg2"/>
                </a:solidFill>
              </a:rPr>
              <a:t> 주제 선정</a:t>
            </a:r>
            <a:endParaRPr lang="ko-KR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565" y="2205702"/>
            <a:ext cx="3962400" cy="1968732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요구사항 명세</a:t>
            </a:r>
          </a:p>
        </p:txBody>
      </p:sp>
      <p:sp>
        <p:nvSpPr>
          <p:cNvPr id="5" name="직사각형 4" descr="확인 표시">
            <a:extLst>
              <a:ext uri="{FF2B5EF4-FFF2-40B4-BE49-F238E27FC236}">
                <a16:creationId xmlns:a16="http://schemas.microsoft.com/office/drawing/2014/main" id="{86097E7F-79C6-4651-BD73-F42A569CF4EB}"/>
              </a:ext>
            </a:extLst>
          </p:cNvPr>
          <p:cNvSpPr/>
          <p:nvPr/>
        </p:nvSpPr>
        <p:spPr>
          <a:xfrm>
            <a:off x="7699236" y="1771532"/>
            <a:ext cx="2955511" cy="2641442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64159668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데이터 요구사항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 요구사항 명세서</a:t>
            </a:r>
            <a:endParaRPr lang="ko-KR" altLang="en-US" sz="2400">
              <a:solidFill>
                <a:schemeClr val="bg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250" y="2250728"/>
            <a:ext cx="9461500" cy="2833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endParaRPr lang="ko-KR" altLang="en-US"/>
          </a:p>
          <a:p>
            <a:pPr marL="342900" indent="-342900">
              <a:buAutoNum type="arabicPeriod"/>
              <a:defRPr/>
            </a:pPr>
            <a:r>
              <a:rPr lang="en-US" altLang="ko-KR"/>
              <a:t>T-way </a:t>
            </a:r>
            <a:r>
              <a:rPr lang="ko-KR" altLang="en-US"/>
              <a:t>항공사가 있는 공항의 경영자</a:t>
            </a:r>
            <a:r>
              <a:rPr lang="en-US" altLang="ko-KR"/>
              <a:t>(Director)</a:t>
            </a:r>
            <a:r>
              <a:rPr lang="ko-KR" altLang="en-US"/>
              <a:t>는 각 한 명이 관리한다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각 부서는 한 명의 책임자</a:t>
            </a:r>
            <a:r>
              <a:rPr lang="en-US" altLang="ko-KR"/>
              <a:t>(Manager)</a:t>
            </a:r>
            <a:r>
              <a:rPr lang="ko-KR" altLang="en-US"/>
              <a:t>가 직원 및 서비스를 관리한다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각 공항에 위치한 각각의 </a:t>
            </a:r>
            <a:r>
              <a:rPr lang="en-US" altLang="ko-KR"/>
              <a:t>T-way </a:t>
            </a:r>
            <a:r>
              <a:rPr lang="ko-KR" altLang="en-US"/>
              <a:t>항공사가 해당하는 전체의 서비스를 관리한다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각</a:t>
            </a:r>
            <a:r>
              <a:rPr lang="en-US" altLang="ko-KR"/>
              <a:t> </a:t>
            </a:r>
            <a:r>
              <a:rPr lang="ko-KR" altLang="en-US"/>
              <a:t>항공기는 한 명의 기장을 배치하며</a:t>
            </a:r>
            <a:r>
              <a:rPr lang="en-US" altLang="ko-KR"/>
              <a:t>,</a:t>
            </a:r>
            <a:r>
              <a:rPr lang="ko-KR" altLang="en-US"/>
              <a:t> 기장에 의해 항공기가 운행 되어진다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모든 손님은 손님</a:t>
            </a:r>
            <a:r>
              <a:rPr lang="en-US" altLang="ko-KR"/>
              <a:t>ID</a:t>
            </a:r>
            <a:r>
              <a:rPr lang="ko-KR" altLang="en-US"/>
              <a:t>를 부여하여 식별하고</a:t>
            </a:r>
            <a:r>
              <a:rPr lang="en-US" altLang="ko-KR"/>
              <a:t>,</a:t>
            </a:r>
            <a:r>
              <a:rPr lang="ko-KR" altLang="en-US"/>
              <a:t> 성별</a:t>
            </a:r>
            <a:r>
              <a:rPr lang="en-US" altLang="ko-KR"/>
              <a:t>,</a:t>
            </a:r>
            <a:r>
              <a:rPr lang="ko-KR" altLang="en-US"/>
              <a:t> 성명</a:t>
            </a:r>
            <a:r>
              <a:rPr lang="en-US" altLang="ko-KR"/>
              <a:t>,</a:t>
            </a:r>
            <a:r>
              <a:rPr lang="ko-KR" altLang="en-US"/>
              <a:t> 여권번호</a:t>
            </a:r>
            <a:r>
              <a:rPr lang="en-US" altLang="ko-KR"/>
              <a:t>,</a:t>
            </a:r>
            <a:r>
              <a:rPr lang="ko-KR" altLang="en-US"/>
              <a:t> 예약번호를 가진다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solidFill>
            <a:schemeClr val="lt1"/>
          </a:solidFill>
        </p:spPr>
        <p:txBody>
          <a:bodyPr/>
          <a:lstStyle/>
          <a:p>
            <a:pPr algn="ctr">
              <a:defRPr/>
            </a:pPr>
            <a:r>
              <a:rPr lang="ko-KR" altLang="en-US"/>
              <a:t>데이터 요구사항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 요구사항 명세서</a:t>
            </a:r>
            <a:endParaRPr lang="ko-KR" altLang="en-US" sz="2400">
              <a:solidFill>
                <a:schemeClr val="bg2"/>
              </a:solidFill>
            </a:endParaRPr>
          </a:p>
        </p:txBody>
      </p:sp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1727200" y="2653241"/>
          <a:ext cx="9499600" cy="38188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499600"/>
              </a:tblGrid>
              <a:tr h="381889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indent="0">
                        <a:buNone/>
                        <a:defRPr/>
                      </a:pP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6.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모든 사원들은 사원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ID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를 부여하여 식별하며 담당 업무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성별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성명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직급 등을 가진다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7.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모든 예매권은 예매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ID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를 부여하여 식별하며 예약자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항공기 번호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출발지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도착지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탑승 게이트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출발 시간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 도착 시간 등을 가진다</a:t>
                      </a:r>
                      <a:r>
                        <a:rPr lang="en-US" altLang="ko-KR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  <a:p>
                      <a:pPr marL="0" indent="0">
                        <a:buNone/>
                        <a:defRPr/>
                      </a:pP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기능 요구사항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 요구사항 명세서</a:t>
            </a:r>
            <a:endParaRPr lang="ko-KR" altLang="en-US" sz="2400">
              <a:solidFill>
                <a:schemeClr val="bg2"/>
              </a:solidFill>
            </a:endParaRPr>
          </a:p>
        </p:txBody>
      </p:sp>
      <p:sp>
        <p:nvSpPr>
          <p:cNvPr id="5" name="직사각형 4" descr="확인 표시"/>
          <p:cNvSpPr/>
          <p:nvPr/>
        </p:nvSpPr>
        <p:spPr>
          <a:xfrm>
            <a:off x="5843932" y="3176932"/>
            <a:ext cx="504136" cy="504136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9868" y="2341982"/>
            <a:ext cx="10968712" cy="310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ko-KR" altLang="en-US"/>
              <a:t>각 경영자</a:t>
            </a:r>
            <a:r>
              <a:rPr lang="en-US" altLang="ko-KR"/>
              <a:t>(Director)</a:t>
            </a:r>
            <a:r>
              <a:rPr lang="ko-KR" altLang="en-US"/>
              <a:t>는 소비자의 예약 등 권리를 제외한 모든 권한을 갖을 수 있다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각 부서의 책임자</a:t>
            </a:r>
            <a:r>
              <a:rPr lang="en-US" altLang="ko-KR"/>
              <a:t>(Manager)</a:t>
            </a:r>
            <a:r>
              <a:rPr lang="ko-KR" altLang="en-US"/>
              <a:t>는 부서의 모든 권한을 갖으며 직원의 급여를 조정할 수 있다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ko-KR" altLang="en-US"/>
              <a:t>각 부서의 직원은 재고관리를 할 수 있으며</a:t>
            </a:r>
            <a:r>
              <a:rPr lang="en-US" altLang="ko-KR"/>
              <a:t>, </a:t>
            </a:r>
            <a:r>
              <a:rPr lang="ko-KR" altLang="en-US"/>
              <a:t>재고가 있는 경우 소비자로부터 예약 될 수 있다</a:t>
            </a:r>
            <a:r>
              <a:rPr lang="en-US" altLang="ko-KR"/>
              <a:t>.(</a:t>
            </a:r>
            <a:r>
              <a:rPr lang="ko-KR" altLang="en-US"/>
              <a:t>트랜잭션</a:t>
            </a:r>
            <a:r>
              <a:rPr lang="en-US" altLang="ko-KR"/>
              <a:t>)</a:t>
            </a: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33000" indent="-333000">
              <a:buAutoNum type="arabicPeriod"/>
              <a:defRPr/>
            </a:pPr>
            <a:r>
              <a:rPr lang="ko-KR" altLang="en-US"/>
              <a:t>소비자는 자신의 예약 정보 및 원하는 부서의 재고를 확인할 수 있는 권한을 갖는다</a:t>
            </a:r>
            <a:r>
              <a:rPr lang="en-US" altLang="ko-KR"/>
              <a:t>.</a:t>
            </a:r>
            <a:endParaRPr lang="en-US" altLang="ko-KR"/>
          </a:p>
          <a:p>
            <a:pPr marL="333000" indent="-333000">
              <a:buAutoNum type="arabicPeriod"/>
              <a:defRPr/>
            </a:pPr>
            <a:endParaRPr lang="en-US" altLang="ko-KR"/>
          </a:p>
          <a:p>
            <a:pPr marL="333000" indent="-333000">
              <a:buAutoNum type="arabicPeriod"/>
              <a:defRPr/>
            </a:pPr>
            <a:r>
              <a:rPr lang="ko-KR" altLang="en-US"/>
              <a:t>소비자는 원하는 서비스의 정보를 확인하고 선택할 수 있다</a:t>
            </a:r>
            <a:r>
              <a:rPr lang="en-US" altLang="ko-KR"/>
              <a:t>.</a:t>
            </a:r>
            <a:endParaRPr lang="en-US" altLang="ko-KR"/>
          </a:p>
          <a:p>
            <a:pPr marL="333000" indent="-333000">
              <a:buAutoNum type="arabicPeriod"/>
              <a:defRPr/>
            </a:pPr>
            <a:endParaRPr lang="en-US" altLang="ko-KR"/>
          </a:p>
          <a:p>
            <a:pPr marL="333000" indent="-333000">
              <a:buAutoNum type="arabicPeriod"/>
              <a:defRPr/>
            </a:pPr>
            <a:r>
              <a:rPr lang="ko-KR" altLang="en-US"/>
              <a:t>소비자는 추가적인 과정</a:t>
            </a:r>
            <a:r>
              <a:rPr lang="en-US" altLang="ko-KR"/>
              <a:t>(</a:t>
            </a:r>
            <a:r>
              <a:rPr lang="ko-KR" altLang="en-US"/>
              <a:t>예약 변경</a:t>
            </a:r>
            <a:r>
              <a:rPr lang="en-US" altLang="ko-KR"/>
              <a:t>,</a:t>
            </a:r>
            <a:r>
              <a:rPr lang="ko-KR" altLang="en-US"/>
              <a:t> 추가 구매 등</a:t>
            </a:r>
            <a:r>
              <a:rPr lang="en-US" altLang="ko-KR"/>
              <a:t>)</a:t>
            </a:r>
            <a:r>
              <a:rPr lang="ko-KR" altLang="en-US"/>
              <a:t>을 통해 기능을 다시 선택할 수 있다</a:t>
            </a:r>
            <a:r>
              <a:rPr lang="en-US" altLang="ko-KR"/>
              <a:t>.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653" y="2239305"/>
            <a:ext cx="4949964" cy="1968732"/>
          </a:xfrm>
        </p:spPr>
        <p:txBody>
          <a:bodyPr>
            <a:normAutofit fontScale="90000"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개념적 관계 데이터 베이스 설계</a:t>
            </a:r>
          </a:p>
        </p:txBody>
      </p:sp>
      <p:sp>
        <p:nvSpPr>
          <p:cNvPr id="4" name="직사각형 3" descr="트로피">
            <a:extLst>
              <a:ext uri="{FF2B5EF4-FFF2-40B4-BE49-F238E27FC236}">
                <a16:creationId xmlns:a16="http://schemas.microsoft.com/office/drawing/2014/main" id="{006C6511-889D-438A-9B9C-F4279E2055B6}"/>
              </a:ext>
            </a:extLst>
          </p:cNvPr>
          <p:cNvSpPr/>
          <p:nvPr/>
        </p:nvSpPr>
        <p:spPr>
          <a:xfrm>
            <a:off x="7725739" y="2054086"/>
            <a:ext cx="2306155" cy="2339169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425354996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/>
              <a:t>T-Way </a:t>
            </a:r>
            <a:r>
              <a:rPr lang="ko-KR" altLang="en-US"/>
              <a:t>항공사 </a:t>
            </a:r>
            <a:r>
              <a:rPr lang="en-US" altLang="ko-KR"/>
              <a:t>System</a:t>
            </a:r>
            <a:r>
              <a:rPr lang="ko-KR" altLang="en-US"/>
              <a:t> 분석</a:t>
            </a:r>
            <a:endParaRPr lang="ko-KR" altLang="en-US"/>
          </a:p>
        </p:txBody>
      </p:sp>
      <p:sp>
        <p:nvSpPr>
          <p:cNvPr id="6" name="내용 개체 틀 3"/>
          <p:cNvSpPr txBox="1"/>
          <p:nvPr/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 vert="horz" lIns="91440" tIns="45720" rIns="91440" bIns="4572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  <a:endParaRPr lang="ko-KR" altLang="en-US" sz="2400">
              <a:solidFill>
                <a:schemeClr val="bg2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82154" y="2125296"/>
            <a:ext cx="5130468" cy="5435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해당 항공사는 국내 </a:t>
            </a:r>
            <a:r>
              <a:rPr lang="en-US" altLang="ko-KR"/>
              <a:t>8</a:t>
            </a:r>
            <a:r>
              <a:rPr lang="ko-KR" altLang="en-US"/>
              <a:t>개의 주요 공항에 입주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항공사는 다양한 서비스를 소비자에게 제공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티웨이 항공사는 마일리지</a:t>
            </a:r>
            <a:r>
              <a:rPr lang="en-US" altLang="ko-KR"/>
              <a:t>/</a:t>
            </a:r>
            <a:r>
              <a:rPr lang="ko-KR" altLang="en-US"/>
              <a:t>포인트 프로그램 제공을 하지 않는다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거의 유일하게 결제시한 연장서비스를 제공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/>
              <a:t>국제선의 도착지가 아시아 쪽에 한정되어있는 대신 저가항공사답게 가격이 저렴</a:t>
            </a:r>
            <a:r>
              <a:rPr lang="en-US" altLang="ko-KR"/>
              <a:t>.</a:t>
            </a: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/>
          </a:p>
        </p:txBody>
      </p:sp>
      <p:pic>
        <p:nvPicPr>
          <p:cNvPr id="4" name="그림 3" descr="테이블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9378" y="1702283"/>
            <a:ext cx="6076868" cy="3427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 descr="테이블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058081" y="3979346"/>
            <a:ext cx="2398165" cy="25743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52578" y="5155717"/>
            <a:ext cx="5130468" cy="45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/>
              <a:t>( T’Way </a:t>
            </a:r>
            <a:r>
              <a:rPr lang="ko-KR" altLang="en-US"/>
              <a:t>항공사 메인 페이지 </a:t>
            </a:r>
            <a:r>
              <a:rPr lang="en-US" altLang="ko-KR"/>
              <a:t>)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011936" y="450369"/>
            <a:ext cx="10168128" cy="1179576"/>
          </a:xfrm>
        </p:spPr>
        <p:txBody>
          <a:bodyPr/>
          <a:lstStyle/>
          <a:p>
            <a:pPr algn="ctr">
              <a:defRPr/>
            </a:pPr>
            <a:r>
              <a:rPr lang="en-US" altLang="ko-KR"/>
              <a:t>T-Way </a:t>
            </a:r>
            <a:r>
              <a:rPr lang="ko-KR" altLang="en-US"/>
              <a:t>항공사 보유 기체 분석</a:t>
            </a:r>
            <a:endParaRPr lang="ko-KR" altLang="en-US"/>
          </a:p>
        </p:txBody>
      </p:sp>
      <p:sp>
        <p:nvSpPr>
          <p:cNvPr id="6" name="내용 개체 틀 3"/>
          <p:cNvSpPr txBox="1"/>
          <p:nvPr/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 vert="horz" lIns="91440" tIns="45720" rIns="91440" bIns="4572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  <a:endParaRPr lang="ko-KR" altLang="en-US" sz="2400">
              <a:solidFill>
                <a:schemeClr val="bg2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873262" y="2422055"/>
            <a:ext cx="5130468" cy="283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/>
              <a:t>운행 중인 항공기는</a:t>
            </a:r>
            <a:endParaRPr lang="ko-KR" altLang="en-US"/>
          </a:p>
          <a:p>
            <a:pPr>
              <a:lnSpc>
                <a:spcPct val="200000"/>
              </a:lnSpc>
              <a:defRPr/>
            </a:pPr>
            <a:r>
              <a:rPr lang="en-US" altLang="ko-KR"/>
              <a:t>BOEING 737 – 800 Series – 24</a:t>
            </a:r>
            <a:r>
              <a:rPr lang="ko-KR" altLang="en-US"/>
              <a:t>대</a:t>
            </a:r>
            <a:endParaRPr lang="ko-KR" altLang="en-US"/>
          </a:p>
          <a:p>
            <a:pPr>
              <a:lnSpc>
                <a:spcPct val="200000"/>
              </a:lnSpc>
              <a:defRPr/>
            </a:pPr>
            <a:r>
              <a:rPr lang="en-US" altLang="ko-KR"/>
              <a:t>BOEING 737 – MAX 8 Series – 3</a:t>
            </a:r>
            <a:r>
              <a:rPr lang="ko-KR" altLang="en-US"/>
              <a:t>대</a:t>
            </a:r>
            <a:endParaRPr lang="ko-KR" altLang="en-US"/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/>
              <a:t>총 </a:t>
            </a:r>
            <a:r>
              <a:rPr lang="en-US" altLang="ko-KR"/>
              <a:t>27</a:t>
            </a:r>
            <a:r>
              <a:rPr lang="ko-KR" altLang="en-US"/>
              <a:t>대의 항공기를 보유하고 있으며</a:t>
            </a:r>
            <a:r>
              <a:rPr lang="en-US" altLang="ko-KR"/>
              <a:t>,</a:t>
            </a:r>
            <a:endParaRPr lang="en-US" altLang="ko-KR"/>
          </a:p>
          <a:p>
            <a:pPr>
              <a:lnSpc>
                <a:spcPct val="200000"/>
              </a:lnSpc>
              <a:defRPr/>
            </a:pPr>
            <a:r>
              <a:rPr lang="ko-KR" altLang="en-US"/>
              <a:t>각 항공기는 고유한 번호를 부여하여 관리한다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5" name="그림 4" descr="테이블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06748" y="1539342"/>
            <a:ext cx="3207848" cy="51472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F5C95-6A64-43A5-B446-48FD6EE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Entity Type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470C19-3DC4-497D-A852-7B692D4FD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  <a:endParaRPr lang="ko-KR" altLang="en-US" sz="2400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0974E84-BC1E-40DD-8E42-A3B1426E402D}"/>
              </a:ext>
            </a:extLst>
          </p:cNvPr>
          <p:cNvGrpSpPr/>
          <p:nvPr/>
        </p:nvGrpSpPr>
        <p:grpSpPr>
          <a:xfrm>
            <a:off x="350071" y="1539952"/>
            <a:ext cx="3533163" cy="2403445"/>
            <a:chOff x="159391" y="415257"/>
            <a:chExt cx="3533163" cy="2403445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9F114B0-D814-4CFA-8E00-7B01D3ECD343}"/>
                </a:ext>
              </a:extLst>
            </p:cNvPr>
            <p:cNvSpPr/>
            <p:nvPr/>
          </p:nvSpPr>
          <p:spPr>
            <a:xfrm>
              <a:off x="885037" y="415257"/>
              <a:ext cx="161488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Arpt_Name</a:t>
              </a:r>
              <a:endParaRPr lang="ko-KR" altLang="en-US" sz="1400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9F41AB4-C4C0-4905-924B-1A9896D8EE75}"/>
                </a:ext>
              </a:extLst>
            </p:cNvPr>
            <p:cNvSpPr/>
            <p:nvPr/>
          </p:nvSpPr>
          <p:spPr>
            <a:xfrm>
              <a:off x="1724637" y="1715548"/>
              <a:ext cx="917895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AirPort</a:t>
              </a:r>
              <a:endParaRPr lang="ko-KR" altLang="en-US" dirty="0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340E8DF-28DB-44A2-85FC-4B3079CA9F43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1692478" y="859874"/>
              <a:ext cx="491107" cy="8556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8FF575-60E4-4EE1-A5E1-666D10180DCB}"/>
                </a:ext>
              </a:extLst>
            </p:cNvPr>
            <p:cNvSpPr/>
            <p:nvPr/>
          </p:nvSpPr>
          <p:spPr>
            <a:xfrm>
              <a:off x="159391" y="2374084"/>
              <a:ext cx="1728132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Contct_Num</a:t>
              </a:r>
              <a:endParaRPr lang="ko-KR" altLang="en-US" sz="1400" dirty="0"/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48574A5-6EAC-497D-A9F9-7398EEA1A057}"/>
                </a:ext>
              </a:extLst>
            </p:cNvPr>
            <p:cNvCxnSpPr>
              <a:cxnSpLocks/>
              <a:stCxn id="26" idx="1"/>
              <a:endCxn id="28" idx="0"/>
            </p:cNvCxnSpPr>
            <p:nvPr/>
          </p:nvCxnSpPr>
          <p:spPr>
            <a:xfrm flipH="1">
              <a:off x="1023457" y="1937857"/>
              <a:ext cx="701180" cy="4362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2C7EB3AF-DAFD-41DD-9269-92E020486C77}"/>
                </a:ext>
              </a:extLst>
            </p:cNvPr>
            <p:cNvSpPr/>
            <p:nvPr/>
          </p:nvSpPr>
          <p:spPr>
            <a:xfrm>
              <a:off x="1964422" y="2374084"/>
              <a:ext cx="1728132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Affiliation</a:t>
              </a:r>
              <a:endParaRPr lang="ko-KR" altLang="en-US" sz="1400" dirty="0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8B42C142-A712-4B6C-A752-1E2A5D785373}"/>
                </a:ext>
              </a:extLst>
            </p:cNvPr>
            <p:cNvCxnSpPr>
              <a:cxnSpLocks/>
              <a:stCxn id="26" idx="2"/>
              <a:endCxn id="30" idx="0"/>
            </p:cNvCxnSpPr>
            <p:nvPr/>
          </p:nvCxnSpPr>
          <p:spPr>
            <a:xfrm>
              <a:off x="2183585" y="2160165"/>
              <a:ext cx="644903" cy="2139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91EAEF58-44C2-4F9A-8154-7D78C8D098F6}"/>
                </a:ext>
              </a:extLst>
            </p:cNvPr>
            <p:cNvCxnSpPr/>
            <p:nvPr/>
          </p:nvCxnSpPr>
          <p:spPr>
            <a:xfrm>
              <a:off x="1179701" y="742911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597D4A3-1D15-468A-B952-B0B870A0C084}"/>
              </a:ext>
            </a:extLst>
          </p:cNvPr>
          <p:cNvGrpSpPr/>
          <p:nvPr/>
        </p:nvGrpSpPr>
        <p:grpSpPr>
          <a:xfrm>
            <a:off x="3511239" y="1579120"/>
            <a:ext cx="3216480" cy="1918281"/>
            <a:chOff x="3036812" y="415257"/>
            <a:chExt cx="3216480" cy="191828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E9E3FDE-BC7B-481E-8C95-5B00965C4E18}"/>
                </a:ext>
              </a:extLst>
            </p:cNvPr>
            <p:cNvSpPr/>
            <p:nvPr/>
          </p:nvSpPr>
          <p:spPr>
            <a:xfrm>
              <a:off x="4651695" y="1645640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T-way Airline</a:t>
              </a:r>
              <a:endParaRPr lang="ko-KR" altLang="en-US" dirty="0"/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5269D2FD-F9B2-40AC-9A39-480B97702BBE}"/>
                </a:ext>
              </a:extLst>
            </p:cNvPr>
            <p:cNvCxnSpPr>
              <a:cxnSpLocks/>
              <a:stCxn id="33" idx="0"/>
              <a:endCxn id="35" idx="4"/>
            </p:cNvCxnSpPr>
            <p:nvPr/>
          </p:nvCxnSpPr>
          <p:spPr>
            <a:xfrm flipH="1" flipV="1">
              <a:off x="3913463" y="859874"/>
              <a:ext cx="1254854" cy="7857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FE166AF0-DBE4-4F33-AA55-3253F44C0411}"/>
                </a:ext>
              </a:extLst>
            </p:cNvPr>
            <p:cNvSpPr/>
            <p:nvPr/>
          </p:nvSpPr>
          <p:spPr>
            <a:xfrm>
              <a:off x="3036812" y="415257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rgbClr val="00B050"/>
                  </a:solidFill>
                </a:rPr>
                <a:t>Aport_Name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82C37090-0E57-417A-B849-272CB039761F}"/>
                </a:ext>
              </a:extLst>
            </p:cNvPr>
            <p:cNvCxnSpPr>
              <a:cxnSpLocks/>
              <a:stCxn id="33" idx="0"/>
              <a:endCxn id="37" idx="4"/>
            </p:cNvCxnSpPr>
            <p:nvPr/>
          </p:nvCxnSpPr>
          <p:spPr>
            <a:xfrm flipV="1">
              <a:off x="5168317" y="889236"/>
              <a:ext cx="423992" cy="7564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CADE138-16CA-4604-B6A0-80AE954E9C17}"/>
                </a:ext>
              </a:extLst>
            </p:cNvPr>
            <p:cNvSpPr/>
            <p:nvPr/>
          </p:nvSpPr>
          <p:spPr>
            <a:xfrm>
              <a:off x="4931326" y="444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Director</a:t>
              </a:r>
              <a:endParaRPr lang="ko-KR" altLang="en-US" sz="1400" dirty="0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1DD4590-BA11-44AC-AE8B-73C43645A0CA}"/>
              </a:ext>
            </a:extLst>
          </p:cNvPr>
          <p:cNvGrpSpPr/>
          <p:nvPr/>
        </p:nvGrpSpPr>
        <p:grpSpPr>
          <a:xfrm>
            <a:off x="6955429" y="1631195"/>
            <a:ext cx="5024310" cy="1723937"/>
            <a:chOff x="6765019" y="479571"/>
            <a:chExt cx="5024310" cy="1723937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E197F15-1A6A-4D3C-8669-C7C2BA15945E}"/>
                </a:ext>
              </a:extLst>
            </p:cNvPr>
            <p:cNvSpPr/>
            <p:nvPr/>
          </p:nvSpPr>
          <p:spPr>
            <a:xfrm>
              <a:off x="8058500" y="175889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Employee</a:t>
              </a:r>
              <a:endParaRPr lang="ko-KR" altLang="en-US" dirty="0"/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97C79B9-A232-48DF-B5E2-0C68547C1B5B}"/>
                </a:ext>
              </a:extLst>
            </p:cNvPr>
            <p:cNvCxnSpPr>
              <a:cxnSpLocks/>
              <a:stCxn id="39" idx="0"/>
              <a:endCxn id="41" idx="4"/>
            </p:cNvCxnSpPr>
            <p:nvPr/>
          </p:nvCxnSpPr>
          <p:spPr>
            <a:xfrm flipH="1" flipV="1">
              <a:off x="7426002" y="924188"/>
              <a:ext cx="1250749" cy="8347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27E26A6-E90B-4DFA-9C17-190BB7204154}"/>
                </a:ext>
              </a:extLst>
            </p:cNvPr>
            <p:cNvSpPr/>
            <p:nvPr/>
          </p:nvSpPr>
          <p:spPr>
            <a:xfrm>
              <a:off x="6765019" y="479571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Emp No</a:t>
              </a:r>
              <a:endParaRPr lang="ko-KR" altLang="en-US" sz="14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185E9E2D-C9D0-4379-B366-C02A6050092E}"/>
                </a:ext>
              </a:extLst>
            </p:cNvPr>
            <p:cNvCxnSpPr/>
            <p:nvPr/>
          </p:nvCxnSpPr>
          <p:spPr>
            <a:xfrm>
              <a:off x="7024728" y="831454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EC9E8406-F90A-4EB7-8092-BE1F1C7F91C5}"/>
                </a:ext>
              </a:extLst>
            </p:cNvPr>
            <p:cNvCxnSpPr>
              <a:cxnSpLocks/>
              <a:stCxn id="39" idx="0"/>
              <a:endCxn id="44" idx="4"/>
            </p:cNvCxnSpPr>
            <p:nvPr/>
          </p:nvCxnSpPr>
          <p:spPr>
            <a:xfrm flipV="1">
              <a:off x="8676751" y="931181"/>
              <a:ext cx="208057" cy="8277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58105F9-C015-45B6-A9E1-B2E8B2752AFC}"/>
                </a:ext>
              </a:extLst>
            </p:cNvPr>
            <p:cNvSpPr/>
            <p:nvPr/>
          </p:nvSpPr>
          <p:spPr>
            <a:xfrm>
              <a:off x="8223825" y="4865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Salary</a:t>
              </a:r>
              <a:endParaRPr lang="ko-KR" altLang="en-US" sz="1400" dirty="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9C6A8CF-DDDA-4C65-BE68-FC588A488C66}"/>
                </a:ext>
              </a:extLst>
            </p:cNvPr>
            <p:cNvSpPr/>
            <p:nvPr/>
          </p:nvSpPr>
          <p:spPr>
            <a:xfrm>
              <a:off x="9849461" y="595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Title</a:t>
              </a:r>
              <a:endParaRPr lang="ko-KR" altLang="en-US" sz="1400" dirty="0"/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4ADBF69A-10D4-4C5E-8F44-93AAA510A22E}"/>
                </a:ext>
              </a:extLst>
            </p:cNvPr>
            <p:cNvCxnSpPr>
              <a:cxnSpLocks/>
              <a:stCxn id="39" idx="3"/>
              <a:endCxn id="47" idx="2"/>
            </p:cNvCxnSpPr>
            <p:nvPr/>
          </p:nvCxnSpPr>
          <p:spPr>
            <a:xfrm flipV="1">
              <a:off x="9295002" y="1698073"/>
              <a:ext cx="1172361" cy="2831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0EA4DF2-CB17-466F-BED6-8B9164A12146}"/>
                </a:ext>
              </a:extLst>
            </p:cNvPr>
            <p:cNvSpPr/>
            <p:nvPr/>
          </p:nvSpPr>
          <p:spPr>
            <a:xfrm>
              <a:off x="10467363" y="14757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Manager</a:t>
              </a:r>
              <a:endParaRPr lang="ko-KR" altLang="en-US" sz="1400" dirty="0"/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F518C4BB-B4BD-4A7E-8E3E-5F1BC78E9BBB}"/>
              </a:ext>
            </a:extLst>
          </p:cNvPr>
          <p:cNvGrpSpPr/>
          <p:nvPr/>
        </p:nvGrpSpPr>
        <p:grpSpPr>
          <a:xfrm>
            <a:off x="5843108" y="3355132"/>
            <a:ext cx="6232257" cy="2267291"/>
            <a:chOff x="5496315" y="4214683"/>
            <a:chExt cx="6232257" cy="2267291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8D62C02-9633-417F-B025-52139E5562E4}"/>
                </a:ext>
              </a:extLst>
            </p:cNvPr>
            <p:cNvSpPr/>
            <p:nvPr/>
          </p:nvSpPr>
          <p:spPr>
            <a:xfrm>
              <a:off x="7914005" y="4612676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Boarding Pass</a:t>
              </a:r>
              <a:endParaRPr lang="ko-KR" altLang="en-US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5F9DD09D-58B5-46A2-A726-3B70551F60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0507" y="4464662"/>
              <a:ext cx="967327" cy="2150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45AEE3CA-4412-48D0-80EC-EDB616550FAF}"/>
                </a:ext>
              </a:extLst>
            </p:cNvPr>
            <p:cNvCxnSpPr>
              <a:cxnSpLocks/>
              <a:stCxn id="68" idx="3"/>
              <a:endCxn id="77" idx="2"/>
            </p:cNvCxnSpPr>
            <p:nvPr/>
          </p:nvCxnSpPr>
          <p:spPr>
            <a:xfrm>
              <a:off x="9150507" y="4890918"/>
              <a:ext cx="1105710" cy="2921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2156AA70-EF00-4624-AFC0-10E5B0318D73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9150507" y="5169159"/>
              <a:ext cx="1599666" cy="6486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37760DAB-E7E5-49BD-B78B-DA8A5F4CBA6B}"/>
                </a:ext>
              </a:extLst>
            </p:cNvPr>
            <p:cNvCxnSpPr>
              <a:cxnSpLocks/>
              <a:stCxn id="68" idx="2"/>
              <a:endCxn id="79" idx="0"/>
            </p:cNvCxnSpPr>
            <p:nvPr/>
          </p:nvCxnSpPr>
          <p:spPr>
            <a:xfrm>
              <a:off x="8532256" y="5169159"/>
              <a:ext cx="241055" cy="8681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02C794FC-A4FC-4D87-991D-B4780881F276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 flipH="1">
              <a:off x="6968076" y="5181300"/>
              <a:ext cx="962189" cy="7860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33ACE2B4-70F7-4A2B-A019-300ACC5B5A27}"/>
                </a:ext>
              </a:extLst>
            </p:cNvPr>
            <p:cNvCxnSpPr>
              <a:cxnSpLocks/>
              <a:endCxn id="82" idx="6"/>
            </p:cNvCxnSpPr>
            <p:nvPr/>
          </p:nvCxnSpPr>
          <p:spPr>
            <a:xfrm flipH="1">
              <a:off x="6281535" y="4609119"/>
              <a:ext cx="1632470" cy="28517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3A5BD18-F0BB-4433-BF13-A093F24B91F2}"/>
                </a:ext>
              </a:extLst>
            </p:cNvPr>
            <p:cNvCxnSpPr>
              <a:cxnSpLocks/>
              <a:stCxn id="68" idx="1"/>
              <a:endCxn id="81" idx="6"/>
            </p:cNvCxnSpPr>
            <p:nvPr/>
          </p:nvCxnSpPr>
          <p:spPr>
            <a:xfrm flipH="1">
              <a:off x="6549433" y="4890918"/>
              <a:ext cx="1364572" cy="6139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ED055136-7941-4404-8C1A-7FB357FE0A2F}"/>
                </a:ext>
              </a:extLst>
            </p:cNvPr>
            <p:cNvSpPr/>
            <p:nvPr/>
          </p:nvSpPr>
          <p:spPr>
            <a:xfrm>
              <a:off x="10117834" y="4214683"/>
              <a:ext cx="110571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Arrival</a:t>
              </a:r>
              <a:endParaRPr lang="ko-KR" altLang="en-US" sz="1400" dirty="0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EE389587-412B-4F13-A3EE-9EDBD78D8C30}"/>
                </a:ext>
              </a:extLst>
            </p:cNvPr>
            <p:cNvSpPr/>
            <p:nvPr/>
          </p:nvSpPr>
          <p:spPr>
            <a:xfrm>
              <a:off x="10256217" y="4960774"/>
              <a:ext cx="147235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Departure</a:t>
              </a:r>
              <a:endParaRPr lang="ko-KR" altLang="en-US" sz="1400" dirty="0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DEE26CE0-F39A-4667-AD10-903BADC571CB}"/>
                </a:ext>
              </a:extLst>
            </p:cNvPr>
            <p:cNvSpPr/>
            <p:nvPr/>
          </p:nvSpPr>
          <p:spPr>
            <a:xfrm>
              <a:off x="10013996" y="5817763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rgbClr val="00B050"/>
                  </a:solidFill>
                </a:rPr>
                <a:t>Fligt_No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6516A18F-64E9-4B8E-AEAA-C79088292069}"/>
                </a:ext>
              </a:extLst>
            </p:cNvPr>
            <p:cNvSpPr/>
            <p:nvPr/>
          </p:nvSpPr>
          <p:spPr>
            <a:xfrm>
              <a:off x="8058500" y="6037357"/>
              <a:ext cx="142962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Resrv</a:t>
              </a:r>
              <a:r>
                <a:rPr lang="en-US" altLang="ko-KR" sz="1400" dirty="0"/>
                <a:t> No</a:t>
              </a:r>
              <a:endParaRPr lang="ko-KR" altLang="en-US" sz="1400" dirty="0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2C9B5CB-BD0B-4740-89D0-BEFEF236CEE5}"/>
                </a:ext>
              </a:extLst>
            </p:cNvPr>
            <p:cNvSpPr/>
            <p:nvPr/>
          </p:nvSpPr>
          <p:spPr>
            <a:xfrm>
              <a:off x="6383082" y="5967331"/>
              <a:ext cx="1169987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Seat no</a:t>
              </a:r>
              <a:endParaRPr lang="ko-KR" altLang="en-US" sz="1400" dirty="0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025885F-2033-4F51-BEE5-2A020CB41F10}"/>
                </a:ext>
              </a:extLst>
            </p:cNvPr>
            <p:cNvSpPr/>
            <p:nvPr/>
          </p:nvSpPr>
          <p:spPr>
            <a:xfrm>
              <a:off x="5587244" y="5282576"/>
              <a:ext cx="962189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Class</a:t>
              </a:r>
              <a:endParaRPr lang="ko-KR" altLang="en-US" sz="1400" dirty="0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335BB86B-65F2-4C47-9112-2ECC8F72811A}"/>
                </a:ext>
              </a:extLst>
            </p:cNvPr>
            <p:cNvSpPr/>
            <p:nvPr/>
          </p:nvSpPr>
          <p:spPr>
            <a:xfrm>
              <a:off x="5496315" y="4671989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data</a:t>
              </a:r>
              <a:endParaRPr lang="ko-KR" altLang="en-US" sz="1400" dirty="0"/>
            </a:p>
          </p:txBody>
        </p: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A0DC235E-7BDB-4BEE-9369-DF87B55654CE}"/>
                </a:ext>
              </a:extLst>
            </p:cNvPr>
            <p:cNvCxnSpPr/>
            <p:nvPr/>
          </p:nvCxnSpPr>
          <p:spPr>
            <a:xfrm>
              <a:off x="8377311" y="6402617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AD8445FF-7DA7-455D-864D-6D497CCC285F}"/>
              </a:ext>
            </a:extLst>
          </p:cNvPr>
          <p:cNvGrpSpPr/>
          <p:nvPr/>
        </p:nvGrpSpPr>
        <p:grpSpPr>
          <a:xfrm>
            <a:off x="517883" y="4194144"/>
            <a:ext cx="3274437" cy="1385581"/>
            <a:chOff x="8720026" y="2639037"/>
            <a:chExt cx="3274437" cy="1385581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A1BF5433-723B-48BE-87E0-2BB34D5A25EE}"/>
                </a:ext>
              </a:extLst>
            </p:cNvPr>
            <p:cNvSpPr/>
            <p:nvPr/>
          </p:nvSpPr>
          <p:spPr>
            <a:xfrm>
              <a:off x="9706850" y="358000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Customer</a:t>
              </a:r>
              <a:endParaRPr lang="ko-KR" altLang="en-US" dirty="0"/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E6C6C485-275D-420E-80AF-2FC4820ADC0E}"/>
                </a:ext>
              </a:extLst>
            </p:cNvPr>
            <p:cNvGrpSpPr/>
            <p:nvPr/>
          </p:nvGrpSpPr>
          <p:grpSpPr>
            <a:xfrm>
              <a:off x="8720026" y="2650920"/>
              <a:ext cx="1536192" cy="444617"/>
              <a:chOff x="9413889" y="2615453"/>
              <a:chExt cx="1536192" cy="444617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6F461C83-B2C0-4785-A3B8-27223C8C80F8}"/>
                  </a:ext>
                </a:extLst>
              </p:cNvPr>
              <p:cNvSpPr/>
              <p:nvPr/>
            </p:nvSpPr>
            <p:spPr>
              <a:xfrm>
                <a:off x="9413889" y="2615453"/>
                <a:ext cx="1536192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err="1"/>
                  <a:t>PssprtNum</a:t>
                </a:r>
                <a:endParaRPr lang="ko-KR" altLang="en-US" sz="14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7D59B485-8E73-47C6-81FC-2512B3BA7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8444" y="2961945"/>
                <a:ext cx="890462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06F3170E-C4B3-42AC-8447-34F44737C47D}"/>
                </a:ext>
              </a:extLst>
            </p:cNvPr>
            <p:cNvCxnSpPr>
              <a:stCxn id="87" idx="4"/>
              <a:endCxn id="85" idx="0"/>
            </p:cNvCxnSpPr>
            <p:nvPr/>
          </p:nvCxnSpPr>
          <p:spPr>
            <a:xfrm>
              <a:off x="9488122" y="3095537"/>
              <a:ext cx="836979" cy="4844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1531A113-E34F-4E66-B96A-31B4E82331B6}"/>
                </a:ext>
              </a:extLst>
            </p:cNvPr>
            <p:cNvCxnSpPr>
              <a:cxnSpLocks/>
              <a:stCxn id="85" idx="0"/>
              <a:endCxn id="91" idx="4"/>
            </p:cNvCxnSpPr>
            <p:nvPr/>
          </p:nvCxnSpPr>
          <p:spPr>
            <a:xfrm flipV="1">
              <a:off x="10325101" y="3083654"/>
              <a:ext cx="742488" cy="4963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4F5C2E25-1985-4344-ABFF-E9C6908C2BBF}"/>
                </a:ext>
              </a:extLst>
            </p:cNvPr>
            <p:cNvSpPr/>
            <p:nvPr/>
          </p:nvSpPr>
          <p:spPr>
            <a:xfrm>
              <a:off x="10406606" y="2639037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Gender</a:t>
              </a:r>
              <a:endParaRPr lang="ko-KR" altLang="en-US" sz="1400" dirty="0"/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D9C5741C-A6D6-4FC2-BC3E-433AABD88B8A}"/>
                </a:ext>
              </a:extLst>
            </p:cNvPr>
            <p:cNvCxnSpPr>
              <a:cxnSpLocks/>
              <a:stCxn id="85" idx="3"/>
              <a:endCxn id="93" idx="2"/>
            </p:cNvCxnSpPr>
            <p:nvPr/>
          </p:nvCxnSpPr>
          <p:spPr>
            <a:xfrm>
              <a:off x="10943352" y="3802310"/>
              <a:ext cx="26589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CA259089-2A43-40E0-9BF8-A10F421BF984}"/>
                </a:ext>
              </a:extLst>
            </p:cNvPr>
            <p:cNvSpPr/>
            <p:nvPr/>
          </p:nvSpPr>
          <p:spPr>
            <a:xfrm>
              <a:off x="11209243" y="3580001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ID</a:t>
              </a:r>
              <a:endParaRPr lang="ko-KR" altLang="en-US" sz="1400" dirty="0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47089C1-0968-4845-8AF6-004AA9B7C901}"/>
              </a:ext>
            </a:extLst>
          </p:cNvPr>
          <p:cNvGrpSpPr/>
          <p:nvPr/>
        </p:nvGrpSpPr>
        <p:grpSpPr>
          <a:xfrm>
            <a:off x="3488825" y="5646279"/>
            <a:ext cx="3826043" cy="1029234"/>
            <a:chOff x="8013860" y="3761518"/>
            <a:chExt cx="3826043" cy="1029234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2CF42DD-B708-40DD-9E54-E2C6AAC8E8EC}"/>
                </a:ext>
              </a:extLst>
            </p:cNvPr>
            <p:cNvSpPr/>
            <p:nvPr/>
          </p:nvSpPr>
          <p:spPr>
            <a:xfrm>
              <a:off x="8013860" y="3827517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Airplane</a:t>
              </a:r>
              <a:endParaRPr lang="ko-KR" altLang="en-US" dirty="0"/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54F5137F-F63E-4E64-A77A-E5CB4ED57557}"/>
                </a:ext>
              </a:extLst>
            </p:cNvPr>
            <p:cNvCxnSpPr>
              <a:cxnSpLocks/>
              <a:stCxn id="56" idx="3"/>
              <a:endCxn id="58" idx="2"/>
            </p:cNvCxnSpPr>
            <p:nvPr/>
          </p:nvCxnSpPr>
          <p:spPr>
            <a:xfrm flipV="1">
              <a:off x="9250362" y="3983827"/>
              <a:ext cx="1101307" cy="12193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95A23E28-45E8-4C9A-B552-3DAC1831A049}"/>
                </a:ext>
              </a:extLst>
            </p:cNvPr>
            <p:cNvSpPr/>
            <p:nvPr/>
          </p:nvSpPr>
          <p:spPr>
            <a:xfrm>
              <a:off x="10351669" y="3761518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Fligt_No</a:t>
              </a:r>
              <a:endParaRPr lang="ko-KR" altLang="en-US" sz="1400" dirty="0"/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B075245D-8795-4AC1-B5BC-0AE83A3C4852}"/>
                </a:ext>
              </a:extLst>
            </p:cNvPr>
            <p:cNvCxnSpPr/>
            <p:nvPr/>
          </p:nvCxnSpPr>
          <p:spPr>
            <a:xfrm>
              <a:off x="10691846" y="4108514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F4B4C5BF-01F7-4024-944C-2A8DA6C1DFD3}"/>
                </a:ext>
              </a:extLst>
            </p:cNvPr>
            <p:cNvCxnSpPr>
              <a:cxnSpLocks/>
              <a:stCxn id="56" idx="3"/>
              <a:endCxn id="61" idx="6"/>
            </p:cNvCxnSpPr>
            <p:nvPr/>
          </p:nvCxnSpPr>
          <p:spPr>
            <a:xfrm>
              <a:off x="9250362" y="4105759"/>
              <a:ext cx="2589541" cy="4626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75993BE9-1581-4D76-90DA-1F20EA69C12D}"/>
                </a:ext>
              </a:extLst>
            </p:cNvPr>
            <p:cNvSpPr/>
            <p:nvPr/>
          </p:nvSpPr>
          <p:spPr>
            <a:xfrm>
              <a:off x="10367549" y="4346135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rgbClr val="00B050"/>
                  </a:solidFill>
                </a:rPr>
                <a:t>Captain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F6BCBD7D-B8C7-47CA-A05B-3837889278EB}"/>
              </a:ext>
            </a:extLst>
          </p:cNvPr>
          <p:cNvSpPr/>
          <p:nvPr/>
        </p:nvSpPr>
        <p:spPr>
          <a:xfrm>
            <a:off x="1457878" y="5882202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B050"/>
                </a:solidFill>
              </a:rPr>
              <a:t>Attendant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93D094B-6355-4737-9D18-028B223BCA80}"/>
              </a:ext>
            </a:extLst>
          </p:cNvPr>
          <p:cNvCxnSpPr>
            <a:stCxn id="56" idx="1"/>
            <a:endCxn id="6" idx="6"/>
          </p:cNvCxnSpPr>
          <p:nvPr/>
        </p:nvCxnSpPr>
        <p:spPr>
          <a:xfrm flipH="1">
            <a:off x="2930232" y="5990520"/>
            <a:ext cx="558593" cy="1139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440620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복합 애트리뷰트</a:t>
            </a:r>
            <a:endParaRPr lang="ko-KR" altLang="en-US"/>
          </a:p>
        </p:txBody>
      </p:sp>
      <p:sp>
        <p:nvSpPr>
          <p:cNvPr id="6" name="내용 개체 틀 3"/>
          <p:cNvSpPr txBox="1"/>
          <p:nvPr/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 vert="horz" lIns="91440" tIns="45720" rIns="91440" bIns="4572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  <a:endParaRPr lang="ko-KR" altLang="en-US" sz="2400">
              <a:solidFill>
                <a:schemeClr val="bg2"/>
              </a:solidFill>
            </a:endParaRPr>
          </a:p>
        </p:txBody>
      </p:sp>
      <p:grpSp>
        <p:nvGrpSpPr>
          <p:cNvPr id="47" name="그룹 46"/>
          <p:cNvGrpSpPr/>
          <p:nvPr/>
        </p:nvGrpSpPr>
        <p:grpSpPr>
          <a:xfrm rot="0">
            <a:off x="657881" y="2604879"/>
            <a:ext cx="6293425" cy="3441815"/>
            <a:chOff x="1217717" y="2604878"/>
            <a:chExt cx="6627518" cy="3441815"/>
          </a:xfrm>
        </p:grpSpPr>
        <p:sp>
          <p:nvSpPr>
            <p:cNvPr id="27" name="직사각형 26"/>
            <p:cNvSpPr/>
            <p:nvPr/>
          </p:nvSpPr>
          <p:spPr>
            <a:xfrm>
              <a:off x="6608733" y="2931664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Service</a:t>
              </a:r>
              <a:endParaRPr lang="ko-KR" altLang="en-US"/>
            </a:p>
          </p:txBody>
        </p:sp>
        <p:cxnSp>
          <p:nvCxnSpPr>
            <p:cNvPr id="28" name="직선 연결선 27"/>
            <p:cNvCxnSpPr>
              <a:stCxn id="27" idx="1"/>
              <a:endCxn id="30" idx="6"/>
            </p:cNvCxnSpPr>
            <p:nvPr/>
          </p:nvCxnSpPr>
          <p:spPr>
            <a:xfrm flipH="1" flipV="1">
              <a:off x="5180456" y="3206692"/>
              <a:ext cx="1428277" cy="32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>
              <a:stCxn id="27" idx="1"/>
              <a:endCxn id="31" idx="7"/>
            </p:cNvCxnSpPr>
            <p:nvPr/>
          </p:nvCxnSpPr>
          <p:spPr>
            <a:xfrm flipH="1">
              <a:off x="5193669" y="3209906"/>
              <a:ext cx="1415064" cy="1678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타원 29"/>
            <p:cNvSpPr/>
            <p:nvPr/>
          </p:nvSpPr>
          <p:spPr>
            <a:xfrm>
              <a:off x="3686314" y="2984383"/>
              <a:ext cx="149414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기내서비스</a:t>
              </a:r>
              <a:endParaRPr lang="ko-KR" altLang="en-US" sz="1400"/>
            </a:p>
          </p:txBody>
        </p:sp>
        <p:sp>
          <p:nvSpPr>
            <p:cNvPr id="31" name="타원 30"/>
            <p:cNvSpPr/>
            <p:nvPr/>
          </p:nvSpPr>
          <p:spPr>
            <a:xfrm>
              <a:off x="3813805" y="4823727"/>
              <a:ext cx="161661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공항서비스</a:t>
              </a:r>
              <a:endParaRPr lang="ko-KR" altLang="en-US" sz="1400"/>
            </a:p>
          </p:txBody>
        </p:sp>
        <p:cxnSp>
          <p:nvCxnSpPr>
            <p:cNvPr id="32" name="직선 연결선 31"/>
            <p:cNvCxnSpPr>
              <a:stCxn id="30" idx="1"/>
              <a:endCxn id="36" idx="6"/>
            </p:cNvCxnSpPr>
            <p:nvPr/>
          </p:nvCxnSpPr>
          <p:spPr>
            <a:xfrm flipH="1" flipV="1">
              <a:off x="2715973" y="2827187"/>
              <a:ext cx="1189153" cy="2223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>
              <a:stCxn id="30" idx="2"/>
              <a:endCxn id="37" idx="6"/>
            </p:cNvCxnSpPr>
            <p:nvPr/>
          </p:nvCxnSpPr>
          <p:spPr>
            <a:xfrm flipH="1">
              <a:off x="2691993" y="3206692"/>
              <a:ext cx="994321" cy="891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>
              <a:stCxn id="30" idx="3"/>
              <a:endCxn id="38" idx="7"/>
            </p:cNvCxnSpPr>
            <p:nvPr/>
          </p:nvCxnSpPr>
          <p:spPr>
            <a:xfrm flipH="1">
              <a:off x="2508530" y="3363887"/>
              <a:ext cx="1396596" cy="3928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>
              <a:stCxn id="30" idx="4"/>
              <a:endCxn id="39" idx="0"/>
            </p:cNvCxnSpPr>
            <p:nvPr/>
          </p:nvCxnSpPr>
          <p:spPr>
            <a:xfrm flipH="1">
              <a:off x="3289013" y="3429000"/>
              <a:ext cx="1144372" cy="6121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타원 35"/>
            <p:cNvSpPr/>
            <p:nvPr/>
          </p:nvSpPr>
          <p:spPr>
            <a:xfrm>
              <a:off x="1241697" y="2604878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면세품</a:t>
              </a:r>
              <a:endParaRPr lang="ko-KR" altLang="en-US" sz="1400"/>
            </a:p>
          </p:txBody>
        </p:sp>
        <p:sp>
          <p:nvSpPr>
            <p:cNvPr id="37" name="타원 36"/>
            <p:cNvSpPr/>
            <p:nvPr/>
          </p:nvSpPr>
          <p:spPr>
            <a:xfrm>
              <a:off x="1217717" y="3073582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기내식</a:t>
              </a:r>
              <a:endParaRPr lang="ko-KR" altLang="en-US" sz="1400"/>
            </a:p>
          </p:txBody>
        </p:sp>
        <p:sp>
          <p:nvSpPr>
            <p:cNvPr id="38" name="타원 37"/>
            <p:cNvSpPr/>
            <p:nvPr/>
          </p:nvSpPr>
          <p:spPr>
            <a:xfrm>
              <a:off x="1250157" y="3691616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이벤트</a:t>
              </a:r>
              <a:endParaRPr lang="ko-KR" altLang="en-US" sz="1400"/>
            </a:p>
          </p:txBody>
        </p:sp>
        <p:sp>
          <p:nvSpPr>
            <p:cNvPr id="39" name="타원 38"/>
            <p:cNvSpPr/>
            <p:nvPr/>
          </p:nvSpPr>
          <p:spPr>
            <a:xfrm>
              <a:off x="2473729" y="4041119"/>
              <a:ext cx="1630569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기내 </a:t>
              </a:r>
              <a:r>
                <a:rPr lang="en-US" altLang="ko-KR" sz="1400"/>
                <a:t>Wi-Fi</a:t>
              </a:r>
              <a:endParaRPr lang="ko-KR" altLang="en-US" sz="1400"/>
            </a:p>
          </p:txBody>
        </p:sp>
        <p:cxnSp>
          <p:nvCxnSpPr>
            <p:cNvPr id="40" name="직선 연결선 39"/>
            <p:cNvCxnSpPr>
              <a:stCxn id="31" idx="1"/>
              <a:endCxn id="41" idx="6"/>
            </p:cNvCxnSpPr>
            <p:nvPr/>
          </p:nvCxnSpPr>
          <p:spPr>
            <a:xfrm flipH="1" flipV="1">
              <a:off x="3098994" y="4871613"/>
              <a:ext cx="951558" cy="172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타원 40"/>
            <p:cNvSpPr/>
            <p:nvPr/>
          </p:nvSpPr>
          <p:spPr>
            <a:xfrm>
              <a:off x="1624718" y="4649304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체크인</a:t>
              </a:r>
              <a:endParaRPr lang="ko-KR" altLang="en-US" sz="1400"/>
            </a:p>
          </p:txBody>
        </p:sp>
        <p:sp>
          <p:nvSpPr>
            <p:cNvPr id="42" name="타원 41"/>
            <p:cNvSpPr/>
            <p:nvPr/>
          </p:nvSpPr>
          <p:spPr>
            <a:xfrm>
              <a:off x="1508629" y="5395217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호텔</a:t>
              </a:r>
              <a:endParaRPr lang="ko-KR" altLang="en-US" sz="1400"/>
            </a:p>
          </p:txBody>
        </p:sp>
        <p:cxnSp>
          <p:nvCxnSpPr>
            <p:cNvPr id="43" name="직선 연결선 42"/>
            <p:cNvCxnSpPr>
              <a:stCxn id="31" idx="3"/>
              <a:endCxn id="44" idx="0"/>
            </p:cNvCxnSpPr>
            <p:nvPr/>
          </p:nvCxnSpPr>
          <p:spPr>
            <a:xfrm flipH="1">
              <a:off x="3897723" y="5203231"/>
              <a:ext cx="152829" cy="3988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타원 43"/>
            <p:cNvSpPr/>
            <p:nvPr/>
          </p:nvSpPr>
          <p:spPr>
            <a:xfrm>
              <a:off x="2962188" y="5602075"/>
              <a:ext cx="1871069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렌터카</a:t>
              </a:r>
              <a:endParaRPr lang="ko-KR" altLang="en-US" sz="1400"/>
            </a:p>
          </p:txBody>
        </p:sp>
        <p:sp>
          <p:nvSpPr>
            <p:cNvPr id="45" name="타원 44"/>
            <p:cNvSpPr/>
            <p:nvPr/>
          </p:nvSpPr>
          <p:spPr>
            <a:xfrm>
              <a:off x="4965370" y="5594124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셔틀버스</a:t>
              </a:r>
              <a:endParaRPr lang="ko-KR" altLang="en-US" sz="1400"/>
            </a:p>
          </p:txBody>
        </p:sp>
        <p:cxnSp>
          <p:nvCxnSpPr>
            <p:cNvPr id="46" name="직선 연결선 45"/>
            <p:cNvCxnSpPr>
              <a:stCxn id="31" idx="5"/>
              <a:endCxn id="45" idx="0"/>
            </p:cNvCxnSpPr>
            <p:nvPr/>
          </p:nvCxnSpPr>
          <p:spPr>
            <a:xfrm>
              <a:off x="5193669" y="5203231"/>
              <a:ext cx="508839" cy="3908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7911028" y="2371565"/>
            <a:ext cx="3592286" cy="3789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/>
              <a:t>각 서비스가 단일 애트리뷰트로  구성하기 어렵고 고유한 관계      성립이 어려워 발생하였다</a:t>
            </a:r>
            <a:r>
              <a:rPr lang="en-US" altLang="ko-KR"/>
              <a:t>.</a:t>
            </a:r>
            <a:endParaRPr lang="en-US" altLang="ko-KR"/>
          </a:p>
          <a:p>
            <a:pPr>
              <a:lnSpc>
                <a:spcPct val="150000"/>
              </a:lnSpc>
              <a:defRPr/>
            </a:pPr>
            <a:r>
              <a:rPr lang="en-US" altLang="ko-KR"/>
              <a:t>- </a:t>
            </a:r>
            <a:r>
              <a:rPr lang="ko-KR" altLang="en-US"/>
              <a:t>복잡성 수준 저하가 요구된다</a:t>
            </a:r>
            <a:r>
              <a:rPr lang="en-US" altLang="ko-KR"/>
              <a:t>.</a:t>
            </a:r>
            <a:endParaRPr lang="en-US" altLang="ko-KR"/>
          </a:p>
          <a:p>
            <a:pPr>
              <a:lnSpc>
                <a:spcPct val="150000"/>
              </a:lnSpc>
              <a:defRPr/>
            </a:pPr>
            <a:endParaRPr lang="en-US" altLang="ko-KR"/>
          </a:p>
          <a:p>
            <a:pPr>
              <a:lnSpc>
                <a:spcPct val="150000"/>
              </a:lnSpc>
              <a:defRPr/>
            </a:pPr>
            <a:r>
              <a:rPr lang="en-US" altLang="ko-KR"/>
              <a:t>=&gt; </a:t>
            </a:r>
            <a:r>
              <a:rPr lang="ko-KR" altLang="en-US"/>
              <a:t>논리적 설계를 거친 후</a:t>
            </a:r>
            <a:endParaRPr lang="ko-KR" altLang="en-US"/>
          </a:p>
          <a:p>
            <a:pPr>
              <a:lnSpc>
                <a:spcPct val="150000"/>
              </a:lnSpc>
              <a:defRPr/>
            </a:pPr>
            <a:r>
              <a:rPr lang="ko-KR" altLang="en-US"/>
              <a:t>복잡성 및 무결성 제약 조건을</a:t>
            </a:r>
            <a:endParaRPr lang="ko-KR" altLang="en-US"/>
          </a:p>
          <a:p>
            <a:pPr>
              <a:lnSpc>
                <a:spcPct val="150000"/>
              </a:lnSpc>
              <a:defRPr/>
            </a:pPr>
            <a:r>
              <a:rPr lang="ko-KR" altLang="en-US"/>
              <a:t>고려한 뒤</a:t>
            </a:r>
            <a:r>
              <a:rPr lang="en-US" altLang="ko-KR"/>
              <a:t>,</a:t>
            </a:r>
            <a:r>
              <a:rPr lang="ko-KR" altLang="en-US"/>
              <a:t> 적절한 관계를 갖는</a:t>
            </a:r>
            <a:endParaRPr lang="ko-KR" altLang="en-US"/>
          </a:p>
          <a:p>
            <a:pPr>
              <a:lnSpc>
                <a:spcPct val="150000"/>
              </a:lnSpc>
              <a:defRPr/>
            </a:pPr>
            <a:r>
              <a:rPr lang="ko-KR" altLang="en-US"/>
              <a:t>엔티티 타입으로 재구현 필요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714" y="2218954"/>
            <a:ext cx="4380121" cy="1968732"/>
          </a:xfrm>
        </p:spPr>
        <p:txBody>
          <a:bodyPr>
            <a:normAutofit/>
          </a:bodyPr>
          <a:lstStyle/>
          <a:p>
            <a:r>
              <a:rPr lang="en-US" altLang="ko-KR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ER </a:t>
            </a:r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다이어그램</a:t>
            </a:r>
          </a:p>
        </p:txBody>
      </p:sp>
      <p:sp>
        <p:nvSpPr>
          <p:cNvPr id="5" name="직사각형 4" descr="리본 메뉴">
            <a:extLst>
              <a:ext uri="{FF2B5EF4-FFF2-40B4-BE49-F238E27FC236}">
                <a16:creationId xmlns:a16="http://schemas.microsoft.com/office/drawing/2014/main" id="{49E7F9DD-E7F0-4AAA-A83F-188B3C58444E}"/>
              </a:ext>
            </a:extLst>
          </p:cNvPr>
          <p:cNvSpPr/>
          <p:nvPr/>
        </p:nvSpPr>
        <p:spPr>
          <a:xfrm>
            <a:off x="8308836" y="2346956"/>
            <a:ext cx="2186885" cy="2164087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20678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내용 개체 틀 3">
            <a:extLst>
              <a:ext uri="{FF2B5EF4-FFF2-40B4-BE49-F238E27FC236}">
                <a16:creationId xmlns:a16="http://schemas.microsoft.com/office/drawing/2014/main" id="{333AE26C-5895-4FBD-BDA0-0C1296DFF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3" y="26128"/>
            <a:ext cx="1959833" cy="522512"/>
          </a:xfrm>
          <a:prstGeom prst="roundRect">
            <a:avLst>
              <a:gd name="adj" fmla="val 10000"/>
            </a:avLst>
          </a:prstGeom>
          <a:solidFill>
            <a:schemeClr val="accent1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chemeClr val="bg2"/>
                </a:solidFill>
              </a:rPr>
              <a:t>E-R Diagram</a:t>
            </a:r>
            <a:endParaRPr lang="ko-KR" altLang="en-US" sz="2400" dirty="0">
              <a:solidFill>
                <a:schemeClr val="bg2"/>
              </a:solidFill>
            </a:endParaRP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44D6DB7F-F5DD-44D4-BE6A-BBF47E7A3645}"/>
              </a:ext>
            </a:extLst>
          </p:cNvPr>
          <p:cNvCxnSpPr>
            <a:cxnSpLocks/>
          </p:cNvCxnSpPr>
          <p:nvPr/>
        </p:nvCxnSpPr>
        <p:spPr>
          <a:xfrm flipH="1">
            <a:off x="8472338" y="1698073"/>
            <a:ext cx="144212" cy="1409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925113E9-4414-4073-979A-B2A59F7A9478}"/>
              </a:ext>
            </a:extLst>
          </p:cNvPr>
          <p:cNvCxnSpPr>
            <a:cxnSpLocks/>
          </p:cNvCxnSpPr>
          <p:nvPr/>
        </p:nvCxnSpPr>
        <p:spPr>
          <a:xfrm>
            <a:off x="7796149" y="1607890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타원 3">
            <a:extLst>
              <a:ext uri="{FF2B5EF4-FFF2-40B4-BE49-F238E27FC236}">
                <a16:creationId xmlns:a16="http://schemas.microsoft.com/office/drawing/2014/main" id="{66916476-FF45-4C82-99F8-904DD6880568}"/>
              </a:ext>
            </a:extLst>
          </p:cNvPr>
          <p:cNvSpPr/>
          <p:nvPr/>
        </p:nvSpPr>
        <p:spPr>
          <a:xfrm>
            <a:off x="885037" y="415257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Arpt_Name</a:t>
            </a:r>
            <a:endParaRPr lang="ko-KR" altLang="en-US" sz="1400" dirty="0"/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FA63DEA4-E55A-4C62-AFAF-147BE2FCA5E7}"/>
              </a:ext>
            </a:extLst>
          </p:cNvPr>
          <p:cNvSpPr/>
          <p:nvPr/>
        </p:nvSpPr>
        <p:spPr>
          <a:xfrm>
            <a:off x="2795368" y="1278523"/>
            <a:ext cx="1575208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Residnt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EB4F42-93B8-4D9C-9BB6-B78E871AE5A8}"/>
              </a:ext>
            </a:extLst>
          </p:cNvPr>
          <p:cNvSpPr/>
          <p:nvPr/>
        </p:nvSpPr>
        <p:spPr>
          <a:xfrm>
            <a:off x="1703175" y="1420173"/>
            <a:ext cx="917895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AirPort</a:t>
            </a:r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A1DE77E-0419-433A-B573-2E11D0F19B8F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1692478" y="859874"/>
            <a:ext cx="469645" cy="560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7A796EF3-EF7F-4E38-95E0-2F32C82F0A3B}"/>
              </a:ext>
            </a:extLst>
          </p:cNvPr>
          <p:cNvSpPr/>
          <p:nvPr/>
        </p:nvSpPr>
        <p:spPr>
          <a:xfrm>
            <a:off x="159391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Contct_Num</a:t>
            </a:r>
            <a:endParaRPr lang="ko-KR" altLang="en-US" sz="1400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F5D5629-9D46-4113-A5F2-BC43EA732DA0}"/>
              </a:ext>
            </a:extLst>
          </p:cNvPr>
          <p:cNvCxnSpPr>
            <a:cxnSpLocks/>
            <a:stCxn id="6" idx="1"/>
            <a:endCxn id="12" idx="0"/>
          </p:cNvCxnSpPr>
          <p:nvPr/>
        </p:nvCxnSpPr>
        <p:spPr>
          <a:xfrm flipH="1">
            <a:off x="1023457" y="1642482"/>
            <a:ext cx="679718" cy="731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3676919A-6B8E-4CB6-8958-006540745D6B}"/>
              </a:ext>
            </a:extLst>
          </p:cNvPr>
          <p:cNvSpPr/>
          <p:nvPr/>
        </p:nvSpPr>
        <p:spPr>
          <a:xfrm>
            <a:off x="1964422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Affiliation</a:t>
            </a:r>
            <a:endParaRPr lang="ko-KR" altLang="en-US" sz="1400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2A33BB4-5728-4B12-BA3A-5AA5FC08581B}"/>
              </a:ext>
            </a:extLst>
          </p:cNvPr>
          <p:cNvCxnSpPr>
            <a:cxnSpLocks/>
            <a:stCxn id="6" idx="2"/>
            <a:endCxn id="20" idx="0"/>
          </p:cNvCxnSpPr>
          <p:nvPr/>
        </p:nvCxnSpPr>
        <p:spPr>
          <a:xfrm>
            <a:off x="2162123" y="1864790"/>
            <a:ext cx="666365" cy="509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B4EC5A3-C18D-43DB-8930-EA562D15BA98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2621070" y="1642482"/>
            <a:ext cx="174298" cy="9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1AF4EC2-22F3-4B7B-A3EA-BC9BFCC7D6AA}"/>
              </a:ext>
            </a:extLst>
          </p:cNvPr>
          <p:cNvCxnSpPr/>
          <p:nvPr/>
        </p:nvCxnSpPr>
        <p:spPr>
          <a:xfrm>
            <a:off x="4306073" y="1629159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CDD281E-BC74-4869-A451-49832C518519}"/>
              </a:ext>
            </a:extLst>
          </p:cNvPr>
          <p:cNvCxnSpPr/>
          <p:nvPr/>
        </p:nvCxnSpPr>
        <p:spPr>
          <a:xfrm>
            <a:off x="4306073" y="1689280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1220BF-1F06-49A4-8688-ED61963B22E9}"/>
              </a:ext>
            </a:extLst>
          </p:cNvPr>
          <p:cNvSpPr/>
          <p:nvPr/>
        </p:nvSpPr>
        <p:spPr>
          <a:xfrm>
            <a:off x="4661832" y="1283428"/>
            <a:ext cx="1033244" cy="687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T-way Airline</a:t>
            </a:r>
            <a:endParaRPr lang="ko-KR" altLang="en-US" dirty="0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7F103B4-4170-4316-ACF4-CDF07799F22C}"/>
              </a:ext>
            </a:extLst>
          </p:cNvPr>
          <p:cNvCxnSpPr/>
          <p:nvPr/>
        </p:nvCxnSpPr>
        <p:spPr>
          <a:xfrm>
            <a:off x="1179701" y="742911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8FF91553-20D6-4CEB-9D5D-C8C778A45667}"/>
              </a:ext>
            </a:extLst>
          </p:cNvPr>
          <p:cNvCxnSpPr>
            <a:cxnSpLocks/>
            <a:stCxn id="28" idx="0"/>
            <a:endCxn id="42" idx="4"/>
          </p:cNvCxnSpPr>
          <p:nvPr/>
        </p:nvCxnSpPr>
        <p:spPr>
          <a:xfrm flipH="1" flipV="1">
            <a:off x="3913463" y="859874"/>
            <a:ext cx="1264991" cy="423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B750D256-7482-4E92-9327-997417699040}"/>
              </a:ext>
            </a:extLst>
          </p:cNvPr>
          <p:cNvSpPr/>
          <p:nvPr/>
        </p:nvSpPr>
        <p:spPr>
          <a:xfrm>
            <a:off x="3036812" y="415257"/>
            <a:ext cx="175330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rgbClr val="00B050"/>
                </a:solidFill>
              </a:rPr>
              <a:t>Aport_Name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442C844-5E3C-43AA-8633-FEF8D163908C}"/>
              </a:ext>
            </a:extLst>
          </p:cNvPr>
          <p:cNvCxnSpPr>
            <a:cxnSpLocks/>
            <a:stCxn id="28" idx="0"/>
            <a:endCxn id="50" idx="4"/>
          </p:cNvCxnSpPr>
          <p:nvPr/>
        </p:nvCxnSpPr>
        <p:spPr>
          <a:xfrm flipV="1">
            <a:off x="5178454" y="739632"/>
            <a:ext cx="526671" cy="543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73640832-26BE-4B55-8D91-5E48EB92D9F1}"/>
              </a:ext>
            </a:extLst>
          </p:cNvPr>
          <p:cNvSpPr/>
          <p:nvPr/>
        </p:nvSpPr>
        <p:spPr>
          <a:xfrm>
            <a:off x="5044142" y="295015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Director</a:t>
            </a:r>
            <a:endParaRPr lang="ko-KR" altLang="en-US" sz="14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DF71F11-C83F-4709-8178-30248902EA19}"/>
              </a:ext>
            </a:extLst>
          </p:cNvPr>
          <p:cNvSpPr/>
          <p:nvPr/>
        </p:nvSpPr>
        <p:spPr>
          <a:xfrm>
            <a:off x="4386566" y="942275"/>
            <a:ext cx="1624495" cy="1245765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설계 </a:t>
            </a:r>
            <a:r>
              <a:rPr lang="en-US" altLang="ko-KR" dirty="0">
                <a:solidFill>
                  <a:srgbClr val="FF0000"/>
                </a:solidFill>
              </a:rPr>
              <a:t>Business</a:t>
            </a:r>
          </a:p>
          <a:p>
            <a:pPr algn="ctr"/>
            <a:endParaRPr lang="en-US" altLang="ko-KR" dirty="0">
              <a:solidFill>
                <a:srgbClr val="FF0000"/>
              </a:solidFill>
            </a:endParaRP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94D4027C-9D10-4CBA-BCE2-19B3DB64531F}"/>
              </a:ext>
            </a:extLst>
          </p:cNvPr>
          <p:cNvCxnSpPr>
            <a:cxnSpLocks/>
            <a:stCxn id="28" idx="3"/>
            <a:endCxn id="61" idx="1"/>
          </p:cNvCxnSpPr>
          <p:nvPr/>
        </p:nvCxnSpPr>
        <p:spPr>
          <a:xfrm>
            <a:off x="5695076" y="1627377"/>
            <a:ext cx="360029" cy="19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FFCED34-4F78-487B-8A05-39AE8A1EADB7}"/>
              </a:ext>
            </a:extLst>
          </p:cNvPr>
          <p:cNvCxnSpPr>
            <a:cxnSpLocks/>
          </p:cNvCxnSpPr>
          <p:nvPr/>
        </p:nvCxnSpPr>
        <p:spPr>
          <a:xfrm>
            <a:off x="7811529" y="1673604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054B582-B071-4B41-94E0-BD881619B7D3}"/>
              </a:ext>
            </a:extLst>
          </p:cNvPr>
          <p:cNvSpPr/>
          <p:nvPr/>
        </p:nvSpPr>
        <p:spPr>
          <a:xfrm>
            <a:off x="8059531" y="1415645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Employee</a:t>
            </a:r>
            <a:endParaRPr lang="ko-KR" altLang="en-US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1F7FE23-4769-40FA-8F4C-D981F7D63498}"/>
              </a:ext>
            </a:extLst>
          </p:cNvPr>
          <p:cNvCxnSpPr>
            <a:cxnSpLocks/>
            <a:stCxn id="71" idx="0"/>
            <a:endCxn id="78" idx="4"/>
          </p:cNvCxnSpPr>
          <p:nvPr/>
        </p:nvCxnSpPr>
        <p:spPr>
          <a:xfrm flipH="1" flipV="1">
            <a:off x="7426002" y="924188"/>
            <a:ext cx="1251780" cy="491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9EDC0B45-3239-4389-B45C-BAE2F3FF8A21}"/>
              </a:ext>
            </a:extLst>
          </p:cNvPr>
          <p:cNvSpPr/>
          <p:nvPr/>
        </p:nvSpPr>
        <p:spPr>
          <a:xfrm>
            <a:off x="6765019" y="479571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Emp No</a:t>
            </a:r>
            <a:endParaRPr lang="ko-KR" altLang="en-US" sz="1400" dirty="0"/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D68D1ED-B669-43D8-B88C-490B1C61386B}"/>
              </a:ext>
            </a:extLst>
          </p:cNvPr>
          <p:cNvCxnSpPr/>
          <p:nvPr/>
        </p:nvCxnSpPr>
        <p:spPr>
          <a:xfrm>
            <a:off x="7024728" y="831454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90E808D1-F569-43B4-8BA5-198FC5E6095E}"/>
              </a:ext>
            </a:extLst>
          </p:cNvPr>
          <p:cNvCxnSpPr>
            <a:cxnSpLocks/>
            <a:stCxn id="71" idx="0"/>
            <a:endCxn id="84" idx="4"/>
          </p:cNvCxnSpPr>
          <p:nvPr/>
        </p:nvCxnSpPr>
        <p:spPr>
          <a:xfrm flipV="1">
            <a:off x="8677782" y="931181"/>
            <a:ext cx="207026" cy="4844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B8880094-6D39-41CA-B0C1-D97C4F077C1C}"/>
              </a:ext>
            </a:extLst>
          </p:cNvPr>
          <p:cNvSpPr/>
          <p:nvPr/>
        </p:nvSpPr>
        <p:spPr>
          <a:xfrm>
            <a:off x="8223825" y="48656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Salary</a:t>
            </a:r>
            <a:endParaRPr lang="ko-KR" altLang="en-US" sz="1400" dirty="0"/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B3DED8A-6D4C-422A-A93C-A53F1E38C913}"/>
              </a:ext>
            </a:extLst>
          </p:cNvPr>
          <p:cNvCxnSpPr>
            <a:cxnSpLocks/>
            <a:stCxn id="71" idx="3"/>
            <a:endCxn id="89" idx="4"/>
          </p:cNvCxnSpPr>
          <p:nvPr/>
        </p:nvCxnSpPr>
        <p:spPr>
          <a:xfrm flipV="1">
            <a:off x="9296033" y="1040236"/>
            <a:ext cx="1214411" cy="5977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45F01E69-F5A1-4F39-A0D6-6DBBF8079AF2}"/>
              </a:ext>
            </a:extLst>
          </p:cNvPr>
          <p:cNvSpPr/>
          <p:nvPr/>
        </p:nvSpPr>
        <p:spPr>
          <a:xfrm>
            <a:off x="9849461" y="59561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Title</a:t>
            </a:r>
            <a:endParaRPr lang="ko-KR" altLang="en-US" sz="1400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10E872B6-EFF9-4454-9825-D2430BFA3BA1}"/>
              </a:ext>
            </a:extLst>
          </p:cNvPr>
          <p:cNvCxnSpPr/>
          <p:nvPr/>
        </p:nvCxnSpPr>
        <p:spPr>
          <a:xfrm>
            <a:off x="5304000" y="637565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0988D0B7-AAD4-4556-A525-1D162A1CD900}"/>
              </a:ext>
            </a:extLst>
          </p:cNvPr>
          <p:cNvCxnSpPr>
            <a:cxnSpLocks/>
            <a:stCxn id="71" idx="2"/>
            <a:endCxn id="99" idx="0"/>
          </p:cNvCxnSpPr>
          <p:nvPr/>
        </p:nvCxnSpPr>
        <p:spPr>
          <a:xfrm flipH="1">
            <a:off x="8605100" y="1860262"/>
            <a:ext cx="72682" cy="8645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다이아몬드 98">
            <a:extLst>
              <a:ext uri="{FF2B5EF4-FFF2-40B4-BE49-F238E27FC236}">
                <a16:creationId xmlns:a16="http://schemas.microsoft.com/office/drawing/2014/main" id="{C4F7B473-B01E-4DDE-8184-7A917BD95273}"/>
              </a:ext>
            </a:extLst>
          </p:cNvPr>
          <p:cNvSpPr/>
          <p:nvPr/>
        </p:nvSpPr>
        <p:spPr>
          <a:xfrm>
            <a:off x="7867962" y="2724775"/>
            <a:ext cx="1474276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Work for</a:t>
            </a:r>
            <a:endParaRPr lang="ko-KR" altLang="en-US" sz="1400" dirty="0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223C8C2E-3989-494D-880A-6EAE7DC825BD}"/>
              </a:ext>
            </a:extLst>
          </p:cNvPr>
          <p:cNvCxnSpPr>
            <a:cxnSpLocks/>
            <a:stCxn id="99" idx="3"/>
            <a:endCxn id="113" idx="1"/>
          </p:cNvCxnSpPr>
          <p:nvPr/>
        </p:nvCxnSpPr>
        <p:spPr>
          <a:xfrm>
            <a:off x="9342238" y="3098086"/>
            <a:ext cx="420697" cy="2188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31BA6426-2BDC-45CE-BF5B-D547D1D9C0F7}"/>
              </a:ext>
            </a:extLst>
          </p:cNvPr>
          <p:cNvCxnSpPr>
            <a:cxnSpLocks/>
            <a:stCxn id="99" idx="2"/>
            <a:endCxn id="41" idx="0"/>
          </p:cNvCxnSpPr>
          <p:nvPr/>
        </p:nvCxnSpPr>
        <p:spPr>
          <a:xfrm>
            <a:off x="8605100" y="3471396"/>
            <a:ext cx="27011" cy="3561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9A01900-9E66-4885-9A3B-E28D8BAE27B1}"/>
              </a:ext>
            </a:extLst>
          </p:cNvPr>
          <p:cNvCxnSpPr>
            <a:cxnSpLocks/>
            <a:stCxn id="99" idx="1"/>
            <a:endCxn id="147" idx="3"/>
          </p:cNvCxnSpPr>
          <p:nvPr/>
        </p:nvCxnSpPr>
        <p:spPr>
          <a:xfrm flipH="1" flipV="1">
            <a:off x="7025312" y="2952525"/>
            <a:ext cx="842650" cy="1455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40F60D7-E6EE-4677-A989-460E3326D2EB}"/>
              </a:ext>
            </a:extLst>
          </p:cNvPr>
          <p:cNvSpPr/>
          <p:nvPr/>
        </p:nvSpPr>
        <p:spPr>
          <a:xfrm>
            <a:off x="9762935" y="3094594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Customer</a:t>
            </a:r>
            <a:endParaRPr lang="ko-KR" altLang="en-US" dirty="0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D873BEEF-F5E9-4A45-96FF-E45E3FE2CE26}"/>
              </a:ext>
            </a:extLst>
          </p:cNvPr>
          <p:cNvGrpSpPr/>
          <p:nvPr/>
        </p:nvGrpSpPr>
        <p:grpSpPr>
          <a:xfrm>
            <a:off x="8844994" y="2240793"/>
            <a:ext cx="1536192" cy="444617"/>
            <a:chOff x="9413889" y="2615453"/>
            <a:chExt cx="1536192" cy="444617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A1BAFEB5-684F-4549-8136-16E1A0982675}"/>
                </a:ext>
              </a:extLst>
            </p:cNvPr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PssprtNum</a:t>
              </a:r>
              <a:endParaRPr lang="ko-KR" altLang="en-US" sz="1400" dirty="0"/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92A7C69D-9FB6-448A-BB5D-E70F3ABA540A}"/>
                </a:ext>
              </a:extLst>
            </p:cNvPr>
            <p:cNvCxnSpPr>
              <a:cxnSpLocks/>
            </p:cNvCxnSpPr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AC0EB4DC-FFDE-4C4A-9FD5-23318DC6225D}"/>
              </a:ext>
            </a:extLst>
          </p:cNvPr>
          <p:cNvCxnSpPr>
            <a:stCxn id="123" idx="4"/>
            <a:endCxn id="113" idx="0"/>
          </p:cNvCxnSpPr>
          <p:nvPr/>
        </p:nvCxnSpPr>
        <p:spPr>
          <a:xfrm>
            <a:off x="9613090" y="2685410"/>
            <a:ext cx="768096" cy="4091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C5884316-C9E2-46A6-9BE5-777005D69473}"/>
              </a:ext>
            </a:extLst>
          </p:cNvPr>
          <p:cNvCxnSpPr>
            <a:cxnSpLocks/>
            <a:stCxn id="113" idx="0"/>
            <a:endCxn id="133" idx="4"/>
          </p:cNvCxnSpPr>
          <p:nvPr/>
        </p:nvCxnSpPr>
        <p:spPr>
          <a:xfrm flipV="1">
            <a:off x="10381186" y="2701371"/>
            <a:ext cx="777362" cy="3932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타원 132">
            <a:extLst>
              <a:ext uri="{FF2B5EF4-FFF2-40B4-BE49-F238E27FC236}">
                <a16:creationId xmlns:a16="http://schemas.microsoft.com/office/drawing/2014/main" id="{D61184F2-2B43-43D8-90E8-21F64C41283B}"/>
              </a:ext>
            </a:extLst>
          </p:cNvPr>
          <p:cNvSpPr/>
          <p:nvPr/>
        </p:nvSpPr>
        <p:spPr>
          <a:xfrm>
            <a:off x="10497565" y="225675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Gender</a:t>
            </a:r>
            <a:endParaRPr lang="ko-KR" altLang="en-US" sz="14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9C041426-9D7D-445C-A367-99BBDB0AC42A}"/>
              </a:ext>
            </a:extLst>
          </p:cNvPr>
          <p:cNvCxnSpPr>
            <a:cxnSpLocks/>
            <a:stCxn id="113" idx="3"/>
            <a:endCxn id="143" idx="2"/>
          </p:cNvCxnSpPr>
          <p:nvPr/>
        </p:nvCxnSpPr>
        <p:spPr>
          <a:xfrm flipV="1">
            <a:off x="10999437" y="3316902"/>
            <a:ext cx="20857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타원 142">
            <a:extLst>
              <a:ext uri="{FF2B5EF4-FFF2-40B4-BE49-F238E27FC236}">
                <a16:creationId xmlns:a16="http://schemas.microsoft.com/office/drawing/2014/main" id="{C9F5B434-535E-458A-BE54-79FB2ADA4D8D}"/>
              </a:ext>
            </a:extLst>
          </p:cNvPr>
          <p:cNvSpPr/>
          <p:nvPr/>
        </p:nvSpPr>
        <p:spPr>
          <a:xfrm>
            <a:off x="11208016" y="3094593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ID</a:t>
            </a:r>
            <a:endParaRPr lang="ko-KR" altLang="en-US" sz="1400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53E4E12-033C-4AE4-B008-6C61D9FDFEAC}"/>
              </a:ext>
            </a:extLst>
          </p:cNvPr>
          <p:cNvSpPr/>
          <p:nvPr/>
        </p:nvSpPr>
        <p:spPr>
          <a:xfrm>
            <a:off x="5788810" y="2674283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Service</a:t>
            </a:r>
            <a:endParaRPr lang="ko-KR" altLang="en-US" dirty="0"/>
          </a:p>
        </p:txBody>
      </p: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18DAF139-FA11-43D7-99D8-4F004C544F78}"/>
              </a:ext>
            </a:extLst>
          </p:cNvPr>
          <p:cNvCxnSpPr>
            <a:cxnSpLocks/>
            <a:stCxn id="137" idx="2"/>
            <a:endCxn id="185" idx="0"/>
          </p:cNvCxnSpPr>
          <p:nvPr/>
        </p:nvCxnSpPr>
        <p:spPr>
          <a:xfrm flipH="1">
            <a:off x="6271531" y="5424751"/>
            <a:ext cx="655887" cy="5684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5A25D7B-F402-4C0C-AF96-CE450CC8803F}"/>
              </a:ext>
            </a:extLst>
          </p:cNvPr>
          <p:cNvSpPr/>
          <p:nvPr/>
        </p:nvSpPr>
        <p:spPr>
          <a:xfrm>
            <a:off x="6309167" y="4868268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Boarding Pass</a:t>
            </a:r>
            <a:endParaRPr lang="ko-KR" altLang="en-US" dirty="0"/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C711AB71-0B10-4B37-AD91-C174560DE863}"/>
              </a:ext>
            </a:extLst>
          </p:cNvPr>
          <p:cNvCxnSpPr>
            <a:cxnSpLocks/>
            <a:stCxn id="137" idx="3"/>
            <a:endCxn id="165" idx="2"/>
          </p:cNvCxnSpPr>
          <p:nvPr/>
        </p:nvCxnSpPr>
        <p:spPr>
          <a:xfrm>
            <a:off x="7545669" y="5146510"/>
            <a:ext cx="1644232" cy="2572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3DE23158-8A11-4742-AF2F-5598B75BF729}"/>
              </a:ext>
            </a:extLst>
          </p:cNvPr>
          <p:cNvCxnSpPr>
            <a:cxnSpLocks/>
            <a:stCxn id="137" idx="2"/>
            <a:endCxn id="168" idx="2"/>
          </p:cNvCxnSpPr>
          <p:nvPr/>
        </p:nvCxnSpPr>
        <p:spPr>
          <a:xfrm>
            <a:off x="6927418" y="5424751"/>
            <a:ext cx="2139857" cy="6289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701B39F5-CA04-4927-AA8C-63BD81AC889D}"/>
              </a:ext>
            </a:extLst>
          </p:cNvPr>
          <p:cNvCxnSpPr>
            <a:cxnSpLocks/>
            <a:stCxn id="137" idx="2"/>
            <a:endCxn id="172" idx="0"/>
          </p:cNvCxnSpPr>
          <p:nvPr/>
        </p:nvCxnSpPr>
        <p:spPr>
          <a:xfrm>
            <a:off x="6927418" y="5424751"/>
            <a:ext cx="942071" cy="843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06E1CB2A-476F-4122-A67E-E09E2DE1F341}"/>
              </a:ext>
            </a:extLst>
          </p:cNvPr>
          <p:cNvCxnSpPr>
            <a:cxnSpLocks/>
            <a:stCxn id="137" idx="1"/>
            <a:endCxn id="188" idx="0"/>
          </p:cNvCxnSpPr>
          <p:nvPr/>
        </p:nvCxnSpPr>
        <p:spPr>
          <a:xfrm flipH="1">
            <a:off x="4766764" y="5146510"/>
            <a:ext cx="1542403" cy="749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B0FF2E04-BFDE-42D0-8B93-C53F9A805A71}"/>
              </a:ext>
            </a:extLst>
          </p:cNvPr>
          <p:cNvCxnSpPr>
            <a:cxnSpLocks/>
            <a:stCxn id="137" idx="1"/>
            <a:endCxn id="195" idx="6"/>
          </p:cNvCxnSpPr>
          <p:nvPr/>
        </p:nvCxnSpPr>
        <p:spPr>
          <a:xfrm flipH="1" flipV="1">
            <a:off x="5386995" y="4578012"/>
            <a:ext cx="922172" cy="5684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89378FD6-A6A6-4339-B967-A51D21A3F0C2}"/>
              </a:ext>
            </a:extLst>
          </p:cNvPr>
          <p:cNvCxnSpPr>
            <a:cxnSpLocks/>
            <a:stCxn id="137" idx="1"/>
            <a:endCxn id="192" idx="6"/>
          </p:cNvCxnSpPr>
          <p:nvPr/>
        </p:nvCxnSpPr>
        <p:spPr>
          <a:xfrm flipH="1">
            <a:off x="5287483" y="5146510"/>
            <a:ext cx="1021684" cy="349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타원 164">
            <a:extLst>
              <a:ext uri="{FF2B5EF4-FFF2-40B4-BE49-F238E27FC236}">
                <a16:creationId xmlns:a16="http://schemas.microsoft.com/office/drawing/2014/main" id="{DBA371BC-C45E-4D34-8898-4820C2B4A826}"/>
              </a:ext>
            </a:extLst>
          </p:cNvPr>
          <p:cNvSpPr/>
          <p:nvPr/>
        </p:nvSpPr>
        <p:spPr>
          <a:xfrm>
            <a:off x="9189901" y="5181454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Arrival</a:t>
            </a:r>
            <a:endParaRPr lang="ko-KR" altLang="en-US" sz="1400" dirty="0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4BACEA1D-8353-424A-A1D6-BA6A86812D8A}"/>
              </a:ext>
            </a:extLst>
          </p:cNvPr>
          <p:cNvSpPr/>
          <p:nvPr/>
        </p:nvSpPr>
        <p:spPr>
          <a:xfrm>
            <a:off x="9067275" y="5831393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Departure</a:t>
            </a:r>
            <a:endParaRPr lang="ko-KR" altLang="en-US" sz="1400" dirty="0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16F3FFB1-4B18-420F-9B24-035A15A656CB}"/>
              </a:ext>
            </a:extLst>
          </p:cNvPr>
          <p:cNvSpPr/>
          <p:nvPr/>
        </p:nvSpPr>
        <p:spPr>
          <a:xfrm>
            <a:off x="7133312" y="6268470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rgbClr val="00B050"/>
                </a:solidFill>
              </a:rPr>
              <a:t>Fligt_No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4B94A3B2-7302-47FF-9251-95F88A1E4135}"/>
              </a:ext>
            </a:extLst>
          </p:cNvPr>
          <p:cNvSpPr/>
          <p:nvPr/>
        </p:nvSpPr>
        <p:spPr>
          <a:xfrm>
            <a:off x="5556720" y="5993205"/>
            <a:ext cx="142962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Resrv</a:t>
            </a:r>
            <a:r>
              <a:rPr lang="en-US" altLang="ko-KR" sz="1400" dirty="0"/>
              <a:t> No</a:t>
            </a:r>
            <a:endParaRPr lang="ko-KR" altLang="en-US" sz="1400" dirty="0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E313E0B3-287C-4D36-935A-5C3E4390268B}"/>
              </a:ext>
            </a:extLst>
          </p:cNvPr>
          <p:cNvSpPr/>
          <p:nvPr/>
        </p:nvSpPr>
        <p:spPr>
          <a:xfrm>
            <a:off x="4181770" y="5896059"/>
            <a:ext cx="1169987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Seat no</a:t>
            </a:r>
            <a:endParaRPr lang="ko-KR" altLang="en-US" sz="1400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81CC3803-48BE-46EB-9E62-1DF5B472B3F8}"/>
              </a:ext>
            </a:extLst>
          </p:cNvPr>
          <p:cNvSpPr/>
          <p:nvPr/>
        </p:nvSpPr>
        <p:spPr>
          <a:xfrm>
            <a:off x="4325294" y="4959145"/>
            <a:ext cx="962189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Class</a:t>
            </a:r>
            <a:endParaRPr lang="ko-KR" altLang="en-US" sz="1400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5416E90B-A82D-485D-9245-2594C7990601}"/>
              </a:ext>
            </a:extLst>
          </p:cNvPr>
          <p:cNvSpPr/>
          <p:nvPr/>
        </p:nvSpPr>
        <p:spPr>
          <a:xfrm>
            <a:off x="4601775" y="4355703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data</a:t>
            </a:r>
            <a:endParaRPr lang="ko-KR" altLang="en-US" sz="1400" dirty="0"/>
          </a:p>
        </p:txBody>
      </p: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AE68E117-A98D-41CC-BC9A-1B109E2677E5}"/>
              </a:ext>
            </a:extLst>
          </p:cNvPr>
          <p:cNvCxnSpPr/>
          <p:nvPr/>
        </p:nvCxnSpPr>
        <p:spPr>
          <a:xfrm>
            <a:off x="5875531" y="6292342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EFA0DBEA-1AD3-40C8-B66B-CECFB61EEDF2}"/>
              </a:ext>
            </a:extLst>
          </p:cNvPr>
          <p:cNvCxnSpPr>
            <a:cxnSpLocks/>
            <a:stCxn id="147" idx="1"/>
            <a:endCxn id="220" idx="6"/>
          </p:cNvCxnSpPr>
          <p:nvPr/>
        </p:nvCxnSpPr>
        <p:spPr>
          <a:xfrm flipH="1">
            <a:off x="3952646" y="2952525"/>
            <a:ext cx="1836164" cy="5838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4AB083ED-D982-4850-9481-1AAD8E5C829F}"/>
              </a:ext>
            </a:extLst>
          </p:cNvPr>
          <p:cNvCxnSpPr>
            <a:cxnSpLocks/>
            <a:stCxn id="147" idx="1"/>
            <a:endCxn id="224" idx="7"/>
          </p:cNvCxnSpPr>
          <p:nvPr/>
        </p:nvCxnSpPr>
        <p:spPr>
          <a:xfrm flipH="1">
            <a:off x="3875169" y="2952525"/>
            <a:ext cx="1913641" cy="20367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0" name="타원 219">
            <a:extLst>
              <a:ext uri="{FF2B5EF4-FFF2-40B4-BE49-F238E27FC236}">
                <a16:creationId xmlns:a16="http://schemas.microsoft.com/office/drawing/2014/main" id="{3EAEFCB7-FAA3-4CE3-A44B-CCEC45608F9B}"/>
              </a:ext>
            </a:extLst>
          </p:cNvPr>
          <p:cNvSpPr/>
          <p:nvPr/>
        </p:nvSpPr>
        <p:spPr>
          <a:xfrm>
            <a:off x="2224515" y="3263320"/>
            <a:ext cx="1728131" cy="5461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Service</a:t>
            </a:r>
          </a:p>
          <a:p>
            <a:pPr algn="ctr"/>
            <a:r>
              <a:rPr lang="en-US" altLang="ko-KR" sz="1400" dirty="0"/>
              <a:t>in flight</a:t>
            </a:r>
            <a:endParaRPr lang="ko-KR" altLang="en-US" sz="1400" dirty="0"/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DB04CA07-D5D5-4F56-BCAC-787886390217}"/>
              </a:ext>
            </a:extLst>
          </p:cNvPr>
          <p:cNvSpPr/>
          <p:nvPr/>
        </p:nvSpPr>
        <p:spPr>
          <a:xfrm>
            <a:off x="2495305" y="4924202"/>
            <a:ext cx="161661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Airport Service</a:t>
            </a:r>
            <a:endParaRPr lang="ko-KR" altLang="en-US" sz="1400" dirty="0"/>
          </a:p>
        </p:txBody>
      </p: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86CF4860-FD2E-488A-81E1-FA9B661C2446}"/>
              </a:ext>
            </a:extLst>
          </p:cNvPr>
          <p:cNvCxnSpPr>
            <a:cxnSpLocks/>
            <a:stCxn id="220" idx="1"/>
            <a:endCxn id="237" idx="6"/>
          </p:cNvCxnSpPr>
          <p:nvPr/>
        </p:nvCxnSpPr>
        <p:spPr>
          <a:xfrm flipH="1" flipV="1">
            <a:off x="1791426" y="3165917"/>
            <a:ext cx="686168" cy="1773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5FA0A7F3-12F4-46E0-9761-13372E7AE4FA}"/>
              </a:ext>
            </a:extLst>
          </p:cNvPr>
          <p:cNvCxnSpPr>
            <a:cxnSpLocks/>
            <a:stCxn id="220" idx="2"/>
            <a:endCxn id="241" idx="6"/>
          </p:cNvCxnSpPr>
          <p:nvPr/>
        </p:nvCxnSpPr>
        <p:spPr>
          <a:xfrm flipH="1">
            <a:off x="1807476" y="3536378"/>
            <a:ext cx="417039" cy="203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9FE07B2B-9858-488B-8B6F-26C820F53269}"/>
              </a:ext>
            </a:extLst>
          </p:cNvPr>
          <p:cNvCxnSpPr>
            <a:cxnSpLocks/>
            <a:stCxn id="220" idx="3"/>
            <a:endCxn id="245" idx="7"/>
          </p:cNvCxnSpPr>
          <p:nvPr/>
        </p:nvCxnSpPr>
        <p:spPr>
          <a:xfrm flipH="1">
            <a:off x="1700936" y="3729459"/>
            <a:ext cx="776658" cy="434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직선 연결선 234">
            <a:extLst>
              <a:ext uri="{FF2B5EF4-FFF2-40B4-BE49-F238E27FC236}">
                <a16:creationId xmlns:a16="http://schemas.microsoft.com/office/drawing/2014/main" id="{BF3296BB-21C5-4542-ACEC-7984365B0159}"/>
              </a:ext>
            </a:extLst>
          </p:cNvPr>
          <p:cNvCxnSpPr>
            <a:cxnSpLocks/>
            <a:stCxn id="220" idx="4"/>
            <a:endCxn id="248" idx="0"/>
          </p:cNvCxnSpPr>
          <p:nvPr/>
        </p:nvCxnSpPr>
        <p:spPr>
          <a:xfrm flipH="1">
            <a:off x="3012291" y="3809436"/>
            <a:ext cx="76290" cy="379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7" name="타원 236">
            <a:extLst>
              <a:ext uri="{FF2B5EF4-FFF2-40B4-BE49-F238E27FC236}">
                <a16:creationId xmlns:a16="http://schemas.microsoft.com/office/drawing/2014/main" id="{F0209866-A293-472E-B000-487DD9AC7B65}"/>
              </a:ext>
            </a:extLst>
          </p:cNvPr>
          <p:cNvSpPr/>
          <p:nvPr/>
        </p:nvSpPr>
        <p:spPr>
          <a:xfrm>
            <a:off x="317150" y="2943608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Duty-free goods</a:t>
            </a:r>
            <a:endParaRPr lang="ko-KR" altLang="en-US" sz="1400" dirty="0"/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FA5C329D-7420-4CC0-9625-3D1489A8166D}"/>
              </a:ext>
            </a:extLst>
          </p:cNvPr>
          <p:cNvSpPr/>
          <p:nvPr/>
        </p:nvSpPr>
        <p:spPr>
          <a:xfrm>
            <a:off x="333200" y="3517248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Airline food</a:t>
            </a:r>
            <a:endParaRPr lang="ko-KR" altLang="en-US" sz="1400" dirty="0"/>
          </a:p>
        </p:txBody>
      </p:sp>
      <p:sp>
        <p:nvSpPr>
          <p:cNvPr id="245" name="타원 244">
            <a:extLst>
              <a:ext uri="{FF2B5EF4-FFF2-40B4-BE49-F238E27FC236}">
                <a16:creationId xmlns:a16="http://schemas.microsoft.com/office/drawing/2014/main" id="{3F2601FE-8CEB-4952-9153-51873BFD8C0A}"/>
              </a:ext>
            </a:extLst>
          </p:cNvPr>
          <p:cNvSpPr/>
          <p:nvPr/>
        </p:nvSpPr>
        <p:spPr>
          <a:xfrm>
            <a:off x="442563" y="4098543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Event</a:t>
            </a:r>
            <a:endParaRPr lang="ko-KR" altLang="en-US" sz="1400" dirty="0"/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1A799712-9803-454C-934C-BC1E6FEFF19E}"/>
              </a:ext>
            </a:extLst>
          </p:cNvPr>
          <p:cNvSpPr/>
          <p:nvPr/>
        </p:nvSpPr>
        <p:spPr>
          <a:xfrm>
            <a:off x="2275153" y="4188941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WiFi</a:t>
            </a:r>
            <a:endParaRPr lang="en-US" altLang="ko-KR" sz="1400" dirty="0"/>
          </a:p>
          <a:p>
            <a:pPr algn="ctr"/>
            <a:r>
              <a:rPr lang="en-US" altLang="ko-KR" sz="1400" dirty="0"/>
              <a:t>in flight</a:t>
            </a:r>
            <a:endParaRPr lang="ko-KR" altLang="en-US" sz="1400" dirty="0"/>
          </a:p>
        </p:txBody>
      </p: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323D460F-453D-47E2-BD11-A64DED12D2D7}"/>
              </a:ext>
            </a:extLst>
          </p:cNvPr>
          <p:cNvCxnSpPr>
            <a:cxnSpLocks/>
            <a:stCxn id="224" idx="1"/>
            <a:endCxn id="261" idx="6"/>
          </p:cNvCxnSpPr>
          <p:nvPr/>
        </p:nvCxnSpPr>
        <p:spPr>
          <a:xfrm flipH="1" flipV="1">
            <a:off x="1633667" y="4987779"/>
            <a:ext cx="1098385" cy="15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타원 260">
            <a:extLst>
              <a:ext uri="{FF2B5EF4-FFF2-40B4-BE49-F238E27FC236}">
                <a16:creationId xmlns:a16="http://schemas.microsoft.com/office/drawing/2014/main" id="{FA99EDA5-418A-4A68-A517-44D50E9A5840}"/>
              </a:ext>
            </a:extLst>
          </p:cNvPr>
          <p:cNvSpPr/>
          <p:nvPr/>
        </p:nvSpPr>
        <p:spPr>
          <a:xfrm>
            <a:off x="159391" y="4765470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Check-In</a:t>
            </a:r>
            <a:endParaRPr lang="ko-KR" altLang="en-US" sz="1400" dirty="0"/>
          </a:p>
        </p:txBody>
      </p:sp>
      <p:sp>
        <p:nvSpPr>
          <p:cNvPr id="264" name="타원 263">
            <a:extLst>
              <a:ext uri="{FF2B5EF4-FFF2-40B4-BE49-F238E27FC236}">
                <a16:creationId xmlns:a16="http://schemas.microsoft.com/office/drawing/2014/main" id="{7CBAB4DA-0614-4CE9-9680-5AB23BE931A0}"/>
              </a:ext>
            </a:extLst>
          </p:cNvPr>
          <p:cNvSpPr/>
          <p:nvPr/>
        </p:nvSpPr>
        <p:spPr>
          <a:xfrm>
            <a:off x="159391" y="5398736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Hottel</a:t>
            </a:r>
            <a:endParaRPr lang="ko-KR" altLang="en-US" sz="1400" dirty="0"/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AF35453B-B6A0-4AFA-A29F-148D899A277C}"/>
              </a:ext>
            </a:extLst>
          </p:cNvPr>
          <p:cNvCxnSpPr>
            <a:stCxn id="224" idx="2"/>
            <a:endCxn id="264" idx="0"/>
          </p:cNvCxnSpPr>
          <p:nvPr/>
        </p:nvCxnSpPr>
        <p:spPr>
          <a:xfrm flipH="1">
            <a:off x="896529" y="5146511"/>
            <a:ext cx="1598776" cy="252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A98708A-4E45-4D7F-B99C-F97348A1926D}"/>
              </a:ext>
            </a:extLst>
          </p:cNvPr>
          <p:cNvCxnSpPr>
            <a:cxnSpLocks/>
            <a:stCxn id="224" idx="3"/>
            <a:endCxn id="271" idx="0"/>
          </p:cNvCxnSpPr>
          <p:nvPr/>
        </p:nvCxnSpPr>
        <p:spPr>
          <a:xfrm flipH="1">
            <a:off x="1168249" y="5303706"/>
            <a:ext cx="1563803" cy="694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69DFE2F5-AE06-4BB9-A610-A335134A0263}"/>
              </a:ext>
            </a:extLst>
          </p:cNvPr>
          <p:cNvSpPr/>
          <p:nvPr/>
        </p:nvSpPr>
        <p:spPr>
          <a:xfrm>
            <a:off x="232714" y="5998125"/>
            <a:ext cx="1871069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Rental Car</a:t>
            </a:r>
            <a:endParaRPr lang="ko-KR" altLang="en-US" sz="1400" dirty="0"/>
          </a:p>
        </p:txBody>
      </p:sp>
      <p:sp>
        <p:nvSpPr>
          <p:cNvPr id="277" name="타원 276">
            <a:extLst>
              <a:ext uri="{FF2B5EF4-FFF2-40B4-BE49-F238E27FC236}">
                <a16:creationId xmlns:a16="http://schemas.microsoft.com/office/drawing/2014/main" id="{BF6F50B2-6CF5-4B6F-9E3E-4614A340EDC0}"/>
              </a:ext>
            </a:extLst>
          </p:cNvPr>
          <p:cNvSpPr/>
          <p:nvPr/>
        </p:nvSpPr>
        <p:spPr>
          <a:xfrm>
            <a:off x="2299674" y="6022148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Shuttle Bus</a:t>
            </a:r>
            <a:endParaRPr lang="ko-KR" altLang="en-US" sz="1400" dirty="0"/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60429FD0-D7D3-4B80-AFE0-925915F42CE9}"/>
              </a:ext>
            </a:extLst>
          </p:cNvPr>
          <p:cNvCxnSpPr>
            <a:cxnSpLocks/>
            <a:stCxn id="224" idx="4"/>
            <a:endCxn id="277" idx="0"/>
          </p:cNvCxnSpPr>
          <p:nvPr/>
        </p:nvCxnSpPr>
        <p:spPr>
          <a:xfrm flipH="1">
            <a:off x="3036812" y="5368819"/>
            <a:ext cx="266799" cy="6533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7ED3C72D-C765-40B0-9529-CED6ECB0ABCC}"/>
              </a:ext>
            </a:extLst>
          </p:cNvPr>
          <p:cNvCxnSpPr>
            <a:cxnSpLocks/>
            <a:stCxn id="71" idx="3"/>
            <a:endCxn id="285" idx="2"/>
          </p:cNvCxnSpPr>
          <p:nvPr/>
        </p:nvCxnSpPr>
        <p:spPr>
          <a:xfrm>
            <a:off x="9296033" y="1637954"/>
            <a:ext cx="1171330" cy="601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타원 284">
            <a:extLst>
              <a:ext uri="{FF2B5EF4-FFF2-40B4-BE49-F238E27FC236}">
                <a16:creationId xmlns:a16="http://schemas.microsoft.com/office/drawing/2014/main" id="{B9798D14-B9D5-4DFC-8590-882DB915849E}"/>
              </a:ext>
            </a:extLst>
          </p:cNvPr>
          <p:cNvSpPr/>
          <p:nvPr/>
        </p:nvSpPr>
        <p:spPr>
          <a:xfrm>
            <a:off x="10467363" y="147576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Manager</a:t>
            </a:r>
            <a:endParaRPr lang="ko-KR" altLang="en-US" sz="14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0B8410E-AB8B-4987-A020-4BF0F019A1CB}"/>
              </a:ext>
            </a:extLst>
          </p:cNvPr>
          <p:cNvSpPr/>
          <p:nvPr/>
        </p:nvSpPr>
        <p:spPr>
          <a:xfrm>
            <a:off x="8013860" y="3827517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Airplane</a:t>
            </a:r>
            <a:endParaRPr lang="ko-KR" altLang="en-US" dirty="0"/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C252431-ED1A-48E4-B749-83FA56118FC1}"/>
              </a:ext>
            </a:extLst>
          </p:cNvPr>
          <p:cNvCxnSpPr>
            <a:cxnSpLocks/>
            <a:stCxn id="41" idx="3"/>
            <a:endCxn id="52" idx="2"/>
          </p:cNvCxnSpPr>
          <p:nvPr/>
        </p:nvCxnSpPr>
        <p:spPr>
          <a:xfrm flipV="1">
            <a:off x="9250362" y="3902439"/>
            <a:ext cx="1012898" cy="203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A138B4F8-C6C9-464A-A613-1389938F56B2}"/>
              </a:ext>
            </a:extLst>
          </p:cNvPr>
          <p:cNvSpPr/>
          <p:nvPr/>
        </p:nvSpPr>
        <p:spPr>
          <a:xfrm>
            <a:off x="10263260" y="3680130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Fligt_No</a:t>
            </a:r>
            <a:endParaRPr lang="ko-KR" altLang="en-US" sz="1400" dirty="0"/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B35E0AB1-C768-485B-8D97-32D0791F7502}"/>
              </a:ext>
            </a:extLst>
          </p:cNvPr>
          <p:cNvCxnSpPr/>
          <p:nvPr/>
        </p:nvCxnSpPr>
        <p:spPr>
          <a:xfrm>
            <a:off x="10603437" y="4004099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496E355-96DF-4D54-8B73-B217472C7139}"/>
              </a:ext>
            </a:extLst>
          </p:cNvPr>
          <p:cNvCxnSpPr>
            <a:cxnSpLocks/>
            <a:stCxn id="41" idx="3"/>
            <a:endCxn id="58" idx="6"/>
          </p:cNvCxnSpPr>
          <p:nvPr/>
        </p:nvCxnSpPr>
        <p:spPr>
          <a:xfrm>
            <a:off x="9250362" y="4105759"/>
            <a:ext cx="2485252" cy="356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81AB43A6-BC94-487D-87A3-74D9229A75C7}"/>
              </a:ext>
            </a:extLst>
          </p:cNvPr>
          <p:cNvSpPr/>
          <p:nvPr/>
        </p:nvSpPr>
        <p:spPr>
          <a:xfrm>
            <a:off x="10263260" y="4239653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B050"/>
                </a:solidFill>
              </a:rPr>
              <a:t>Captain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82" name="다이아몬드 181">
            <a:extLst>
              <a:ext uri="{FF2B5EF4-FFF2-40B4-BE49-F238E27FC236}">
                <a16:creationId xmlns:a16="http://schemas.microsoft.com/office/drawing/2014/main" id="{F5D6114E-1E3D-4C18-AF5D-4D863CFD65C7}"/>
              </a:ext>
            </a:extLst>
          </p:cNvPr>
          <p:cNvSpPr/>
          <p:nvPr/>
        </p:nvSpPr>
        <p:spPr>
          <a:xfrm>
            <a:off x="5975221" y="3734245"/>
            <a:ext cx="1896797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For boarding</a:t>
            </a:r>
            <a:endParaRPr lang="ko-KR" altLang="en-US" sz="1400" dirty="0"/>
          </a:p>
        </p:txBody>
      </p:sp>
      <p:cxnSp>
        <p:nvCxnSpPr>
          <p:cNvPr id="253" name="직선 연결선 252">
            <a:extLst>
              <a:ext uri="{FF2B5EF4-FFF2-40B4-BE49-F238E27FC236}">
                <a16:creationId xmlns:a16="http://schemas.microsoft.com/office/drawing/2014/main" id="{4580D5FF-20A7-431F-AEE0-59727B779CFE}"/>
              </a:ext>
            </a:extLst>
          </p:cNvPr>
          <p:cNvCxnSpPr>
            <a:stCxn id="182" idx="3"/>
            <a:endCxn id="41" idx="1"/>
          </p:cNvCxnSpPr>
          <p:nvPr/>
        </p:nvCxnSpPr>
        <p:spPr>
          <a:xfrm flipV="1">
            <a:off x="7872018" y="4105759"/>
            <a:ext cx="141842" cy="1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818C21DC-12C3-4D60-9990-E89A468863AD}"/>
              </a:ext>
            </a:extLst>
          </p:cNvPr>
          <p:cNvCxnSpPr>
            <a:stCxn id="182" idx="2"/>
            <a:endCxn id="137" idx="0"/>
          </p:cNvCxnSpPr>
          <p:nvPr/>
        </p:nvCxnSpPr>
        <p:spPr>
          <a:xfrm>
            <a:off x="6923620" y="4480866"/>
            <a:ext cx="3798" cy="3874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직선 연결선 286">
            <a:extLst>
              <a:ext uri="{FF2B5EF4-FFF2-40B4-BE49-F238E27FC236}">
                <a16:creationId xmlns:a16="http://schemas.microsoft.com/office/drawing/2014/main" id="{F078396E-75A7-4D25-9932-BC38658078C5}"/>
              </a:ext>
            </a:extLst>
          </p:cNvPr>
          <p:cNvCxnSpPr>
            <a:cxnSpLocks/>
            <a:stCxn id="41" idx="2"/>
            <a:endCxn id="288" idx="0"/>
          </p:cNvCxnSpPr>
          <p:nvPr/>
        </p:nvCxnSpPr>
        <p:spPr>
          <a:xfrm>
            <a:off x="8632111" y="4384000"/>
            <a:ext cx="1064584" cy="2832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타원 287">
            <a:extLst>
              <a:ext uri="{FF2B5EF4-FFF2-40B4-BE49-F238E27FC236}">
                <a16:creationId xmlns:a16="http://schemas.microsoft.com/office/drawing/2014/main" id="{EA372FCD-02AB-4B4E-9476-5DF91663D321}"/>
              </a:ext>
            </a:extLst>
          </p:cNvPr>
          <p:cNvSpPr/>
          <p:nvPr/>
        </p:nvSpPr>
        <p:spPr>
          <a:xfrm>
            <a:off x="8960518" y="4667283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B050"/>
                </a:solidFill>
              </a:rPr>
              <a:t>Attendant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C627CC1-BC50-4FE6-BF43-7235A7949AB4}"/>
              </a:ext>
            </a:extLst>
          </p:cNvPr>
          <p:cNvGrpSpPr/>
          <p:nvPr/>
        </p:nvGrpSpPr>
        <p:grpSpPr>
          <a:xfrm>
            <a:off x="6055105" y="1273684"/>
            <a:ext cx="1825648" cy="746621"/>
            <a:chOff x="6055105" y="1273684"/>
            <a:chExt cx="1825648" cy="746621"/>
          </a:xfrm>
        </p:grpSpPr>
        <p:sp>
          <p:nvSpPr>
            <p:cNvPr id="61" name="다이아몬드 60">
              <a:extLst>
                <a:ext uri="{FF2B5EF4-FFF2-40B4-BE49-F238E27FC236}">
                  <a16:creationId xmlns:a16="http://schemas.microsoft.com/office/drawing/2014/main" id="{3E0E353D-192C-48E0-A139-7876EDF0CEFE}"/>
                </a:ext>
              </a:extLst>
            </p:cNvPr>
            <p:cNvSpPr/>
            <p:nvPr/>
          </p:nvSpPr>
          <p:spPr>
            <a:xfrm>
              <a:off x="6055105" y="1273684"/>
              <a:ext cx="1825648" cy="746621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BA2324-732E-4500-9A33-E8A2892703AC}"/>
                </a:ext>
              </a:extLst>
            </p:cNvPr>
            <p:cNvSpPr txBox="1"/>
            <p:nvPr/>
          </p:nvSpPr>
          <p:spPr>
            <a:xfrm>
              <a:off x="6079645" y="1484065"/>
              <a:ext cx="17073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Recruitment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39197316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내용 개체 틀 3"/>
          <p:cNvSpPr>
            <a:spLocks noGrp="1"/>
          </p:cNvSpPr>
          <p:nvPr>
            <p:ph idx="1"/>
          </p:nvPr>
        </p:nvSpPr>
        <p:spPr>
          <a:xfrm>
            <a:off x="27993" y="26128"/>
            <a:ext cx="1959833" cy="522512"/>
          </a:xfrm>
          <a:prstGeom prst="roundRect">
            <a:avLst>
              <a:gd name="adj" fmla="val 10000"/>
            </a:avLst>
          </a:prstGeom>
          <a:solidFill>
            <a:schemeClr val="accent1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rgbClr r="0" g="0" b="0"/>
          </a:fontRef>
        </p:style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ko-KR" sz="2400">
                <a:solidFill>
                  <a:schemeClr val="bg2"/>
                </a:solidFill>
              </a:rPr>
              <a:t>E-R Diagram</a:t>
            </a:r>
            <a:endParaRPr lang="ko-KR" altLang="en-US" sz="2400">
              <a:solidFill>
                <a:schemeClr val="bg2"/>
              </a:solidFill>
            </a:endParaRPr>
          </a:p>
        </p:txBody>
      </p:sp>
      <p:cxnSp>
        <p:nvCxnSpPr>
          <p:cNvPr id="210" name="직선 연결선 209"/>
          <p:cNvCxnSpPr/>
          <p:nvPr/>
        </p:nvCxnSpPr>
        <p:spPr>
          <a:xfrm flipH="1">
            <a:off x="8472338" y="1698073"/>
            <a:ext cx="144212" cy="1409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7796149" y="1607890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타원 3"/>
          <p:cNvSpPr/>
          <p:nvPr/>
        </p:nvSpPr>
        <p:spPr>
          <a:xfrm>
            <a:off x="885037" y="415257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공항이름</a:t>
            </a:r>
            <a:endParaRPr lang="ko-KR" altLang="en-US" sz="1400"/>
          </a:p>
        </p:txBody>
      </p:sp>
      <p:sp>
        <p:nvSpPr>
          <p:cNvPr id="5" name="다이아몬드 4"/>
          <p:cNvSpPr/>
          <p:nvPr/>
        </p:nvSpPr>
        <p:spPr>
          <a:xfrm>
            <a:off x="2795368" y="1278523"/>
            <a:ext cx="1575208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입주</a:t>
            </a:r>
            <a:endParaRPr lang="ko-KR" altLang="en-US" sz="1400"/>
          </a:p>
        </p:txBody>
      </p:sp>
      <p:sp>
        <p:nvSpPr>
          <p:cNvPr id="6" name="직사각형 5"/>
          <p:cNvSpPr/>
          <p:nvPr/>
        </p:nvSpPr>
        <p:spPr>
          <a:xfrm>
            <a:off x="1703175" y="1420173"/>
            <a:ext cx="917895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공항</a:t>
            </a:r>
            <a:endParaRPr lang="ko-KR" altLang="en-US"/>
          </a:p>
        </p:txBody>
      </p:sp>
      <p:cxnSp>
        <p:nvCxnSpPr>
          <p:cNvPr id="8" name="직선 연결선 7"/>
          <p:cNvCxnSpPr>
            <a:stCxn id="4" idx="4"/>
            <a:endCxn id="6" idx="0"/>
          </p:cNvCxnSpPr>
          <p:nvPr/>
        </p:nvCxnSpPr>
        <p:spPr>
          <a:xfrm>
            <a:off x="1692478" y="859874"/>
            <a:ext cx="469645" cy="560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159391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전화번호</a:t>
            </a:r>
            <a:endParaRPr lang="ko-KR" altLang="en-US" sz="1400"/>
          </a:p>
        </p:txBody>
      </p:sp>
      <p:cxnSp>
        <p:nvCxnSpPr>
          <p:cNvPr id="17" name="직선 연결선 16"/>
          <p:cNvCxnSpPr>
            <a:stCxn id="6" idx="1"/>
            <a:endCxn id="12" idx="0"/>
          </p:cNvCxnSpPr>
          <p:nvPr/>
        </p:nvCxnSpPr>
        <p:spPr>
          <a:xfrm flipH="1">
            <a:off x="1023457" y="1642482"/>
            <a:ext cx="679718" cy="731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1964422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소속</a:t>
            </a:r>
            <a:endParaRPr lang="ko-KR" altLang="en-US" sz="1400"/>
          </a:p>
        </p:txBody>
      </p:sp>
      <p:cxnSp>
        <p:nvCxnSpPr>
          <p:cNvPr id="22" name="직선 연결선 21"/>
          <p:cNvCxnSpPr>
            <a:stCxn id="6" idx="2"/>
            <a:endCxn id="20" idx="0"/>
          </p:cNvCxnSpPr>
          <p:nvPr/>
        </p:nvCxnSpPr>
        <p:spPr>
          <a:xfrm>
            <a:off x="2162123" y="1864790"/>
            <a:ext cx="666365" cy="509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6" idx="3"/>
            <a:endCxn id="5" idx="1"/>
          </p:cNvCxnSpPr>
          <p:nvPr/>
        </p:nvCxnSpPr>
        <p:spPr>
          <a:xfrm>
            <a:off x="2621070" y="1642482"/>
            <a:ext cx="174298" cy="9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4306073" y="1629159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306073" y="1689280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4661832" y="1283428"/>
            <a:ext cx="1033244" cy="687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티웨이 항공사</a:t>
            </a:r>
            <a:endParaRPr lang="ko-KR" altLang="en-US"/>
          </a:p>
        </p:txBody>
      </p:sp>
      <p:cxnSp>
        <p:nvCxnSpPr>
          <p:cNvPr id="38" name="직선 연결선 37"/>
          <p:cNvCxnSpPr/>
          <p:nvPr/>
        </p:nvCxnSpPr>
        <p:spPr>
          <a:xfrm>
            <a:off x="1179701" y="742911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28" idx="0"/>
            <a:endCxn id="42" idx="4"/>
          </p:cNvCxnSpPr>
          <p:nvPr/>
        </p:nvCxnSpPr>
        <p:spPr>
          <a:xfrm flipH="1" flipV="1">
            <a:off x="3913463" y="859874"/>
            <a:ext cx="1264991" cy="423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3036812" y="415257"/>
            <a:ext cx="175330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공항이름</a:t>
            </a:r>
            <a:endParaRPr lang="ko-KR" altLang="en-US" sz="1400">
              <a:solidFill>
                <a:srgbClr val="00b050"/>
              </a:solidFill>
            </a:endParaRPr>
          </a:p>
        </p:txBody>
      </p:sp>
      <p:cxnSp>
        <p:nvCxnSpPr>
          <p:cNvPr id="48" name="직선 연결선 47"/>
          <p:cNvCxnSpPr>
            <a:stCxn id="28" idx="0"/>
            <a:endCxn id="50" idx="4"/>
          </p:cNvCxnSpPr>
          <p:nvPr/>
        </p:nvCxnSpPr>
        <p:spPr>
          <a:xfrm flipV="1">
            <a:off x="5178454" y="739632"/>
            <a:ext cx="526671" cy="543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5044142" y="295015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경영자</a:t>
            </a:r>
            <a:endParaRPr lang="ko-KR" altLang="en-US" sz="1400"/>
          </a:p>
        </p:txBody>
      </p:sp>
      <p:sp>
        <p:nvSpPr>
          <p:cNvPr id="57" name="직사각형 56"/>
          <p:cNvSpPr/>
          <p:nvPr/>
        </p:nvSpPr>
        <p:spPr>
          <a:xfrm>
            <a:off x="4397453" y="934309"/>
            <a:ext cx="1624495" cy="1245765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rgbClr val="ff0000"/>
                </a:solidFill>
              </a:rPr>
              <a:t>설계 </a:t>
            </a:r>
            <a:r>
              <a:rPr lang="en-US" altLang="ko-KR">
                <a:solidFill>
                  <a:srgbClr val="ff0000"/>
                </a:solidFill>
              </a:rPr>
              <a:t>Business</a:t>
            </a:r>
            <a:endParaRPr lang="en-US" altLang="ko-KR">
              <a:solidFill>
                <a:srgbClr val="ff0000"/>
              </a:solidFill>
            </a:endParaRPr>
          </a:p>
          <a:p>
            <a:pPr algn="ctr">
              <a:defRPr/>
            </a:pPr>
            <a:endParaRPr lang="en-US" altLang="ko-KR">
              <a:solidFill>
                <a:srgbClr val="ff0000"/>
              </a:solidFill>
            </a:endParaRPr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ko-KR" altLang="en-US"/>
          </a:p>
        </p:txBody>
      </p:sp>
      <p:cxnSp>
        <p:nvCxnSpPr>
          <p:cNvPr id="59" name="직선 연결선 58"/>
          <p:cNvCxnSpPr>
            <a:stCxn id="28" idx="3"/>
            <a:endCxn id="61" idx="1"/>
          </p:cNvCxnSpPr>
          <p:nvPr/>
        </p:nvCxnSpPr>
        <p:spPr>
          <a:xfrm>
            <a:off x="5695076" y="1627377"/>
            <a:ext cx="473627" cy="19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다이아몬드 60"/>
          <p:cNvSpPr/>
          <p:nvPr/>
        </p:nvSpPr>
        <p:spPr>
          <a:xfrm>
            <a:off x="6168703" y="1273684"/>
            <a:ext cx="1712050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채용</a:t>
            </a:r>
            <a:endParaRPr lang="ko-KR" altLang="en-US" sz="1400"/>
          </a:p>
        </p:txBody>
      </p:sp>
      <p:cxnSp>
        <p:nvCxnSpPr>
          <p:cNvPr id="69" name="직선 연결선 68"/>
          <p:cNvCxnSpPr/>
          <p:nvPr/>
        </p:nvCxnSpPr>
        <p:spPr>
          <a:xfrm>
            <a:off x="7811529" y="1673604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8059531" y="1415645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직원</a:t>
            </a:r>
            <a:endParaRPr lang="ko-KR" altLang="en-US"/>
          </a:p>
        </p:txBody>
      </p:sp>
      <p:cxnSp>
        <p:nvCxnSpPr>
          <p:cNvPr id="76" name="직선 연결선 75"/>
          <p:cNvCxnSpPr>
            <a:stCxn id="71" idx="0"/>
            <a:endCxn id="78" idx="4"/>
          </p:cNvCxnSpPr>
          <p:nvPr/>
        </p:nvCxnSpPr>
        <p:spPr>
          <a:xfrm flipH="1" flipV="1">
            <a:off x="7367408" y="924188"/>
            <a:ext cx="1310374" cy="491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6647830" y="479571"/>
            <a:ext cx="14391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직원 번호</a:t>
            </a:r>
            <a:endParaRPr lang="ko-KR" altLang="en-US" sz="1400"/>
          </a:p>
        </p:txBody>
      </p:sp>
      <p:cxnSp>
        <p:nvCxnSpPr>
          <p:cNvPr id="80" name="직선 연결선 79"/>
          <p:cNvCxnSpPr/>
          <p:nvPr/>
        </p:nvCxnSpPr>
        <p:spPr>
          <a:xfrm>
            <a:off x="7024728" y="831454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71" idx="0"/>
            <a:endCxn id="84" idx="4"/>
          </p:cNvCxnSpPr>
          <p:nvPr/>
        </p:nvCxnSpPr>
        <p:spPr>
          <a:xfrm flipV="1">
            <a:off x="8677782" y="931181"/>
            <a:ext cx="207026" cy="4844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타원 83"/>
          <p:cNvSpPr/>
          <p:nvPr/>
        </p:nvSpPr>
        <p:spPr>
          <a:xfrm>
            <a:off x="8223825" y="48656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급여</a:t>
            </a:r>
            <a:endParaRPr lang="ko-KR" altLang="en-US" sz="1400"/>
          </a:p>
        </p:txBody>
      </p:sp>
      <p:cxnSp>
        <p:nvCxnSpPr>
          <p:cNvPr id="87" name="직선 연결선 86"/>
          <p:cNvCxnSpPr>
            <a:stCxn id="71" idx="3"/>
            <a:endCxn id="89" idx="4"/>
          </p:cNvCxnSpPr>
          <p:nvPr/>
        </p:nvCxnSpPr>
        <p:spPr>
          <a:xfrm flipV="1">
            <a:off x="9296033" y="1040236"/>
            <a:ext cx="1214411" cy="5977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타원 88"/>
          <p:cNvSpPr/>
          <p:nvPr/>
        </p:nvSpPr>
        <p:spPr>
          <a:xfrm>
            <a:off x="9849461" y="59561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직책</a:t>
            </a:r>
            <a:endParaRPr lang="ko-KR" altLang="en-US" sz="1400"/>
          </a:p>
        </p:txBody>
      </p:sp>
      <p:cxnSp>
        <p:nvCxnSpPr>
          <p:cNvPr id="95" name="직선 연결선 94"/>
          <p:cNvCxnSpPr/>
          <p:nvPr/>
        </p:nvCxnSpPr>
        <p:spPr>
          <a:xfrm>
            <a:off x="5304000" y="637565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/>
          <p:cNvCxnSpPr>
            <a:stCxn id="71" idx="2"/>
            <a:endCxn id="99" idx="0"/>
          </p:cNvCxnSpPr>
          <p:nvPr/>
        </p:nvCxnSpPr>
        <p:spPr>
          <a:xfrm flipH="1">
            <a:off x="8560903" y="1860262"/>
            <a:ext cx="116879" cy="953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다이아몬드 98"/>
          <p:cNvSpPr/>
          <p:nvPr/>
        </p:nvSpPr>
        <p:spPr>
          <a:xfrm>
            <a:off x="7609516" y="2814027"/>
            <a:ext cx="1902774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근무 형태</a:t>
            </a:r>
            <a:endParaRPr lang="ko-KR" altLang="en-US" sz="1400"/>
          </a:p>
        </p:txBody>
      </p:sp>
      <p:cxnSp>
        <p:nvCxnSpPr>
          <p:cNvPr id="104" name="직선 연결선 103"/>
          <p:cNvCxnSpPr>
            <a:stCxn id="99" idx="3"/>
            <a:endCxn id="113" idx="1"/>
          </p:cNvCxnSpPr>
          <p:nvPr/>
        </p:nvCxnSpPr>
        <p:spPr>
          <a:xfrm>
            <a:off x="9512290" y="3187338"/>
            <a:ext cx="250645" cy="68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직선 연결선 104"/>
          <p:cNvCxnSpPr>
            <a:stCxn id="99" idx="2"/>
            <a:endCxn id="41" idx="0"/>
          </p:cNvCxnSpPr>
          <p:nvPr/>
        </p:nvCxnSpPr>
        <p:spPr>
          <a:xfrm>
            <a:off x="8560903" y="3560648"/>
            <a:ext cx="71208" cy="2668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직선 연결선 107"/>
          <p:cNvCxnSpPr>
            <a:stCxn id="99" idx="1"/>
            <a:endCxn id="147" idx="3"/>
          </p:cNvCxnSpPr>
          <p:nvPr/>
        </p:nvCxnSpPr>
        <p:spPr>
          <a:xfrm flipH="1" flipV="1">
            <a:off x="7025312" y="2952525"/>
            <a:ext cx="584204" cy="2348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9762935" y="3033208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소비자</a:t>
            </a:r>
            <a:endParaRPr lang="ko-KR" altLang="en-US"/>
          </a:p>
        </p:txBody>
      </p:sp>
      <p:grpSp>
        <p:nvGrpSpPr>
          <p:cNvPr id="129" name="그룹 128"/>
          <p:cNvGrpSpPr/>
          <p:nvPr/>
        </p:nvGrpSpPr>
        <p:grpSpPr>
          <a:xfrm rot="0">
            <a:off x="8844994" y="2240793"/>
            <a:ext cx="1536192" cy="444617"/>
            <a:chOff x="9413889" y="2615453"/>
            <a:chExt cx="1536192" cy="444617"/>
          </a:xfrm>
        </p:grpSpPr>
        <p:sp>
          <p:nvSpPr>
            <p:cNvPr id="123" name="타원 122"/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여권 번호</a:t>
              </a:r>
              <a:endParaRPr lang="ko-KR" altLang="en-US" sz="1400"/>
            </a:p>
          </p:txBody>
        </p:sp>
        <p:cxnSp>
          <p:nvCxnSpPr>
            <p:cNvPr id="124" name="직선 연결선 123"/>
            <p:cNvCxnSpPr/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7" name="직선 연결선 126"/>
          <p:cNvCxnSpPr>
            <a:stCxn id="123" idx="4"/>
            <a:endCxn id="113" idx="0"/>
          </p:cNvCxnSpPr>
          <p:nvPr/>
        </p:nvCxnSpPr>
        <p:spPr>
          <a:xfrm>
            <a:off x="9613090" y="2685410"/>
            <a:ext cx="768096" cy="347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/>
          <p:cNvCxnSpPr>
            <a:stCxn id="113" idx="0"/>
            <a:endCxn id="133" idx="4"/>
          </p:cNvCxnSpPr>
          <p:nvPr/>
        </p:nvCxnSpPr>
        <p:spPr>
          <a:xfrm flipV="1">
            <a:off x="10381186" y="2701371"/>
            <a:ext cx="777362" cy="331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타원 132"/>
          <p:cNvSpPr/>
          <p:nvPr/>
        </p:nvSpPr>
        <p:spPr>
          <a:xfrm>
            <a:off x="10497565" y="225675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성별</a:t>
            </a:r>
            <a:endParaRPr lang="ko-KR" altLang="en-US" sz="1400"/>
          </a:p>
        </p:txBody>
      </p:sp>
      <p:cxnSp>
        <p:nvCxnSpPr>
          <p:cNvPr id="141" name="직선 연결선 140"/>
          <p:cNvCxnSpPr>
            <a:stCxn id="113" idx="3"/>
            <a:endCxn id="143" idx="2"/>
          </p:cNvCxnSpPr>
          <p:nvPr/>
        </p:nvCxnSpPr>
        <p:spPr>
          <a:xfrm>
            <a:off x="10999437" y="3255517"/>
            <a:ext cx="2085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타원 142"/>
          <p:cNvSpPr/>
          <p:nvPr/>
        </p:nvSpPr>
        <p:spPr>
          <a:xfrm>
            <a:off x="11208016" y="3033208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ID</a:t>
            </a:r>
            <a:endParaRPr lang="ko-KR" altLang="en-US" sz="1400"/>
          </a:p>
        </p:txBody>
      </p:sp>
      <p:sp>
        <p:nvSpPr>
          <p:cNvPr id="147" name="직사각형 146"/>
          <p:cNvSpPr/>
          <p:nvPr/>
        </p:nvSpPr>
        <p:spPr>
          <a:xfrm>
            <a:off x="5788810" y="2674283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서비스</a:t>
            </a:r>
            <a:endParaRPr lang="ko-KR" altLang="en-US"/>
          </a:p>
        </p:txBody>
      </p:sp>
      <p:cxnSp>
        <p:nvCxnSpPr>
          <p:cNvPr id="157" name="직선 연결선 156"/>
          <p:cNvCxnSpPr>
            <a:stCxn id="137" idx="2"/>
            <a:endCxn id="185" idx="0"/>
          </p:cNvCxnSpPr>
          <p:nvPr/>
        </p:nvCxnSpPr>
        <p:spPr>
          <a:xfrm flipH="1">
            <a:off x="6271531" y="5424751"/>
            <a:ext cx="655887" cy="5684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6309167" y="4868268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항공권</a:t>
            </a:r>
            <a:endParaRPr lang="ko-KR" altLang="en-US"/>
          </a:p>
        </p:txBody>
      </p:sp>
      <p:cxnSp>
        <p:nvCxnSpPr>
          <p:cNvPr id="151" name="직선 연결선 150"/>
          <p:cNvCxnSpPr>
            <a:stCxn id="137" idx="3"/>
            <a:endCxn id="165" idx="2"/>
          </p:cNvCxnSpPr>
          <p:nvPr/>
        </p:nvCxnSpPr>
        <p:spPr>
          <a:xfrm>
            <a:off x="7545669" y="5146510"/>
            <a:ext cx="1644232" cy="2572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/>
          <p:cNvCxnSpPr>
            <a:stCxn id="137" idx="2"/>
            <a:endCxn id="168" idx="2"/>
          </p:cNvCxnSpPr>
          <p:nvPr/>
        </p:nvCxnSpPr>
        <p:spPr>
          <a:xfrm>
            <a:off x="6927418" y="5424751"/>
            <a:ext cx="2139857" cy="6289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직선 연결선 154"/>
          <p:cNvCxnSpPr>
            <a:stCxn id="137" idx="2"/>
            <a:endCxn id="172" idx="0"/>
          </p:cNvCxnSpPr>
          <p:nvPr/>
        </p:nvCxnSpPr>
        <p:spPr>
          <a:xfrm>
            <a:off x="6927418" y="5424751"/>
            <a:ext cx="1013470" cy="843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/>
          <p:cNvCxnSpPr>
            <a:stCxn id="137" idx="1"/>
            <a:endCxn id="188" idx="0"/>
          </p:cNvCxnSpPr>
          <p:nvPr/>
        </p:nvCxnSpPr>
        <p:spPr>
          <a:xfrm flipH="1">
            <a:off x="4869245" y="5146510"/>
            <a:ext cx="1439922" cy="749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 160"/>
          <p:cNvCxnSpPr>
            <a:stCxn id="137" idx="1"/>
            <a:endCxn id="195" idx="6"/>
          </p:cNvCxnSpPr>
          <p:nvPr/>
        </p:nvCxnSpPr>
        <p:spPr>
          <a:xfrm flipH="1" flipV="1">
            <a:off x="5386995" y="4578012"/>
            <a:ext cx="922172" cy="5684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연결선 162"/>
          <p:cNvCxnSpPr>
            <a:stCxn id="137" idx="1"/>
            <a:endCxn id="192" idx="6"/>
          </p:cNvCxnSpPr>
          <p:nvPr/>
        </p:nvCxnSpPr>
        <p:spPr>
          <a:xfrm flipH="1">
            <a:off x="5528715" y="5146510"/>
            <a:ext cx="780452" cy="1240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타원 164"/>
          <p:cNvSpPr/>
          <p:nvPr/>
        </p:nvSpPr>
        <p:spPr>
          <a:xfrm>
            <a:off x="9189901" y="5181454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도착지</a:t>
            </a:r>
            <a:endParaRPr lang="ko-KR" altLang="en-US" sz="1400"/>
          </a:p>
        </p:txBody>
      </p:sp>
      <p:sp>
        <p:nvSpPr>
          <p:cNvPr id="168" name="타원 167"/>
          <p:cNvSpPr/>
          <p:nvPr/>
        </p:nvSpPr>
        <p:spPr>
          <a:xfrm>
            <a:off x="9067275" y="5831393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출발지</a:t>
            </a:r>
            <a:endParaRPr lang="ko-KR" altLang="en-US" sz="1400"/>
          </a:p>
        </p:txBody>
      </p:sp>
      <p:sp>
        <p:nvSpPr>
          <p:cNvPr id="172" name="타원 171"/>
          <p:cNvSpPr/>
          <p:nvPr/>
        </p:nvSpPr>
        <p:spPr>
          <a:xfrm>
            <a:off x="7133312" y="6268470"/>
            <a:ext cx="161515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항공기 번호</a:t>
            </a:r>
            <a:endParaRPr lang="ko-KR" altLang="en-US" sz="1400">
              <a:solidFill>
                <a:srgbClr val="00b050"/>
              </a:solidFill>
            </a:endParaRPr>
          </a:p>
        </p:txBody>
      </p:sp>
      <p:sp>
        <p:nvSpPr>
          <p:cNvPr id="185" name="타원 184"/>
          <p:cNvSpPr/>
          <p:nvPr/>
        </p:nvSpPr>
        <p:spPr>
          <a:xfrm>
            <a:off x="5556720" y="5993205"/>
            <a:ext cx="142962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예약 번호</a:t>
            </a:r>
            <a:endParaRPr lang="ko-KR" altLang="en-US" sz="1400"/>
          </a:p>
        </p:txBody>
      </p:sp>
      <p:sp>
        <p:nvSpPr>
          <p:cNvPr id="188" name="타원 187"/>
          <p:cNvSpPr/>
          <p:nvPr/>
        </p:nvSpPr>
        <p:spPr>
          <a:xfrm>
            <a:off x="4181770" y="5896059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좌석 번호</a:t>
            </a:r>
            <a:endParaRPr lang="ko-KR" altLang="en-US" sz="1400"/>
          </a:p>
        </p:txBody>
      </p:sp>
      <p:sp>
        <p:nvSpPr>
          <p:cNvPr id="192" name="타원 191"/>
          <p:cNvSpPr/>
          <p:nvPr/>
        </p:nvSpPr>
        <p:spPr>
          <a:xfrm>
            <a:off x="4176459" y="5048278"/>
            <a:ext cx="135225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좌석 등급</a:t>
            </a:r>
            <a:endParaRPr lang="ko-KR" altLang="en-US" sz="1400"/>
          </a:p>
        </p:txBody>
      </p:sp>
      <p:sp>
        <p:nvSpPr>
          <p:cNvPr id="195" name="타원 194"/>
          <p:cNvSpPr/>
          <p:nvPr/>
        </p:nvSpPr>
        <p:spPr>
          <a:xfrm>
            <a:off x="4601775" y="4355703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날짜</a:t>
            </a:r>
            <a:endParaRPr lang="ko-KR" altLang="en-US" sz="1400"/>
          </a:p>
        </p:txBody>
      </p:sp>
      <p:cxnSp>
        <p:nvCxnSpPr>
          <p:cNvPr id="214" name="직선 연결선 213"/>
          <p:cNvCxnSpPr/>
          <p:nvPr/>
        </p:nvCxnSpPr>
        <p:spPr>
          <a:xfrm>
            <a:off x="5875531" y="6292342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직선 연결선 215"/>
          <p:cNvCxnSpPr>
            <a:stCxn id="147" idx="1"/>
            <a:endCxn id="220" idx="6"/>
          </p:cNvCxnSpPr>
          <p:nvPr/>
        </p:nvCxnSpPr>
        <p:spPr>
          <a:xfrm flipH="1">
            <a:off x="3952646" y="2952525"/>
            <a:ext cx="1836164" cy="5838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직선 연결선 217"/>
          <p:cNvCxnSpPr>
            <a:stCxn id="147" idx="1"/>
            <a:endCxn id="224" idx="7"/>
          </p:cNvCxnSpPr>
          <p:nvPr/>
        </p:nvCxnSpPr>
        <p:spPr>
          <a:xfrm flipH="1">
            <a:off x="3875169" y="2952525"/>
            <a:ext cx="1913641" cy="20367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0" name="타원 219"/>
          <p:cNvSpPr/>
          <p:nvPr/>
        </p:nvSpPr>
        <p:spPr>
          <a:xfrm>
            <a:off x="2224515" y="3263320"/>
            <a:ext cx="1728131" cy="5461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기내서비스</a:t>
            </a:r>
            <a:endParaRPr lang="ko-KR" altLang="en-US" sz="1400"/>
          </a:p>
        </p:txBody>
      </p:sp>
      <p:sp>
        <p:nvSpPr>
          <p:cNvPr id="224" name="타원 223"/>
          <p:cNvSpPr/>
          <p:nvPr/>
        </p:nvSpPr>
        <p:spPr>
          <a:xfrm>
            <a:off x="2495305" y="4924202"/>
            <a:ext cx="161661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공항서비스</a:t>
            </a:r>
            <a:endParaRPr lang="ko-KR" altLang="en-US" sz="1400"/>
          </a:p>
        </p:txBody>
      </p:sp>
      <p:cxnSp>
        <p:nvCxnSpPr>
          <p:cNvPr id="229" name="직선 연결선 228"/>
          <p:cNvCxnSpPr>
            <a:stCxn id="220" idx="1"/>
            <a:endCxn id="237" idx="6"/>
          </p:cNvCxnSpPr>
          <p:nvPr/>
        </p:nvCxnSpPr>
        <p:spPr>
          <a:xfrm flipH="1" flipV="1">
            <a:off x="1791426" y="3165917"/>
            <a:ext cx="686168" cy="1773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직선 연결선 230"/>
          <p:cNvCxnSpPr>
            <a:stCxn id="220" idx="2"/>
            <a:endCxn id="241" idx="6"/>
          </p:cNvCxnSpPr>
          <p:nvPr/>
        </p:nvCxnSpPr>
        <p:spPr>
          <a:xfrm flipH="1">
            <a:off x="1807476" y="3536378"/>
            <a:ext cx="417039" cy="203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직선 연결선 232"/>
          <p:cNvCxnSpPr>
            <a:stCxn id="220" idx="3"/>
            <a:endCxn id="245" idx="7"/>
          </p:cNvCxnSpPr>
          <p:nvPr/>
        </p:nvCxnSpPr>
        <p:spPr>
          <a:xfrm flipH="1">
            <a:off x="1700936" y="3729459"/>
            <a:ext cx="776658" cy="434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직선 연결선 234"/>
          <p:cNvCxnSpPr>
            <a:stCxn id="220" idx="4"/>
            <a:endCxn id="248" idx="0"/>
          </p:cNvCxnSpPr>
          <p:nvPr/>
        </p:nvCxnSpPr>
        <p:spPr>
          <a:xfrm flipH="1">
            <a:off x="3012291" y="3809436"/>
            <a:ext cx="76290" cy="379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7" name="타원 236"/>
          <p:cNvSpPr/>
          <p:nvPr/>
        </p:nvSpPr>
        <p:spPr>
          <a:xfrm>
            <a:off x="317150" y="2943608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면세품</a:t>
            </a:r>
            <a:endParaRPr lang="ko-KR" altLang="en-US" sz="1400"/>
          </a:p>
        </p:txBody>
      </p:sp>
      <p:sp>
        <p:nvSpPr>
          <p:cNvPr id="241" name="타원 240"/>
          <p:cNvSpPr/>
          <p:nvPr/>
        </p:nvSpPr>
        <p:spPr>
          <a:xfrm>
            <a:off x="333200" y="3517248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기내식</a:t>
            </a:r>
            <a:endParaRPr lang="ko-KR" altLang="en-US" sz="1400"/>
          </a:p>
        </p:txBody>
      </p:sp>
      <p:sp>
        <p:nvSpPr>
          <p:cNvPr id="245" name="타원 244"/>
          <p:cNvSpPr/>
          <p:nvPr/>
        </p:nvSpPr>
        <p:spPr>
          <a:xfrm>
            <a:off x="442563" y="4098543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이벤트</a:t>
            </a:r>
            <a:endParaRPr lang="ko-KR" altLang="en-US" sz="1400"/>
          </a:p>
        </p:txBody>
      </p:sp>
      <p:sp>
        <p:nvSpPr>
          <p:cNvPr id="248" name="타원 247"/>
          <p:cNvSpPr/>
          <p:nvPr/>
        </p:nvSpPr>
        <p:spPr>
          <a:xfrm>
            <a:off x="2275153" y="4188941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기내 </a:t>
            </a:r>
            <a:r>
              <a:rPr lang="en-US" altLang="ko-KR" sz="1400"/>
              <a:t>Wi-Fi</a:t>
            </a:r>
            <a:endParaRPr lang="ko-KR" altLang="en-US" sz="1400"/>
          </a:p>
        </p:txBody>
      </p:sp>
      <p:cxnSp>
        <p:nvCxnSpPr>
          <p:cNvPr id="259" name="직선 연결선 258"/>
          <p:cNvCxnSpPr>
            <a:stCxn id="224" idx="1"/>
            <a:endCxn id="261" idx="6"/>
          </p:cNvCxnSpPr>
          <p:nvPr/>
        </p:nvCxnSpPr>
        <p:spPr>
          <a:xfrm flipH="1" flipV="1">
            <a:off x="1633667" y="4987779"/>
            <a:ext cx="1098385" cy="15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타원 260"/>
          <p:cNvSpPr/>
          <p:nvPr/>
        </p:nvSpPr>
        <p:spPr>
          <a:xfrm>
            <a:off x="159391" y="4765470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체크인</a:t>
            </a:r>
            <a:endParaRPr lang="ko-KR" altLang="en-US" sz="1400"/>
          </a:p>
        </p:txBody>
      </p:sp>
      <p:sp>
        <p:nvSpPr>
          <p:cNvPr id="264" name="타원 263"/>
          <p:cNvSpPr/>
          <p:nvPr/>
        </p:nvSpPr>
        <p:spPr>
          <a:xfrm>
            <a:off x="159391" y="5398736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호텔</a:t>
            </a:r>
            <a:endParaRPr lang="ko-KR" altLang="en-US" sz="1400"/>
          </a:p>
        </p:txBody>
      </p:sp>
      <p:cxnSp>
        <p:nvCxnSpPr>
          <p:cNvPr id="266" name="직선 연결선 265"/>
          <p:cNvCxnSpPr>
            <a:stCxn id="224" idx="2"/>
            <a:endCxn id="264" idx="0"/>
          </p:cNvCxnSpPr>
          <p:nvPr/>
        </p:nvCxnSpPr>
        <p:spPr>
          <a:xfrm flipH="1">
            <a:off x="896529" y="5146511"/>
            <a:ext cx="1598776" cy="252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9" name="직선 연결선 268"/>
          <p:cNvCxnSpPr>
            <a:stCxn id="224" idx="3"/>
            <a:endCxn id="271" idx="0"/>
          </p:cNvCxnSpPr>
          <p:nvPr/>
        </p:nvCxnSpPr>
        <p:spPr>
          <a:xfrm flipH="1">
            <a:off x="1168249" y="5303706"/>
            <a:ext cx="1563803" cy="694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1" name="타원 270"/>
          <p:cNvSpPr/>
          <p:nvPr/>
        </p:nvSpPr>
        <p:spPr>
          <a:xfrm>
            <a:off x="232714" y="5998125"/>
            <a:ext cx="1871069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렌터카</a:t>
            </a:r>
            <a:endParaRPr lang="ko-KR" altLang="en-US" sz="1400"/>
          </a:p>
        </p:txBody>
      </p:sp>
      <p:sp>
        <p:nvSpPr>
          <p:cNvPr id="277" name="타원 276"/>
          <p:cNvSpPr/>
          <p:nvPr/>
        </p:nvSpPr>
        <p:spPr>
          <a:xfrm>
            <a:off x="2299674" y="6022148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셔틀버스</a:t>
            </a:r>
            <a:endParaRPr lang="ko-KR" altLang="en-US" sz="1400"/>
          </a:p>
        </p:txBody>
      </p:sp>
      <p:cxnSp>
        <p:nvCxnSpPr>
          <p:cNvPr id="279" name="직선 연결선 278"/>
          <p:cNvCxnSpPr>
            <a:stCxn id="224" idx="4"/>
            <a:endCxn id="277" idx="0"/>
          </p:cNvCxnSpPr>
          <p:nvPr/>
        </p:nvCxnSpPr>
        <p:spPr>
          <a:xfrm flipH="1">
            <a:off x="3036812" y="5368819"/>
            <a:ext cx="266799" cy="6533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직선 연결선 282"/>
          <p:cNvCxnSpPr>
            <a:stCxn id="71" idx="3"/>
            <a:endCxn id="285" idx="2"/>
          </p:cNvCxnSpPr>
          <p:nvPr/>
        </p:nvCxnSpPr>
        <p:spPr>
          <a:xfrm>
            <a:off x="9296033" y="1637953"/>
            <a:ext cx="1209430" cy="31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타원 284"/>
          <p:cNvSpPr/>
          <p:nvPr/>
        </p:nvSpPr>
        <p:spPr>
          <a:xfrm>
            <a:off x="10505463" y="144718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관리자</a:t>
            </a:r>
            <a:endParaRPr lang="ko-KR" altLang="en-US" sz="1400"/>
          </a:p>
        </p:txBody>
      </p:sp>
      <p:sp>
        <p:nvSpPr>
          <p:cNvPr id="41" name="직사각형 40"/>
          <p:cNvSpPr/>
          <p:nvPr/>
        </p:nvSpPr>
        <p:spPr>
          <a:xfrm>
            <a:off x="8013860" y="3827517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항공기</a:t>
            </a:r>
            <a:endParaRPr lang="ko-KR" altLang="en-US"/>
          </a:p>
        </p:txBody>
      </p:sp>
      <p:cxnSp>
        <p:nvCxnSpPr>
          <p:cNvPr id="47" name="직선 연결선 46"/>
          <p:cNvCxnSpPr>
            <a:stCxn id="41" idx="3"/>
            <a:endCxn id="52" idx="2"/>
          </p:cNvCxnSpPr>
          <p:nvPr/>
        </p:nvCxnSpPr>
        <p:spPr>
          <a:xfrm flipV="1">
            <a:off x="9250362" y="3902439"/>
            <a:ext cx="1012898" cy="203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타원 51"/>
          <p:cNvSpPr/>
          <p:nvPr/>
        </p:nvSpPr>
        <p:spPr>
          <a:xfrm>
            <a:off x="10263260" y="3680130"/>
            <a:ext cx="159554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항공기 번호</a:t>
            </a:r>
            <a:endParaRPr lang="ko-KR" altLang="en-US" sz="1400"/>
          </a:p>
        </p:txBody>
      </p:sp>
      <p:cxnSp>
        <p:nvCxnSpPr>
          <p:cNvPr id="128" name="직선 연결선 127"/>
          <p:cNvCxnSpPr/>
          <p:nvPr/>
        </p:nvCxnSpPr>
        <p:spPr>
          <a:xfrm>
            <a:off x="10603437" y="4004099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/>
          <p:cNvCxnSpPr>
            <a:stCxn id="41" idx="3"/>
            <a:endCxn id="58" idx="6"/>
          </p:cNvCxnSpPr>
          <p:nvPr/>
        </p:nvCxnSpPr>
        <p:spPr>
          <a:xfrm>
            <a:off x="9250362" y="4105759"/>
            <a:ext cx="2485252" cy="356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타원 57"/>
          <p:cNvSpPr/>
          <p:nvPr/>
        </p:nvSpPr>
        <p:spPr>
          <a:xfrm>
            <a:off x="10263260" y="4239653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기장</a:t>
            </a:r>
            <a:endParaRPr lang="ko-KR" altLang="en-US" sz="1400">
              <a:solidFill>
                <a:srgbClr val="00b050"/>
              </a:solidFill>
            </a:endParaRPr>
          </a:p>
        </p:txBody>
      </p:sp>
      <p:sp>
        <p:nvSpPr>
          <p:cNvPr id="182" name="다이아몬드 181"/>
          <p:cNvSpPr/>
          <p:nvPr/>
        </p:nvSpPr>
        <p:spPr>
          <a:xfrm>
            <a:off x="5975221" y="3734245"/>
            <a:ext cx="1896797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For Boarding</a:t>
            </a:r>
            <a:endParaRPr lang="ko-KR" altLang="en-US" sz="1400"/>
          </a:p>
        </p:txBody>
      </p:sp>
      <p:cxnSp>
        <p:nvCxnSpPr>
          <p:cNvPr id="253" name="직선 연결선 252"/>
          <p:cNvCxnSpPr>
            <a:stCxn id="182" idx="3"/>
            <a:endCxn id="41" idx="1"/>
          </p:cNvCxnSpPr>
          <p:nvPr/>
        </p:nvCxnSpPr>
        <p:spPr>
          <a:xfrm flipV="1">
            <a:off x="7872018" y="4105759"/>
            <a:ext cx="141842" cy="1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직선 연결선 254"/>
          <p:cNvCxnSpPr>
            <a:stCxn id="182" idx="2"/>
            <a:endCxn id="137" idx="0"/>
          </p:cNvCxnSpPr>
          <p:nvPr/>
        </p:nvCxnSpPr>
        <p:spPr>
          <a:xfrm>
            <a:off x="6923620" y="4480866"/>
            <a:ext cx="3798" cy="3874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직선 연결선 286"/>
          <p:cNvCxnSpPr>
            <a:stCxn id="41" idx="2"/>
            <a:endCxn id="288" idx="0"/>
          </p:cNvCxnSpPr>
          <p:nvPr/>
        </p:nvCxnSpPr>
        <p:spPr>
          <a:xfrm>
            <a:off x="8632111" y="4384000"/>
            <a:ext cx="1064584" cy="2832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타원 287"/>
          <p:cNvSpPr/>
          <p:nvPr/>
        </p:nvSpPr>
        <p:spPr>
          <a:xfrm>
            <a:off x="8960518" y="4667283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승무원</a:t>
            </a:r>
            <a:endParaRPr lang="ko-KR" altLang="en-US" sz="1400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082F40-06E5-4F52-A814-37C63824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ko-KR" altLang="en-US" sz="7200" dirty="0"/>
              <a:t>감사합니다</a:t>
            </a:r>
            <a:r>
              <a:rPr lang="en-US" altLang="ko-KR" sz="7200" dirty="0"/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03603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544</ep:Words>
  <ep:PresentationFormat>와이드스크린</ep:PresentationFormat>
  <ep:Paragraphs>157</ep:Paragraphs>
  <ep:Slides>18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AccentBoxVTI</vt:lpstr>
      <vt:lpstr>T-Way 항공서비스 DB</vt:lpstr>
      <vt:lpstr>INDEX</vt:lpstr>
      <vt:lpstr>주제 선정</vt:lpstr>
      <vt:lpstr>업무 선정 과정</vt:lpstr>
      <vt:lpstr>항공 서비스를 구현한 데이터베이스 설계 (T-Way Airline)</vt:lpstr>
      <vt:lpstr>요구사항 명세</vt:lpstr>
      <vt:lpstr>데이터 요구사항</vt:lpstr>
      <vt:lpstr>데이터 요구사항</vt:lpstr>
      <vt:lpstr>기능 요구사항</vt:lpstr>
      <vt:lpstr>개념적 관계 데이터 베이스 설계</vt:lpstr>
      <vt:lpstr>T-Way 항공사 System 분석</vt:lpstr>
      <vt:lpstr>T-Way 항공사 보유 기체 분석</vt:lpstr>
      <vt:lpstr>Entity Type</vt:lpstr>
      <vt:lpstr>복합 애트리뷰트</vt:lpstr>
      <vt:lpstr>ER 다이어그램</vt:lpstr>
      <vt:lpstr>슬라이드 16</vt:lpstr>
      <vt:lpstr>슬라이드 17</vt:lpstr>
      <vt:lpstr>감사합니다.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2020-11-04T15:12:07.000</dcterms:created>
  <dc:creator>류연동(2014110015)</dc:creator>
  <cp:lastModifiedBy>tnsgh</cp:lastModifiedBy>
  <dcterms:modified xsi:type="dcterms:W3CDTF">2020-11-09T13:35:55.148</dcterms:modified>
  <cp:revision>75</cp:revision>
  <dc:title>db</dc:title>
  <cp:version/>
</cp:coreProperties>
</file>