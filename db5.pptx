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9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38" y="240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presProps" Target="presProps.xml"  /><Relationship Id="rId21" Type="http://schemas.openxmlformats.org/officeDocument/2006/relationships/viewProps" Target="viewProps.xml"  /><Relationship Id="rId22" Type="http://schemas.openxmlformats.org/officeDocument/2006/relationships/theme" Target="theme/theme1.xml"  /><Relationship Id="rId23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65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8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6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4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2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8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7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11/10/2020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0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9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2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8300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2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83" r:id="rId6"/>
    <p:sldLayoutId id="2147483979" r:id="rId7"/>
    <p:sldLayoutId id="2147483980" r:id="rId8"/>
    <p:sldLayoutId id="2147483981" r:id="rId9"/>
    <p:sldLayoutId id="2147483982" r:id="rId10"/>
    <p:sldLayoutId id="21474839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Relationship Id="rId3" Type="http://schemas.openxmlformats.org/officeDocument/2006/relationships/image" Target="../media/image10.sv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Relationship Id="rId3" Type="http://schemas.openxmlformats.org/officeDocument/2006/relationships/image" Target="../media/image12.sv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Relationship Id="rId3" Type="http://schemas.openxmlformats.org/officeDocument/2006/relationships/image" Target="../media/image17.sv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58" name="Rectangle 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62" name="Rectangle 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Picture 3" descr="실외이(가) 표시된 사진  자동 생성된 설명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41249" y="941832"/>
            <a:ext cx="10506456" cy="1438396"/>
          </a:xfrm>
          <a:ln w="6350">
            <a:solidFill>
              <a:schemeClr val="bg1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vert="horz" lIns="91440" tIns="45720" rIns="91440" bIns="45720" anchor="b">
            <a:normAutofit/>
          </a:bodyPr>
          <a:lstStyle/>
          <a:p>
            <a:pPr algn="ctr">
              <a:defRPr/>
            </a:pPr>
            <a:r>
              <a:rPr lang="en-US" altLang="ko-KR" sz="5000" dirty="0">
                <a:ln w="3175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schemeClr val="bg1">
                      <a:alpha val="40000"/>
                    </a:schemeClr>
                  </a:outerShdw>
                </a:effectLst>
              </a:rPr>
              <a:t>T-Way </a:t>
            </a:r>
            <a:r>
              <a:rPr lang="ko-KR" altLang="en-US" sz="5000" dirty="0">
                <a:ln w="3175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schemeClr val="bg1">
                      <a:alpha val="40000"/>
                    </a:schemeClr>
                  </a:outerShdw>
                </a:effectLst>
              </a:rPr>
              <a:t>항공서비스 </a:t>
            </a:r>
            <a:r>
              <a:rPr lang="en-US" altLang="ko-KR" sz="5000" dirty="0">
                <a:ln w="3175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schemeClr val="bg1">
                      <a:alpha val="40000"/>
                    </a:schemeClr>
                  </a:outerShdw>
                </a:effectLst>
              </a:rPr>
              <a:t>DB </a:t>
            </a:r>
            <a:r>
              <a:rPr lang="ko-KR" altLang="en-US" sz="5000" dirty="0">
                <a:ln w="3175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schemeClr val="bg1">
                      <a:alpha val="40000"/>
                    </a:schemeClr>
                  </a:outerShdw>
                </a:effectLst>
              </a:rPr>
              <a:t>설계</a:t>
            </a:r>
            <a:endParaRPr lang="en-US" altLang="ko-KR" sz="5000" dirty="0">
              <a:ln w="31750">
                <a:solidFill>
                  <a:schemeClr val="bg1"/>
                </a:solidFill>
              </a:ln>
              <a:effectLst>
                <a:outerShdw blurRad="50800" dist="38100" dir="8100000" algn="tr" rotWithShape="0">
                  <a:schemeClr val="bg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Rectangle 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076660" y="3919296"/>
            <a:ext cx="4748993" cy="2920406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>
            <a:normAutofit fontScale="92500"/>
          </a:bodyPr>
          <a:lstStyle/>
          <a:p>
            <a:pPr marL="114300" algn="ctr">
              <a:lnSpc>
                <a:spcPct val="100000"/>
              </a:lnSpc>
              <a:defRPr/>
            </a:pPr>
            <a:r>
              <a:rPr lang="en-US" altLang="ko-KR" sz="2200" b="1"/>
              <a:t>2</a:t>
            </a:r>
            <a:r>
              <a:rPr lang="ko-KR" altLang="en-US" sz="2200" b="1"/>
              <a:t>조</a:t>
            </a:r>
          </a:p>
          <a:p>
            <a:pPr marL="342900" indent="-228600" algn="r">
              <a:lnSpc>
                <a:spcPct val="100000"/>
              </a:lnSpc>
              <a:buFont typeface="Arial"/>
              <a:buChar char="•"/>
              <a:defRPr/>
            </a:pPr>
            <a:r>
              <a:rPr lang="ko-KR" altLang="en-US" sz="2200" b="1"/>
              <a:t>조장  </a:t>
            </a:r>
            <a:r>
              <a:rPr lang="en-US" altLang="ko-KR" sz="2200" b="1"/>
              <a:t>:  </a:t>
            </a: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권순호</a:t>
            </a:r>
            <a:r>
              <a:rPr lang="en-US" altLang="ko-KR" sz="2200" b="1"/>
              <a:t> </a:t>
            </a:r>
          </a:p>
          <a:p>
            <a:pPr marL="342900" indent="-228600" algn="r">
              <a:lnSpc>
                <a:spcPct val="100000"/>
              </a:lnSpc>
              <a:buFont typeface="Arial"/>
              <a:buChar char="•"/>
              <a:defRPr/>
            </a:pPr>
            <a:r>
              <a:rPr lang="ko-KR" altLang="en-US" sz="2200" b="1"/>
              <a:t>조원  </a:t>
            </a:r>
            <a:r>
              <a:rPr lang="en-US" altLang="ko-KR" sz="2200" b="1"/>
              <a:t>:       </a:t>
            </a:r>
            <a:r>
              <a:rPr lang="ko-KR" altLang="en-US" sz="2200" b="1"/>
              <a:t>기계공학과    </a:t>
            </a:r>
            <a:r>
              <a:rPr lang="en-US" altLang="ko-KR" sz="2200" b="1"/>
              <a:t>3</a:t>
            </a:r>
            <a:r>
              <a:rPr lang="ko-KR" altLang="en-US" sz="2200" b="1"/>
              <a:t>학년</a:t>
            </a:r>
            <a:r>
              <a:rPr lang="en-US" altLang="ko-KR" sz="2200" b="1"/>
              <a:t> </a:t>
            </a:r>
            <a:r>
              <a:rPr lang="ko-KR" altLang="en-US" sz="2200" b="1"/>
              <a:t>류연동</a:t>
            </a:r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배준일</a:t>
            </a:r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유승주</a:t>
            </a:r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정우영</a:t>
            </a:r>
          </a:p>
          <a:p>
            <a:pPr indent="-228600"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  <a:p>
            <a:pPr marL="342900" indent="-228600"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  <a:p>
            <a:pPr indent="-228600"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84826" y="5371462"/>
            <a:ext cx="2619299" cy="148662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ko-KR" dirty="0"/>
              <a:t>CONTENTS</a:t>
            </a:r>
          </a:p>
        </p:txBody>
      </p:sp>
      <p:sp>
        <p:nvSpPr>
          <p:cNvPr id="29" name="Rect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838200" y="1928074"/>
            <a:ext cx="10515600" cy="4353906"/>
            <a:chOff x="838200" y="1928074"/>
            <a:chExt cx="10515600" cy="4353906"/>
          </a:xfrm>
        </p:grpSpPr>
        <p:sp>
          <p:nvSpPr>
            <p:cNvPr id="33" name="사각형: 둥근 모서리 32"/>
            <p:cNvSpPr/>
            <p:nvPr/>
          </p:nvSpPr>
          <p:spPr>
            <a:xfrm>
              <a:off x="838200" y="2052101"/>
              <a:ext cx="10515600" cy="916611"/>
            </a:xfrm>
            <a:prstGeom prst="roundRect">
              <a:avLst>
                <a:gd name="adj" fmla="val 10000"/>
              </a:avLst>
            </a:prstGeom>
            <a:solidFill>
              <a:srgbClr val="7030A0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34" name="직사각형 33"/>
            <p:cNvSpPr/>
            <p:nvPr/>
          </p:nvSpPr>
          <p:spPr>
            <a:xfrm>
              <a:off x="1115475" y="2134312"/>
              <a:ext cx="504136" cy="504136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 w="12700" cap="flat" cmpd="sng" algn="ctr">
              <a:noFill/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35" name="직사각형 34"/>
            <p:cNvSpPr/>
            <p:nvPr/>
          </p:nvSpPr>
          <p:spPr>
            <a:xfrm>
              <a:off x="1896886" y="1928074"/>
              <a:ext cx="9456913" cy="91661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36" name="TextBox 35"/>
            <p:cNvSpPr txBox="1"/>
            <p:nvPr/>
          </p:nvSpPr>
          <p:spPr>
            <a:xfrm>
              <a:off x="1890791" y="2046844"/>
              <a:ext cx="9456913" cy="916611"/>
            </a:xfrm>
            <a:prstGeom prst="rect">
              <a:avLst/>
            </a:prstGeom>
            <a:effectLst>
              <a:outerShdw blurRad="50800" dist="50800" dir="5400000" algn="ctr" rotWithShape="0">
                <a:schemeClr val="tx2">
                  <a:lumMod val="90000"/>
                  <a:lumOff val="10000"/>
                </a:schemeClr>
              </a:outerShdw>
            </a:effectLst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97008" tIns="97008" rIns="97008" bIns="97008" anchor="ctr" anchorCtr="0">
              <a:noAutofit/>
            </a:bodyPr>
            <a:lstStyle/>
            <a:p>
              <a:pPr lvl="0" indent="0" defTabSz="97789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r>
                <a:rPr 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1. </a:t>
              </a:r>
              <a:r>
                <a:rPr lang="ko-KR" alt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주제 선정</a:t>
              </a:r>
              <a:endParaRPr lang="en-US" sz="32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18900000" algn="b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" name="사각형: 둥근 모서리 36"/>
            <p:cNvSpPr/>
            <p:nvPr/>
          </p:nvSpPr>
          <p:spPr>
            <a:xfrm>
              <a:off x="838200" y="3073839"/>
              <a:ext cx="10515600" cy="916611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hueOff val="0"/>
                <a:satOff val="0"/>
                <a:lumOff val="0"/>
                <a:alphaOff val="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38" name="직사각형 37"/>
            <p:cNvSpPr/>
            <p:nvPr/>
          </p:nvSpPr>
          <p:spPr>
            <a:xfrm>
              <a:off x="1115475" y="3280077"/>
              <a:ext cx="504136" cy="504136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 w="12700" cap="flat" cmpd="sng" algn="ctr">
              <a:noFill/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39" name="직사각형 38"/>
            <p:cNvSpPr/>
            <p:nvPr/>
          </p:nvSpPr>
          <p:spPr>
            <a:xfrm>
              <a:off x="1896886" y="3073839"/>
              <a:ext cx="9456913" cy="91661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40" name="TextBox 39"/>
            <p:cNvSpPr txBox="1"/>
            <p:nvPr/>
          </p:nvSpPr>
          <p:spPr>
            <a:xfrm>
              <a:off x="1896886" y="3073839"/>
              <a:ext cx="9456913" cy="916611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97008" tIns="97008" rIns="97008" bIns="97008" anchor="ctr" anchorCtr="0">
              <a:noAutofit/>
            </a:bodyPr>
            <a:lstStyle/>
            <a:p>
              <a:pPr defTabSz="97789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2. </a:t>
              </a:r>
              <a:r>
                <a:rPr lang="ko-KR" alt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요구사항 명세서</a:t>
              </a:r>
              <a:endParaRPr lang="en-US" sz="32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18900000" algn="b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1" name="사각형: 둥근 모서리 40"/>
            <p:cNvSpPr/>
            <p:nvPr/>
          </p:nvSpPr>
          <p:spPr>
            <a:xfrm>
              <a:off x="838200" y="4227991"/>
              <a:ext cx="10515600" cy="916611"/>
            </a:xfrm>
            <a:prstGeom prst="roundRect">
              <a:avLst>
                <a:gd name="adj" fmla="val 10000"/>
              </a:avLst>
            </a:prstGeom>
            <a:solidFill>
              <a:srgbClr val="0070C0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42" name="직사각형 41"/>
            <p:cNvSpPr/>
            <p:nvPr/>
          </p:nvSpPr>
          <p:spPr>
            <a:xfrm>
              <a:off x="1115475" y="4425842"/>
              <a:ext cx="504136" cy="504136"/>
            </a:xfrm>
            <a:prstGeom prst="rect">
              <a:avLst/>
            </a:prstGeom>
            <a:blipFill rotWithShape="1">
              <a:blip r:embed="rId4"/>
              <a:stretch>
                <a:fillRect/>
              </a:stretch>
            </a:blipFill>
            <a:ln w="12700" cap="flat" cmpd="sng" algn="ctr">
              <a:noFill/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43" name="직사각형 42"/>
            <p:cNvSpPr/>
            <p:nvPr/>
          </p:nvSpPr>
          <p:spPr>
            <a:xfrm>
              <a:off x="1896886" y="4219604"/>
              <a:ext cx="9456913" cy="91661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44" name="TextBox 43"/>
            <p:cNvSpPr txBox="1"/>
            <p:nvPr/>
          </p:nvSpPr>
          <p:spPr>
            <a:xfrm>
              <a:off x="1896886" y="4219604"/>
              <a:ext cx="9456913" cy="916611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97008" tIns="97008" rIns="97008" bIns="97008" anchor="ctr" anchorCtr="0">
              <a:noAutofit/>
            </a:bodyPr>
            <a:lstStyle/>
            <a:p>
              <a:pPr defTabSz="97789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3. </a:t>
              </a:r>
              <a:r>
                <a:rPr lang="en-US" altLang="ko-KR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DB </a:t>
              </a:r>
              <a:r>
                <a:rPr lang="ko-KR" alt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모델 개념적 설계</a:t>
              </a:r>
              <a:endParaRPr lang="en-US" sz="32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18900000" algn="b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5" name="사각형: 둥근 모서리 44"/>
            <p:cNvSpPr/>
            <p:nvPr/>
          </p:nvSpPr>
          <p:spPr>
            <a:xfrm>
              <a:off x="838200" y="5365369"/>
              <a:ext cx="10515600" cy="916611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hueOff val="0"/>
                <a:satOff val="0"/>
                <a:lumOff val="0"/>
                <a:alphaOff val="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46" name="직사각형 45"/>
            <p:cNvSpPr/>
            <p:nvPr/>
          </p:nvSpPr>
          <p:spPr>
            <a:xfrm>
              <a:off x="1115475" y="5571607"/>
              <a:ext cx="504136" cy="504136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 w="12700" cap="flat" cmpd="sng" algn="ctr">
              <a:noFill/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47" name="직사각형 46"/>
            <p:cNvSpPr/>
            <p:nvPr/>
          </p:nvSpPr>
          <p:spPr>
            <a:xfrm>
              <a:off x="1896886" y="5365369"/>
              <a:ext cx="9456913" cy="91661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48" name="TextBox 47"/>
            <p:cNvSpPr txBox="1"/>
            <p:nvPr/>
          </p:nvSpPr>
          <p:spPr>
            <a:xfrm>
              <a:off x="1896886" y="5365369"/>
              <a:ext cx="9456913" cy="916611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97008" tIns="97008" rIns="97008" bIns="97008" anchor="ctr" anchorCtr="0">
              <a:noAutofit/>
            </a:bodyPr>
            <a:lstStyle/>
            <a:p>
              <a:pPr lvl="0" indent="0" defTabSz="97789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r>
                <a:rPr 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4. </a:t>
              </a:r>
              <a:r>
                <a:rPr lang="en-US" altLang="ko-KR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ER </a:t>
              </a:r>
              <a:r>
                <a:rPr lang="ko-KR" alt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다이어그램</a:t>
              </a:r>
              <a:endParaRPr lang="en-US" sz="32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18900000" algn="b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168" y="2444634"/>
            <a:ext cx="3383832" cy="1968732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주제 선정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61A5BA-9035-41D8-9B33-D70AABE3F72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005872" y="1879269"/>
            <a:ext cx="3383832" cy="338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0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업무 선정 과정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4624"/>
            <a:ext cx="1866123" cy="636237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/>
          <a:lstStyle/>
          <a:p>
            <a:pPr marL="0" indent="0">
              <a:buNone/>
              <a:defRPr/>
            </a:pPr>
            <a:r>
              <a:rPr lang="ko-KR" altLang="en-US">
                <a:solidFill>
                  <a:schemeClr val="bg2"/>
                </a:solidFill>
              </a:rPr>
              <a:t> 주제 선정</a:t>
            </a:r>
          </a:p>
        </p:txBody>
      </p:sp>
      <p:pic>
        <p:nvPicPr>
          <p:cNvPr id="6" name="그림 5" descr="텍스트이(가) 표시된 사진  자동 생성된 설명"/>
          <p:cNvPicPr>
            <a:picLocks noChangeAspect="1"/>
          </p:cNvPicPr>
          <p:nvPr/>
        </p:nvPicPr>
        <p:blipFill rotWithShape="1">
          <a:blip r:embed="rId2"/>
          <a:srcRect t="7750"/>
          <a:stretch>
            <a:fillRect/>
          </a:stretch>
        </p:blipFill>
        <p:spPr>
          <a:xfrm>
            <a:off x="8568490" y="957890"/>
            <a:ext cx="2901820" cy="47625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화살표: 오른쪽 6"/>
          <p:cNvSpPr/>
          <p:nvPr/>
        </p:nvSpPr>
        <p:spPr>
          <a:xfrm>
            <a:off x="5261905" y="2659224"/>
            <a:ext cx="1875453" cy="1359564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투표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433" y="2877341"/>
            <a:ext cx="3401905" cy="129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업무 관련 내부적인 논의를 거쳐 모든 의견을 고려하여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투표를 통한 합리적인 업무 선정 </a:t>
            </a:r>
          </a:p>
        </p:txBody>
      </p:sp>
      <p:sp>
        <p:nvSpPr>
          <p:cNvPr id="10" name="화살표: 오른쪽 9"/>
          <p:cNvSpPr/>
          <p:nvPr/>
        </p:nvSpPr>
        <p:spPr>
          <a:xfrm>
            <a:off x="961054" y="5129785"/>
            <a:ext cx="1123779" cy="70953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657448" y="5075083"/>
            <a:ext cx="3777779" cy="129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항공 분야에서도 항공이 고객들에게 제공하는 서비스들을 주제로          선정하게 되었다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/>
            </a:pPr>
            <a:r>
              <a:rPr lang="ko-KR" altLang="en-US"/>
              <a:t>항공 서비스를 구현한 데이터베이스 설계</a:t>
            </a:r>
            <a:br>
              <a:rPr lang="en-US" altLang="ko-KR"/>
            </a:br>
            <a:r>
              <a:rPr lang="en-US" altLang="ko-KR"/>
              <a:t>(T-Way Airline)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1115568" y="2252232"/>
            <a:ext cx="10311497" cy="405712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  <a:defRPr/>
            </a:pPr>
            <a:r>
              <a:rPr lang="ko-KR" altLang="en-US" dirty="0"/>
              <a:t>                    선정 이유</a:t>
            </a:r>
          </a:p>
          <a:p>
            <a:pPr lvl="0">
              <a:lnSpc>
                <a:spcPct val="160000"/>
              </a:lnSpc>
              <a:defRPr/>
            </a:pPr>
            <a:r>
              <a:rPr lang="ko-KR" altLang="en-US" sz="2000" dirty="0"/>
              <a:t>타 후보군에 비해 업무의 분담이 잘 되어있다</a:t>
            </a:r>
            <a:r>
              <a:rPr lang="en-US" altLang="ko-KR" sz="2000" dirty="0"/>
              <a:t>.</a:t>
            </a:r>
          </a:p>
          <a:p>
            <a:pPr lvl="0">
              <a:defRPr/>
            </a:pPr>
            <a:endParaRPr lang="en-US" altLang="ko-KR" sz="2000" dirty="0"/>
          </a:p>
          <a:p>
            <a:pPr lvl="0">
              <a:defRPr/>
            </a:pPr>
            <a:r>
              <a:rPr lang="ko-KR" altLang="en-US" sz="2000" dirty="0"/>
              <a:t>타 업무에 비해 많은 소비자가 예상되어 경쟁력이 높다</a:t>
            </a:r>
            <a:r>
              <a:rPr lang="en-US" altLang="ko-KR" sz="2000" dirty="0"/>
              <a:t>.</a:t>
            </a:r>
          </a:p>
          <a:p>
            <a:pPr lvl="0">
              <a:defRPr/>
            </a:pPr>
            <a:endParaRPr lang="en-US" altLang="ko-KR" sz="2000" dirty="0"/>
          </a:p>
          <a:p>
            <a:pPr lvl="0">
              <a:defRPr/>
            </a:pPr>
            <a:r>
              <a:rPr lang="ko-KR" altLang="en-US" sz="2000" dirty="0"/>
              <a:t>서비스와 소속 공항</a:t>
            </a:r>
            <a:r>
              <a:rPr lang="en-US" altLang="ko-KR" sz="2000" dirty="0"/>
              <a:t>, </a:t>
            </a:r>
            <a:r>
              <a:rPr lang="ko-KR" altLang="en-US" sz="2000" dirty="0"/>
              <a:t>예약의 관리 효율을 위한 경제적인 </a:t>
            </a:r>
            <a:r>
              <a:rPr lang="en-US" altLang="ko-KR" sz="2000" dirty="0"/>
              <a:t>DBMS</a:t>
            </a:r>
            <a:r>
              <a:rPr lang="ko-KR" altLang="en-US" sz="2000" dirty="0"/>
              <a:t>가 요구된다</a:t>
            </a:r>
            <a:r>
              <a:rPr lang="en-US" altLang="ko-KR" sz="2000" dirty="0"/>
              <a:t>.</a:t>
            </a:r>
          </a:p>
          <a:p>
            <a:pPr lvl="0">
              <a:defRPr/>
            </a:pPr>
            <a:endParaRPr lang="en-US" altLang="ko-KR" sz="2000" dirty="0"/>
          </a:p>
          <a:p>
            <a:pPr lvl="0">
              <a:defRPr/>
            </a:pPr>
            <a:r>
              <a:rPr lang="ko-KR" altLang="en-US" sz="2000" dirty="0"/>
              <a:t>실세계를 </a:t>
            </a:r>
            <a:r>
              <a:rPr lang="ko-KR" altLang="en-US" sz="2000" dirty="0" err="1"/>
              <a:t>바탕으로한</a:t>
            </a:r>
            <a:r>
              <a:rPr lang="ko-KR" altLang="en-US" sz="2000" dirty="0"/>
              <a:t> 다양한 서비스들이 존재한다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0" lvl="0" indent="0">
              <a:buNone/>
              <a:defRPr/>
            </a:pPr>
            <a:r>
              <a:rPr lang="en-US" altLang="ko-KR" sz="2000" dirty="0"/>
              <a:t>.</a:t>
            </a:r>
            <a:endParaRPr lang="ko-KR" altLang="en-US" sz="2000" dirty="0"/>
          </a:p>
          <a:p>
            <a:pPr lvl="0">
              <a:defRPr/>
            </a:pPr>
            <a:endParaRPr lang="ko-KR" altLang="en-US" sz="2400" dirty="0"/>
          </a:p>
        </p:txBody>
      </p:sp>
      <p:sp>
        <p:nvSpPr>
          <p:cNvPr id="9" name="내용 개체 틀 3"/>
          <p:cNvSpPr txBox="1"/>
          <p:nvPr/>
        </p:nvSpPr>
        <p:spPr>
          <a:xfrm>
            <a:off x="27993" y="24624"/>
            <a:ext cx="1866123" cy="636237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 vert="horz" lIns="91440" tIns="45720" rIns="91440" bIns="4572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>
                <a:solidFill>
                  <a:schemeClr val="bg2"/>
                </a:solidFill>
              </a:rPr>
              <a:t> 주제 선정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565" y="2205702"/>
            <a:ext cx="3962400" cy="1968732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요구사항 명세</a:t>
            </a:r>
          </a:p>
        </p:txBody>
      </p:sp>
      <p:sp>
        <p:nvSpPr>
          <p:cNvPr id="5" name="직사각형 4" descr="확인 표시">
            <a:extLst>
              <a:ext uri="{FF2B5EF4-FFF2-40B4-BE49-F238E27FC236}">
                <a16:creationId xmlns:a16="http://schemas.microsoft.com/office/drawing/2014/main" id="{86097E7F-79C6-4651-BD73-F42A569CF4EB}"/>
              </a:ext>
            </a:extLst>
          </p:cNvPr>
          <p:cNvSpPr/>
          <p:nvPr/>
        </p:nvSpPr>
        <p:spPr>
          <a:xfrm>
            <a:off x="7699236" y="1771532"/>
            <a:ext cx="2955511" cy="2641442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64159668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데이터 요구사항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 요구사항 명세서</a:t>
            </a:r>
            <a:endParaRPr lang="ko-KR" altLang="en-US" sz="2400">
              <a:solidFill>
                <a:schemeClr val="bg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250" y="2250728"/>
            <a:ext cx="9461500" cy="3386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endParaRPr lang="ko-KR" altLang="en-US"/>
          </a:p>
          <a:p>
            <a:pPr marL="342900" indent="-342900">
              <a:buAutoNum type="arabicPeriod"/>
              <a:defRPr/>
            </a:pPr>
            <a:r>
              <a:rPr lang="en-US" altLang="ko-KR"/>
              <a:t>T-Way </a:t>
            </a:r>
            <a:r>
              <a:rPr lang="ko-KR" altLang="en-US"/>
              <a:t>항공사가 있는 공항은 경영자</a:t>
            </a:r>
            <a:r>
              <a:rPr lang="en-US" altLang="ko-KR"/>
              <a:t>(Director)</a:t>
            </a:r>
            <a:r>
              <a:rPr lang="ko-KR" altLang="en-US"/>
              <a:t>는 각 한 명이 관리한다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각 부서는 한 명의 책임자</a:t>
            </a:r>
            <a:r>
              <a:rPr lang="en-US" altLang="ko-KR"/>
              <a:t>(Manager)</a:t>
            </a:r>
            <a:r>
              <a:rPr lang="ko-KR" altLang="en-US"/>
              <a:t>가 직원 및 서비스를 관리한다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각 공항에 위치한 각각의 </a:t>
            </a:r>
            <a:r>
              <a:rPr lang="en-US" altLang="ko-KR"/>
              <a:t>T-Way </a:t>
            </a:r>
            <a:r>
              <a:rPr lang="ko-KR" altLang="en-US"/>
              <a:t>항공사가 해당하는 전체의 서비스를 관리한다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모든 손님은 손님</a:t>
            </a:r>
            <a:r>
              <a:rPr lang="en-US" altLang="ko-KR"/>
              <a:t>ID</a:t>
            </a:r>
            <a:r>
              <a:rPr lang="ko-KR" altLang="en-US"/>
              <a:t>를 부여하여 식별하며</a:t>
            </a:r>
            <a:r>
              <a:rPr lang="en-US" altLang="ko-KR"/>
              <a:t>,</a:t>
            </a:r>
            <a:r>
              <a:rPr lang="ko-KR" altLang="en-US"/>
              <a:t> 성명</a:t>
            </a:r>
            <a:r>
              <a:rPr lang="en-US" altLang="ko-KR"/>
              <a:t>,</a:t>
            </a:r>
            <a:r>
              <a:rPr lang="ko-KR" altLang="en-US"/>
              <a:t> 여권번호</a:t>
            </a:r>
            <a:r>
              <a:rPr lang="en-US" altLang="ko-KR"/>
              <a:t>,</a:t>
            </a:r>
            <a:r>
              <a:rPr lang="ko-KR" altLang="en-US"/>
              <a:t> 예약번호를 가진다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모든 사원은 사원</a:t>
            </a:r>
            <a:r>
              <a:rPr lang="en-US" altLang="ko-KR"/>
              <a:t>ID</a:t>
            </a:r>
            <a:r>
              <a:rPr lang="ko-KR" altLang="en-US"/>
              <a:t>를 부여하여 식별하며</a:t>
            </a:r>
            <a:r>
              <a:rPr lang="en-US" altLang="ko-KR"/>
              <a:t>,</a:t>
            </a:r>
            <a:r>
              <a:rPr lang="ko-KR" altLang="en-US"/>
              <a:t> 담당 업무</a:t>
            </a:r>
            <a:r>
              <a:rPr lang="en-US" altLang="ko-KR"/>
              <a:t>,</a:t>
            </a:r>
            <a:r>
              <a:rPr lang="ko-KR" altLang="en-US"/>
              <a:t> 성별</a:t>
            </a:r>
            <a:r>
              <a:rPr lang="en-US" altLang="ko-KR"/>
              <a:t>,</a:t>
            </a:r>
            <a:r>
              <a:rPr lang="ko-KR" altLang="en-US"/>
              <a:t> 성명 등을 가진다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모든 예매권은 예매</a:t>
            </a:r>
            <a:r>
              <a:rPr lang="en-US" altLang="ko-KR"/>
              <a:t> ID</a:t>
            </a:r>
            <a:r>
              <a:rPr lang="ko-KR" altLang="en-US"/>
              <a:t>를 부여하여 식별하며</a:t>
            </a:r>
            <a:r>
              <a:rPr lang="en-US" altLang="ko-KR"/>
              <a:t>,</a:t>
            </a:r>
            <a:r>
              <a:rPr lang="ko-KR" altLang="en-US"/>
              <a:t> 담당 업무</a:t>
            </a:r>
            <a:r>
              <a:rPr lang="en-US" altLang="ko-KR"/>
              <a:t>,</a:t>
            </a:r>
            <a:r>
              <a:rPr lang="ko-KR" altLang="en-US"/>
              <a:t> 성별</a:t>
            </a:r>
            <a:r>
              <a:rPr lang="en-US" altLang="ko-KR"/>
              <a:t>,</a:t>
            </a:r>
            <a:r>
              <a:rPr lang="ko-KR" altLang="en-US"/>
              <a:t> 성명</a:t>
            </a:r>
            <a:r>
              <a:rPr lang="en-US" altLang="ko-KR"/>
              <a:t>,</a:t>
            </a:r>
            <a:r>
              <a:rPr lang="ko-KR" altLang="en-US"/>
              <a:t> 직급 등을 가진다</a:t>
            </a:r>
            <a:r>
              <a:rPr lang="en-US" altLang="ko-KR"/>
              <a:t>.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solidFill>
            <a:schemeClr val="lt1"/>
          </a:solidFill>
        </p:spPr>
        <p:txBody>
          <a:bodyPr/>
          <a:lstStyle/>
          <a:p>
            <a:pPr algn="ctr">
              <a:defRPr/>
            </a:pPr>
            <a:r>
              <a:rPr lang="ko-KR" altLang="en-US"/>
              <a:t>데이터 요구사항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 요구사항 명세서</a:t>
            </a:r>
            <a:endParaRPr lang="ko-KR" altLang="en-US" sz="2400">
              <a:solidFill>
                <a:schemeClr val="bg2"/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346200" y="2348441"/>
          <a:ext cx="9499600" cy="38188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499600"/>
              </a:tblGrid>
              <a:tr h="3818890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7. 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모든 면세 상품들은 상품번호를 부여하여 식별하며 상품명과 가격 등을 가진다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8.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모든 기내식은 예약번호를 부여하여 식별하며 예약 날짜와 음식 코드 등을 가진다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9.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다루는 모든 항공기들은 티웨이 항공사에 속해있다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10.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각 항공기는 한 명의 기장을 배치하며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기장에 의해 항공기가 운행되어진다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.</a:t>
                      </a:r>
                      <a:endParaRPr lang="ko-KR" altLang="en-US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기능 요구사항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 요구사항 명세서</a:t>
            </a:r>
          </a:p>
        </p:txBody>
      </p:sp>
      <p:sp>
        <p:nvSpPr>
          <p:cNvPr id="5" name="직사각형 4" descr="확인 표시"/>
          <p:cNvSpPr/>
          <p:nvPr/>
        </p:nvSpPr>
        <p:spPr>
          <a:xfrm>
            <a:off x="5843932" y="3176932"/>
            <a:ext cx="504136" cy="504136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9868" y="2341982"/>
            <a:ext cx="10968712" cy="310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ko-KR" altLang="en-US" dirty="0"/>
              <a:t>각 경영자</a:t>
            </a:r>
            <a:r>
              <a:rPr lang="en-US" altLang="ko-KR" dirty="0"/>
              <a:t>(Director)</a:t>
            </a:r>
            <a:r>
              <a:rPr lang="ko-KR" altLang="en-US" dirty="0"/>
              <a:t>는 소비자의 예약 등 권리를 제외한 모든 권한을 갖을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 marL="342900" indent="-342900">
              <a:buAutoNum type="arabicPeriod"/>
              <a:defRPr/>
            </a:pPr>
            <a:r>
              <a:rPr lang="ko-KR" altLang="en-US" dirty="0"/>
              <a:t>각 부서의 책임자</a:t>
            </a:r>
            <a:r>
              <a:rPr lang="en-US" altLang="ko-KR" dirty="0"/>
              <a:t>(Manager)</a:t>
            </a:r>
            <a:r>
              <a:rPr lang="ko-KR" altLang="en-US" dirty="0"/>
              <a:t>는 부서의 모든 권한을 갖으며 직원의 급여를 조정할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 marL="342900" indent="-342900">
              <a:buAutoNum type="arabicPeriod"/>
              <a:defRPr/>
            </a:pPr>
            <a:r>
              <a:rPr lang="ko-KR" altLang="en-US" dirty="0"/>
              <a:t>각 부서의 직원은 재고관리</a:t>
            </a:r>
            <a:r>
              <a:rPr lang="en-US" altLang="ko-KR" dirty="0"/>
              <a:t>(</a:t>
            </a:r>
            <a:r>
              <a:rPr lang="ko-KR" altLang="en-US" dirty="0"/>
              <a:t>기내식</a:t>
            </a:r>
            <a:r>
              <a:rPr lang="en-US" altLang="ko-KR" dirty="0"/>
              <a:t>)</a:t>
            </a:r>
            <a:r>
              <a:rPr lang="ko-KR" altLang="en-US" dirty="0"/>
              <a:t>를 할 수 있으며</a:t>
            </a:r>
            <a:r>
              <a:rPr lang="en-US" altLang="ko-KR" dirty="0"/>
              <a:t>, </a:t>
            </a:r>
            <a:r>
              <a:rPr lang="ko-KR" altLang="en-US" dirty="0"/>
              <a:t>재고가 있는 경우 소비자로부터 예약 될 수 있다</a:t>
            </a:r>
            <a:r>
              <a:rPr lang="en-US" altLang="ko-KR" dirty="0"/>
              <a:t>.</a:t>
            </a:r>
            <a:r>
              <a:rPr lang="ko-KR" altLang="en-US" dirty="0"/>
              <a:t>      </a:t>
            </a:r>
            <a:endParaRPr lang="en-US" altLang="ko-KR" dirty="0"/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 marL="333000" indent="-333000">
              <a:buAutoNum type="arabicPeriod"/>
              <a:defRPr/>
            </a:pPr>
            <a:r>
              <a:rPr lang="ko-KR" altLang="en-US" dirty="0"/>
              <a:t>소비자는 자신의 예약 정보 및 재고를 확인할 수 있는 권한을 갖는다</a:t>
            </a:r>
            <a:r>
              <a:rPr lang="en-US" altLang="ko-KR" dirty="0"/>
              <a:t>.</a:t>
            </a:r>
          </a:p>
          <a:p>
            <a:pPr marL="333000" indent="-333000">
              <a:buAutoNum type="arabicPeriod"/>
              <a:defRPr/>
            </a:pPr>
            <a:endParaRPr lang="en-US" altLang="ko-KR" dirty="0"/>
          </a:p>
          <a:p>
            <a:pPr marL="333000" indent="-333000">
              <a:buAutoNum type="arabicPeriod"/>
              <a:defRPr/>
            </a:pPr>
            <a:r>
              <a:rPr lang="ko-KR" altLang="en-US" dirty="0"/>
              <a:t>소비자는 원하는 서비스의 정보를 확인하고 선택할 수 있다</a:t>
            </a:r>
            <a:r>
              <a:rPr lang="en-US" altLang="ko-KR" dirty="0"/>
              <a:t>.</a:t>
            </a:r>
          </a:p>
          <a:p>
            <a:pPr marL="333000" indent="-333000">
              <a:buAutoNum type="arabicPeriod"/>
              <a:defRPr/>
            </a:pPr>
            <a:endParaRPr lang="en-US" altLang="ko-KR" dirty="0"/>
          </a:p>
          <a:p>
            <a:pPr marL="333000" indent="-333000">
              <a:buAutoNum type="arabicPeriod"/>
              <a:defRPr/>
            </a:pPr>
            <a:r>
              <a:rPr lang="ko-KR" altLang="en-US" dirty="0"/>
              <a:t>소비자는 추가적인 과정</a:t>
            </a:r>
            <a:r>
              <a:rPr lang="en-US" altLang="ko-KR" dirty="0"/>
              <a:t>(</a:t>
            </a:r>
            <a:r>
              <a:rPr lang="ko-KR" altLang="en-US" dirty="0"/>
              <a:t>예약 변경</a:t>
            </a:r>
            <a:r>
              <a:rPr lang="en-US" altLang="ko-KR" dirty="0"/>
              <a:t>,</a:t>
            </a:r>
            <a:r>
              <a:rPr lang="ko-KR" altLang="en-US" dirty="0"/>
              <a:t> 추가 구매 등</a:t>
            </a:r>
            <a:r>
              <a:rPr lang="en-US" altLang="ko-KR" dirty="0"/>
              <a:t>)</a:t>
            </a:r>
            <a:r>
              <a:rPr lang="ko-KR" altLang="en-US" dirty="0"/>
              <a:t>을 통해 기능을 다시 선택할 수 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653" y="2239305"/>
            <a:ext cx="4949964" cy="1968732"/>
          </a:xfrm>
        </p:spPr>
        <p:txBody>
          <a:bodyPr>
            <a:normAutofit fontScale="90000"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개념적 관계 데이터 베이스 설계</a:t>
            </a:r>
          </a:p>
        </p:txBody>
      </p:sp>
      <p:sp>
        <p:nvSpPr>
          <p:cNvPr id="4" name="직사각형 3" descr="트로피">
            <a:extLst>
              <a:ext uri="{FF2B5EF4-FFF2-40B4-BE49-F238E27FC236}">
                <a16:creationId xmlns:a16="http://schemas.microsoft.com/office/drawing/2014/main" id="{006C6511-889D-438A-9B9C-F4279E2055B6}"/>
              </a:ext>
            </a:extLst>
          </p:cNvPr>
          <p:cNvSpPr/>
          <p:nvPr/>
        </p:nvSpPr>
        <p:spPr>
          <a:xfrm>
            <a:off x="7725739" y="2054086"/>
            <a:ext cx="2306155" cy="2339169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425354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/>
              <a:t>T-Way </a:t>
            </a:r>
            <a:r>
              <a:rPr lang="ko-KR" altLang="en-US"/>
              <a:t>항공사 </a:t>
            </a:r>
            <a:r>
              <a:rPr lang="en-US" altLang="ko-KR"/>
              <a:t>System</a:t>
            </a:r>
            <a:r>
              <a:rPr lang="ko-KR" altLang="en-US"/>
              <a:t> 분석</a:t>
            </a:r>
          </a:p>
        </p:txBody>
      </p:sp>
      <p:sp>
        <p:nvSpPr>
          <p:cNvPr id="6" name="내용 개체 틀 3"/>
          <p:cNvSpPr txBox="1"/>
          <p:nvPr/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 vert="horz" lIns="91440" tIns="45720" rIns="91440" bIns="4572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82154" y="2125296"/>
            <a:ext cx="5130468" cy="5435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해당 항공사는 국내 </a:t>
            </a:r>
            <a:r>
              <a:rPr lang="en-US" altLang="ko-KR"/>
              <a:t>8</a:t>
            </a:r>
            <a:r>
              <a:rPr lang="ko-KR" altLang="en-US"/>
              <a:t>개의 주요 공항에 입주</a:t>
            </a:r>
            <a:r>
              <a:rPr lang="en-US" altLang="ko-KR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항공사는 다양한 서비스를 소비자에게 제공</a:t>
            </a:r>
            <a:r>
              <a:rPr lang="en-US" altLang="ko-KR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티웨이 항공사는 마일리지</a:t>
            </a:r>
            <a:r>
              <a:rPr lang="en-US" altLang="ko-KR"/>
              <a:t>/</a:t>
            </a:r>
            <a:r>
              <a:rPr lang="ko-KR" altLang="en-US"/>
              <a:t>포인트 프로그램 제공을 하지 않는다</a:t>
            </a:r>
            <a:r>
              <a:rPr lang="en-US" altLang="ko-KR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거의 유일하게 결제시한 연장서비스를 제공</a:t>
            </a:r>
            <a:r>
              <a:rPr lang="en-US" altLang="ko-KR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국제선의 도착지가 아시아 쪽에 한정되어있는 대신 저가항공사답게 가격이 저렴</a:t>
            </a:r>
            <a:r>
              <a:rPr lang="en-US" altLang="ko-KR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/>
          </a:p>
        </p:txBody>
      </p:sp>
      <p:pic>
        <p:nvPicPr>
          <p:cNvPr id="4" name="그림 3" descr="테이블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9378" y="1702283"/>
            <a:ext cx="6076868" cy="3427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 descr="테이블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058081" y="3979346"/>
            <a:ext cx="2398165" cy="25743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52578" y="5155717"/>
            <a:ext cx="5130468" cy="45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/>
              <a:t>( T’Way </a:t>
            </a:r>
            <a:r>
              <a:rPr lang="ko-KR" altLang="en-US"/>
              <a:t>항공사 메인 페이지 </a:t>
            </a:r>
            <a:r>
              <a:rPr lang="en-US" altLang="ko-KR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1936" y="450369"/>
            <a:ext cx="10168128" cy="1179576"/>
          </a:xfrm>
        </p:spPr>
        <p:txBody>
          <a:bodyPr/>
          <a:lstStyle/>
          <a:p>
            <a:pPr algn="ctr">
              <a:defRPr/>
            </a:pPr>
            <a:r>
              <a:rPr lang="en-US" altLang="ko-KR"/>
              <a:t>T-Way </a:t>
            </a:r>
            <a:r>
              <a:rPr lang="ko-KR" altLang="en-US"/>
              <a:t>항공사 보유 기체 분석</a:t>
            </a:r>
          </a:p>
        </p:txBody>
      </p:sp>
      <p:sp>
        <p:nvSpPr>
          <p:cNvPr id="6" name="내용 개체 틀 3"/>
          <p:cNvSpPr txBox="1"/>
          <p:nvPr/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 vert="horz" lIns="91440" tIns="45720" rIns="91440" bIns="4572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73262" y="2422055"/>
            <a:ext cx="5130468" cy="283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/>
              <a:t>해당 항공사가 운행 중인 항공기는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/>
              <a:t>BOEING 737 – 800 Series – 24</a:t>
            </a:r>
            <a:r>
              <a:rPr lang="ko-KR" altLang="en-US" dirty="0"/>
              <a:t>대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/>
              <a:t>BOEING 737 – MAX 8 Series – 3</a:t>
            </a:r>
            <a:r>
              <a:rPr lang="ko-KR" altLang="en-US" dirty="0"/>
              <a:t>대</a:t>
            </a: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dirty="0"/>
              <a:t>총 </a:t>
            </a:r>
            <a:r>
              <a:rPr lang="en-US" altLang="ko-KR" dirty="0"/>
              <a:t>27</a:t>
            </a:r>
            <a:r>
              <a:rPr lang="ko-KR" altLang="en-US" dirty="0"/>
              <a:t>대의 항공기를 보유하고 있으며</a:t>
            </a:r>
            <a:r>
              <a:rPr lang="en-US" altLang="ko-KR" dirty="0"/>
              <a:t>,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dirty="0"/>
              <a:t>각 항공기는 </a:t>
            </a:r>
            <a:r>
              <a:rPr lang="ko-KR" altLang="en-US" u="sng" dirty="0"/>
              <a:t>고유한 번호를 부여하여 관리한다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 descr="테이블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06748" y="1539342"/>
            <a:ext cx="3207848" cy="51472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F5C95-6A64-43A5-B446-48FD6EE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Entity Type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470C19-3DC4-497D-A852-7B692D4FD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  <a:endParaRPr lang="ko-KR" altLang="en-US" sz="2400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0974E84-BC1E-40DD-8E42-A3B1426E402D}"/>
              </a:ext>
            </a:extLst>
          </p:cNvPr>
          <p:cNvGrpSpPr/>
          <p:nvPr/>
        </p:nvGrpSpPr>
        <p:grpSpPr>
          <a:xfrm>
            <a:off x="133955" y="1528871"/>
            <a:ext cx="3792541" cy="1702746"/>
            <a:chOff x="159391" y="802063"/>
            <a:chExt cx="3752038" cy="2016639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9F114B0-D814-4CFA-8E00-7B01D3ECD343}"/>
                </a:ext>
              </a:extLst>
            </p:cNvPr>
            <p:cNvSpPr/>
            <p:nvPr/>
          </p:nvSpPr>
          <p:spPr>
            <a:xfrm>
              <a:off x="1261331" y="802063"/>
              <a:ext cx="161488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Arpt_Name</a:t>
              </a:r>
              <a:endParaRPr lang="ko-KR" altLang="en-US" sz="1400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9F41AB4-C4C0-4905-924B-1A9896D8EE75}"/>
                </a:ext>
              </a:extLst>
            </p:cNvPr>
            <p:cNvSpPr/>
            <p:nvPr/>
          </p:nvSpPr>
          <p:spPr>
            <a:xfrm>
              <a:off x="1724637" y="1715548"/>
              <a:ext cx="917895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AirPort</a:t>
              </a:r>
              <a:endParaRPr lang="ko-KR" altLang="en-US" dirty="0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340E8DF-28DB-44A2-85FC-4B3079CA9F43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2068772" y="1246680"/>
              <a:ext cx="114813" cy="4688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8FF575-60E4-4EE1-A5E1-666D10180DCB}"/>
                </a:ext>
              </a:extLst>
            </p:cNvPr>
            <p:cNvSpPr/>
            <p:nvPr/>
          </p:nvSpPr>
          <p:spPr>
            <a:xfrm>
              <a:off x="159391" y="2374084"/>
              <a:ext cx="1728132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Contct_Num</a:t>
              </a:r>
              <a:endParaRPr lang="ko-KR" altLang="en-US" sz="1400" dirty="0"/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48574A5-6EAC-497D-A9F9-7398EEA1A057}"/>
                </a:ext>
              </a:extLst>
            </p:cNvPr>
            <p:cNvCxnSpPr>
              <a:cxnSpLocks/>
              <a:stCxn id="26" idx="1"/>
              <a:endCxn id="28" idx="0"/>
            </p:cNvCxnSpPr>
            <p:nvPr/>
          </p:nvCxnSpPr>
          <p:spPr>
            <a:xfrm flipH="1">
              <a:off x="1023457" y="1937857"/>
              <a:ext cx="701180" cy="4362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2C7EB3AF-DAFD-41DD-9269-92E020486C77}"/>
                </a:ext>
              </a:extLst>
            </p:cNvPr>
            <p:cNvSpPr/>
            <p:nvPr/>
          </p:nvSpPr>
          <p:spPr>
            <a:xfrm>
              <a:off x="2183297" y="2317768"/>
              <a:ext cx="1728132" cy="44461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Affiliation</a:t>
              </a:r>
              <a:endParaRPr lang="ko-KR" altLang="en-US" sz="1400" dirty="0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8B42C142-A712-4B6C-A752-1E2A5D785373}"/>
                </a:ext>
              </a:extLst>
            </p:cNvPr>
            <p:cNvCxnSpPr>
              <a:cxnSpLocks/>
              <a:stCxn id="26" idx="3"/>
              <a:endCxn id="30" idx="0"/>
            </p:cNvCxnSpPr>
            <p:nvPr/>
          </p:nvCxnSpPr>
          <p:spPr>
            <a:xfrm>
              <a:off x="2642533" y="1937857"/>
              <a:ext cx="404831" cy="3799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91EAEF58-44C2-4F9A-8154-7D78C8D098F6}"/>
                </a:ext>
              </a:extLst>
            </p:cNvPr>
            <p:cNvCxnSpPr/>
            <p:nvPr/>
          </p:nvCxnSpPr>
          <p:spPr>
            <a:xfrm>
              <a:off x="1614561" y="1138565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597D4A3-1D15-468A-B952-B0B870A0C084}"/>
              </a:ext>
            </a:extLst>
          </p:cNvPr>
          <p:cNvGrpSpPr/>
          <p:nvPr/>
        </p:nvGrpSpPr>
        <p:grpSpPr>
          <a:xfrm>
            <a:off x="3511239" y="1579120"/>
            <a:ext cx="3231780" cy="1599841"/>
            <a:chOff x="3036812" y="415257"/>
            <a:chExt cx="3216480" cy="1671186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E9E3FDE-BC7B-481E-8C95-5B00965C4E18}"/>
                </a:ext>
              </a:extLst>
            </p:cNvPr>
            <p:cNvSpPr/>
            <p:nvPr/>
          </p:nvSpPr>
          <p:spPr>
            <a:xfrm>
              <a:off x="4143581" y="1398545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T-way Airline</a:t>
              </a:r>
              <a:endParaRPr lang="ko-KR" altLang="en-US" dirty="0"/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5269D2FD-F9B2-40AC-9A39-480B97702BBE}"/>
                </a:ext>
              </a:extLst>
            </p:cNvPr>
            <p:cNvCxnSpPr>
              <a:cxnSpLocks/>
              <a:stCxn id="33" idx="0"/>
              <a:endCxn id="35" idx="4"/>
            </p:cNvCxnSpPr>
            <p:nvPr/>
          </p:nvCxnSpPr>
          <p:spPr>
            <a:xfrm flipH="1" flipV="1">
              <a:off x="3913463" y="859874"/>
              <a:ext cx="746741" cy="5386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FE166AF0-DBE4-4F33-AA55-3253F44C0411}"/>
                </a:ext>
              </a:extLst>
            </p:cNvPr>
            <p:cNvSpPr/>
            <p:nvPr/>
          </p:nvSpPr>
          <p:spPr>
            <a:xfrm>
              <a:off x="3036812" y="415257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rgbClr val="00B050"/>
                  </a:solidFill>
                </a:rPr>
                <a:t>Aport_Name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82C37090-0E57-417A-B849-272CB039761F}"/>
                </a:ext>
              </a:extLst>
            </p:cNvPr>
            <p:cNvCxnSpPr>
              <a:cxnSpLocks/>
              <a:stCxn id="33" idx="0"/>
              <a:endCxn id="37" idx="4"/>
            </p:cNvCxnSpPr>
            <p:nvPr/>
          </p:nvCxnSpPr>
          <p:spPr>
            <a:xfrm flipV="1">
              <a:off x="4660204" y="889236"/>
              <a:ext cx="932105" cy="5093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CADE138-16CA-4604-B6A0-80AE954E9C17}"/>
                </a:ext>
              </a:extLst>
            </p:cNvPr>
            <p:cNvSpPr/>
            <p:nvPr/>
          </p:nvSpPr>
          <p:spPr>
            <a:xfrm>
              <a:off x="4931326" y="444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Director</a:t>
              </a:r>
              <a:endParaRPr lang="ko-KR" altLang="en-US" sz="1400" dirty="0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1DD4590-BA11-44AC-AE8B-73C43645A0CA}"/>
              </a:ext>
            </a:extLst>
          </p:cNvPr>
          <p:cNvGrpSpPr/>
          <p:nvPr/>
        </p:nvGrpSpPr>
        <p:grpSpPr>
          <a:xfrm>
            <a:off x="6955429" y="1631195"/>
            <a:ext cx="5024310" cy="1358677"/>
            <a:chOff x="6765019" y="479571"/>
            <a:chExt cx="5024310" cy="1723937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E197F15-1A6A-4D3C-8669-C7C2BA15945E}"/>
                </a:ext>
              </a:extLst>
            </p:cNvPr>
            <p:cNvSpPr/>
            <p:nvPr/>
          </p:nvSpPr>
          <p:spPr>
            <a:xfrm>
              <a:off x="8058500" y="175889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Employee</a:t>
              </a:r>
              <a:endParaRPr lang="ko-KR" altLang="en-US" dirty="0"/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97C79B9-A232-48DF-B5E2-0C68547C1B5B}"/>
                </a:ext>
              </a:extLst>
            </p:cNvPr>
            <p:cNvCxnSpPr>
              <a:cxnSpLocks/>
              <a:stCxn id="39" idx="0"/>
              <a:endCxn id="41" idx="4"/>
            </p:cNvCxnSpPr>
            <p:nvPr/>
          </p:nvCxnSpPr>
          <p:spPr>
            <a:xfrm flipH="1" flipV="1">
              <a:off x="7426002" y="924188"/>
              <a:ext cx="1250749" cy="8347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27E26A6-E90B-4DFA-9C17-190BB7204154}"/>
                </a:ext>
              </a:extLst>
            </p:cNvPr>
            <p:cNvSpPr/>
            <p:nvPr/>
          </p:nvSpPr>
          <p:spPr>
            <a:xfrm>
              <a:off x="6765019" y="479571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Emp No</a:t>
              </a:r>
              <a:endParaRPr lang="ko-KR" altLang="en-US" sz="14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185E9E2D-C9D0-4379-B366-C02A6050092E}"/>
                </a:ext>
              </a:extLst>
            </p:cNvPr>
            <p:cNvCxnSpPr/>
            <p:nvPr/>
          </p:nvCxnSpPr>
          <p:spPr>
            <a:xfrm>
              <a:off x="7024728" y="831454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EC9E8406-F90A-4EB7-8092-BE1F1C7F91C5}"/>
                </a:ext>
              </a:extLst>
            </p:cNvPr>
            <p:cNvCxnSpPr>
              <a:cxnSpLocks/>
              <a:stCxn id="39" idx="0"/>
              <a:endCxn id="44" idx="4"/>
            </p:cNvCxnSpPr>
            <p:nvPr/>
          </p:nvCxnSpPr>
          <p:spPr>
            <a:xfrm flipV="1">
              <a:off x="8676751" y="931181"/>
              <a:ext cx="208057" cy="8277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58105F9-C015-45B6-A9E1-B2E8B2752AFC}"/>
                </a:ext>
              </a:extLst>
            </p:cNvPr>
            <p:cNvSpPr/>
            <p:nvPr/>
          </p:nvSpPr>
          <p:spPr>
            <a:xfrm>
              <a:off x="8223825" y="4865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Salary</a:t>
              </a:r>
              <a:endParaRPr lang="ko-KR" altLang="en-US" sz="1400" dirty="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9C6A8CF-DDDA-4C65-BE68-FC588A488C66}"/>
                </a:ext>
              </a:extLst>
            </p:cNvPr>
            <p:cNvSpPr/>
            <p:nvPr/>
          </p:nvSpPr>
          <p:spPr>
            <a:xfrm>
              <a:off x="9849461" y="595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Title</a:t>
              </a:r>
              <a:endParaRPr lang="ko-KR" altLang="en-US" sz="1400" dirty="0"/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4ADBF69A-10D4-4C5E-8F44-93AAA510A22E}"/>
                </a:ext>
              </a:extLst>
            </p:cNvPr>
            <p:cNvCxnSpPr>
              <a:cxnSpLocks/>
              <a:stCxn id="39" idx="3"/>
              <a:endCxn id="47" idx="2"/>
            </p:cNvCxnSpPr>
            <p:nvPr/>
          </p:nvCxnSpPr>
          <p:spPr>
            <a:xfrm flipV="1">
              <a:off x="9295002" y="1698073"/>
              <a:ext cx="1172361" cy="2831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0EA4DF2-CB17-466F-BED6-8B9164A12146}"/>
                </a:ext>
              </a:extLst>
            </p:cNvPr>
            <p:cNvSpPr/>
            <p:nvPr/>
          </p:nvSpPr>
          <p:spPr>
            <a:xfrm>
              <a:off x="10467363" y="14757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Manager</a:t>
              </a:r>
              <a:endParaRPr lang="ko-KR" altLang="en-US" sz="1400" dirty="0"/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F518C4BB-B4BD-4A7E-8E3E-5F1BC78E9BBB}"/>
              </a:ext>
            </a:extLst>
          </p:cNvPr>
          <p:cNvGrpSpPr/>
          <p:nvPr/>
        </p:nvGrpSpPr>
        <p:grpSpPr>
          <a:xfrm>
            <a:off x="3727201" y="3064344"/>
            <a:ext cx="6232257" cy="2267291"/>
            <a:chOff x="5496315" y="4214683"/>
            <a:chExt cx="6232257" cy="2267291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8D62C02-9633-417F-B025-52139E5562E4}"/>
                </a:ext>
              </a:extLst>
            </p:cNvPr>
            <p:cNvSpPr/>
            <p:nvPr/>
          </p:nvSpPr>
          <p:spPr>
            <a:xfrm>
              <a:off x="7914005" y="4612676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Boarding Pass</a:t>
              </a:r>
              <a:endParaRPr lang="ko-KR" altLang="en-US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5F9DD09D-58B5-46A2-A726-3B70551F60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0507" y="4464662"/>
              <a:ext cx="967327" cy="2150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45AEE3CA-4412-48D0-80EC-EDB616550FAF}"/>
                </a:ext>
              </a:extLst>
            </p:cNvPr>
            <p:cNvCxnSpPr>
              <a:cxnSpLocks/>
              <a:stCxn id="68" idx="3"/>
              <a:endCxn id="77" idx="2"/>
            </p:cNvCxnSpPr>
            <p:nvPr/>
          </p:nvCxnSpPr>
          <p:spPr>
            <a:xfrm>
              <a:off x="9150507" y="4890918"/>
              <a:ext cx="1105710" cy="2921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2156AA70-EF00-4624-AFC0-10E5B0318D73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9150507" y="5169159"/>
              <a:ext cx="1599666" cy="6486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37760DAB-E7E5-49BD-B78B-DA8A5F4CBA6B}"/>
                </a:ext>
              </a:extLst>
            </p:cNvPr>
            <p:cNvCxnSpPr>
              <a:cxnSpLocks/>
              <a:stCxn id="68" idx="2"/>
              <a:endCxn id="79" idx="0"/>
            </p:cNvCxnSpPr>
            <p:nvPr/>
          </p:nvCxnSpPr>
          <p:spPr>
            <a:xfrm>
              <a:off x="8532256" y="5169159"/>
              <a:ext cx="241055" cy="8681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02C794FC-A4FC-4D87-991D-B4780881F276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 flipH="1">
              <a:off x="6968076" y="5181300"/>
              <a:ext cx="962189" cy="7860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33ACE2B4-70F7-4A2B-A019-300ACC5B5A27}"/>
                </a:ext>
              </a:extLst>
            </p:cNvPr>
            <p:cNvCxnSpPr>
              <a:cxnSpLocks/>
              <a:endCxn id="82" idx="6"/>
            </p:cNvCxnSpPr>
            <p:nvPr/>
          </p:nvCxnSpPr>
          <p:spPr>
            <a:xfrm flipH="1">
              <a:off x="6281535" y="4609119"/>
              <a:ext cx="1632470" cy="28517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3A5BD18-F0BB-4433-BF13-A093F24B91F2}"/>
                </a:ext>
              </a:extLst>
            </p:cNvPr>
            <p:cNvCxnSpPr>
              <a:cxnSpLocks/>
              <a:stCxn id="68" idx="1"/>
              <a:endCxn id="81" idx="6"/>
            </p:cNvCxnSpPr>
            <p:nvPr/>
          </p:nvCxnSpPr>
          <p:spPr>
            <a:xfrm flipH="1">
              <a:off x="6549433" y="4890918"/>
              <a:ext cx="1364572" cy="6139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ED055136-7941-4404-8C1A-7FB357FE0A2F}"/>
                </a:ext>
              </a:extLst>
            </p:cNvPr>
            <p:cNvSpPr/>
            <p:nvPr/>
          </p:nvSpPr>
          <p:spPr>
            <a:xfrm>
              <a:off x="10117834" y="4214683"/>
              <a:ext cx="110571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Arrival</a:t>
              </a:r>
              <a:endParaRPr lang="ko-KR" altLang="en-US" sz="1400" dirty="0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EE389587-412B-4F13-A3EE-9EDBD78D8C30}"/>
                </a:ext>
              </a:extLst>
            </p:cNvPr>
            <p:cNvSpPr/>
            <p:nvPr/>
          </p:nvSpPr>
          <p:spPr>
            <a:xfrm>
              <a:off x="10256217" y="4960774"/>
              <a:ext cx="147235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Departure</a:t>
              </a:r>
              <a:endParaRPr lang="ko-KR" altLang="en-US" sz="1400" dirty="0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DEE26CE0-F39A-4667-AD10-903BADC571CB}"/>
                </a:ext>
              </a:extLst>
            </p:cNvPr>
            <p:cNvSpPr/>
            <p:nvPr/>
          </p:nvSpPr>
          <p:spPr>
            <a:xfrm>
              <a:off x="10013996" y="5817763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rgbClr val="00B050"/>
                  </a:solidFill>
                </a:rPr>
                <a:t>Fligt_No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6516A18F-64E9-4B8E-AEAA-C79088292069}"/>
                </a:ext>
              </a:extLst>
            </p:cNvPr>
            <p:cNvSpPr/>
            <p:nvPr/>
          </p:nvSpPr>
          <p:spPr>
            <a:xfrm>
              <a:off x="8058500" y="6037357"/>
              <a:ext cx="142962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Resrv</a:t>
              </a:r>
              <a:r>
                <a:rPr lang="en-US" altLang="ko-KR" sz="1400" dirty="0"/>
                <a:t> No</a:t>
              </a:r>
              <a:endParaRPr lang="ko-KR" altLang="en-US" sz="1400" dirty="0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2C9B5CB-BD0B-4740-89D0-BEFEF236CEE5}"/>
                </a:ext>
              </a:extLst>
            </p:cNvPr>
            <p:cNvSpPr/>
            <p:nvPr/>
          </p:nvSpPr>
          <p:spPr>
            <a:xfrm>
              <a:off x="6383082" y="5967331"/>
              <a:ext cx="1169987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Seat no</a:t>
              </a:r>
              <a:endParaRPr lang="ko-KR" altLang="en-US" sz="1400" dirty="0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025885F-2033-4F51-BEE5-2A020CB41F10}"/>
                </a:ext>
              </a:extLst>
            </p:cNvPr>
            <p:cNvSpPr/>
            <p:nvPr/>
          </p:nvSpPr>
          <p:spPr>
            <a:xfrm>
              <a:off x="5587244" y="5282576"/>
              <a:ext cx="962189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Class</a:t>
              </a:r>
              <a:endParaRPr lang="ko-KR" altLang="en-US" sz="1400" dirty="0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335BB86B-65F2-4C47-9112-2ECC8F72811A}"/>
                </a:ext>
              </a:extLst>
            </p:cNvPr>
            <p:cNvSpPr/>
            <p:nvPr/>
          </p:nvSpPr>
          <p:spPr>
            <a:xfrm>
              <a:off x="5496315" y="4671989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data</a:t>
              </a:r>
              <a:endParaRPr lang="ko-KR" altLang="en-US" sz="1400" dirty="0"/>
            </a:p>
          </p:txBody>
        </p: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A0DC235E-7BDB-4BEE-9369-DF87B55654CE}"/>
                </a:ext>
              </a:extLst>
            </p:cNvPr>
            <p:cNvCxnSpPr/>
            <p:nvPr/>
          </p:nvCxnSpPr>
          <p:spPr>
            <a:xfrm>
              <a:off x="8377311" y="6402617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AD8445FF-7DA7-455D-864D-6D497CCC285F}"/>
              </a:ext>
            </a:extLst>
          </p:cNvPr>
          <p:cNvGrpSpPr/>
          <p:nvPr/>
        </p:nvGrpSpPr>
        <p:grpSpPr>
          <a:xfrm>
            <a:off x="311110" y="3586102"/>
            <a:ext cx="3274437" cy="1385581"/>
            <a:chOff x="8720026" y="2639037"/>
            <a:chExt cx="3274437" cy="1385581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A1BF5433-723B-48BE-87E0-2BB34D5A25EE}"/>
                </a:ext>
              </a:extLst>
            </p:cNvPr>
            <p:cNvSpPr/>
            <p:nvPr/>
          </p:nvSpPr>
          <p:spPr>
            <a:xfrm>
              <a:off x="9706850" y="358000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Customer</a:t>
              </a:r>
              <a:endParaRPr lang="ko-KR" altLang="en-US" dirty="0"/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E6C6C485-275D-420E-80AF-2FC4820ADC0E}"/>
                </a:ext>
              </a:extLst>
            </p:cNvPr>
            <p:cNvGrpSpPr/>
            <p:nvPr/>
          </p:nvGrpSpPr>
          <p:grpSpPr>
            <a:xfrm>
              <a:off x="8720026" y="2650920"/>
              <a:ext cx="1536192" cy="444617"/>
              <a:chOff x="9413889" y="2615453"/>
              <a:chExt cx="1536192" cy="444617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6F461C83-B2C0-4785-A3B8-27223C8C80F8}"/>
                  </a:ext>
                </a:extLst>
              </p:cNvPr>
              <p:cNvSpPr/>
              <p:nvPr/>
            </p:nvSpPr>
            <p:spPr>
              <a:xfrm>
                <a:off x="9413889" y="2615453"/>
                <a:ext cx="1536192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err="1"/>
                  <a:t>PssprtNum</a:t>
                </a:r>
                <a:endParaRPr lang="ko-KR" altLang="en-US" sz="14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7D59B485-8E73-47C6-81FC-2512B3BA7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8444" y="2961945"/>
                <a:ext cx="890462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06F3170E-C4B3-42AC-8447-34F44737C47D}"/>
                </a:ext>
              </a:extLst>
            </p:cNvPr>
            <p:cNvCxnSpPr>
              <a:stCxn id="87" idx="4"/>
              <a:endCxn id="85" idx="0"/>
            </p:cNvCxnSpPr>
            <p:nvPr/>
          </p:nvCxnSpPr>
          <p:spPr>
            <a:xfrm>
              <a:off x="9488122" y="3095537"/>
              <a:ext cx="836979" cy="4844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1531A113-E34F-4E66-B96A-31B4E82331B6}"/>
                </a:ext>
              </a:extLst>
            </p:cNvPr>
            <p:cNvCxnSpPr>
              <a:cxnSpLocks/>
              <a:stCxn id="85" idx="0"/>
              <a:endCxn id="91" idx="4"/>
            </p:cNvCxnSpPr>
            <p:nvPr/>
          </p:nvCxnSpPr>
          <p:spPr>
            <a:xfrm flipV="1">
              <a:off x="10325101" y="3083654"/>
              <a:ext cx="742488" cy="4963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4F5C2E25-1985-4344-ABFF-E9C6908C2BBF}"/>
                </a:ext>
              </a:extLst>
            </p:cNvPr>
            <p:cNvSpPr/>
            <p:nvPr/>
          </p:nvSpPr>
          <p:spPr>
            <a:xfrm>
              <a:off x="10406606" y="2639037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Name</a:t>
              </a:r>
              <a:endParaRPr lang="ko-KR" altLang="en-US" sz="1400" dirty="0"/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D9C5741C-A6D6-4FC2-BC3E-433AABD88B8A}"/>
                </a:ext>
              </a:extLst>
            </p:cNvPr>
            <p:cNvCxnSpPr>
              <a:cxnSpLocks/>
              <a:stCxn id="85" idx="3"/>
              <a:endCxn id="93" idx="2"/>
            </p:cNvCxnSpPr>
            <p:nvPr/>
          </p:nvCxnSpPr>
          <p:spPr>
            <a:xfrm>
              <a:off x="10943352" y="3802310"/>
              <a:ext cx="26589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CA259089-2A43-40E0-9BF8-A10F421BF984}"/>
                </a:ext>
              </a:extLst>
            </p:cNvPr>
            <p:cNvSpPr/>
            <p:nvPr/>
          </p:nvSpPr>
          <p:spPr>
            <a:xfrm>
              <a:off x="11209243" y="3580001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ID</a:t>
              </a:r>
              <a:endParaRPr lang="ko-KR" altLang="en-US" sz="1400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3B65F02-D253-4F22-A31D-E095BE2428DC}"/>
              </a:ext>
            </a:extLst>
          </p:cNvPr>
          <p:cNvGrpSpPr/>
          <p:nvPr/>
        </p:nvGrpSpPr>
        <p:grpSpPr>
          <a:xfrm>
            <a:off x="159159" y="5718432"/>
            <a:ext cx="5502273" cy="1029234"/>
            <a:chOff x="1457878" y="5747423"/>
            <a:chExt cx="5502273" cy="102923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47089C1-0968-4845-8AF6-004AA9B7C901}"/>
                </a:ext>
              </a:extLst>
            </p:cNvPr>
            <p:cNvGrpSpPr/>
            <p:nvPr/>
          </p:nvGrpSpPr>
          <p:grpSpPr>
            <a:xfrm>
              <a:off x="3134108" y="5747423"/>
              <a:ext cx="3826043" cy="1029234"/>
              <a:chOff x="8013860" y="3761518"/>
              <a:chExt cx="3826043" cy="1029234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E2CF42DD-B708-40DD-9E54-E2C6AAC8E8EC}"/>
                  </a:ext>
                </a:extLst>
              </p:cNvPr>
              <p:cNvSpPr/>
              <p:nvPr/>
            </p:nvSpPr>
            <p:spPr>
              <a:xfrm>
                <a:off x="8013860" y="3827517"/>
                <a:ext cx="1236502" cy="5564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Airplane</a:t>
                </a:r>
                <a:endParaRPr lang="ko-KR" altLang="en-US" dirty="0"/>
              </a:p>
            </p:txBody>
          </p: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54F5137F-F63E-4E64-A77A-E5CB4ED57557}"/>
                  </a:ext>
                </a:extLst>
              </p:cNvPr>
              <p:cNvCxnSpPr>
                <a:cxnSpLocks/>
                <a:stCxn id="56" idx="3"/>
                <a:endCxn id="58" idx="2"/>
              </p:cNvCxnSpPr>
              <p:nvPr/>
            </p:nvCxnSpPr>
            <p:spPr>
              <a:xfrm flipV="1">
                <a:off x="9250362" y="3983827"/>
                <a:ext cx="1101307" cy="1219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95A23E28-45E8-4C9A-B552-3DAC1831A049}"/>
                  </a:ext>
                </a:extLst>
              </p:cNvPr>
              <p:cNvSpPr/>
              <p:nvPr/>
            </p:nvSpPr>
            <p:spPr>
              <a:xfrm>
                <a:off x="10351669" y="3761518"/>
                <a:ext cx="1472354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err="1"/>
                  <a:t>Fligt_No</a:t>
                </a:r>
                <a:endParaRPr lang="ko-KR" altLang="en-US" sz="1400" dirty="0"/>
              </a:p>
            </p:txBody>
          </p: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B075245D-8795-4AC1-B5BC-0AE83A3C4852}"/>
                  </a:ext>
                </a:extLst>
              </p:cNvPr>
              <p:cNvCxnSpPr/>
              <p:nvPr/>
            </p:nvCxnSpPr>
            <p:spPr>
              <a:xfrm>
                <a:off x="10691846" y="4108514"/>
                <a:ext cx="792000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F4B4C5BF-01F7-4024-944C-2A8DA6C1DFD3}"/>
                  </a:ext>
                </a:extLst>
              </p:cNvPr>
              <p:cNvCxnSpPr>
                <a:cxnSpLocks/>
                <a:stCxn id="56" idx="3"/>
                <a:endCxn id="61" idx="6"/>
              </p:cNvCxnSpPr>
              <p:nvPr/>
            </p:nvCxnSpPr>
            <p:spPr>
              <a:xfrm>
                <a:off x="9250362" y="4105759"/>
                <a:ext cx="2589541" cy="4626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75993BE9-1581-4D76-90DA-1F20EA69C12D}"/>
                  </a:ext>
                </a:extLst>
              </p:cNvPr>
              <p:cNvSpPr/>
              <p:nvPr/>
            </p:nvSpPr>
            <p:spPr>
              <a:xfrm>
                <a:off x="10367549" y="4346135"/>
                <a:ext cx="1472354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rgbClr val="00B050"/>
                    </a:solidFill>
                  </a:rPr>
                  <a:t>Captain</a:t>
                </a:r>
                <a:endParaRPr lang="ko-KR" altLang="en-US" sz="1400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F6BCBD7D-B8C7-47CA-A05B-3837889278EB}"/>
                </a:ext>
              </a:extLst>
            </p:cNvPr>
            <p:cNvSpPr/>
            <p:nvPr/>
          </p:nvSpPr>
          <p:spPr>
            <a:xfrm>
              <a:off x="1457878" y="5882202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rgbClr val="00B050"/>
                  </a:solidFill>
                </a:rPr>
                <a:t>Attendant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293D094B-6355-4737-9D18-028B223BCA80}"/>
                </a:ext>
              </a:extLst>
            </p:cNvPr>
            <p:cNvCxnSpPr>
              <a:stCxn id="56" idx="1"/>
              <a:endCxn id="6" idx="6"/>
            </p:cNvCxnSpPr>
            <p:nvPr/>
          </p:nvCxnSpPr>
          <p:spPr>
            <a:xfrm flipH="1">
              <a:off x="2930232" y="6091664"/>
              <a:ext cx="203876" cy="128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DD83ADE-F4F9-42EB-8D6C-7B0F6546A581}"/>
              </a:ext>
            </a:extLst>
          </p:cNvPr>
          <p:cNvCxnSpPr>
            <a:stCxn id="45" idx="3"/>
            <a:endCxn id="39" idx="3"/>
          </p:cNvCxnSpPr>
          <p:nvPr/>
        </p:nvCxnSpPr>
        <p:spPr>
          <a:xfrm flipH="1">
            <a:off x="9485412" y="2021752"/>
            <a:ext cx="748056" cy="792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A076774-D8EF-418F-B8CF-A5F0E533792A}"/>
              </a:ext>
            </a:extLst>
          </p:cNvPr>
          <p:cNvSpPr/>
          <p:nvPr/>
        </p:nvSpPr>
        <p:spPr>
          <a:xfrm>
            <a:off x="10400459" y="3797640"/>
            <a:ext cx="1236502" cy="5872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Duty free </a:t>
            </a:r>
          </a:p>
          <a:p>
            <a:pPr algn="ctr">
              <a:defRPr/>
            </a:pPr>
            <a:r>
              <a:rPr lang="en-US" altLang="ko-KR" dirty="0"/>
              <a:t>Goods</a:t>
            </a:r>
            <a:endParaRPr lang="ko-KR" altLang="en-US" dirty="0"/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BA07EE29-2FF7-437C-B8BE-D83DE15C9540}"/>
              </a:ext>
            </a:extLst>
          </p:cNvPr>
          <p:cNvCxnSpPr>
            <a:cxnSpLocks/>
            <a:stCxn id="95" idx="2"/>
            <a:endCxn id="98" idx="0"/>
          </p:cNvCxnSpPr>
          <p:nvPr/>
        </p:nvCxnSpPr>
        <p:spPr>
          <a:xfrm>
            <a:off x="11018710" y="4384896"/>
            <a:ext cx="0" cy="2084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CFB58604-0629-4824-83F3-C0780027D69A}"/>
              </a:ext>
            </a:extLst>
          </p:cNvPr>
          <p:cNvGrpSpPr/>
          <p:nvPr/>
        </p:nvGrpSpPr>
        <p:grpSpPr>
          <a:xfrm>
            <a:off x="10182040" y="4593338"/>
            <a:ext cx="1673340" cy="444618"/>
            <a:chOff x="395061" y="4140377"/>
            <a:chExt cx="1396838" cy="444618"/>
          </a:xfrm>
        </p:grpSpPr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DE67BA94-D5EB-4D7A-9B35-B7F3DD27621D}"/>
                </a:ext>
              </a:extLst>
            </p:cNvPr>
            <p:cNvSpPr/>
            <p:nvPr/>
          </p:nvSpPr>
          <p:spPr>
            <a:xfrm>
              <a:off x="395061" y="4140377"/>
              <a:ext cx="1396838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dirty="0"/>
                <a:t>Product No</a:t>
              </a:r>
              <a:endParaRPr lang="ko-KR" altLang="en-US" sz="14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319E8B19-EBD1-4B11-B8B7-F48A400B7BB4}"/>
                </a:ext>
              </a:extLst>
            </p:cNvPr>
            <p:cNvCxnSpPr/>
            <p:nvPr/>
          </p:nvCxnSpPr>
          <p:spPr>
            <a:xfrm>
              <a:off x="591538" y="4494309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D80C099A-DA50-46A3-8359-857472D3D105}"/>
              </a:ext>
            </a:extLst>
          </p:cNvPr>
          <p:cNvCxnSpPr>
            <a:cxnSpLocks/>
            <a:stCxn id="95" idx="0"/>
            <a:endCxn id="101" idx="4"/>
          </p:cNvCxnSpPr>
          <p:nvPr/>
        </p:nvCxnSpPr>
        <p:spPr>
          <a:xfrm flipH="1" flipV="1">
            <a:off x="11012665" y="3651953"/>
            <a:ext cx="6045" cy="1456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4B678572-0D06-40EC-BE22-A8E706480525}"/>
              </a:ext>
            </a:extLst>
          </p:cNvPr>
          <p:cNvSpPr/>
          <p:nvPr/>
        </p:nvSpPr>
        <p:spPr>
          <a:xfrm>
            <a:off x="10148599" y="3207335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Goods Name</a:t>
            </a:r>
            <a:endParaRPr lang="ko-KR" altLang="en-US" sz="14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A2C6C73-9857-4581-B118-3E15CF4C2E98}"/>
              </a:ext>
            </a:extLst>
          </p:cNvPr>
          <p:cNvSpPr/>
          <p:nvPr/>
        </p:nvSpPr>
        <p:spPr>
          <a:xfrm>
            <a:off x="10148599" y="5344301"/>
            <a:ext cx="1236502" cy="622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In-flight meal</a:t>
            </a:r>
            <a:endParaRPr lang="ko-KR" altLang="en-US" dirty="0"/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A3B4D45C-F2A6-4F76-828B-E3E8D1FF7F23}"/>
              </a:ext>
            </a:extLst>
          </p:cNvPr>
          <p:cNvCxnSpPr>
            <a:cxnSpLocks/>
            <a:stCxn id="110" idx="2"/>
            <a:endCxn id="112" idx="0"/>
          </p:cNvCxnSpPr>
          <p:nvPr/>
        </p:nvCxnSpPr>
        <p:spPr>
          <a:xfrm>
            <a:off x="10766850" y="5966315"/>
            <a:ext cx="0" cy="255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타원 111">
            <a:extLst>
              <a:ext uri="{FF2B5EF4-FFF2-40B4-BE49-F238E27FC236}">
                <a16:creationId xmlns:a16="http://schemas.microsoft.com/office/drawing/2014/main" id="{B1F1A35C-1C83-4BFA-BBD7-5637FAC4B7FD}"/>
              </a:ext>
            </a:extLst>
          </p:cNvPr>
          <p:cNvSpPr/>
          <p:nvPr/>
        </p:nvSpPr>
        <p:spPr>
          <a:xfrm>
            <a:off x="10105867" y="6222181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/>
              <a:t>Resrv</a:t>
            </a:r>
            <a:r>
              <a:rPr lang="en-US" altLang="ko-KR" sz="1400" dirty="0"/>
              <a:t> No</a:t>
            </a:r>
            <a:endParaRPr lang="ko-KR" altLang="en-US" sz="1400" dirty="0"/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B9F6B9BB-4027-4891-8986-FC02F4044450}"/>
              </a:ext>
            </a:extLst>
          </p:cNvPr>
          <p:cNvCxnSpPr/>
          <p:nvPr/>
        </p:nvCxnSpPr>
        <p:spPr>
          <a:xfrm>
            <a:off x="10204870" y="6536134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B6BF1085-6AD1-4B8A-A3B1-F1BCA8FD596B}"/>
              </a:ext>
            </a:extLst>
          </p:cNvPr>
          <p:cNvCxnSpPr>
            <a:cxnSpLocks/>
            <a:stCxn id="110" idx="1"/>
            <a:endCxn id="115" idx="0"/>
          </p:cNvCxnSpPr>
          <p:nvPr/>
        </p:nvCxnSpPr>
        <p:spPr>
          <a:xfrm flipH="1">
            <a:off x="9017842" y="5655308"/>
            <a:ext cx="1130757" cy="610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타원 114">
            <a:extLst>
              <a:ext uri="{FF2B5EF4-FFF2-40B4-BE49-F238E27FC236}">
                <a16:creationId xmlns:a16="http://schemas.microsoft.com/office/drawing/2014/main" id="{C27BA569-ED00-4352-8064-DEBB73850BE7}"/>
              </a:ext>
            </a:extLst>
          </p:cNvPr>
          <p:cNvSpPr/>
          <p:nvPr/>
        </p:nvSpPr>
        <p:spPr>
          <a:xfrm>
            <a:off x="8153776" y="6265491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Food code</a:t>
            </a:r>
            <a:endParaRPr lang="ko-KR" altLang="en-US" sz="1400" dirty="0"/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05CF4C41-8FD7-41EE-B992-7888436C1FBE}"/>
              </a:ext>
            </a:extLst>
          </p:cNvPr>
          <p:cNvCxnSpPr>
            <a:cxnSpLocks/>
            <a:stCxn id="110" idx="1"/>
            <a:endCxn id="117" idx="6"/>
          </p:cNvCxnSpPr>
          <p:nvPr/>
        </p:nvCxnSpPr>
        <p:spPr>
          <a:xfrm flipH="1" flipV="1">
            <a:off x="9227751" y="5551229"/>
            <a:ext cx="920848" cy="1040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타원 116">
            <a:extLst>
              <a:ext uri="{FF2B5EF4-FFF2-40B4-BE49-F238E27FC236}">
                <a16:creationId xmlns:a16="http://schemas.microsoft.com/office/drawing/2014/main" id="{270922BE-F1BE-4761-ADFA-97426D324AB8}"/>
              </a:ext>
            </a:extLst>
          </p:cNvPr>
          <p:cNvSpPr/>
          <p:nvPr/>
        </p:nvSpPr>
        <p:spPr>
          <a:xfrm>
            <a:off x="7499619" y="5328920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rgbClr val="00B050"/>
                </a:solidFill>
              </a:rPr>
              <a:t>Seat No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B4EA21B-0BB9-4A66-A175-E6A28CFA27D5}"/>
              </a:ext>
            </a:extLst>
          </p:cNvPr>
          <p:cNvSpPr/>
          <p:nvPr/>
        </p:nvSpPr>
        <p:spPr>
          <a:xfrm>
            <a:off x="7457990" y="5900666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Date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41440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714" y="2218954"/>
            <a:ext cx="4380121" cy="1968732"/>
          </a:xfrm>
        </p:spPr>
        <p:txBody>
          <a:bodyPr>
            <a:normAutofit/>
          </a:bodyPr>
          <a:lstStyle/>
          <a:p>
            <a:r>
              <a:rPr lang="en-US" altLang="ko-KR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ER </a:t>
            </a:r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다이어그램</a:t>
            </a:r>
          </a:p>
        </p:txBody>
      </p:sp>
      <p:sp>
        <p:nvSpPr>
          <p:cNvPr id="5" name="직사각형 4" descr="리본 메뉴">
            <a:extLst>
              <a:ext uri="{FF2B5EF4-FFF2-40B4-BE49-F238E27FC236}">
                <a16:creationId xmlns:a16="http://schemas.microsoft.com/office/drawing/2014/main" id="{49E7F9DD-E7F0-4AAA-A83F-188B3C58444E}"/>
              </a:ext>
            </a:extLst>
          </p:cNvPr>
          <p:cNvSpPr/>
          <p:nvPr/>
        </p:nvSpPr>
        <p:spPr>
          <a:xfrm>
            <a:off x="8308836" y="2346956"/>
            <a:ext cx="2186885" cy="2164087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20678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73159485-7479-4A35-B991-5FE4DAC0E94F}"/>
              </a:ext>
            </a:extLst>
          </p:cNvPr>
          <p:cNvCxnSpPr>
            <a:cxnSpLocks/>
            <a:endCxn id="115" idx="0"/>
          </p:cNvCxnSpPr>
          <p:nvPr/>
        </p:nvCxnSpPr>
        <p:spPr>
          <a:xfrm flipH="1">
            <a:off x="6724419" y="1762464"/>
            <a:ext cx="1523692" cy="7790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5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1959833" cy="522512"/>
          </a:xfrm>
          <a:prstGeom prst="roundRect">
            <a:avLst>
              <a:gd name="adj" fmla="val 10000"/>
            </a:avLst>
          </a:prstGeom>
          <a:solidFill>
            <a:schemeClr val="accent1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ko-KR" sz="2400">
                <a:solidFill>
                  <a:schemeClr val="bg2"/>
                </a:solidFill>
              </a:rPr>
              <a:t>E-R Diagram</a:t>
            </a:r>
            <a:endParaRPr lang="ko-KR" altLang="en-US" sz="2400">
              <a:solidFill>
                <a:schemeClr val="bg2"/>
              </a:solidFill>
            </a:endParaRPr>
          </a:p>
        </p:txBody>
      </p:sp>
      <p:cxnSp>
        <p:nvCxnSpPr>
          <p:cNvPr id="210" name="직선 연결선 209"/>
          <p:cNvCxnSpPr/>
          <p:nvPr/>
        </p:nvCxnSpPr>
        <p:spPr>
          <a:xfrm flipH="1">
            <a:off x="8472338" y="1698073"/>
            <a:ext cx="144212" cy="1409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7796149" y="1607890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타원 3"/>
          <p:cNvSpPr/>
          <p:nvPr/>
        </p:nvSpPr>
        <p:spPr>
          <a:xfrm>
            <a:off x="885037" y="415257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/>
              <a:t>ArptName</a:t>
            </a:r>
            <a:endParaRPr lang="ko-KR" altLang="en-US" sz="1400" dirty="0"/>
          </a:p>
        </p:txBody>
      </p:sp>
      <p:sp>
        <p:nvSpPr>
          <p:cNvPr id="5" name="다이아몬드 4"/>
          <p:cNvSpPr/>
          <p:nvPr/>
        </p:nvSpPr>
        <p:spPr>
          <a:xfrm>
            <a:off x="2738713" y="1279403"/>
            <a:ext cx="1629642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300" dirty="0"/>
              <a:t>resident</a:t>
            </a:r>
            <a:endParaRPr lang="ko-KR" altLang="en-US" sz="1300" dirty="0"/>
          </a:p>
        </p:txBody>
      </p:sp>
      <p:sp>
        <p:nvSpPr>
          <p:cNvPr id="6" name="직사각형 5"/>
          <p:cNvSpPr/>
          <p:nvPr/>
        </p:nvSpPr>
        <p:spPr>
          <a:xfrm>
            <a:off x="1681557" y="1420173"/>
            <a:ext cx="939514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Airport</a:t>
            </a:r>
            <a:endParaRPr lang="ko-KR" altLang="en-US" dirty="0"/>
          </a:p>
        </p:txBody>
      </p:sp>
      <p:cxnSp>
        <p:nvCxnSpPr>
          <p:cNvPr id="8" name="직선 연결선 7"/>
          <p:cNvCxnSpPr>
            <a:cxnSpLocks/>
            <a:stCxn id="4" idx="4"/>
            <a:endCxn id="6" idx="0"/>
          </p:cNvCxnSpPr>
          <p:nvPr/>
        </p:nvCxnSpPr>
        <p:spPr>
          <a:xfrm>
            <a:off x="1692478" y="859874"/>
            <a:ext cx="458836" cy="560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223369" y="2061548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/>
              <a:t>ContactNum</a:t>
            </a:r>
            <a:endParaRPr lang="ko-KR" altLang="en-US" sz="1400" dirty="0"/>
          </a:p>
        </p:txBody>
      </p:sp>
      <p:cxnSp>
        <p:nvCxnSpPr>
          <p:cNvPr id="17" name="직선 연결선 16"/>
          <p:cNvCxnSpPr>
            <a:cxnSpLocks/>
            <a:stCxn id="6" idx="1"/>
            <a:endCxn id="12" idx="0"/>
          </p:cNvCxnSpPr>
          <p:nvPr/>
        </p:nvCxnSpPr>
        <p:spPr>
          <a:xfrm flipH="1">
            <a:off x="1087435" y="1642482"/>
            <a:ext cx="594122" cy="4190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1964422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Affiliation</a:t>
            </a:r>
            <a:endParaRPr lang="ko-KR" altLang="en-US" sz="1400" dirty="0"/>
          </a:p>
        </p:txBody>
      </p:sp>
      <p:cxnSp>
        <p:nvCxnSpPr>
          <p:cNvPr id="22" name="직선 연결선 21"/>
          <p:cNvCxnSpPr>
            <a:cxnSpLocks/>
            <a:stCxn id="6" idx="2"/>
            <a:endCxn id="20" idx="0"/>
          </p:cNvCxnSpPr>
          <p:nvPr/>
        </p:nvCxnSpPr>
        <p:spPr>
          <a:xfrm>
            <a:off x="2151314" y="1864790"/>
            <a:ext cx="677174" cy="509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cxnSpLocks/>
            <a:stCxn id="6" idx="3"/>
            <a:endCxn id="5" idx="1"/>
          </p:cNvCxnSpPr>
          <p:nvPr/>
        </p:nvCxnSpPr>
        <p:spPr>
          <a:xfrm>
            <a:off x="2621071" y="1642482"/>
            <a:ext cx="117642" cy="102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4306073" y="1629159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306073" y="1689280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4661832" y="1283428"/>
            <a:ext cx="1033244" cy="687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T-Way Airline</a:t>
            </a:r>
            <a:endParaRPr lang="ko-KR" altLang="en-US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1179701" y="742911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28" idx="0"/>
            <a:endCxn id="42" idx="4"/>
          </p:cNvCxnSpPr>
          <p:nvPr/>
        </p:nvCxnSpPr>
        <p:spPr>
          <a:xfrm flipH="1" flipV="1">
            <a:off x="3913463" y="859874"/>
            <a:ext cx="1264991" cy="423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3036812" y="415257"/>
            <a:ext cx="175330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>
                <a:solidFill>
                  <a:srgbClr val="00B050"/>
                </a:solidFill>
              </a:rPr>
              <a:t>AportName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48" name="직선 연결선 47"/>
          <p:cNvCxnSpPr>
            <a:stCxn id="28" idx="0"/>
            <a:endCxn id="50" idx="4"/>
          </p:cNvCxnSpPr>
          <p:nvPr/>
        </p:nvCxnSpPr>
        <p:spPr>
          <a:xfrm flipV="1">
            <a:off x="5178454" y="739632"/>
            <a:ext cx="526671" cy="543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5044142" y="295015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Director</a:t>
            </a:r>
            <a:endParaRPr lang="ko-KR" altLang="en-US" sz="1400" dirty="0"/>
          </a:p>
        </p:txBody>
      </p:sp>
      <p:sp>
        <p:nvSpPr>
          <p:cNvPr id="57" name="직사각형 56"/>
          <p:cNvSpPr/>
          <p:nvPr/>
        </p:nvSpPr>
        <p:spPr>
          <a:xfrm>
            <a:off x="4380066" y="890058"/>
            <a:ext cx="1624495" cy="1245765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FF0000"/>
                </a:solidFill>
              </a:rPr>
              <a:t>설계 </a:t>
            </a:r>
            <a:r>
              <a:rPr lang="en-US" altLang="ko-KR" dirty="0">
                <a:solidFill>
                  <a:srgbClr val="FF0000"/>
                </a:solidFill>
              </a:rPr>
              <a:t>Business</a:t>
            </a:r>
          </a:p>
          <a:p>
            <a:pPr algn="ctr">
              <a:defRPr/>
            </a:pPr>
            <a:endParaRPr lang="en-US" altLang="ko-KR" dirty="0">
              <a:solidFill>
                <a:srgbClr val="FF0000"/>
              </a:solidFill>
            </a:endParaRPr>
          </a:p>
          <a:p>
            <a:pPr algn="ctr">
              <a:defRPr/>
            </a:pPr>
            <a:endParaRPr lang="en-US" altLang="ko-KR" dirty="0"/>
          </a:p>
          <a:p>
            <a:pPr algn="ctr">
              <a:defRPr/>
            </a:pPr>
            <a:endParaRPr lang="ko-KR" altLang="en-US" dirty="0"/>
          </a:p>
        </p:txBody>
      </p:sp>
      <p:cxnSp>
        <p:nvCxnSpPr>
          <p:cNvPr id="59" name="직선 연결선 58"/>
          <p:cNvCxnSpPr>
            <a:cxnSpLocks/>
            <a:stCxn id="28" idx="3"/>
            <a:endCxn id="61" idx="1"/>
          </p:cNvCxnSpPr>
          <p:nvPr/>
        </p:nvCxnSpPr>
        <p:spPr>
          <a:xfrm>
            <a:off x="5695076" y="1627377"/>
            <a:ext cx="233131" cy="19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다이아몬드 60"/>
          <p:cNvSpPr/>
          <p:nvPr/>
        </p:nvSpPr>
        <p:spPr>
          <a:xfrm>
            <a:off x="5928207" y="1273684"/>
            <a:ext cx="1952546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 dirty="0"/>
              <a:t>Recruitment</a:t>
            </a:r>
            <a:endParaRPr lang="ko-KR" altLang="en-US" sz="1100" dirty="0"/>
          </a:p>
        </p:txBody>
      </p:sp>
      <p:cxnSp>
        <p:nvCxnSpPr>
          <p:cNvPr id="69" name="직선 연결선 68"/>
          <p:cNvCxnSpPr/>
          <p:nvPr/>
        </p:nvCxnSpPr>
        <p:spPr>
          <a:xfrm>
            <a:off x="7811529" y="1673604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8059531" y="1415645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Employee</a:t>
            </a:r>
            <a:endParaRPr lang="ko-KR" altLang="en-US" dirty="0"/>
          </a:p>
        </p:txBody>
      </p:sp>
      <p:cxnSp>
        <p:nvCxnSpPr>
          <p:cNvPr id="76" name="직선 연결선 75"/>
          <p:cNvCxnSpPr>
            <a:stCxn id="71" idx="0"/>
            <a:endCxn id="78" idx="4"/>
          </p:cNvCxnSpPr>
          <p:nvPr/>
        </p:nvCxnSpPr>
        <p:spPr>
          <a:xfrm flipH="1" flipV="1">
            <a:off x="7367408" y="924188"/>
            <a:ext cx="1310374" cy="491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6647830" y="479571"/>
            <a:ext cx="14391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/>
              <a:t>EmpNo</a:t>
            </a:r>
            <a:endParaRPr lang="ko-KR" altLang="en-US" sz="1400" dirty="0"/>
          </a:p>
        </p:txBody>
      </p:sp>
      <p:cxnSp>
        <p:nvCxnSpPr>
          <p:cNvPr id="80" name="직선 연결선 79"/>
          <p:cNvCxnSpPr/>
          <p:nvPr/>
        </p:nvCxnSpPr>
        <p:spPr>
          <a:xfrm>
            <a:off x="7024728" y="831454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71" idx="0"/>
            <a:endCxn id="84" idx="4"/>
          </p:cNvCxnSpPr>
          <p:nvPr/>
        </p:nvCxnSpPr>
        <p:spPr>
          <a:xfrm flipV="1">
            <a:off x="8677782" y="931181"/>
            <a:ext cx="207026" cy="4844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타원 83"/>
          <p:cNvSpPr/>
          <p:nvPr/>
        </p:nvSpPr>
        <p:spPr>
          <a:xfrm>
            <a:off x="8223825" y="48656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Salary</a:t>
            </a:r>
            <a:endParaRPr lang="ko-KR" altLang="en-US" sz="1400" dirty="0"/>
          </a:p>
        </p:txBody>
      </p:sp>
      <p:cxnSp>
        <p:nvCxnSpPr>
          <p:cNvPr id="87" name="직선 연결선 86"/>
          <p:cNvCxnSpPr>
            <a:stCxn id="71" idx="3"/>
            <a:endCxn id="89" idx="4"/>
          </p:cNvCxnSpPr>
          <p:nvPr/>
        </p:nvCxnSpPr>
        <p:spPr>
          <a:xfrm flipV="1">
            <a:off x="9296033" y="1040236"/>
            <a:ext cx="1214411" cy="5977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타원 88"/>
          <p:cNvSpPr/>
          <p:nvPr/>
        </p:nvSpPr>
        <p:spPr>
          <a:xfrm>
            <a:off x="9849461" y="59561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Title</a:t>
            </a:r>
            <a:endParaRPr lang="ko-KR" altLang="en-US" sz="14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5304000" y="637565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/>
          <p:cNvCxnSpPr>
            <a:stCxn id="71" idx="2"/>
            <a:endCxn id="99" idx="0"/>
          </p:cNvCxnSpPr>
          <p:nvPr/>
        </p:nvCxnSpPr>
        <p:spPr>
          <a:xfrm flipH="1">
            <a:off x="8560903" y="1860262"/>
            <a:ext cx="116879" cy="953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다이아몬드 98"/>
          <p:cNvSpPr/>
          <p:nvPr/>
        </p:nvSpPr>
        <p:spPr>
          <a:xfrm>
            <a:off x="7609516" y="2814027"/>
            <a:ext cx="1902774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Work for</a:t>
            </a:r>
            <a:endParaRPr lang="ko-KR" altLang="en-US" sz="1400" dirty="0"/>
          </a:p>
        </p:txBody>
      </p:sp>
      <p:cxnSp>
        <p:nvCxnSpPr>
          <p:cNvPr id="105" name="직선 연결선 104"/>
          <p:cNvCxnSpPr>
            <a:cxnSpLocks/>
            <a:stCxn id="99" idx="3"/>
            <a:endCxn id="41" idx="1"/>
          </p:cNvCxnSpPr>
          <p:nvPr/>
        </p:nvCxnSpPr>
        <p:spPr>
          <a:xfrm flipV="1">
            <a:off x="9512290" y="3179580"/>
            <a:ext cx="783321" cy="7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4615939" y="3272447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Customer</a:t>
            </a:r>
            <a:endParaRPr lang="ko-KR" altLang="en-US" dirty="0"/>
          </a:p>
        </p:txBody>
      </p:sp>
      <p:grpSp>
        <p:nvGrpSpPr>
          <p:cNvPr id="129" name="그룹 128"/>
          <p:cNvGrpSpPr/>
          <p:nvPr/>
        </p:nvGrpSpPr>
        <p:grpSpPr>
          <a:xfrm>
            <a:off x="3045288" y="2866594"/>
            <a:ext cx="1536192" cy="444617"/>
            <a:chOff x="9413889" y="2615453"/>
            <a:chExt cx="1536192" cy="444617"/>
          </a:xfrm>
        </p:grpSpPr>
        <p:sp>
          <p:nvSpPr>
            <p:cNvPr id="123" name="타원 122"/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dirty="0" err="1"/>
                <a:t>PssprtNum</a:t>
              </a:r>
              <a:endParaRPr lang="ko-KR" altLang="en-US" sz="1400" dirty="0"/>
            </a:p>
          </p:txBody>
        </p:sp>
        <p:cxnSp>
          <p:nvCxnSpPr>
            <p:cNvPr id="124" name="직선 연결선 123"/>
            <p:cNvCxnSpPr/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7" name="직선 연결선 126"/>
          <p:cNvCxnSpPr>
            <a:cxnSpLocks/>
            <a:stCxn id="123" idx="6"/>
            <a:endCxn id="113" idx="0"/>
          </p:cNvCxnSpPr>
          <p:nvPr/>
        </p:nvCxnSpPr>
        <p:spPr>
          <a:xfrm>
            <a:off x="4581480" y="3088903"/>
            <a:ext cx="652710" cy="183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/>
          <p:cNvCxnSpPr>
            <a:cxnSpLocks/>
            <a:stCxn id="113" idx="1"/>
            <a:endCxn id="133" idx="6"/>
          </p:cNvCxnSpPr>
          <p:nvPr/>
        </p:nvCxnSpPr>
        <p:spPr>
          <a:xfrm flipH="1">
            <a:off x="4001676" y="3494756"/>
            <a:ext cx="614263" cy="80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타원 132"/>
          <p:cNvSpPr/>
          <p:nvPr/>
        </p:nvSpPr>
        <p:spPr>
          <a:xfrm>
            <a:off x="2679710" y="3352736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Name</a:t>
            </a:r>
            <a:endParaRPr lang="ko-KR" altLang="en-US" sz="1400" dirty="0"/>
          </a:p>
        </p:txBody>
      </p:sp>
      <p:cxnSp>
        <p:nvCxnSpPr>
          <p:cNvPr id="141" name="직선 연결선 140"/>
          <p:cNvCxnSpPr>
            <a:cxnSpLocks/>
            <a:stCxn id="113" idx="0"/>
            <a:endCxn id="143" idx="4"/>
          </p:cNvCxnSpPr>
          <p:nvPr/>
        </p:nvCxnSpPr>
        <p:spPr>
          <a:xfrm flipH="1" flipV="1">
            <a:off x="5222597" y="2884666"/>
            <a:ext cx="11593" cy="3877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타원 142"/>
          <p:cNvSpPr/>
          <p:nvPr/>
        </p:nvSpPr>
        <p:spPr>
          <a:xfrm>
            <a:off x="4829987" y="2440049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ID</a:t>
            </a:r>
            <a:endParaRPr lang="ko-KR" altLang="en-US" sz="1400"/>
          </a:p>
        </p:txBody>
      </p:sp>
      <p:cxnSp>
        <p:nvCxnSpPr>
          <p:cNvPr id="157" name="직선 연결선 156"/>
          <p:cNvCxnSpPr>
            <a:stCxn id="137" idx="2"/>
            <a:endCxn id="185" idx="0"/>
          </p:cNvCxnSpPr>
          <p:nvPr/>
        </p:nvCxnSpPr>
        <p:spPr>
          <a:xfrm flipH="1">
            <a:off x="6271531" y="5621045"/>
            <a:ext cx="1132813" cy="372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6786093" y="5064562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Boarding Pass</a:t>
            </a:r>
            <a:endParaRPr lang="ko-KR" altLang="en-US" dirty="0"/>
          </a:p>
        </p:txBody>
      </p:sp>
      <p:cxnSp>
        <p:nvCxnSpPr>
          <p:cNvPr id="151" name="직선 연결선 150"/>
          <p:cNvCxnSpPr>
            <a:stCxn id="137" idx="3"/>
            <a:endCxn id="165" idx="2"/>
          </p:cNvCxnSpPr>
          <p:nvPr/>
        </p:nvCxnSpPr>
        <p:spPr>
          <a:xfrm>
            <a:off x="8022595" y="5342804"/>
            <a:ext cx="1167306" cy="609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/>
          <p:cNvCxnSpPr>
            <a:stCxn id="137" idx="2"/>
            <a:endCxn id="168" idx="2"/>
          </p:cNvCxnSpPr>
          <p:nvPr/>
        </p:nvCxnSpPr>
        <p:spPr>
          <a:xfrm>
            <a:off x="7404344" y="5621045"/>
            <a:ext cx="1662931" cy="432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직선 연결선 154"/>
          <p:cNvCxnSpPr>
            <a:stCxn id="137" idx="2"/>
            <a:endCxn id="172" idx="0"/>
          </p:cNvCxnSpPr>
          <p:nvPr/>
        </p:nvCxnSpPr>
        <p:spPr>
          <a:xfrm>
            <a:off x="7404344" y="5621045"/>
            <a:ext cx="536544" cy="6474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/>
          <p:cNvCxnSpPr>
            <a:stCxn id="137" idx="1"/>
            <a:endCxn id="188" idx="0"/>
          </p:cNvCxnSpPr>
          <p:nvPr/>
        </p:nvCxnSpPr>
        <p:spPr>
          <a:xfrm flipH="1">
            <a:off x="4869245" y="5342804"/>
            <a:ext cx="1916848" cy="5532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 160"/>
          <p:cNvCxnSpPr>
            <a:stCxn id="137" idx="1"/>
            <a:endCxn id="195" idx="6"/>
          </p:cNvCxnSpPr>
          <p:nvPr/>
        </p:nvCxnSpPr>
        <p:spPr>
          <a:xfrm flipH="1" flipV="1">
            <a:off x="6400427" y="4939641"/>
            <a:ext cx="385666" cy="4031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연결선 162"/>
          <p:cNvCxnSpPr>
            <a:stCxn id="137" idx="1"/>
            <a:endCxn id="192" idx="6"/>
          </p:cNvCxnSpPr>
          <p:nvPr/>
        </p:nvCxnSpPr>
        <p:spPr>
          <a:xfrm flipH="1" flipV="1">
            <a:off x="5528715" y="5270587"/>
            <a:ext cx="1257378" cy="722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타원 164"/>
          <p:cNvSpPr/>
          <p:nvPr/>
        </p:nvSpPr>
        <p:spPr>
          <a:xfrm>
            <a:off x="9189901" y="5181454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Arrival</a:t>
            </a:r>
            <a:endParaRPr lang="ko-KR" altLang="en-US" sz="1400" dirty="0"/>
          </a:p>
        </p:txBody>
      </p:sp>
      <p:sp>
        <p:nvSpPr>
          <p:cNvPr id="168" name="타원 167"/>
          <p:cNvSpPr/>
          <p:nvPr/>
        </p:nvSpPr>
        <p:spPr>
          <a:xfrm>
            <a:off x="9067275" y="5831393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Departure</a:t>
            </a:r>
            <a:endParaRPr lang="ko-KR" altLang="en-US" sz="1400" dirty="0"/>
          </a:p>
        </p:txBody>
      </p:sp>
      <p:sp>
        <p:nvSpPr>
          <p:cNvPr id="172" name="타원 171"/>
          <p:cNvSpPr/>
          <p:nvPr/>
        </p:nvSpPr>
        <p:spPr>
          <a:xfrm>
            <a:off x="7133312" y="6268470"/>
            <a:ext cx="161515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rgbClr val="00B050"/>
                </a:solidFill>
              </a:rPr>
              <a:t>Flight No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85" name="타원 184"/>
          <p:cNvSpPr/>
          <p:nvPr/>
        </p:nvSpPr>
        <p:spPr>
          <a:xfrm>
            <a:off x="5556720" y="5993205"/>
            <a:ext cx="142962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/>
              <a:t>Resrv</a:t>
            </a:r>
            <a:r>
              <a:rPr lang="en-US" altLang="ko-KR" sz="1400" dirty="0"/>
              <a:t> No</a:t>
            </a:r>
            <a:endParaRPr lang="ko-KR" altLang="en-US" sz="1400" dirty="0"/>
          </a:p>
        </p:txBody>
      </p:sp>
      <p:sp>
        <p:nvSpPr>
          <p:cNvPr id="188" name="타원 187"/>
          <p:cNvSpPr/>
          <p:nvPr/>
        </p:nvSpPr>
        <p:spPr>
          <a:xfrm>
            <a:off x="4181770" y="5896059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Seat No</a:t>
            </a:r>
            <a:endParaRPr lang="ko-KR" altLang="en-US" sz="1400" dirty="0"/>
          </a:p>
        </p:txBody>
      </p:sp>
      <p:sp>
        <p:nvSpPr>
          <p:cNvPr id="192" name="타원 191"/>
          <p:cNvSpPr/>
          <p:nvPr/>
        </p:nvSpPr>
        <p:spPr>
          <a:xfrm>
            <a:off x="4176459" y="5048278"/>
            <a:ext cx="135225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Class</a:t>
            </a:r>
            <a:endParaRPr lang="ko-KR" altLang="en-US" sz="1400" dirty="0"/>
          </a:p>
        </p:txBody>
      </p:sp>
      <p:sp>
        <p:nvSpPr>
          <p:cNvPr id="195" name="타원 194"/>
          <p:cNvSpPr/>
          <p:nvPr/>
        </p:nvSpPr>
        <p:spPr>
          <a:xfrm>
            <a:off x="5615207" y="4717332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date</a:t>
            </a:r>
            <a:endParaRPr lang="ko-KR" altLang="en-US" sz="1400" dirty="0"/>
          </a:p>
        </p:txBody>
      </p:sp>
      <p:cxnSp>
        <p:nvCxnSpPr>
          <p:cNvPr id="214" name="직선 연결선 213"/>
          <p:cNvCxnSpPr/>
          <p:nvPr/>
        </p:nvCxnSpPr>
        <p:spPr>
          <a:xfrm>
            <a:off x="5875531" y="6292342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직선 연결선 282"/>
          <p:cNvCxnSpPr>
            <a:stCxn id="71" idx="3"/>
            <a:endCxn id="285" idx="2"/>
          </p:cNvCxnSpPr>
          <p:nvPr/>
        </p:nvCxnSpPr>
        <p:spPr>
          <a:xfrm>
            <a:off x="9296033" y="1637953"/>
            <a:ext cx="1209430" cy="31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타원 284"/>
          <p:cNvSpPr/>
          <p:nvPr/>
        </p:nvSpPr>
        <p:spPr>
          <a:xfrm>
            <a:off x="10505463" y="144718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Manager</a:t>
            </a:r>
            <a:endParaRPr lang="ko-KR" altLang="en-US" sz="1400" dirty="0"/>
          </a:p>
        </p:txBody>
      </p:sp>
      <p:sp>
        <p:nvSpPr>
          <p:cNvPr id="41" name="직사각형 40"/>
          <p:cNvSpPr/>
          <p:nvPr/>
        </p:nvSpPr>
        <p:spPr>
          <a:xfrm>
            <a:off x="10295611" y="2901338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Airplane</a:t>
            </a:r>
            <a:endParaRPr lang="ko-KR" altLang="en-US" dirty="0"/>
          </a:p>
        </p:txBody>
      </p:sp>
      <p:cxnSp>
        <p:nvCxnSpPr>
          <p:cNvPr id="47" name="직선 연결선 46"/>
          <p:cNvCxnSpPr>
            <a:cxnSpLocks/>
            <a:stCxn id="41" idx="0"/>
            <a:endCxn id="52" idx="4"/>
          </p:cNvCxnSpPr>
          <p:nvPr/>
        </p:nvCxnSpPr>
        <p:spPr>
          <a:xfrm flipH="1" flipV="1">
            <a:off x="10861346" y="2541744"/>
            <a:ext cx="52516" cy="3595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타원 51"/>
          <p:cNvSpPr/>
          <p:nvPr/>
        </p:nvSpPr>
        <p:spPr>
          <a:xfrm>
            <a:off x="10063576" y="2097127"/>
            <a:ext cx="159554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Flight No</a:t>
            </a:r>
            <a:endParaRPr lang="ko-KR" altLang="en-US" sz="1400" dirty="0"/>
          </a:p>
        </p:txBody>
      </p:sp>
      <p:cxnSp>
        <p:nvCxnSpPr>
          <p:cNvPr id="128" name="직선 연결선 127"/>
          <p:cNvCxnSpPr/>
          <p:nvPr/>
        </p:nvCxnSpPr>
        <p:spPr>
          <a:xfrm>
            <a:off x="10474018" y="2456814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2" name="다이아몬드 181"/>
          <p:cNvSpPr/>
          <p:nvPr/>
        </p:nvSpPr>
        <p:spPr>
          <a:xfrm>
            <a:off x="7615493" y="3931688"/>
            <a:ext cx="1896797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For Boarding</a:t>
            </a:r>
            <a:endParaRPr lang="ko-KR" altLang="en-US" sz="1400"/>
          </a:p>
        </p:txBody>
      </p:sp>
      <p:cxnSp>
        <p:nvCxnSpPr>
          <p:cNvPr id="253" name="직선 연결선 252"/>
          <p:cNvCxnSpPr>
            <a:cxnSpLocks/>
            <a:stCxn id="182" idx="0"/>
            <a:endCxn id="41" idx="1"/>
          </p:cNvCxnSpPr>
          <p:nvPr/>
        </p:nvCxnSpPr>
        <p:spPr>
          <a:xfrm flipV="1">
            <a:off x="8563892" y="3179580"/>
            <a:ext cx="1731719" cy="7521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직선 연결선 254"/>
          <p:cNvCxnSpPr>
            <a:stCxn id="182" idx="2"/>
            <a:endCxn id="137" idx="0"/>
          </p:cNvCxnSpPr>
          <p:nvPr/>
        </p:nvCxnSpPr>
        <p:spPr>
          <a:xfrm flipH="1">
            <a:off x="7404344" y="4678309"/>
            <a:ext cx="1159548" cy="3862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직선 연결선 286"/>
          <p:cNvCxnSpPr>
            <a:stCxn id="41" idx="2"/>
            <a:endCxn id="288" idx="0"/>
          </p:cNvCxnSpPr>
          <p:nvPr/>
        </p:nvCxnSpPr>
        <p:spPr>
          <a:xfrm flipH="1">
            <a:off x="10217615" y="3457821"/>
            <a:ext cx="696247" cy="4185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타원 287"/>
          <p:cNvSpPr/>
          <p:nvPr/>
        </p:nvSpPr>
        <p:spPr>
          <a:xfrm>
            <a:off x="9481438" y="3876388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rgbClr val="00B050"/>
                </a:solidFill>
              </a:rPr>
              <a:t>Attendant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15" name="다이아몬드 114">
            <a:extLst>
              <a:ext uri="{FF2B5EF4-FFF2-40B4-BE49-F238E27FC236}">
                <a16:creationId xmlns:a16="http://schemas.microsoft.com/office/drawing/2014/main" id="{5B753ECD-ABBC-4333-B6DC-50C0BCC49F2C}"/>
              </a:ext>
            </a:extLst>
          </p:cNvPr>
          <p:cNvSpPr/>
          <p:nvPr/>
        </p:nvSpPr>
        <p:spPr>
          <a:xfrm>
            <a:off x="5811007" y="2541539"/>
            <a:ext cx="182682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Service</a:t>
            </a:r>
            <a:endParaRPr lang="ko-KR" altLang="en-US" sz="1400" dirty="0"/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C40A099D-12CA-4307-813D-F8C143049E28}"/>
              </a:ext>
            </a:extLst>
          </p:cNvPr>
          <p:cNvCxnSpPr>
            <a:cxnSpLocks/>
            <a:stCxn id="115" idx="2"/>
            <a:endCxn id="113" idx="3"/>
          </p:cNvCxnSpPr>
          <p:nvPr/>
        </p:nvCxnSpPr>
        <p:spPr>
          <a:xfrm flipH="1">
            <a:off x="5852441" y="3288160"/>
            <a:ext cx="871978" cy="2065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31AEFCF-7DA2-4679-B726-233AFF642ACB}"/>
              </a:ext>
            </a:extLst>
          </p:cNvPr>
          <p:cNvCxnSpPr>
            <a:cxnSpLocks/>
            <a:stCxn id="41" idx="2"/>
            <a:endCxn id="209" idx="0"/>
          </p:cNvCxnSpPr>
          <p:nvPr/>
        </p:nvCxnSpPr>
        <p:spPr>
          <a:xfrm>
            <a:off x="10913862" y="3457821"/>
            <a:ext cx="464373" cy="8141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9" name="타원 208">
            <a:extLst>
              <a:ext uri="{FF2B5EF4-FFF2-40B4-BE49-F238E27FC236}">
                <a16:creationId xmlns:a16="http://schemas.microsoft.com/office/drawing/2014/main" id="{D488C7B1-F429-43C1-B1CB-DC31C930EA5E}"/>
              </a:ext>
            </a:extLst>
          </p:cNvPr>
          <p:cNvSpPr/>
          <p:nvPr/>
        </p:nvSpPr>
        <p:spPr>
          <a:xfrm>
            <a:off x="10642058" y="4272001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B050"/>
                </a:solidFill>
              </a:rPr>
              <a:t>Captain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E0764744-FBF4-4058-9FEC-57BA3FE17B11}"/>
              </a:ext>
            </a:extLst>
          </p:cNvPr>
          <p:cNvCxnSpPr>
            <a:cxnSpLocks/>
            <a:stCxn id="113" idx="2"/>
            <a:endCxn id="217" idx="0"/>
          </p:cNvCxnSpPr>
          <p:nvPr/>
        </p:nvCxnSpPr>
        <p:spPr>
          <a:xfrm flipH="1">
            <a:off x="3831781" y="3717064"/>
            <a:ext cx="1402409" cy="3249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다이아몬드 216">
            <a:extLst>
              <a:ext uri="{FF2B5EF4-FFF2-40B4-BE49-F238E27FC236}">
                <a16:creationId xmlns:a16="http://schemas.microsoft.com/office/drawing/2014/main" id="{9BFDFA3F-21C3-4CC7-9D99-149179622721}"/>
              </a:ext>
            </a:extLst>
          </p:cNvPr>
          <p:cNvSpPr/>
          <p:nvPr/>
        </p:nvSpPr>
        <p:spPr>
          <a:xfrm>
            <a:off x="2918369" y="4041982"/>
            <a:ext cx="182682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Buy</a:t>
            </a:r>
            <a:endParaRPr lang="ko-KR" altLang="en-US" sz="1400" dirty="0"/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7EDB93CD-41AF-48D0-BDA2-7F6C15CFC812}"/>
              </a:ext>
            </a:extLst>
          </p:cNvPr>
          <p:cNvSpPr/>
          <p:nvPr/>
        </p:nvSpPr>
        <p:spPr>
          <a:xfrm>
            <a:off x="475229" y="3574426"/>
            <a:ext cx="1236502" cy="5872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Duty free </a:t>
            </a:r>
          </a:p>
          <a:p>
            <a:pPr algn="ctr">
              <a:defRPr/>
            </a:pPr>
            <a:r>
              <a:rPr lang="en-US" altLang="ko-KR" dirty="0"/>
              <a:t>Goods</a:t>
            </a:r>
            <a:endParaRPr lang="ko-KR" altLang="en-US" dirty="0"/>
          </a:p>
        </p:txBody>
      </p: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2A332210-6BA5-43B4-82B4-42DC7FF10763}"/>
              </a:ext>
            </a:extLst>
          </p:cNvPr>
          <p:cNvCxnSpPr>
            <a:cxnSpLocks/>
            <a:stCxn id="217" idx="1"/>
            <a:endCxn id="223" idx="3"/>
          </p:cNvCxnSpPr>
          <p:nvPr/>
        </p:nvCxnSpPr>
        <p:spPr>
          <a:xfrm flipH="1" flipV="1">
            <a:off x="1711731" y="3868054"/>
            <a:ext cx="1206638" cy="5472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id="{255BB957-4424-4585-8295-570395A5D2D5}"/>
              </a:ext>
            </a:extLst>
          </p:cNvPr>
          <p:cNvCxnSpPr>
            <a:cxnSpLocks/>
            <a:stCxn id="217" idx="2"/>
            <a:endCxn id="236" idx="0"/>
          </p:cNvCxnSpPr>
          <p:nvPr/>
        </p:nvCxnSpPr>
        <p:spPr>
          <a:xfrm flipH="1">
            <a:off x="3057285" y="4788603"/>
            <a:ext cx="774496" cy="360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EDCC1AFC-C505-4586-A29D-6124C36D6159}"/>
              </a:ext>
            </a:extLst>
          </p:cNvPr>
          <p:cNvSpPr/>
          <p:nvPr/>
        </p:nvSpPr>
        <p:spPr>
          <a:xfrm>
            <a:off x="2439034" y="5148843"/>
            <a:ext cx="1236502" cy="622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In-flight meal</a:t>
            </a:r>
            <a:endParaRPr lang="ko-KR" altLang="en-US" dirty="0"/>
          </a:p>
        </p:txBody>
      </p: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09B91E7C-D48E-46FF-B4C2-8FE71806E0E0}"/>
              </a:ext>
            </a:extLst>
          </p:cNvPr>
          <p:cNvCxnSpPr>
            <a:cxnSpLocks/>
            <a:stCxn id="236" idx="2"/>
            <a:endCxn id="247" idx="0"/>
          </p:cNvCxnSpPr>
          <p:nvPr/>
        </p:nvCxnSpPr>
        <p:spPr>
          <a:xfrm>
            <a:off x="3057285" y="5770857"/>
            <a:ext cx="0" cy="255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7" name="타원 246">
            <a:extLst>
              <a:ext uri="{FF2B5EF4-FFF2-40B4-BE49-F238E27FC236}">
                <a16:creationId xmlns:a16="http://schemas.microsoft.com/office/drawing/2014/main" id="{4A1EEC17-4318-4955-93CE-A5F0A39A1E7A}"/>
              </a:ext>
            </a:extLst>
          </p:cNvPr>
          <p:cNvSpPr/>
          <p:nvPr/>
        </p:nvSpPr>
        <p:spPr>
          <a:xfrm>
            <a:off x="2396302" y="6026723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/>
              <a:t>Resrv</a:t>
            </a:r>
            <a:r>
              <a:rPr lang="en-US" altLang="ko-KR" sz="1400" dirty="0"/>
              <a:t> No</a:t>
            </a:r>
            <a:endParaRPr lang="ko-KR" altLang="en-US" sz="1400" dirty="0"/>
          </a:p>
        </p:txBody>
      </p: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D36DDCAC-4608-468A-9A21-DEE909296B97}"/>
              </a:ext>
            </a:extLst>
          </p:cNvPr>
          <p:cNvCxnSpPr/>
          <p:nvPr/>
        </p:nvCxnSpPr>
        <p:spPr>
          <a:xfrm>
            <a:off x="2495305" y="6340676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D7747C3E-4BBB-4717-AC5A-ADF848861528}"/>
              </a:ext>
            </a:extLst>
          </p:cNvPr>
          <p:cNvCxnSpPr>
            <a:cxnSpLocks/>
            <a:stCxn id="223" idx="2"/>
            <a:endCxn id="260" idx="0"/>
          </p:cNvCxnSpPr>
          <p:nvPr/>
        </p:nvCxnSpPr>
        <p:spPr>
          <a:xfrm>
            <a:off x="1093480" y="4161682"/>
            <a:ext cx="0" cy="2084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7781EBF3-4F09-46C8-AF75-AADE115FA541}"/>
              </a:ext>
            </a:extLst>
          </p:cNvPr>
          <p:cNvGrpSpPr/>
          <p:nvPr/>
        </p:nvGrpSpPr>
        <p:grpSpPr>
          <a:xfrm>
            <a:off x="256810" y="4370124"/>
            <a:ext cx="1673340" cy="444618"/>
            <a:chOff x="395061" y="4140377"/>
            <a:chExt cx="1396838" cy="444618"/>
          </a:xfrm>
        </p:grpSpPr>
        <p:sp>
          <p:nvSpPr>
            <p:cNvPr id="260" name="타원 259">
              <a:extLst>
                <a:ext uri="{FF2B5EF4-FFF2-40B4-BE49-F238E27FC236}">
                  <a16:creationId xmlns:a16="http://schemas.microsoft.com/office/drawing/2014/main" id="{7559D9E0-FC3A-4C35-90E4-0BB0FD7926A0}"/>
                </a:ext>
              </a:extLst>
            </p:cNvPr>
            <p:cNvSpPr/>
            <p:nvPr/>
          </p:nvSpPr>
          <p:spPr>
            <a:xfrm>
              <a:off x="395061" y="4140377"/>
              <a:ext cx="1396838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dirty="0"/>
                <a:t>Product No</a:t>
              </a:r>
              <a:endParaRPr lang="ko-KR" altLang="en-US" sz="1400" dirty="0"/>
            </a:p>
          </p:txBody>
        </p: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id="{21B169C1-0AC4-4BA8-9BA2-F59E4457F786}"/>
                </a:ext>
              </a:extLst>
            </p:cNvPr>
            <p:cNvCxnSpPr/>
            <p:nvPr/>
          </p:nvCxnSpPr>
          <p:spPr>
            <a:xfrm>
              <a:off x="591538" y="4494309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F75059C2-106A-4381-A736-6264CFC76729}"/>
              </a:ext>
            </a:extLst>
          </p:cNvPr>
          <p:cNvCxnSpPr>
            <a:cxnSpLocks/>
            <a:stCxn id="223" idx="0"/>
            <a:endCxn id="286" idx="4"/>
          </p:cNvCxnSpPr>
          <p:nvPr/>
        </p:nvCxnSpPr>
        <p:spPr>
          <a:xfrm flipH="1" flipV="1">
            <a:off x="1087435" y="3428739"/>
            <a:ext cx="6045" cy="1456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6" name="타원 285">
            <a:extLst>
              <a:ext uri="{FF2B5EF4-FFF2-40B4-BE49-F238E27FC236}">
                <a16:creationId xmlns:a16="http://schemas.microsoft.com/office/drawing/2014/main" id="{51A9AD50-FF38-4EE3-A278-8BD510521DAD}"/>
              </a:ext>
            </a:extLst>
          </p:cNvPr>
          <p:cNvSpPr/>
          <p:nvPr/>
        </p:nvSpPr>
        <p:spPr>
          <a:xfrm>
            <a:off x="223369" y="2984121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Goods Name</a:t>
            </a:r>
            <a:endParaRPr lang="ko-KR" altLang="en-US" sz="1400" dirty="0"/>
          </a:p>
        </p:txBody>
      </p:sp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id="{3F521F79-D2CE-4A3C-8104-CF04EEF3055D}"/>
              </a:ext>
            </a:extLst>
          </p:cNvPr>
          <p:cNvCxnSpPr>
            <a:cxnSpLocks/>
            <a:stCxn id="236" idx="1"/>
            <a:endCxn id="297" idx="0"/>
          </p:cNvCxnSpPr>
          <p:nvPr/>
        </p:nvCxnSpPr>
        <p:spPr>
          <a:xfrm flipH="1">
            <a:off x="1308277" y="5459850"/>
            <a:ext cx="1130757" cy="610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7" name="타원 296">
            <a:extLst>
              <a:ext uri="{FF2B5EF4-FFF2-40B4-BE49-F238E27FC236}">
                <a16:creationId xmlns:a16="http://schemas.microsoft.com/office/drawing/2014/main" id="{85FF063D-BD3C-4191-A165-1B113091E5DF}"/>
              </a:ext>
            </a:extLst>
          </p:cNvPr>
          <p:cNvSpPr/>
          <p:nvPr/>
        </p:nvSpPr>
        <p:spPr>
          <a:xfrm>
            <a:off x="444211" y="6070033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Food code</a:t>
            </a:r>
            <a:endParaRPr lang="ko-KR" altLang="en-US" sz="1400" dirty="0"/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B321637E-5723-4171-B81F-61D46C79A914}"/>
              </a:ext>
            </a:extLst>
          </p:cNvPr>
          <p:cNvCxnSpPr>
            <a:cxnSpLocks/>
            <a:stCxn id="236" idx="1"/>
            <a:endCxn id="304" idx="6"/>
          </p:cNvCxnSpPr>
          <p:nvPr/>
        </p:nvCxnSpPr>
        <p:spPr>
          <a:xfrm flipH="1" flipV="1">
            <a:off x="1733044" y="5420841"/>
            <a:ext cx="705990" cy="390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4" name="타원 303">
            <a:extLst>
              <a:ext uri="{FF2B5EF4-FFF2-40B4-BE49-F238E27FC236}">
                <a16:creationId xmlns:a16="http://schemas.microsoft.com/office/drawing/2014/main" id="{EA73A0F4-FD69-422D-AA94-3C3FEA4C75AA}"/>
              </a:ext>
            </a:extLst>
          </p:cNvPr>
          <p:cNvSpPr/>
          <p:nvPr/>
        </p:nvSpPr>
        <p:spPr>
          <a:xfrm>
            <a:off x="4912" y="5198532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Date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939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/>
          <p:cNvSpPr/>
          <p:nvPr/>
        </p:nvSpPr>
        <p:spPr>
          <a:xfrm>
            <a:off x="4371376" y="950651"/>
            <a:ext cx="1624495" cy="1245765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FF0000"/>
                </a:solidFill>
              </a:rPr>
              <a:t>설계 </a:t>
            </a:r>
            <a:r>
              <a:rPr lang="en-US" altLang="ko-KR" dirty="0">
                <a:solidFill>
                  <a:srgbClr val="FF0000"/>
                </a:solidFill>
              </a:rPr>
              <a:t>Business</a:t>
            </a:r>
          </a:p>
          <a:p>
            <a:pPr algn="ctr">
              <a:defRPr/>
            </a:pPr>
            <a:endParaRPr lang="en-US" altLang="ko-KR" dirty="0">
              <a:solidFill>
                <a:srgbClr val="FF0000"/>
              </a:solidFill>
            </a:endParaRPr>
          </a:p>
          <a:p>
            <a:pPr algn="ctr">
              <a:defRPr/>
            </a:pPr>
            <a:endParaRPr lang="en-US" altLang="ko-KR" dirty="0"/>
          </a:p>
          <a:p>
            <a:pPr algn="ctr">
              <a:defRPr/>
            </a:pPr>
            <a:endParaRPr lang="ko-KR" altLang="en-US" dirty="0"/>
          </a:p>
        </p:txBody>
      </p:sp>
      <p:cxnSp>
        <p:nvCxnSpPr>
          <p:cNvPr id="255" name="직선 연결선 254"/>
          <p:cNvCxnSpPr>
            <a:cxnSpLocks/>
          </p:cNvCxnSpPr>
          <p:nvPr/>
        </p:nvCxnSpPr>
        <p:spPr>
          <a:xfrm>
            <a:off x="5230130" y="2666681"/>
            <a:ext cx="0" cy="1596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936A0F8C-0D20-4312-804C-3247F2588CA2}"/>
              </a:ext>
            </a:extLst>
          </p:cNvPr>
          <p:cNvCxnSpPr>
            <a:cxnSpLocks/>
          </p:cNvCxnSpPr>
          <p:nvPr/>
        </p:nvCxnSpPr>
        <p:spPr>
          <a:xfrm>
            <a:off x="5163234" y="2555844"/>
            <a:ext cx="1" cy="6634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73159485-7479-4A35-B991-5FE4DAC0E94F}"/>
              </a:ext>
            </a:extLst>
          </p:cNvPr>
          <p:cNvCxnSpPr>
            <a:cxnSpLocks/>
            <a:stCxn id="71" idx="2"/>
            <a:endCxn id="115" idx="0"/>
          </p:cNvCxnSpPr>
          <p:nvPr/>
        </p:nvCxnSpPr>
        <p:spPr>
          <a:xfrm flipH="1">
            <a:off x="8665254" y="1860262"/>
            <a:ext cx="12528" cy="4561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5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1959833" cy="522512"/>
          </a:xfrm>
          <a:prstGeom prst="roundRect">
            <a:avLst>
              <a:gd name="adj" fmla="val 10000"/>
            </a:avLst>
          </a:prstGeom>
          <a:solidFill>
            <a:schemeClr val="accent1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ko-KR" sz="2400">
                <a:solidFill>
                  <a:schemeClr val="bg2"/>
                </a:solidFill>
              </a:rPr>
              <a:t>E-R Diagram</a:t>
            </a:r>
            <a:endParaRPr lang="ko-KR" altLang="en-US" sz="2400">
              <a:solidFill>
                <a:schemeClr val="bg2"/>
              </a:solidFill>
            </a:endParaRPr>
          </a:p>
        </p:txBody>
      </p:sp>
      <p:cxnSp>
        <p:nvCxnSpPr>
          <p:cNvPr id="94" name="직선 연결선 93"/>
          <p:cNvCxnSpPr/>
          <p:nvPr/>
        </p:nvCxnSpPr>
        <p:spPr>
          <a:xfrm>
            <a:off x="7796149" y="1607890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타원 3"/>
          <p:cNvSpPr/>
          <p:nvPr/>
        </p:nvSpPr>
        <p:spPr>
          <a:xfrm>
            <a:off x="885037" y="415257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/>
              <a:t>ArptName</a:t>
            </a:r>
            <a:endParaRPr lang="ko-KR" altLang="en-US" sz="1400" dirty="0"/>
          </a:p>
        </p:txBody>
      </p:sp>
      <p:sp>
        <p:nvSpPr>
          <p:cNvPr id="5" name="다이아몬드 4"/>
          <p:cNvSpPr/>
          <p:nvPr/>
        </p:nvSpPr>
        <p:spPr>
          <a:xfrm>
            <a:off x="2787830" y="1278523"/>
            <a:ext cx="1582746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/>
              <a:t>Resident</a:t>
            </a:r>
            <a:endParaRPr lang="ko-KR" altLang="en-US" sz="1200" dirty="0"/>
          </a:p>
        </p:txBody>
      </p:sp>
      <p:sp>
        <p:nvSpPr>
          <p:cNvPr id="6" name="직사각형 5"/>
          <p:cNvSpPr/>
          <p:nvPr/>
        </p:nvSpPr>
        <p:spPr>
          <a:xfrm>
            <a:off x="1650048" y="1420173"/>
            <a:ext cx="934533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Airport</a:t>
            </a:r>
            <a:endParaRPr lang="ko-KR" altLang="en-US" dirty="0"/>
          </a:p>
        </p:txBody>
      </p:sp>
      <p:cxnSp>
        <p:nvCxnSpPr>
          <p:cNvPr id="8" name="직선 연결선 7"/>
          <p:cNvCxnSpPr>
            <a:cxnSpLocks/>
            <a:stCxn id="4" idx="4"/>
            <a:endCxn id="6" idx="0"/>
          </p:cNvCxnSpPr>
          <p:nvPr/>
        </p:nvCxnSpPr>
        <p:spPr>
          <a:xfrm>
            <a:off x="1692478" y="859874"/>
            <a:ext cx="424837" cy="560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27994" y="2374084"/>
            <a:ext cx="1906754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Contact Num</a:t>
            </a:r>
            <a:endParaRPr lang="ko-KR" altLang="en-US" sz="1400" dirty="0"/>
          </a:p>
        </p:txBody>
      </p:sp>
      <p:cxnSp>
        <p:nvCxnSpPr>
          <p:cNvPr id="17" name="직선 연결선 16"/>
          <p:cNvCxnSpPr>
            <a:cxnSpLocks/>
            <a:stCxn id="6" idx="1"/>
            <a:endCxn id="12" idx="0"/>
          </p:cNvCxnSpPr>
          <p:nvPr/>
        </p:nvCxnSpPr>
        <p:spPr>
          <a:xfrm flipH="1">
            <a:off x="981371" y="1642482"/>
            <a:ext cx="668677" cy="731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1964422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Affiliation</a:t>
            </a:r>
            <a:endParaRPr lang="ko-KR" altLang="en-US" sz="1400" dirty="0"/>
          </a:p>
        </p:txBody>
      </p:sp>
      <p:cxnSp>
        <p:nvCxnSpPr>
          <p:cNvPr id="22" name="직선 연결선 21"/>
          <p:cNvCxnSpPr>
            <a:cxnSpLocks/>
            <a:stCxn id="6" idx="2"/>
            <a:endCxn id="20" idx="0"/>
          </p:cNvCxnSpPr>
          <p:nvPr/>
        </p:nvCxnSpPr>
        <p:spPr>
          <a:xfrm>
            <a:off x="2117315" y="1864790"/>
            <a:ext cx="711173" cy="509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cxnSpLocks/>
            <a:stCxn id="6" idx="3"/>
            <a:endCxn id="5" idx="1"/>
          </p:cNvCxnSpPr>
          <p:nvPr/>
        </p:nvCxnSpPr>
        <p:spPr>
          <a:xfrm>
            <a:off x="2584581" y="1642482"/>
            <a:ext cx="203249" cy="9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4306073" y="1629159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306073" y="1689280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4661832" y="1283428"/>
            <a:ext cx="1033244" cy="687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err="1"/>
              <a:t>T’Way</a:t>
            </a:r>
            <a:r>
              <a:rPr lang="en-US" altLang="ko-KR" dirty="0"/>
              <a:t> Airline</a:t>
            </a:r>
            <a:endParaRPr lang="ko-KR" altLang="en-US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1179701" y="742911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28" idx="0"/>
            <a:endCxn id="42" idx="4"/>
          </p:cNvCxnSpPr>
          <p:nvPr/>
        </p:nvCxnSpPr>
        <p:spPr>
          <a:xfrm flipH="1" flipV="1">
            <a:off x="3913463" y="859874"/>
            <a:ext cx="1264991" cy="423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3036812" y="415257"/>
            <a:ext cx="175330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>
                <a:solidFill>
                  <a:srgbClr val="00B050"/>
                </a:solidFill>
              </a:rPr>
              <a:t>AportName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48" name="직선 연결선 47"/>
          <p:cNvCxnSpPr>
            <a:stCxn id="28" idx="0"/>
            <a:endCxn id="50" idx="4"/>
          </p:cNvCxnSpPr>
          <p:nvPr/>
        </p:nvCxnSpPr>
        <p:spPr>
          <a:xfrm flipV="1">
            <a:off x="5178454" y="739632"/>
            <a:ext cx="526671" cy="543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5044142" y="295015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Director</a:t>
            </a:r>
            <a:endParaRPr lang="ko-KR" altLang="en-US" sz="1400" dirty="0"/>
          </a:p>
        </p:txBody>
      </p:sp>
      <p:cxnSp>
        <p:nvCxnSpPr>
          <p:cNvPr id="59" name="직선 연결선 58"/>
          <p:cNvCxnSpPr>
            <a:cxnSpLocks/>
            <a:stCxn id="28" idx="3"/>
            <a:endCxn id="61" idx="1"/>
          </p:cNvCxnSpPr>
          <p:nvPr/>
        </p:nvCxnSpPr>
        <p:spPr>
          <a:xfrm>
            <a:off x="5695076" y="1627377"/>
            <a:ext cx="273392" cy="19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다이아몬드 60"/>
          <p:cNvSpPr/>
          <p:nvPr/>
        </p:nvSpPr>
        <p:spPr>
          <a:xfrm>
            <a:off x="5968468" y="1273684"/>
            <a:ext cx="1912285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 dirty="0"/>
              <a:t>Recruitment</a:t>
            </a:r>
            <a:endParaRPr lang="ko-KR" altLang="en-US" sz="1100" dirty="0"/>
          </a:p>
        </p:txBody>
      </p:sp>
      <p:cxnSp>
        <p:nvCxnSpPr>
          <p:cNvPr id="69" name="직선 연결선 68"/>
          <p:cNvCxnSpPr/>
          <p:nvPr/>
        </p:nvCxnSpPr>
        <p:spPr>
          <a:xfrm>
            <a:off x="7811529" y="1673604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8059531" y="1415645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Employee</a:t>
            </a:r>
            <a:endParaRPr lang="ko-KR" altLang="en-US" dirty="0"/>
          </a:p>
        </p:txBody>
      </p:sp>
      <p:cxnSp>
        <p:nvCxnSpPr>
          <p:cNvPr id="76" name="직선 연결선 75"/>
          <p:cNvCxnSpPr>
            <a:stCxn id="71" idx="0"/>
            <a:endCxn id="78" idx="4"/>
          </p:cNvCxnSpPr>
          <p:nvPr/>
        </p:nvCxnSpPr>
        <p:spPr>
          <a:xfrm flipH="1" flipV="1">
            <a:off x="7339715" y="680451"/>
            <a:ext cx="1338067" cy="7351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6620137" y="235834"/>
            <a:ext cx="14391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Emp No</a:t>
            </a:r>
            <a:endParaRPr lang="ko-KR" altLang="en-US" sz="1400" dirty="0"/>
          </a:p>
        </p:txBody>
      </p:sp>
      <p:cxnSp>
        <p:nvCxnSpPr>
          <p:cNvPr id="80" name="직선 연결선 79"/>
          <p:cNvCxnSpPr/>
          <p:nvPr/>
        </p:nvCxnSpPr>
        <p:spPr>
          <a:xfrm>
            <a:off x="6959842" y="577661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71" idx="0"/>
            <a:endCxn id="84" idx="4"/>
          </p:cNvCxnSpPr>
          <p:nvPr/>
        </p:nvCxnSpPr>
        <p:spPr>
          <a:xfrm flipV="1">
            <a:off x="8677782" y="679556"/>
            <a:ext cx="74748" cy="7360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타원 83"/>
          <p:cNvSpPr/>
          <p:nvPr/>
        </p:nvSpPr>
        <p:spPr>
          <a:xfrm>
            <a:off x="8091547" y="23493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Salary</a:t>
            </a:r>
            <a:endParaRPr lang="ko-KR" altLang="en-US" sz="1400" dirty="0"/>
          </a:p>
        </p:txBody>
      </p:sp>
      <p:cxnSp>
        <p:nvCxnSpPr>
          <p:cNvPr id="87" name="직선 연결선 86"/>
          <p:cNvCxnSpPr>
            <a:cxnSpLocks/>
            <a:stCxn id="71" idx="0"/>
            <a:endCxn id="89" idx="4"/>
          </p:cNvCxnSpPr>
          <p:nvPr/>
        </p:nvCxnSpPr>
        <p:spPr>
          <a:xfrm flipV="1">
            <a:off x="8677782" y="732001"/>
            <a:ext cx="1529404" cy="683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타원 88"/>
          <p:cNvSpPr/>
          <p:nvPr/>
        </p:nvSpPr>
        <p:spPr>
          <a:xfrm>
            <a:off x="9546203" y="28738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Title</a:t>
            </a:r>
            <a:endParaRPr lang="ko-KR" altLang="en-US" sz="14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5304000" y="637565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8022595" y="3751322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Customer</a:t>
            </a:r>
            <a:endParaRPr lang="ko-KR" altLang="en-US" dirty="0"/>
          </a:p>
        </p:txBody>
      </p:sp>
      <p:grpSp>
        <p:nvGrpSpPr>
          <p:cNvPr id="129" name="그룹 128"/>
          <p:cNvGrpSpPr/>
          <p:nvPr/>
        </p:nvGrpSpPr>
        <p:grpSpPr>
          <a:xfrm>
            <a:off x="9608338" y="2872767"/>
            <a:ext cx="1728355" cy="444617"/>
            <a:chOff x="9413889" y="2615453"/>
            <a:chExt cx="1536192" cy="444617"/>
          </a:xfrm>
        </p:grpSpPr>
        <p:sp>
          <p:nvSpPr>
            <p:cNvPr id="123" name="타원 122"/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dirty="0"/>
                <a:t>Passport No</a:t>
              </a:r>
              <a:endParaRPr lang="ko-KR" altLang="en-US" sz="1400" dirty="0"/>
            </a:p>
          </p:txBody>
        </p:sp>
        <p:cxnSp>
          <p:nvCxnSpPr>
            <p:cNvPr id="124" name="직선 연결선 123"/>
            <p:cNvCxnSpPr/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7" name="직선 연결선 126"/>
          <p:cNvCxnSpPr>
            <a:cxnSpLocks/>
            <a:stCxn id="123" idx="3"/>
            <a:endCxn id="113" idx="3"/>
          </p:cNvCxnSpPr>
          <p:nvPr/>
        </p:nvCxnSpPr>
        <p:spPr>
          <a:xfrm flipH="1">
            <a:off x="9259097" y="3252271"/>
            <a:ext cx="602353" cy="721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/>
          <p:cNvCxnSpPr>
            <a:cxnSpLocks/>
            <a:stCxn id="113" idx="3"/>
            <a:endCxn id="133" idx="6"/>
          </p:cNvCxnSpPr>
          <p:nvPr/>
        </p:nvCxnSpPr>
        <p:spPr>
          <a:xfrm>
            <a:off x="9259097" y="3973631"/>
            <a:ext cx="2205242" cy="514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타원 132"/>
          <p:cNvSpPr/>
          <p:nvPr/>
        </p:nvSpPr>
        <p:spPr>
          <a:xfrm>
            <a:off x="10142373" y="4265573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Name</a:t>
            </a:r>
            <a:endParaRPr lang="ko-KR" altLang="en-US" sz="1400" dirty="0"/>
          </a:p>
        </p:txBody>
      </p:sp>
      <p:cxnSp>
        <p:nvCxnSpPr>
          <p:cNvPr id="141" name="직선 연결선 140"/>
          <p:cNvCxnSpPr>
            <a:cxnSpLocks/>
            <a:stCxn id="113" idx="2"/>
            <a:endCxn id="143" idx="1"/>
          </p:cNvCxnSpPr>
          <p:nvPr/>
        </p:nvCxnSpPr>
        <p:spPr>
          <a:xfrm>
            <a:off x="8640846" y="4195939"/>
            <a:ext cx="389662" cy="22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타원 142"/>
          <p:cNvSpPr/>
          <p:nvPr/>
        </p:nvSpPr>
        <p:spPr>
          <a:xfrm>
            <a:off x="8915515" y="4356706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ID</a:t>
            </a:r>
            <a:endParaRPr lang="ko-KR" altLang="en-US" sz="1400"/>
          </a:p>
        </p:txBody>
      </p:sp>
      <p:cxnSp>
        <p:nvCxnSpPr>
          <p:cNvPr id="157" name="직선 연결선 156"/>
          <p:cNvCxnSpPr>
            <a:cxnSpLocks/>
            <a:stCxn id="137" idx="2"/>
            <a:endCxn id="185" idx="0"/>
          </p:cNvCxnSpPr>
          <p:nvPr/>
        </p:nvCxnSpPr>
        <p:spPr>
          <a:xfrm flipH="1">
            <a:off x="7784944" y="5545206"/>
            <a:ext cx="593298" cy="627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7759991" y="4988723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Boarding pass</a:t>
            </a:r>
            <a:endParaRPr lang="ko-KR" altLang="en-US" dirty="0"/>
          </a:p>
        </p:txBody>
      </p:sp>
      <p:cxnSp>
        <p:nvCxnSpPr>
          <p:cNvPr id="151" name="직선 연결선 150"/>
          <p:cNvCxnSpPr>
            <a:stCxn id="137" idx="3"/>
            <a:endCxn id="165" idx="2"/>
          </p:cNvCxnSpPr>
          <p:nvPr/>
        </p:nvCxnSpPr>
        <p:spPr>
          <a:xfrm>
            <a:off x="8996493" y="5266965"/>
            <a:ext cx="1167306" cy="609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/>
          <p:cNvCxnSpPr>
            <a:stCxn id="137" idx="2"/>
            <a:endCxn id="168" idx="2"/>
          </p:cNvCxnSpPr>
          <p:nvPr/>
        </p:nvCxnSpPr>
        <p:spPr>
          <a:xfrm>
            <a:off x="8378242" y="5545206"/>
            <a:ext cx="1662931" cy="432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직선 연결선 154"/>
          <p:cNvCxnSpPr>
            <a:stCxn id="137" idx="2"/>
            <a:endCxn id="172" idx="0"/>
          </p:cNvCxnSpPr>
          <p:nvPr/>
        </p:nvCxnSpPr>
        <p:spPr>
          <a:xfrm>
            <a:off x="8378242" y="5545206"/>
            <a:ext cx="1050601" cy="620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/>
          <p:cNvCxnSpPr>
            <a:cxnSpLocks/>
            <a:stCxn id="137" idx="2"/>
            <a:endCxn id="188" idx="0"/>
          </p:cNvCxnSpPr>
          <p:nvPr/>
        </p:nvCxnSpPr>
        <p:spPr>
          <a:xfrm flipH="1">
            <a:off x="6242836" y="5545206"/>
            <a:ext cx="2135406" cy="627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 160"/>
          <p:cNvCxnSpPr>
            <a:cxnSpLocks/>
            <a:stCxn id="137" idx="1"/>
            <a:endCxn id="195" idx="6"/>
          </p:cNvCxnSpPr>
          <p:nvPr/>
        </p:nvCxnSpPr>
        <p:spPr>
          <a:xfrm flipH="1" flipV="1">
            <a:off x="6366108" y="5238092"/>
            <a:ext cx="1393883" cy="288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연결선 162"/>
          <p:cNvCxnSpPr>
            <a:stCxn id="137" idx="1"/>
            <a:endCxn id="192" idx="6"/>
          </p:cNvCxnSpPr>
          <p:nvPr/>
        </p:nvCxnSpPr>
        <p:spPr>
          <a:xfrm flipH="1">
            <a:off x="6576544" y="5266965"/>
            <a:ext cx="1183447" cy="4951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타원 164"/>
          <p:cNvSpPr/>
          <p:nvPr/>
        </p:nvSpPr>
        <p:spPr>
          <a:xfrm>
            <a:off x="10163799" y="5105615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Arrival</a:t>
            </a:r>
            <a:endParaRPr lang="ko-KR" altLang="en-US" sz="1400" dirty="0"/>
          </a:p>
        </p:txBody>
      </p:sp>
      <p:sp>
        <p:nvSpPr>
          <p:cNvPr id="168" name="타원 167"/>
          <p:cNvSpPr/>
          <p:nvPr/>
        </p:nvSpPr>
        <p:spPr>
          <a:xfrm>
            <a:off x="10041173" y="5755554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Departure</a:t>
            </a:r>
            <a:endParaRPr lang="ko-KR" altLang="en-US" sz="1400" dirty="0"/>
          </a:p>
        </p:txBody>
      </p:sp>
      <p:sp>
        <p:nvSpPr>
          <p:cNvPr id="172" name="타원 171"/>
          <p:cNvSpPr/>
          <p:nvPr/>
        </p:nvSpPr>
        <p:spPr>
          <a:xfrm>
            <a:off x="8621267" y="6165606"/>
            <a:ext cx="161515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rgbClr val="00B050"/>
                </a:solidFill>
              </a:rPr>
              <a:t>Flight No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85" name="타원 184"/>
          <p:cNvSpPr/>
          <p:nvPr/>
        </p:nvSpPr>
        <p:spPr>
          <a:xfrm>
            <a:off x="6987383" y="6172287"/>
            <a:ext cx="159512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Reserve No</a:t>
            </a:r>
            <a:endParaRPr lang="ko-KR" altLang="en-US" sz="1400" dirty="0"/>
          </a:p>
        </p:txBody>
      </p:sp>
      <p:sp>
        <p:nvSpPr>
          <p:cNvPr id="188" name="타원 187"/>
          <p:cNvSpPr/>
          <p:nvPr/>
        </p:nvSpPr>
        <p:spPr>
          <a:xfrm>
            <a:off x="5555361" y="6172287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Seat No</a:t>
            </a:r>
            <a:endParaRPr lang="ko-KR" altLang="en-US" sz="1400" dirty="0"/>
          </a:p>
        </p:txBody>
      </p:sp>
      <p:sp>
        <p:nvSpPr>
          <p:cNvPr id="192" name="타원 191"/>
          <p:cNvSpPr/>
          <p:nvPr/>
        </p:nvSpPr>
        <p:spPr>
          <a:xfrm>
            <a:off x="5224288" y="5539849"/>
            <a:ext cx="135225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Class</a:t>
            </a:r>
            <a:endParaRPr lang="ko-KR" altLang="en-US" sz="1400" dirty="0"/>
          </a:p>
        </p:txBody>
      </p:sp>
      <p:sp>
        <p:nvSpPr>
          <p:cNvPr id="195" name="타원 194"/>
          <p:cNvSpPr/>
          <p:nvPr/>
        </p:nvSpPr>
        <p:spPr>
          <a:xfrm>
            <a:off x="5470834" y="5015783"/>
            <a:ext cx="89527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Date</a:t>
            </a:r>
            <a:endParaRPr lang="ko-KR" altLang="en-US" sz="1400" dirty="0"/>
          </a:p>
        </p:txBody>
      </p:sp>
      <p:cxnSp>
        <p:nvCxnSpPr>
          <p:cNvPr id="214" name="직선 연결선 213"/>
          <p:cNvCxnSpPr/>
          <p:nvPr/>
        </p:nvCxnSpPr>
        <p:spPr>
          <a:xfrm>
            <a:off x="7388944" y="6515082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직선 연결선 282"/>
          <p:cNvCxnSpPr>
            <a:stCxn id="71" idx="3"/>
            <a:endCxn id="285" idx="2"/>
          </p:cNvCxnSpPr>
          <p:nvPr/>
        </p:nvCxnSpPr>
        <p:spPr>
          <a:xfrm>
            <a:off x="9296033" y="1637953"/>
            <a:ext cx="1209430" cy="31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타원 284"/>
          <p:cNvSpPr/>
          <p:nvPr/>
        </p:nvSpPr>
        <p:spPr>
          <a:xfrm>
            <a:off x="10505463" y="144718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Manger</a:t>
            </a:r>
            <a:endParaRPr lang="ko-KR" altLang="en-US" sz="1400" dirty="0"/>
          </a:p>
        </p:txBody>
      </p:sp>
      <p:sp>
        <p:nvSpPr>
          <p:cNvPr id="41" name="직사각형 40"/>
          <p:cNvSpPr/>
          <p:nvPr/>
        </p:nvSpPr>
        <p:spPr>
          <a:xfrm>
            <a:off x="4590297" y="2823224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Airplane</a:t>
            </a:r>
            <a:endParaRPr lang="ko-KR" altLang="en-US" dirty="0"/>
          </a:p>
        </p:txBody>
      </p:sp>
      <p:cxnSp>
        <p:nvCxnSpPr>
          <p:cNvPr id="47" name="직선 연결선 46"/>
          <p:cNvCxnSpPr>
            <a:cxnSpLocks/>
            <a:stCxn id="41" idx="3"/>
            <a:endCxn id="52" idx="3"/>
          </p:cNvCxnSpPr>
          <p:nvPr/>
        </p:nvCxnSpPr>
        <p:spPr>
          <a:xfrm flipV="1">
            <a:off x="5826799" y="2526996"/>
            <a:ext cx="575565" cy="5744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타원 51"/>
          <p:cNvSpPr/>
          <p:nvPr/>
        </p:nvSpPr>
        <p:spPr>
          <a:xfrm>
            <a:off x="6168703" y="2147492"/>
            <a:ext cx="159554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Flight No</a:t>
            </a:r>
            <a:endParaRPr lang="ko-KR" altLang="en-US" sz="1400" dirty="0"/>
          </a:p>
        </p:txBody>
      </p:sp>
      <p:cxnSp>
        <p:nvCxnSpPr>
          <p:cNvPr id="128" name="직선 연결선 127"/>
          <p:cNvCxnSpPr/>
          <p:nvPr/>
        </p:nvCxnSpPr>
        <p:spPr>
          <a:xfrm>
            <a:off x="6570473" y="2495557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2" name="다이아몬드 181"/>
          <p:cNvSpPr/>
          <p:nvPr/>
        </p:nvSpPr>
        <p:spPr>
          <a:xfrm>
            <a:off x="4304640" y="2066620"/>
            <a:ext cx="1768309" cy="66582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Possess</a:t>
            </a:r>
            <a:endParaRPr lang="ko-KR" altLang="en-US" sz="1400" dirty="0"/>
          </a:p>
        </p:txBody>
      </p:sp>
      <p:cxnSp>
        <p:nvCxnSpPr>
          <p:cNvPr id="253" name="직선 연결선 252"/>
          <p:cNvCxnSpPr>
            <a:cxnSpLocks/>
            <a:stCxn id="182" idx="0"/>
            <a:endCxn id="28" idx="2"/>
          </p:cNvCxnSpPr>
          <p:nvPr/>
        </p:nvCxnSpPr>
        <p:spPr>
          <a:xfrm flipH="1" flipV="1">
            <a:off x="5178454" y="1971326"/>
            <a:ext cx="10341" cy="95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직선 연결선 286"/>
          <p:cNvCxnSpPr>
            <a:cxnSpLocks/>
            <a:stCxn id="41" idx="1"/>
            <a:endCxn id="288" idx="6"/>
          </p:cNvCxnSpPr>
          <p:nvPr/>
        </p:nvCxnSpPr>
        <p:spPr>
          <a:xfrm flipH="1">
            <a:off x="4141426" y="3101466"/>
            <a:ext cx="448871" cy="27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타원 287"/>
          <p:cNvSpPr/>
          <p:nvPr/>
        </p:nvSpPr>
        <p:spPr>
          <a:xfrm>
            <a:off x="2669072" y="2906706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rgbClr val="00B050"/>
                </a:solidFill>
              </a:rPr>
              <a:t>Attendant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15" name="다이아몬드 114">
            <a:extLst>
              <a:ext uri="{FF2B5EF4-FFF2-40B4-BE49-F238E27FC236}">
                <a16:creationId xmlns:a16="http://schemas.microsoft.com/office/drawing/2014/main" id="{5B753ECD-ABBC-4333-B6DC-50C0BCC49F2C}"/>
              </a:ext>
            </a:extLst>
          </p:cNvPr>
          <p:cNvSpPr/>
          <p:nvPr/>
        </p:nvSpPr>
        <p:spPr>
          <a:xfrm>
            <a:off x="7751842" y="2316444"/>
            <a:ext cx="182682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Service</a:t>
            </a:r>
            <a:endParaRPr lang="ko-KR" altLang="en-US" sz="1400" dirty="0"/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C40A099D-12CA-4307-813D-F8C143049E28}"/>
              </a:ext>
            </a:extLst>
          </p:cNvPr>
          <p:cNvCxnSpPr>
            <a:cxnSpLocks/>
            <a:stCxn id="115" idx="2"/>
            <a:endCxn id="113" idx="0"/>
          </p:cNvCxnSpPr>
          <p:nvPr/>
        </p:nvCxnSpPr>
        <p:spPr>
          <a:xfrm flipH="1">
            <a:off x="8640846" y="3063065"/>
            <a:ext cx="24408" cy="688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31AEFCF-7DA2-4679-B726-233AFF642ACB}"/>
              </a:ext>
            </a:extLst>
          </p:cNvPr>
          <p:cNvCxnSpPr>
            <a:cxnSpLocks/>
            <a:stCxn id="41" idx="3"/>
            <a:endCxn id="209" idx="2"/>
          </p:cNvCxnSpPr>
          <p:nvPr/>
        </p:nvCxnSpPr>
        <p:spPr>
          <a:xfrm flipV="1">
            <a:off x="5826799" y="3078146"/>
            <a:ext cx="496996" cy="23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9" name="타원 208">
            <a:extLst>
              <a:ext uri="{FF2B5EF4-FFF2-40B4-BE49-F238E27FC236}">
                <a16:creationId xmlns:a16="http://schemas.microsoft.com/office/drawing/2014/main" id="{D488C7B1-F429-43C1-B1CB-DC31C930EA5E}"/>
              </a:ext>
            </a:extLst>
          </p:cNvPr>
          <p:cNvSpPr/>
          <p:nvPr/>
        </p:nvSpPr>
        <p:spPr>
          <a:xfrm>
            <a:off x="6323795" y="2855837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B050"/>
                </a:solidFill>
              </a:rPr>
              <a:t>Captain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E0764744-FBF4-4058-9FEC-57BA3FE17B11}"/>
              </a:ext>
            </a:extLst>
          </p:cNvPr>
          <p:cNvCxnSpPr>
            <a:cxnSpLocks/>
            <a:stCxn id="113" idx="1"/>
            <a:endCxn id="217" idx="0"/>
          </p:cNvCxnSpPr>
          <p:nvPr/>
        </p:nvCxnSpPr>
        <p:spPr>
          <a:xfrm flipH="1">
            <a:off x="5163235" y="3973631"/>
            <a:ext cx="2859360" cy="201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다이아몬드 216">
            <a:extLst>
              <a:ext uri="{FF2B5EF4-FFF2-40B4-BE49-F238E27FC236}">
                <a16:creationId xmlns:a16="http://schemas.microsoft.com/office/drawing/2014/main" id="{9BFDFA3F-21C3-4CC7-9D99-149179622721}"/>
              </a:ext>
            </a:extLst>
          </p:cNvPr>
          <p:cNvSpPr/>
          <p:nvPr/>
        </p:nvSpPr>
        <p:spPr>
          <a:xfrm>
            <a:off x="4249823" y="4175251"/>
            <a:ext cx="182682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Buy</a:t>
            </a:r>
            <a:endParaRPr lang="ko-KR" altLang="en-US" sz="1400" dirty="0"/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7EDB93CD-41AF-48D0-BDA2-7F6C15CFC812}"/>
              </a:ext>
            </a:extLst>
          </p:cNvPr>
          <p:cNvSpPr/>
          <p:nvPr/>
        </p:nvSpPr>
        <p:spPr>
          <a:xfrm>
            <a:off x="2470682" y="4281376"/>
            <a:ext cx="1236502" cy="560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Duty free Goods</a:t>
            </a:r>
            <a:endParaRPr lang="ko-KR" altLang="en-US" dirty="0"/>
          </a:p>
        </p:txBody>
      </p: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2A332210-6BA5-43B4-82B4-42DC7FF10763}"/>
              </a:ext>
            </a:extLst>
          </p:cNvPr>
          <p:cNvCxnSpPr>
            <a:cxnSpLocks/>
            <a:stCxn id="217" idx="1"/>
            <a:endCxn id="223" idx="3"/>
          </p:cNvCxnSpPr>
          <p:nvPr/>
        </p:nvCxnSpPr>
        <p:spPr>
          <a:xfrm flipH="1">
            <a:off x="3707184" y="4548562"/>
            <a:ext cx="542639" cy="12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id="{255BB957-4424-4585-8295-570395A5D2D5}"/>
              </a:ext>
            </a:extLst>
          </p:cNvPr>
          <p:cNvCxnSpPr>
            <a:cxnSpLocks/>
            <a:stCxn id="217" idx="2"/>
            <a:endCxn id="236" idx="0"/>
          </p:cNvCxnSpPr>
          <p:nvPr/>
        </p:nvCxnSpPr>
        <p:spPr>
          <a:xfrm flipH="1">
            <a:off x="3988832" y="4921872"/>
            <a:ext cx="1174403" cy="302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EDCC1AFC-C505-4586-A29D-6124C36D6159}"/>
              </a:ext>
            </a:extLst>
          </p:cNvPr>
          <p:cNvSpPr/>
          <p:nvPr/>
        </p:nvSpPr>
        <p:spPr>
          <a:xfrm>
            <a:off x="3370581" y="5223928"/>
            <a:ext cx="1236502" cy="619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In-flight meal</a:t>
            </a:r>
            <a:endParaRPr lang="ko-KR" altLang="en-US" dirty="0"/>
          </a:p>
        </p:txBody>
      </p: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09B91E7C-D48E-46FF-B4C2-8FE71806E0E0}"/>
              </a:ext>
            </a:extLst>
          </p:cNvPr>
          <p:cNvCxnSpPr>
            <a:cxnSpLocks/>
            <a:stCxn id="236" idx="2"/>
            <a:endCxn id="247" idx="0"/>
          </p:cNvCxnSpPr>
          <p:nvPr/>
        </p:nvCxnSpPr>
        <p:spPr>
          <a:xfrm>
            <a:off x="3988832" y="5843901"/>
            <a:ext cx="690893" cy="2265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7" name="타원 246">
            <a:extLst>
              <a:ext uri="{FF2B5EF4-FFF2-40B4-BE49-F238E27FC236}">
                <a16:creationId xmlns:a16="http://schemas.microsoft.com/office/drawing/2014/main" id="{4A1EEC17-4318-4955-93CE-A5F0A39A1E7A}"/>
              </a:ext>
            </a:extLst>
          </p:cNvPr>
          <p:cNvSpPr/>
          <p:nvPr/>
        </p:nvSpPr>
        <p:spPr>
          <a:xfrm>
            <a:off x="3878071" y="6070465"/>
            <a:ext cx="1603308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Reserve No</a:t>
            </a:r>
            <a:endParaRPr lang="ko-KR" altLang="en-US" sz="1400" dirty="0"/>
          </a:p>
        </p:txBody>
      </p: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D36DDCAC-4608-468A-9A21-DEE909296B97}"/>
              </a:ext>
            </a:extLst>
          </p:cNvPr>
          <p:cNvCxnSpPr/>
          <p:nvPr/>
        </p:nvCxnSpPr>
        <p:spPr>
          <a:xfrm>
            <a:off x="4088355" y="6387914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D7747C3E-4BBB-4717-AC5A-ADF848861528}"/>
              </a:ext>
            </a:extLst>
          </p:cNvPr>
          <p:cNvCxnSpPr>
            <a:cxnSpLocks/>
            <a:stCxn id="223" idx="1"/>
            <a:endCxn id="260" idx="6"/>
          </p:cNvCxnSpPr>
          <p:nvPr/>
        </p:nvCxnSpPr>
        <p:spPr>
          <a:xfrm flipH="1" flipV="1">
            <a:off x="1795002" y="4550339"/>
            <a:ext cx="675680" cy="11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7781EBF3-4F09-46C8-AF75-AADE115FA541}"/>
              </a:ext>
            </a:extLst>
          </p:cNvPr>
          <p:cNvGrpSpPr/>
          <p:nvPr/>
        </p:nvGrpSpPr>
        <p:grpSpPr>
          <a:xfrm>
            <a:off x="169086" y="4328030"/>
            <a:ext cx="1625916" cy="444618"/>
            <a:chOff x="395061" y="4140377"/>
            <a:chExt cx="1396838" cy="444618"/>
          </a:xfrm>
        </p:grpSpPr>
        <p:sp>
          <p:nvSpPr>
            <p:cNvPr id="260" name="타원 259">
              <a:extLst>
                <a:ext uri="{FF2B5EF4-FFF2-40B4-BE49-F238E27FC236}">
                  <a16:creationId xmlns:a16="http://schemas.microsoft.com/office/drawing/2014/main" id="{7559D9E0-FC3A-4C35-90E4-0BB0FD7926A0}"/>
                </a:ext>
              </a:extLst>
            </p:cNvPr>
            <p:cNvSpPr/>
            <p:nvPr/>
          </p:nvSpPr>
          <p:spPr>
            <a:xfrm>
              <a:off x="395061" y="4140377"/>
              <a:ext cx="1396838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/>
                <a:t>Product No</a:t>
              </a:r>
              <a:endParaRPr lang="ko-KR" altLang="en-US" sz="1400" dirty="0"/>
            </a:p>
          </p:txBody>
        </p: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id="{21B169C1-0AC4-4BA8-9BA2-F59E4457F786}"/>
                </a:ext>
              </a:extLst>
            </p:cNvPr>
            <p:cNvCxnSpPr/>
            <p:nvPr/>
          </p:nvCxnSpPr>
          <p:spPr>
            <a:xfrm>
              <a:off x="591538" y="4494309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F75059C2-106A-4381-A736-6264CFC76729}"/>
              </a:ext>
            </a:extLst>
          </p:cNvPr>
          <p:cNvCxnSpPr>
            <a:cxnSpLocks/>
            <a:stCxn id="223" idx="0"/>
            <a:endCxn id="286" idx="4"/>
          </p:cNvCxnSpPr>
          <p:nvPr/>
        </p:nvCxnSpPr>
        <p:spPr>
          <a:xfrm flipV="1">
            <a:off x="3088933" y="3964796"/>
            <a:ext cx="11611" cy="3165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6" name="타원 285">
            <a:extLst>
              <a:ext uri="{FF2B5EF4-FFF2-40B4-BE49-F238E27FC236}">
                <a16:creationId xmlns:a16="http://schemas.microsoft.com/office/drawing/2014/main" id="{51A9AD50-FF38-4EE3-A278-8BD510521DAD}"/>
              </a:ext>
            </a:extLst>
          </p:cNvPr>
          <p:cNvSpPr/>
          <p:nvPr/>
        </p:nvSpPr>
        <p:spPr>
          <a:xfrm>
            <a:off x="2236478" y="3520178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Goods Name</a:t>
            </a:r>
            <a:endParaRPr lang="ko-KR" altLang="en-US" sz="1400" dirty="0"/>
          </a:p>
        </p:txBody>
      </p:sp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id="{3F521F79-D2CE-4A3C-8104-CF04EEF3055D}"/>
              </a:ext>
            </a:extLst>
          </p:cNvPr>
          <p:cNvCxnSpPr>
            <a:cxnSpLocks/>
            <a:stCxn id="236" idx="1"/>
            <a:endCxn id="297" idx="0"/>
          </p:cNvCxnSpPr>
          <p:nvPr/>
        </p:nvCxnSpPr>
        <p:spPr>
          <a:xfrm flipH="1">
            <a:off x="1569111" y="5533915"/>
            <a:ext cx="1801470" cy="3587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7" name="타원 296">
            <a:extLst>
              <a:ext uri="{FF2B5EF4-FFF2-40B4-BE49-F238E27FC236}">
                <a16:creationId xmlns:a16="http://schemas.microsoft.com/office/drawing/2014/main" id="{85FF063D-BD3C-4191-A165-1B113091E5DF}"/>
              </a:ext>
            </a:extLst>
          </p:cNvPr>
          <p:cNvSpPr/>
          <p:nvPr/>
        </p:nvSpPr>
        <p:spPr>
          <a:xfrm>
            <a:off x="705045" y="5892688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Food code</a:t>
            </a:r>
            <a:endParaRPr lang="ko-KR" altLang="en-US" sz="1400" dirty="0"/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B321637E-5723-4171-B81F-61D46C79A914}"/>
              </a:ext>
            </a:extLst>
          </p:cNvPr>
          <p:cNvCxnSpPr>
            <a:cxnSpLocks/>
            <a:stCxn id="236" idx="1"/>
            <a:endCxn id="304" idx="6"/>
          </p:cNvCxnSpPr>
          <p:nvPr/>
        </p:nvCxnSpPr>
        <p:spPr>
          <a:xfrm flipH="1" flipV="1">
            <a:off x="2176711" y="5332668"/>
            <a:ext cx="1193870" cy="2012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4" name="타원 303">
            <a:extLst>
              <a:ext uri="{FF2B5EF4-FFF2-40B4-BE49-F238E27FC236}">
                <a16:creationId xmlns:a16="http://schemas.microsoft.com/office/drawing/2014/main" id="{EA73A0F4-FD69-422D-AA94-3C3FEA4C75AA}"/>
              </a:ext>
            </a:extLst>
          </p:cNvPr>
          <p:cNvSpPr/>
          <p:nvPr/>
        </p:nvSpPr>
        <p:spPr>
          <a:xfrm>
            <a:off x="448579" y="5110359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Date</a:t>
            </a:r>
            <a:endParaRPr lang="ko-KR" altLang="en-US" sz="1400" dirty="0"/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7FAB43B3-F845-4FDD-A493-E754BF04A014}"/>
              </a:ext>
            </a:extLst>
          </p:cNvPr>
          <p:cNvCxnSpPr>
            <a:cxnSpLocks/>
            <a:stCxn id="217" idx="3"/>
            <a:endCxn id="137" idx="0"/>
          </p:cNvCxnSpPr>
          <p:nvPr/>
        </p:nvCxnSpPr>
        <p:spPr>
          <a:xfrm>
            <a:off x="6076646" y="4548562"/>
            <a:ext cx="2301596" cy="4401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DE2C4D2-9E91-42B9-95F9-FA5F759196AB}"/>
              </a:ext>
            </a:extLst>
          </p:cNvPr>
          <p:cNvCxnSpPr>
            <a:cxnSpLocks/>
            <a:stCxn id="217" idx="0"/>
            <a:endCxn id="120" idx="4"/>
          </p:cNvCxnSpPr>
          <p:nvPr/>
        </p:nvCxnSpPr>
        <p:spPr>
          <a:xfrm flipH="1" flipV="1">
            <a:off x="4981175" y="3955337"/>
            <a:ext cx="182060" cy="2199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타원 119">
            <a:extLst>
              <a:ext uri="{FF2B5EF4-FFF2-40B4-BE49-F238E27FC236}">
                <a16:creationId xmlns:a16="http://schemas.microsoft.com/office/drawing/2014/main" id="{5AA4442C-EE28-4A76-9C11-4154413881A8}"/>
              </a:ext>
            </a:extLst>
          </p:cNvPr>
          <p:cNvSpPr/>
          <p:nvPr/>
        </p:nvSpPr>
        <p:spPr>
          <a:xfrm>
            <a:off x="4169406" y="3510720"/>
            <a:ext cx="1623538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Reservation Status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64BA3D99-1F89-4B1B-9563-8CD6ECF5135B}"/>
              </a:ext>
            </a:extLst>
          </p:cNvPr>
          <p:cNvCxnSpPr>
            <a:cxnSpLocks/>
            <a:stCxn id="71" idx="3"/>
            <a:endCxn id="233" idx="2"/>
          </p:cNvCxnSpPr>
          <p:nvPr/>
        </p:nvCxnSpPr>
        <p:spPr>
          <a:xfrm flipV="1">
            <a:off x="9296033" y="989326"/>
            <a:ext cx="1016339" cy="6486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타원 232">
            <a:extLst>
              <a:ext uri="{FF2B5EF4-FFF2-40B4-BE49-F238E27FC236}">
                <a16:creationId xmlns:a16="http://schemas.microsoft.com/office/drawing/2014/main" id="{443C6B88-CC33-4743-92A7-63272E506C98}"/>
              </a:ext>
            </a:extLst>
          </p:cNvPr>
          <p:cNvSpPr/>
          <p:nvPr/>
        </p:nvSpPr>
        <p:spPr>
          <a:xfrm>
            <a:off x="10312372" y="767017"/>
            <a:ext cx="149121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In charge of work</a:t>
            </a:r>
            <a:endParaRPr lang="ko-KR" altLang="en-US" sz="1400" dirty="0"/>
          </a:p>
        </p:txBody>
      </p:sp>
      <p:sp>
        <p:nvSpPr>
          <p:cNvPr id="240" name="타원 239">
            <a:extLst>
              <a:ext uri="{FF2B5EF4-FFF2-40B4-BE49-F238E27FC236}">
                <a16:creationId xmlns:a16="http://schemas.microsoft.com/office/drawing/2014/main" id="{86BBC6BD-1486-4569-BBE4-BDC4805735C6}"/>
              </a:ext>
            </a:extLst>
          </p:cNvPr>
          <p:cNvSpPr/>
          <p:nvPr/>
        </p:nvSpPr>
        <p:spPr>
          <a:xfrm>
            <a:off x="2343717" y="6221054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rgbClr val="00B050"/>
                </a:solidFill>
              </a:rPr>
              <a:t>Seat No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DF2264A3-C6E3-4E66-8FD5-CCBF2EDBE84D}"/>
              </a:ext>
            </a:extLst>
          </p:cNvPr>
          <p:cNvCxnSpPr>
            <a:cxnSpLocks/>
            <a:stCxn id="236" idx="2"/>
            <a:endCxn id="240" idx="0"/>
          </p:cNvCxnSpPr>
          <p:nvPr/>
        </p:nvCxnSpPr>
        <p:spPr>
          <a:xfrm flipH="1">
            <a:off x="3031192" y="5843901"/>
            <a:ext cx="957640" cy="3771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12E4F3B1-F562-4E88-946B-F8FBDD2FE658}"/>
              </a:ext>
            </a:extLst>
          </p:cNvPr>
          <p:cNvSpPr txBox="1"/>
          <p:nvPr/>
        </p:nvSpPr>
        <p:spPr>
          <a:xfrm>
            <a:off x="3993392" y="4320607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C1FA4CF2-E8A7-4A58-945A-9381A39D23C2}"/>
              </a:ext>
            </a:extLst>
          </p:cNvPr>
          <p:cNvSpPr txBox="1"/>
          <p:nvPr/>
        </p:nvSpPr>
        <p:spPr>
          <a:xfrm>
            <a:off x="4620443" y="4751424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03A8743B-33AD-4CE0-8DD8-59BC324B458F}"/>
              </a:ext>
            </a:extLst>
          </p:cNvPr>
          <p:cNvSpPr txBox="1"/>
          <p:nvPr/>
        </p:nvSpPr>
        <p:spPr>
          <a:xfrm>
            <a:off x="5481379" y="4105896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BE386378-0250-4353-B826-445A3C20B534}"/>
              </a:ext>
            </a:extLst>
          </p:cNvPr>
          <p:cNvSpPr txBox="1"/>
          <p:nvPr/>
        </p:nvSpPr>
        <p:spPr>
          <a:xfrm>
            <a:off x="8653050" y="300470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BCB2A1EF-1971-44DD-B302-876973DDDAAB}"/>
              </a:ext>
            </a:extLst>
          </p:cNvPr>
          <p:cNvSpPr txBox="1"/>
          <p:nvPr/>
        </p:nvSpPr>
        <p:spPr>
          <a:xfrm>
            <a:off x="5250732" y="2592109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8FDEFDE-A634-4E01-B46E-AA06FE06EEA9}"/>
              </a:ext>
            </a:extLst>
          </p:cNvPr>
          <p:cNvSpPr txBox="1"/>
          <p:nvPr/>
        </p:nvSpPr>
        <p:spPr>
          <a:xfrm>
            <a:off x="5273989" y="1931810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7C3A9ACD-5F9A-4796-8762-3715C1EE2EB1}"/>
              </a:ext>
            </a:extLst>
          </p:cNvPr>
          <p:cNvSpPr txBox="1"/>
          <p:nvPr/>
        </p:nvSpPr>
        <p:spPr>
          <a:xfrm>
            <a:off x="7455019" y="1270510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CA66DA5-D82A-45C6-B89D-555BF1916779}"/>
              </a:ext>
            </a:extLst>
          </p:cNvPr>
          <p:cNvSpPr txBox="1"/>
          <p:nvPr/>
        </p:nvSpPr>
        <p:spPr>
          <a:xfrm>
            <a:off x="6222408" y="1278523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3FFE4643-E8BD-4FF3-A946-E2B75DF22CC9}"/>
              </a:ext>
            </a:extLst>
          </p:cNvPr>
          <p:cNvSpPr txBox="1"/>
          <p:nvPr/>
        </p:nvSpPr>
        <p:spPr>
          <a:xfrm>
            <a:off x="2910988" y="125767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7F316E0-533D-417E-A8DC-8020992EAB06}"/>
              </a:ext>
            </a:extLst>
          </p:cNvPr>
          <p:cNvSpPr txBox="1"/>
          <p:nvPr/>
        </p:nvSpPr>
        <p:spPr>
          <a:xfrm>
            <a:off x="3929872" y="1237047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D0605A1E-1D2B-42C4-9AF5-8B653419664D}"/>
              </a:ext>
            </a:extLst>
          </p:cNvPr>
          <p:cNvSpPr txBox="1"/>
          <p:nvPr/>
        </p:nvSpPr>
        <p:spPr>
          <a:xfrm>
            <a:off x="8677782" y="210391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</a:t>
            </a:r>
            <a:endParaRPr lang="ko-KR" altLang="en-US" dirty="0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7531E2DF-20D6-4008-A211-3B9D6CF902D5}"/>
              </a:ext>
            </a:extLst>
          </p:cNvPr>
          <p:cNvCxnSpPr>
            <a:cxnSpLocks/>
            <a:endCxn id="147" idx="4"/>
          </p:cNvCxnSpPr>
          <p:nvPr/>
        </p:nvCxnSpPr>
        <p:spPr>
          <a:xfrm flipV="1">
            <a:off x="5274521" y="3922911"/>
            <a:ext cx="1295985" cy="252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타원 146">
            <a:extLst>
              <a:ext uri="{FF2B5EF4-FFF2-40B4-BE49-F238E27FC236}">
                <a16:creationId xmlns:a16="http://schemas.microsoft.com/office/drawing/2014/main" id="{7BF998FA-CAB8-499C-9444-0281B38FF38E}"/>
              </a:ext>
            </a:extLst>
          </p:cNvPr>
          <p:cNvSpPr/>
          <p:nvPr/>
        </p:nvSpPr>
        <p:spPr>
          <a:xfrm>
            <a:off x="5834329" y="3478294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Price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49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직선 연결선 254"/>
          <p:cNvCxnSpPr>
            <a:cxnSpLocks/>
          </p:cNvCxnSpPr>
          <p:nvPr/>
        </p:nvCxnSpPr>
        <p:spPr>
          <a:xfrm>
            <a:off x="5230130" y="2666681"/>
            <a:ext cx="0" cy="1596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936A0F8C-0D20-4312-804C-3247F2588CA2}"/>
              </a:ext>
            </a:extLst>
          </p:cNvPr>
          <p:cNvCxnSpPr>
            <a:cxnSpLocks/>
          </p:cNvCxnSpPr>
          <p:nvPr/>
        </p:nvCxnSpPr>
        <p:spPr>
          <a:xfrm>
            <a:off x="5163234" y="2555844"/>
            <a:ext cx="1" cy="6634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73159485-7479-4A35-B991-5FE4DAC0E94F}"/>
              </a:ext>
            </a:extLst>
          </p:cNvPr>
          <p:cNvCxnSpPr>
            <a:cxnSpLocks/>
            <a:stCxn id="71" idx="2"/>
            <a:endCxn id="115" idx="0"/>
          </p:cNvCxnSpPr>
          <p:nvPr/>
        </p:nvCxnSpPr>
        <p:spPr>
          <a:xfrm flipH="1">
            <a:off x="8665254" y="1860262"/>
            <a:ext cx="12528" cy="4561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5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1959833" cy="522512"/>
          </a:xfrm>
          <a:prstGeom prst="roundRect">
            <a:avLst>
              <a:gd name="adj" fmla="val 10000"/>
            </a:avLst>
          </a:prstGeom>
          <a:solidFill>
            <a:schemeClr val="accent1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ko-KR" sz="2400">
                <a:solidFill>
                  <a:schemeClr val="bg2"/>
                </a:solidFill>
              </a:rPr>
              <a:t>E-R Diagram</a:t>
            </a:r>
            <a:endParaRPr lang="ko-KR" altLang="en-US" sz="2400">
              <a:solidFill>
                <a:schemeClr val="bg2"/>
              </a:solidFill>
            </a:endParaRPr>
          </a:p>
        </p:txBody>
      </p:sp>
      <p:cxnSp>
        <p:nvCxnSpPr>
          <p:cNvPr id="94" name="직선 연결선 93"/>
          <p:cNvCxnSpPr/>
          <p:nvPr/>
        </p:nvCxnSpPr>
        <p:spPr>
          <a:xfrm>
            <a:off x="7796149" y="1607890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타원 3"/>
          <p:cNvSpPr/>
          <p:nvPr/>
        </p:nvSpPr>
        <p:spPr>
          <a:xfrm>
            <a:off x="885037" y="415257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공항이름</a:t>
            </a:r>
          </a:p>
        </p:txBody>
      </p:sp>
      <p:sp>
        <p:nvSpPr>
          <p:cNvPr id="5" name="다이아몬드 4"/>
          <p:cNvSpPr/>
          <p:nvPr/>
        </p:nvSpPr>
        <p:spPr>
          <a:xfrm>
            <a:off x="2795368" y="1278523"/>
            <a:ext cx="1575208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입주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703175" y="1420173"/>
            <a:ext cx="917895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공항</a:t>
            </a:r>
          </a:p>
        </p:txBody>
      </p:sp>
      <p:cxnSp>
        <p:nvCxnSpPr>
          <p:cNvPr id="8" name="직선 연결선 7"/>
          <p:cNvCxnSpPr>
            <a:stCxn id="4" idx="4"/>
            <a:endCxn id="6" idx="0"/>
          </p:cNvCxnSpPr>
          <p:nvPr/>
        </p:nvCxnSpPr>
        <p:spPr>
          <a:xfrm>
            <a:off x="1692478" y="859874"/>
            <a:ext cx="469645" cy="560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159391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전화번호</a:t>
            </a:r>
          </a:p>
        </p:txBody>
      </p:sp>
      <p:cxnSp>
        <p:nvCxnSpPr>
          <p:cNvPr id="17" name="직선 연결선 16"/>
          <p:cNvCxnSpPr>
            <a:stCxn id="6" idx="1"/>
            <a:endCxn id="12" idx="0"/>
          </p:cNvCxnSpPr>
          <p:nvPr/>
        </p:nvCxnSpPr>
        <p:spPr>
          <a:xfrm flipH="1">
            <a:off x="1023457" y="1642482"/>
            <a:ext cx="679718" cy="731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1964422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소속</a:t>
            </a:r>
          </a:p>
        </p:txBody>
      </p:sp>
      <p:cxnSp>
        <p:nvCxnSpPr>
          <p:cNvPr id="22" name="직선 연결선 21"/>
          <p:cNvCxnSpPr>
            <a:stCxn id="6" idx="2"/>
            <a:endCxn id="20" idx="0"/>
          </p:cNvCxnSpPr>
          <p:nvPr/>
        </p:nvCxnSpPr>
        <p:spPr>
          <a:xfrm>
            <a:off x="2162123" y="1864790"/>
            <a:ext cx="666365" cy="509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6" idx="3"/>
            <a:endCxn id="5" idx="1"/>
          </p:cNvCxnSpPr>
          <p:nvPr/>
        </p:nvCxnSpPr>
        <p:spPr>
          <a:xfrm>
            <a:off x="2621070" y="1642482"/>
            <a:ext cx="174298" cy="9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4306073" y="1629159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306073" y="1689280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4661832" y="1283428"/>
            <a:ext cx="1033244" cy="687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티웨이 항공사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1179701" y="742911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28" idx="0"/>
            <a:endCxn id="42" idx="4"/>
          </p:cNvCxnSpPr>
          <p:nvPr/>
        </p:nvCxnSpPr>
        <p:spPr>
          <a:xfrm flipH="1" flipV="1">
            <a:off x="3913463" y="859874"/>
            <a:ext cx="1264991" cy="423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3036812" y="415257"/>
            <a:ext cx="175330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공항이름</a:t>
            </a:r>
          </a:p>
        </p:txBody>
      </p:sp>
      <p:cxnSp>
        <p:nvCxnSpPr>
          <p:cNvPr id="48" name="직선 연결선 47"/>
          <p:cNvCxnSpPr>
            <a:stCxn id="28" idx="0"/>
            <a:endCxn id="50" idx="4"/>
          </p:cNvCxnSpPr>
          <p:nvPr/>
        </p:nvCxnSpPr>
        <p:spPr>
          <a:xfrm flipV="1">
            <a:off x="5178454" y="739632"/>
            <a:ext cx="526671" cy="543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5044142" y="295015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경영자</a:t>
            </a:r>
          </a:p>
        </p:txBody>
      </p:sp>
      <p:cxnSp>
        <p:nvCxnSpPr>
          <p:cNvPr id="59" name="직선 연결선 58"/>
          <p:cNvCxnSpPr>
            <a:stCxn id="28" idx="3"/>
            <a:endCxn id="61" idx="1"/>
          </p:cNvCxnSpPr>
          <p:nvPr/>
        </p:nvCxnSpPr>
        <p:spPr>
          <a:xfrm>
            <a:off x="5695076" y="1627377"/>
            <a:ext cx="473627" cy="19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다이아몬드 60"/>
          <p:cNvSpPr/>
          <p:nvPr/>
        </p:nvSpPr>
        <p:spPr>
          <a:xfrm>
            <a:off x="6168703" y="1273684"/>
            <a:ext cx="1712050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채용</a:t>
            </a:r>
          </a:p>
        </p:txBody>
      </p:sp>
      <p:cxnSp>
        <p:nvCxnSpPr>
          <p:cNvPr id="69" name="직선 연결선 68"/>
          <p:cNvCxnSpPr/>
          <p:nvPr/>
        </p:nvCxnSpPr>
        <p:spPr>
          <a:xfrm>
            <a:off x="7811529" y="1673604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8059531" y="1415645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직원</a:t>
            </a:r>
          </a:p>
        </p:txBody>
      </p:sp>
      <p:cxnSp>
        <p:nvCxnSpPr>
          <p:cNvPr id="76" name="직선 연결선 75"/>
          <p:cNvCxnSpPr>
            <a:stCxn id="71" idx="0"/>
            <a:endCxn id="78" idx="4"/>
          </p:cNvCxnSpPr>
          <p:nvPr/>
        </p:nvCxnSpPr>
        <p:spPr>
          <a:xfrm flipH="1" flipV="1">
            <a:off x="7339715" y="680451"/>
            <a:ext cx="1338067" cy="7351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6620137" y="235834"/>
            <a:ext cx="14391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직원 번호</a:t>
            </a:r>
          </a:p>
        </p:txBody>
      </p:sp>
      <p:cxnSp>
        <p:nvCxnSpPr>
          <p:cNvPr id="80" name="직선 연결선 79"/>
          <p:cNvCxnSpPr/>
          <p:nvPr/>
        </p:nvCxnSpPr>
        <p:spPr>
          <a:xfrm>
            <a:off x="6959842" y="577661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71" idx="0"/>
            <a:endCxn id="84" idx="4"/>
          </p:cNvCxnSpPr>
          <p:nvPr/>
        </p:nvCxnSpPr>
        <p:spPr>
          <a:xfrm flipV="1">
            <a:off x="8677782" y="679556"/>
            <a:ext cx="74748" cy="7360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타원 83"/>
          <p:cNvSpPr/>
          <p:nvPr/>
        </p:nvSpPr>
        <p:spPr>
          <a:xfrm>
            <a:off x="8091547" y="23493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급여</a:t>
            </a:r>
          </a:p>
        </p:txBody>
      </p:sp>
      <p:cxnSp>
        <p:nvCxnSpPr>
          <p:cNvPr id="87" name="직선 연결선 86"/>
          <p:cNvCxnSpPr>
            <a:cxnSpLocks/>
            <a:stCxn id="71" idx="0"/>
            <a:endCxn id="89" idx="4"/>
          </p:cNvCxnSpPr>
          <p:nvPr/>
        </p:nvCxnSpPr>
        <p:spPr>
          <a:xfrm flipV="1">
            <a:off x="8677782" y="732001"/>
            <a:ext cx="1529404" cy="683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타원 88"/>
          <p:cNvSpPr/>
          <p:nvPr/>
        </p:nvSpPr>
        <p:spPr>
          <a:xfrm>
            <a:off x="9546203" y="28738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직책</a:t>
            </a:r>
          </a:p>
        </p:txBody>
      </p:sp>
      <p:cxnSp>
        <p:nvCxnSpPr>
          <p:cNvPr id="95" name="직선 연결선 94"/>
          <p:cNvCxnSpPr/>
          <p:nvPr/>
        </p:nvCxnSpPr>
        <p:spPr>
          <a:xfrm>
            <a:off x="5304000" y="637565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8022595" y="3751322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소비자</a:t>
            </a:r>
          </a:p>
        </p:txBody>
      </p:sp>
      <p:grpSp>
        <p:nvGrpSpPr>
          <p:cNvPr id="129" name="그룹 128"/>
          <p:cNvGrpSpPr/>
          <p:nvPr/>
        </p:nvGrpSpPr>
        <p:grpSpPr>
          <a:xfrm>
            <a:off x="9608339" y="2872767"/>
            <a:ext cx="1536192" cy="444617"/>
            <a:chOff x="9413889" y="2615453"/>
            <a:chExt cx="1536192" cy="444617"/>
          </a:xfrm>
        </p:grpSpPr>
        <p:sp>
          <p:nvSpPr>
            <p:cNvPr id="123" name="타원 122"/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여권 번호</a:t>
              </a:r>
            </a:p>
          </p:txBody>
        </p:sp>
        <p:cxnSp>
          <p:nvCxnSpPr>
            <p:cNvPr id="124" name="직선 연결선 123"/>
            <p:cNvCxnSpPr/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7" name="직선 연결선 126"/>
          <p:cNvCxnSpPr>
            <a:cxnSpLocks/>
            <a:stCxn id="123" idx="3"/>
            <a:endCxn id="113" idx="3"/>
          </p:cNvCxnSpPr>
          <p:nvPr/>
        </p:nvCxnSpPr>
        <p:spPr>
          <a:xfrm flipH="1">
            <a:off x="9259097" y="3252271"/>
            <a:ext cx="574212" cy="721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/>
          <p:cNvCxnSpPr>
            <a:cxnSpLocks/>
            <a:stCxn id="113" idx="3"/>
            <a:endCxn id="133" idx="6"/>
          </p:cNvCxnSpPr>
          <p:nvPr/>
        </p:nvCxnSpPr>
        <p:spPr>
          <a:xfrm>
            <a:off x="9259097" y="3973631"/>
            <a:ext cx="2205242" cy="514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타원 132"/>
          <p:cNvSpPr/>
          <p:nvPr/>
        </p:nvSpPr>
        <p:spPr>
          <a:xfrm>
            <a:off x="10142373" y="4265573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이름</a:t>
            </a:r>
          </a:p>
        </p:txBody>
      </p:sp>
      <p:cxnSp>
        <p:nvCxnSpPr>
          <p:cNvPr id="141" name="직선 연결선 140"/>
          <p:cNvCxnSpPr>
            <a:cxnSpLocks/>
            <a:stCxn id="113" idx="2"/>
            <a:endCxn id="143" idx="1"/>
          </p:cNvCxnSpPr>
          <p:nvPr/>
        </p:nvCxnSpPr>
        <p:spPr>
          <a:xfrm>
            <a:off x="8640846" y="4195939"/>
            <a:ext cx="389662" cy="22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타원 142"/>
          <p:cNvSpPr/>
          <p:nvPr/>
        </p:nvSpPr>
        <p:spPr>
          <a:xfrm>
            <a:off x="8915515" y="4356706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ID</a:t>
            </a:r>
            <a:endParaRPr lang="ko-KR" altLang="en-US" sz="1400"/>
          </a:p>
        </p:txBody>
      </p:sp>
      <p:cxnSp>
        <p:nvCxnSpPr>
          <p:cNvPr id="157" name="직선 연결선 156"/>
          <p:cNvCxnSpPr>
            <a:stCxn id="137" idx="2"/>
            <a:endCxn id="185" idx="0"/>
          </p:cNvCxnSpPr>
          <p:nvPr/>
        </p:nvCxnSpPr>
        <p:spPr>
          <a:xfrm flipH="1">
            <a:off x="7784944" y="5545206"/>
            <a:ext cx="593298" cy="627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7759991" y="4988723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항공권</a:t>
            </a:r>
          </a:p>
        </p:txBody>
      </p:sp>
      <p:cxnSp>
        <p:nvCxnSpPr>
          <p:cNvPr id="151" name="직선 연결선 150"/>
          <p:cNvCxnSpPr>
            <a:stCxn id="137" idx="3"/>
            <a:endCxn id="165" idx="2"/>
          </p:cNvCxnSpPr>
          <p:nvPr/>
        </p:nvCxnSpPr>
        <p:spPr>
          <a:xfrm>
            <a:off x="8996493" y="5266965"/>
            <a:ext cx="1167306" cy="609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/>
          <p:cNvCxnSpPr>
            <a:stCxn id="137" idx="2"/>
            <a:endCxn id="168" idx="2"/>
          </p:cNvCxnSpPr>
          <p:nvPr/>
        </p:nvCxnSpPr>
        <p:spPr>
          <a:xfrm>
            <a:off x="8378242" y="5545206"/>
            <a:ext cx="1662931" cy="432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직선 연결선 154"/>
          <p:cNvCxnSpPr>
            <a:stCxn id="137" idx="2"/>
            <a:endCxn id="172" idx="0"/>
          </p:cNvCxnSpPr>
          <p:nvPr/>
        </p:nvCxnSpPr>
        <p:spPr>
          <a:xfrm>
            <a:off x="8378242" y="5545206"/>
            <a:ext cx="1050601" cy="620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/>
          <p:cNvCxnSpPr>
            <a:cxnSpLocks/>
            <a:stCxn id="137" idx="2"/>
            <a:endCxn id="188" idx="0"/>
          </p:cNvCxnSpPr>
          <p:nvPr/>
        </p:nvCxnSpPr>
        <p:spPr>
          <a:xfrm flipH="1">
            <a:off x="6242836" y="5545206"/>
            <a:ext cx="2135406" cy="627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 160"/>
          <p:cNvCxnSpPr>
            <a:stCxn id="137" idx="1"/>
            <a:endCxn id="195" idx="6"/>
          </p:cNvCxnSpPr>
          <p:nvPr/>
        </p:nvCxnSpPr>
        <p:spPr>
          <a:xfrm flipH="1" flipV="1">
            <a:off x="6256054" y="5238092"/>
            <a:ext cx="1503937" cy="288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연결선 162"/>
          <p:cNvCxnSpPr>
            <a:stCxn id="137" idx="1"/>
            <a:endCxn id="192" idx="6"/>
          </p:cNvCxnSpPr>
          <p:nvPr/>
        </p:nvCxnSpPr>
        <p:spPr>
          <a:xfrm flipH="1">
            <a:off x="6576544" y="5266965"/>
            <a:ext cx="1183447" cy="4951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타원 164"/>
          <p:cNvSpPr/>
          <p:nvPr/>
        </p:nvSpPr>
        <p:spPr>
          <a:xfrm>
            <a:off x="10163799" y="5105615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도착지</a:t>
            </a:r>
          </a:p>
        </p:txBody>
      </p:sp>
      <p:sp>
        <p:nvSpPr>
          <p:cNvPr id="168" name="타원 167"/>
          <p:cNvSpPr/>
          <p:nvPr/>
        </p:nvSpPr>
        <p:spPr>
          <a:xfrm>
            <a:off x="10041173" y="5755554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출발지</a:t>
            </a:r>
          </a:p>
        </p:txBody>
      </p:sp>
      <p:sp>
        <p:nvSpPr>
          <p:cNvPr id="172" name="타원 171"/>
          <p:cNvSpPr/>
          <p:nvPr/>
        </p:nvSpPr>
        <p:spPr>
          <a:xfrm>
            <a:off x="8621267" y="6165606"/>
            <a:ext cx="161515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항공기 번호</a:t>
            </a:r>
          </a:p>
        </p:txBody>
      </p:sp>
      <p:sp>
        <p:nvSpPr>
          <p:cNvPr id="185" name="타원 184"/>
          <p:cNvSpPr/>
          <p:nvPr/>
        </p:nvSpPr>
        <p:spPr>
          <a:xfrm>
            <a:off x="7070133" y="6172287"/>
            <a:ext cx="142962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예약 번호</a:t>
            </a:r>
          </a:p>
        </p:txBody>
      </p:sp>
      <p:sp>
        <p:nvSpPr>
          <p:cNvPr id="188" name="타원 187"/>
          <p:cNvSpPr/>
          <p:nvPr/>
        </p:nvSpPr>
        <p:spPr>
          <a:xfrm>
            <a:off x="5555361" y="6172287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좌석 번호</a:t>
            </a:r>
          </a:p>
        </p:txBody>
      </p:sp>
      <p:sp>
        <p:nvSpPr>
          <p:cNvPr id="192" name="타원 191"/>
          <p:cNvSpPr/>
          <p:nvPr/>
        </p:nvSpPr>
        <p:spPr>
          <a:xfrm>
            <a:off x="5224288" y="5539849"/>
            <a:ext cx="135225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좌석 등급</a:t>
            </a:r>
          </a:p>
        </p:txBody>
      </p:sp>
      <p:sp>
        <p:nvSpPr>
          <p:cNvPr id="195" name="타원 194"/>
          <p:cNvSpPr/>
          <p:nvPr/>
        </p:nvSpPr>
        <p:spPr>
          <a:xfrm>
            <a:off x="5470834" y="5015783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날짜</a:t>
            </a:r>
          </a:p>
        </p:txBody>
      </p:sp>
      <p:cxnSp>
        <p:nvCxnSpPr>
          <p:cNvPr id="214" name="직선 연결선 213"/>
          <p:cNvCxnSpPr/>
          <p:nvPr/>
        </p:nvCxnSpPr>
        <p:spPr>
          <a:xfrm>
            <a:off x="7388944" y="6515082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직선 연결선 282"/>
          <p:cNvCxnSpPr>
            <a:stCxn id="71" idx="3"/>
            <a:endCxn id="285" idx="2"/>
          </p:cNvCxnSpPr>
          <p:nvPr/>
        </p:nvCxnSpPr>
        <p:spPr>
          <a:xfrm>
            <a:off x="9296033" y="1637953"/>
            <a:ext cx="1209430" cy="31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타원 284"/>
          <p:cNvSpPr/>
          <p:nvPr/>
        </p:nvSpPr>
        <p:spPr>
          <a:xfrm>
            <a:off x="10505463" y="144718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관리자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4590297" y="2823224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항공기</a:t>
            </a:r>
          </a:p>
        </p:txBody>
      </p:sp>
      <p:cxnSp>
        <p:nvCxnSpPr>
          <p:cNvPr id="47" name="직선 연결선 46"/>
          <p:cNvCxnSpPr>
            <a:cxnSpLocks/>
            <a:stCxn id="41" idx="3"/>
            <a:endCxn id="52" idx="3"/>
          </p:cNvCxnSpPr>
          <p:nvPr/>
        </p:nvCxnSpPr>
        <p:spPr>
          <a:xfrm flipV="1">
            <a:off x="5826799" y="2526996"/>
            <a:ext cx="575565" cy="5744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타원 51"/>
          <p:cNvSpPr/>
          <p:nvPr/>
        </p:nvSpPr>
        <p:spPr>
          <a:xfrm>
            <a:off x="6168703" y="2147492"/>
            <a:ext cx="159554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항공기 번호</a:t>
            </a:r>
          </a:p>
        </p:txBody>
      </p:sp>
      <p:cxnSp>
        <p:nvCxnSpPr>
          <p:cNvPr id="128" name="직선 연결선 127"/>
          <p:cNvCxnSpPr/>
          <p:nvPr/>
        </p:nvCxnSpPr>
        <p:spPr>
          <a:xfrm>
            <a:off x="6570473" y="2495557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2" name="다이아몬드 181"/>
          <p:cNvSpPr/>
          <p:nvPr/>
        </p:nvSpPr>
        <p:spPr>
          <a:xfrm>
            <a:off x="4304640" y="2066620"/>
            <a:ext cx="1768309" cy="66582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보유</a:t>
            </a:r>
          </a:p>
        </p:txBody>
      </p:sp>
      <p:cxnSp>
        <p:nvCxnSpPr>
          <p:cNvPr id="253" name="직선 연결선 252"/>
          <p:cNvCxnSpPr>
            <a:cxnSpLocks/>
            <a:stCxn id="182" idx="0"/>
            <a:endCxn id="28" idx="2"/>
          </p:cNvCxnSpPr>
          <p:nvPr/>
        </p:nvCxnSpPr>
        <p:spPr>
          <a:xfrm flipH="1" flipV="1">
            <a:off x="5178454" y="1971326"/>
            <a:ext cx="10341" cy="95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직선 연결선 286"/>
          <p:cNvCxnSpPr>
            <a:cxnSpLocks/>
            <a:stCxn id="41" idx="1"/>
            <a:endCxn id="288" idx="6"/>
          </p:cNvCxnSpPr>
          <p:nvPr/>
        </p:nvCxnSpPr>
        <p:spPr>
          <a:xfrm flipH="1">
            <a:off x="4141426" y="3101466"/>
            <a:ext cx="448871" cy="27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타원 287"/>
          <p:cNvSpPr/>
          <p:nvPr/>
        </p:nvSpPr>
        <p:spPr>
          <a:xfrm>
            <a:off x="2669072" y="2906706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승무원</a:t>
            </a:r>
          </a:p>
        </p:txBody>
      </p:sp>
      <p:sp>
        <p:nvSpPr>
          <p:cNvPr id="115" name="다이아몬드 114">
            <a:extLst>
              <a:ext uri="{FF2B5EF4-FFF2-40B4-BE49-F238E27FC236}">
                <a16:creationId xmlns:a16="http://schemas.microsoft.com/office/drawing/2014/main" id="{5B753ECD-ABBC-4333-B6DC-50C0BCC49F2C}"/>
              </a:ext>
            </a:extLst>
          </p:cNvPr>
          <p:cNvSpPr/>
          <p:nvPr/>
        </p:nvSpPr>
        <p:spPr>
          <a:xfrm>
            <a:off x="7751842" y="2316444"/>
            <a:ext cx="182682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서비스를 하다</a:t>
            </a:r>
            <a:endParaRPr lang="ko-KR" altLang="en-US" sz="1400" dirty="0"/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C40A099D-12CA-4307-813D-F8C143049E28}"/>
              </a:ext>
            </a:extLst>
          </p:cNvPr>
          <p:cNvCxnSpPr>
            <a:cxnSpLocks/>
            <a:stCxn id="115" idx="2"/>
            <a:endCxn id="113" idx="0"/>
          </p:cNvCxnSpPr>
          <p:nvPr/>
        </p:nvCxnSpPr>
        <p:spPr>
          <a:xfrm flipH="1">
            <a:off x="8640846" y="3063065"/>
            <a:ext cx="24408" cy="688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31AEFCF-7DA2-4679-B726-233AFF642ACB}"/>
              </a:ext>
            </a:extLst>
          </p:cNvPr>
          <p:cNvCxnSpPr>
            <a:cxnSpLocks/>
            <a:stCxn id="41" idx="3"/>
            <a:endCxn id="209" idx="2"/>
          </p:cNvCxnSpPr>
          <p:nvPr/>
        </p:nvCxnSpPr>
        <p:spPr>
          <a:xfrm flipV="1">
            <a:off x="5826799" y="3078146"/>
            <a:ext cx="496996" cy="23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9" name="타원 208">
            <a:extLst>
              <a:ext uri="{FF2B5EF4-FFF2-40B4-BE49-F238E27FC236}">
                <a16:creationId xmlns:a16="http://schemas.microsoft.com/office/drawing/2014/main" id="{D488C7B1-F429-43C1-B1CB-DC31C930EA5E}"/>
              </a:ext>
            </a:extLst>
          </p:cNvPr>
          <p:cNvSpPr/>
          <p:nvPr/>
        </p:nvSpPr>
        <p:spPr>
          <a:xfrm>
            <a:off x="6323795" y="2855837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B050"/>
                </a:solidFill>
              </a:rPr>
              <a:t>기장</a:t>
            </a: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E0764744-FBF4-4058-9FEC-57BA3FE17B11}"/>
              </a:ext>
            </a:extLst>
          </p:cNvPr>
          <p:cNvCxnSpPr>
            <a:cxnSpLocks/>
            <a:stCxn id="113" idx="1"/>
            <a:endCxn id="217" idx="0"/>
          </p:cNvCxnSpPr>
          <p:nvPr/>
        </p:nvCxnSpPr>
        <p:spPr>
          <a:xfrm flipH="1">
            <a:off x="5163235" y="3973631"/>
            <a:ext cx="2859360" cy="201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다이아몬드 216">
            <a:extLst>
              <a:ext uri="{FF2B5EF4-FFF2-40B4-BE49-F238E27FC236}">
                <a16:creationId xmlns:a16="http://schemas.microsoft.com/office/drawing/2014/main" id="{9BFDFA3F-21C3-4CC7-9D99-149179622721}"/>
              </a:ext>
            </a:extLst>
          </p:cNvPr>
          <p:cNvSpPr/>
          <p:nvPr/>
        </p:nvSpPr>
        <p:spPr>
          <a:xfrm>
            <a:off x="4249823" y="4175251"/>
            <a:ext cx="182682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구매</a:t>
            </a: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7EDB93CD-41AF-48D0-BDA2-7F6C15CFC812}"/>
              </a:ext>
            </a:extLst>
          </p:cNvPr>
          <p:cNvSpPr/>
          <p:nvPr/>
        </p:nvSpPr>
        <p:spPr>
          <a:xfrm>
            <a:off x="2470682" y="4328030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면세 상품</a:t>
            </a:r>
          </a:p>
        </p:txBody>
      </p: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2A332210-6BA5-43B4-82B4-42DC7FF10763}"/>
              </a:ext>
            </a:extLst>
          </p:cNvPr>
          <p:cNvCxnSpPr>
            <a:stCxn id="217" idx="1"/>
            <a:endCxn id="223" idx="3"/>
          </p:cNvCxnSpPr>
          <p:nvPr/>
        </p:nvCxnSpPr>
        <p:spPr>
          <a:xfrm flipH="1">
            <a:off x="3707184" y="4548562"/>
            <a:ext cx="542639" cy="17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id="{255BB957-4424-4585-8295-570395A5D2D5}"/>
              </a:ext>
            </a:extLst>
          </p:cNvPr>
          <p:cNvCxnSpPr>
            <a:cxnSpLocks/>
            <a:stCxn id="217" idx="2"/>
            <a:endCxn id="236" idx="0"/>
          </p:cNvCxnSpPr>
          <p:nvPr/>
        </p:nvCxnSpPr>
        <p:spPr>
          <a:xfrm flipH="1">
            <a:off x="3988832" y="4921872"/>
            <a:ext cx="1174403" cy="302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EDCC1AFC-C505-4586-A29D-6124C36D6159}"/>
              </a:ext>
            </a:extLst>
          </p:cNvPr>
          <p:cNvSpPr/>
          <p:nvPr/>
        </p:nvSpPr>
        <p:spPr>
          <a:xfrm>
            <a:off x="3370581" y="5223928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기내식</a:t>
            </a:r>
            <a:endParaRPr lang="ko-KR" altLang="en-US" dirty="0"/>
          </a:p>
        </p:txBody>
      </p: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09B91E7C-D48E-46FF-B4C2-8FE71806E0E0}"/>
              </a:ext>
            </a:extLst>
          </p:cNvPr>
          <p:cNvCxnSpPr>
            <a:cxnSpLocks/>
            <a:stCxn id="236" idx="2"/>
            <a:endCxn id="247" idx="0"/>
          </p:cNvCxnSpPr>
          <p:nvPr/>
        </p:nvCxnSpPr>
        <p:spPr>
          <a:xfrm>
            <a:off x="3988832" y="5668545"/>
            <a:ext cx="550223" cy="4019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7" name="타원 246">
            <a:extLst>
              <a:ext uri="{FF2B5EF4-FFF2-40B4-BE49-F238E27FC236}">
                <a16:creationId xmlns:a16="http://schemas.microsoft.com/office/drawing/2014/main" id="{4A1EEC17-4318-4955-93CE-A5F0A39A1E7A}"/>
              </a:ext>
            </a:extLst>
          </p:cNvPr>
          <p:cNvSpPr/>
          <p:nvPr/>
        </p:nvSpPr>
        <p:spPr>
          <a:xfrm>
            <a:off x="3878072" y="6070465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예약번호</a:t>
            </a:r>
          </a:p>
        </p:txBody>
      </p: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D36DDCAC-4608-468A-9A21-DEE909296B97}"/>
              </a:ext>
            </a:extLst>
          </p:cNvPr>
          <p:cNvCxnSpPr/>
          <p:nvPr/>
        </p:nvCxnSpPr>
        <p:spPr>
          <a:xfrm>
            <a:off x="4088355" y="6387914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D7747C3E-4BBB-4717-AC5A-ADF848861528}"/>
              </a:ext>
            </a:extLst>
          </p:cNvPr>
          <p:cNvCxnSpPr>
            <a:cxnSpLocks/>
            <a:stCxn id="223" idx="1"/>
            <a:endCxn id="260" idx="6"/>
          </p:cNvCxnSpPr>
          <p:nvPr/>
        </p:nvCxnSpPr>
        <p:spPr>
          <a:xfrm flipH="1">
            <a:off x="1795002" y="4550339"/>
            <a:ext cx="6756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7781EBF3-4F09-46C8-AF75-AADE115FA541}"/>
              </a:ext>
            </a:extLst>
          </p:cNvPr>
          <p:cNvGrpSpPr/>
          <p:nvPr/>
        </p:nvGrpSpPr>
        <p:grpSpPr>
          <a:xfrm>
            <a:off x="398164" y="4328030"/>
            <a:ext cx="1396838" cy="444618"/>
            <a:chOff x="395061" y="4140377"/>
            <a:chExt cx="1396838" cy="444618"/>
          </a:xfrm>
        </p:grpSpPr>
        <p:sp>
          <p:nvSpPr>
            <p:cNvPr id="260" name="타원 259">
              <a:extLst>
                <a:ext uri="{FF2B5EF4-FFF2-40B4-BE49-F238E27FC236}">
                  <a16:creationId xmlns:a16="http://schemas.microsoft.com/office/drawing/2014/main" id="{7559D9E0-FC3A-4C35-90E4-0BB0FD7926A0}"/>
                </a:ext>
              </a:extLst>
            </p:cNvPr>
            <p:cNvSpPr/>
            <p:nvPr/>
          </p:nvSpPr>
          <p:spPr>
            <a:xfrm>
              <a:off x="395061" y="4140377"/>
              <a:ext cx="1396838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상품 번호</a:t>
              </a:r>
              <a:endParaRPr lang="ko-KR" altLang="en-US" sz="1400" dirty="0"/>
            </a:p>
          </p:txBody>
        </p: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id="{21B169C1-0AC4-4BA8-9BA2-F59E4457F786}"/>
                </a:ext>
              </a:extLst>
            </p:cNvPr>
            <p:cNvCxnSpPr/>
            <p:nvPr/>
          </p:nvCxnSpPr>
          <p:spPr>
            <a:xfrm>
              <a:off x="591538" y="4494309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F75059C2-106A-4381-A736-6264CFC76729}"/>
              </a:ext>
            </a:extLst>
          </p:cNvPr>
          <p:cNvCxnSpPr>
            <a:cxnSpLocks/>
            <a:stCxn id="223" idx="0"/>
            <a:endCxn id="286" idx="4"/>
          </p:cNvCxnSpPr>
          <p:nvPr/>
        </p:nvCxnSpPr>
        <p:spPr>
          <a:xfrm flipV="1">
            <a:off x="3088933" y="3964796"/>
            <a:ext cx="11611" cy="3632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6" name="타원 285">
            <a:extLst>
              <a:ext uri="{FF2B5EF4-FFF2-40B4-BE49-F238E27FC236}">
                <a16:creationId xmlns:a16="http://schemas.microsoft.com/office/drawing/2014/main" id="{51A9AD50-FF38-4EE3-A278-8BD510521DAD}"/>
              </a:ext>
            </a:extLst>
          </p:cNvPr>
          <p:cNvSpPr/>
          <p:nvPr/>
        </p:nvSpPr>
        <p:spPr>
          <a:xfrm>
            <a:off x="2236478" y="3520178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면세품 명칭</a:t>
            </a:r>
          </a:p>
        </p:txBody>
      </p:sp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id="{3F521F79-D2CE-4A3C-8104-CF04EEF3055D}"/>
              </a:ext>
            </a:extLst>
          </p:cNvPr>
          <p:cNvCxnSpPr>
            <a:cxnSpLocks/>
            <a:stCxn id="236" idx="1"/>
            <a:endCxn id="297" idx="0"/>
          </p:cNvCxnSpPr>
          <p:nvPr/>
        </p:nvCxnSpPr>
        <p:spPr>
          <a:xfrm flipH="1">
            <a:off x="1569111" y="5446237"/>
            <a:ext cx="1801470" cy="4464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7" name="타원 296">
            <a:extLst>
              <a:ext uri="{FF2B5EF4-FFF2-40B4-BE49-F238E27FC236}">
                <a16:creationId xmlns:a16="http://schemas.microsoft.com/office/drawing/2014/main" id="{85FF063D-BD3C-4191-A165-1B113091E5DF}"/>
              </a:ext>
            </a:extLst>
          </p:cNvPr>
          <p:cNvSpPr/>
          <p:nvPr/>
        </p:nvSpPr>
        <p:spPr>
          <a:xfrm>
            <a:off x="705045" y="5892688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음식 코드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B321637E-5723-4171-B81F-61D46C79A914}"/>
              </a:ext>
            </a:extLst>
          </p:cNvPr>
          <p:cNvCxnSpPr>
            <a:cxnSpLocks/>
            <a:stCxn id="236" idx="1"/>
            <a:endCxn id="304" idx="6"/>
          </p:cNvCxnSpPr>
          <p:nvPr/>
        </p:nvCxnSpPr>
        <p:spPr>
          <a:xfrm flipH="1" flipV="1">
            <a:off x="2176711" y="5332668"/>
            <a:ext cx="1193870" cy="1135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4" name="타원 303">
            <a:extLst>
              <a:ext uri="{FF2B5EF4-FFF2-40B4-BE49-F238E27FC236}">
                <a16:creationId xmlns:a16="http://schemas.microsoft.com/office/drawing/2014/main" id="{EA73A0F4-FD69-422D-AA94-3C3FEA4C75AA}"/>
              </a:ext>
            </a:extLst>
          </p:cNvPr>
          <p:cNvSpPr/>
          <p:nvPr/>
        </p:nvSpPr>
        <p:spPr>
          <a:xfrm>
            <a:off x="448579" y="5110359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날짜</a:t>
            </a: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7FAB43B3-F845-4FDD-A493-E754BF04A014}"/>
              </a:ext>
            </a:extLst>
          </p:cNvPr>
          <p:cNvCxnSpPr>
            <a:cxnSpLocks/>
            <a:stCxn id="217" idx="3"/>
            <a:endCxn id="137" idx="0"/>
          </p:cNvCxnSpPr>
          <p:nvPr/>
        </p:nvCxnSpPr>
        <p:spPr>
          <a:xfrm>
            <a:off x="6076646" y="4548562"/>
            <a:ext cx="2301596" cy="4401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DE2C4D2-9E91-42B9-95F9-FA5F759196AB}"/>
              </a:ext>
            </a:extLst>
          </p:cNvPr>
          <p:cNvCxnSpPr>
            <a:cxnSpLocks/>
            <a:stCxn id="217" idx="0"/>
            <a:endCxn id="120" idx="4"/>
          </p:cNvCxnSpPr>
          <p:nvPr/>
        </p:nvCxnSpPr>
        <p:spPr>
          <a:xfrm flipH="1" flipV="1">
            <a:off x="4905583" y="3955337"/>
            <a:ext cx="257652" cy="2199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타원 119">
            <a:extLst>
              <a:ext uri="{FF2B5EF4-FFF2-40B4-BE49-F238E27FC236}">
                <a16:creationId xmlns:a16="http://schemas.microsoft.com/office/drawing/2014/main" id="{5AA4442C-EE28-4A76-9C11-4154413881A8}"/>
              </a:ext>
            </a:extLst>
          </p:cNvPr>
          <p:cNvSpPr/>
          <p:nvPr/>
        </p:nvSpPr>
        <p:spPr>
          <a:xfrm>
            <a:off x="4169406" y="3510720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예약 여부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4350988" y="917656"/>
            <a:ext cx="1624495" cy="1245765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FF0000"/>
                </a:solidFill>
              </a:rPr>
              <a:t>설계 </a:t>
            </a:r>
            <a:r>
              <a:rPr lang="en-US" altLang="ko-KR" dirty="0">
                <a:solidFill>
                  <a:srgbClr val="FF0000"/>
                </a:solidFill>
              </a:rPr>
              <a:t>Business</a:t>
            </a:r>
          </a:p>
          <a:p>
            <a:pPr algn="ctr">
              <a:defRPr/>
            </a:pPr>
            <a:endParaRPr lang="en-US" altLang="ko-KR" dirty="0">
              <a:solidFill>
                <a:srgbClr val="FF0000"/>
              </a:solidFill>
            </a:endParaRPr>
          </a:p>
          <a:p>
            <a:pPr algn="ctr">
              <a:defRPr/>
            </a:pPr>
            <a:endParaRPr lang="en-US" altLang="ko-KR" dirty="0"/>
          </a:p>
          <a:p>
            <a:pPr algn="ctr">
              <a:defRPr/>
            </a:pPr>
            <a:endParaRPr lang="ko-KR" altLang="en-US" dirty="0"/>
          </a:p>
        </p:txBody>
      </p: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64BA3D99-1F89-4B1B-9563-8CD6ECF5135B}"/>
              </a:ext>
            </a:extLst>
          </p:cNvPr>
          <p:cNvCxnSpPr>
            <a:cxnSpLocks/>
            <a:stCxn id="71" idx="3"/>
            <a:endCxn id="233" idx="2"/>
          </p:cNvCxnSpPr>
          <p:nvPr/>
        </p:nvCxnSpPr>
        <p:spPr>
          <a:xfrm flipV="1">
            <a:off x="9296033" y="989326"/>
            <a:ext cx="1016339" cy="6486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타원 232">
            <a:extLst>
              <a:ext uri="{FF2B5EF4-FFF2-40B4-BE49-F238E27FC236}">
                <a16:creationId xmlns:a16="http://schemas.microsoft.com/office/drawing/2014/main" id="{443C6B88-CC33-4743-92A7-63272E506C98}"/>
              </a:ext>
            </a:extLst>
          </p:cNvPr>
          <p:cNvSpPr/>
          <p:nvPr/>
        </p:nvSpPr>
        <p:spPr>
          <a:xfrm>
            <a:off x="10312372" y="767017"/>
            <a:ext cx="149121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담당 업무 형태</a:t>
            </a:r>
          </a:p>
        </p:txBody>
      </p:sp>
      <p:sp>
        <p:nvSpPr>
          <p:cNvPr id="240" name="타원 239">
            <a:extLst>
              <a:ext uri="{FF2B5EF4-FFF2-40B4-BE49-F238E27FC236}">
                <a16:creationId xmlns:a16="http://schemas.microsoft.com/office/drawing/2014/main" id="{86BBC6BD-1486-4569-BBE4-BDC4805735C6}"/>
              </a:ext>
            </a:extLst>
          </p:cNvPr>
          <p:cNvSpPr/>
          <p:nvPr/>
        </p:nvSpPr>
        <p:spPr>
          <a:xfrm>
            <a:off x="2343717" y="6221054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rgbClr val="00B050"/>
                </a:solidFill>
              </a:rPr>
              <a:t>좌석 번호</a:t>
            </a:r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DF2264A3-C6E3-4E66-8FD5-CCBF2EDBE84D}"/>
              </a:ext>
            </a:extLst>
          </p:cNvPr>
          <p:cNvCxnSpPr>
            <a:stCxn id="236" idx="2"/>
            <a:endCxn id="240" idx="0"/>
          </p:cNvCxnSpPr>
          <p:nvPr/>
        </p:nvCxnSpPr>
        <p:spPr>
          <a:xfrm flipH="1">
            <a:off x="3031192" y="5668545"/>
            <a:ext cx="957640" cy="5525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12E4F3B1-F562-4E88-946B-F8FBDD2FE658}"/>
              </a:ext>
            </a:extLst>
          </p:cNvPr>
          <p:cNvSpPr txBox="1"/>
          <p:nvPr/>
        </p:nvSpPr>
        <p:spPr>
          <a:xfrm>
            <a:off x="3993392" y="4320607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C1FA4CF2-E8A7-4A58-945A-9381A39D23C2}"/>
              </a:ext>
            </a:extLst>
          </p:cNvPr>
          <p:cNvSpPr txBox="1"/>
          <p:nvPr/>
        </p:nvSpPr>
        <p:spPr>
          <a:xfrm>
            <a:off x="4620443" y="4751424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03A8743B-33AD-4CE0-8DD8-59BC324B458F}"/>
              </a:ext>
            </a:extLst>
          </p:cNvPr>
          <p:cNvSpPr txBox="1"/>
          <p:nvPr/>
        </p:nvSpPr>
        <p:spPr>
          <a:xfrm>
            <a:off x="5481379" y="4105896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BE386378-0250-4353-B826-445A3C20B534}"/>
              </a:ext>
            </a:extLst>
          </p:cNvPr>
          <p:cNvSpPr txBox="1"/>
          <p:nvPr/>
        </p:nvSpPr>
        <p:spPr>
          <a:xfrm>
            <a:off x="8653050" y="300470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BCB2A1EF-1971-44DD-B302-876973DDDAAB}"/>
              </a:ext>
            </a:extLst>
          </p:cNvPr>
          <p:cNvSpPr txBox="1"/>
          <p:nvPr/>
        </p:nvSpPr>
        <p:spPr>
          <a:xfrm>
            <a:off x="5250732" y="2592109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8FDEFDE-A634-4E01-B46E-AA06FE06EEA9}"/>
              </a:ext>
            </a:extLst>
          </p:cNvPr>
          <p:cNvSpPr txBox="1"/>
          <p:nvPr/>
        </p:nvSpPr>
        <p:spPr>
          <a:xfrm>
            <a:off x="5273989" y="1931810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7C3A9ACD-5F9A-4796-8762-3715C1EE2EB1}"/>
              </a:ext>
            </a:extLst>
          </p:cNvPr>
          <p:cNvSpPr txBox="1"/>
          <p:nvPr/>
        </p:nvSpPr>
        <p:spPr>
          <a:xfrm>
            <a:off x="7455019" y="1270510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CA66DA5-D82A-45C6-B89D-555BF1916779}"/>
              </a:ext>
            </a:extLst>
          </p:cNvPr>
          <p:cNvSpPr txBox="1"/>
          <p:nvPr/>
        </p:nvSpPr>
        <p:spPr>
          <a:xfrm>
            <a:off x="6222408" y="1278523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3FFE4643-E8BD-4FF3-A946-E2B75DF22CC9}"/>
              </a:ext>
            </a:extLst>
          </p:cNvPr>
          <p:cNvSpPr txBox="1"/>
          <p:nvPr/>
        </p:nvSpPr>
        <p:spPr>
          <a:xfrm>
            <a:off x="2910988" y="125767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7F316E0-533D-417E-A8DC-8020992EAB06}"/>
              </a:ext>
            </a:extLst>
          </p:cNvPr>
          <p:cNvSpPr txBox="1"/>
          <p:nvPr/>
        </p:nvSpPr>
        <p:spPr>
          <a:xfrm>
            <a:off x="3929872" y="1237047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D0605A1E-1D2B-42C4-9AF5-8B653419664D}"/>
              </a:ext>
            </a:extLst>
          </p:cNvPr>
          <p:cNvSpPr txBox="1"/>
          <p:nvPr/>
        </p:nvSpPr>
        <p:spPr>
          <a:xfrm>
            <a:off x="8677782" y="210391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</a:t>
            </a:r>
            <a:endParaRPr lang="ko-KR" altLang="en-US" dirty="0"/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3167FE46-E0FF-4A76-9A44-0FF52AB347A2}"/>
              </a:ext>
            </a:extLst>
          </p:cNvPr>
          <p:cNvCxnSpPr>
            <a:cxnSpLocks/>
            <a:stCxn id="217" idx="0"/>
            <a:endCxn id="298" idx="4"/>
          </p:cNvCxnSpPr>
          <p:nvPr/>
        </p:nvCxnSpPr>
        <p:spPr>
          <a:xfrm flipV="1">
            <a:off x="5163235" y="3923145"/>
            <a:ext cx="1295985" cy="252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8" name="타원 297">
            <a:extLst>
              <a:ext uri="{FF2B5EF4-FFF2-40B4-BE49-F238E27FC236}">
                <a16:creationId xmlns:a16="http://schemas.microsoft.com/office/drawing/2014/main" id="{4DD3D5AE-DD76-4E41-9120-D18A6A1F951D}"/>
              </a:ext>
            </a:extLst>
          </p:cNvPr>
          <p:cNvSpPr/>
          <p:nvPr/>
        </p:nvSpPr>
        <p:spPr>
          <a:xfrm>
            <a:off x="5723043" y="3478528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가격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anchor="ctr">
            <a:normAutofit/>
          </a:bodyPr>
          <a:lstStyle/>
          <a:p>
            <a:pPr algn="ctr">
              <a:defRPr/>
            </a:pPr>
            <a:r>
              <a:rPr lang="ko-KR" altLang="en-US" sz="7200"/>
              <a:t>감사합니다</a:t>
            </a:r>
            <a:r>
              <a:rPr lang="en-US" altLang="ko-KR" sz="720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629</ep:Words>
  <ep:PresentationFormat>와이드스크린</ep:PresentationFormat>
  <ep:Paragraphs>222</ep:Paragraphs>
  <ep:Slides>18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AccentBoxVTI</vt:lpstr>
      <vt:lpstr>T-Way 항공서비스 DB 설계</vt:lpstr>
      <vt:lpstr>CONTENTS</vt:lpstr>
      <vt:lpstr>주제 선정</vt:lpstr>
      <vt:lpstr>업무 선정 과정</vt:lpstr>
      <vt:lpstr>항공 서비스를 구현한 데이터베이스 설계 (T-Way Airline)</vt:lpstr>
      <vt:lpstr>요구사항 명세</vt:lpstr>
      <vt:lpstr>데이터 요구사항</vt:lpstr>
      <vt:lpstr>데이터 요구사항</vt:lpstr>
      <vt:lpstr>기능 요구사항</vt:lpstr>
      <vt:lpstr>개념적 관계 데이터 베이스 설계</vt:lpstr>
      <vt:lpstr>T-Way 항공사 System 분석</vt:lpstr>
      <vt:lpstr>T-Way 항공사 보유 기체 분석</vt:lpstr>
      <vt:lpstr>Entity Type</vt:lpstr>
      <vt:lpstr>ER 다이어그램</vt:lpstr>
      <vt:lpstr>슬라이드 15</vt:lpstr>
      <vt:lpstr>슬라이드 16</vt:lpstr>
      <vt:lpstr>슬라이드 17</vt:lpstr>
      <vt:lpstr>감사합니다.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2020-11-04T15:12:07.000</dcterms:created>
  <dc:creator>류연동(2014110015)</dc:creator>
  <cp:lastModifiedBy>tnsgh</cp:lastModifiedBy>
  <dcterms:modified xsi:type="dcterms:W3CDTF">2020-11-10T14:19:37.276</dcterms:modified>
  <cp:revision>114</cp:revision>
  <dc:title>db</dc:title>
  <cp:version/>
</cp:coreProperties>
</file>