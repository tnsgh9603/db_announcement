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0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3" r:id="rId17"/>
    <p:sldId id="271" r:id="rId18"/>
    <p:sldId id="275" r:id="rId19"/>
    <p:sldId id="276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-485" y="-8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E876B-4138-462A-BA6E-AB7D8CFB2E2F}" type="datetime1">
              <a:rPr lang="ko-KR" altLang="en-US" smtClean="0"/>
              <a:t>2020-11-17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FK : </a:t>
            </a:r>
            <a:r>
              <a:rPr lang="ko-KR" altLang="en-US" smtClean="0"/>
              <a:t>외래키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38AC8-5F0F-44F6-B999-E9BEA47C0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67101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6EC29-4245-4358-8C8F-236BC8ADCA0A}" type="datetime1">
              <a:rPr lang="ko-KR" altLang="en-US" smtClean="0"/>
              <a:t>2020-11-17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FK : </a:t>
            </a:r>
            <a:r>
              <a:rPr lang="ko-KR" altLang="en-US" smtClean="0"/>
              <a:t>외래키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BE24F-C5CD-4425-8DCC-3627CAE15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54098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FK : </a:t>
            </a:r>
            <a:r>
              <a:rPr lang="ko-KR" altLang="en-US" smtClean="0"/>
              <a:t>외래키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48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xmlns="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58" name="Rectangle 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Picture 3" descr="실외이(가) 표시된 사진  자동 생성된 설명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1438396"/>
          </a:xfrm>
          <a:ln w="6350">
            <a:solidFill>
              <a:schemeClr val="bg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anchor="b">
            <a:normAutofit/>
          </a:bodyPr>
          <a:lstStyle/>
          <a:p>
            <a:pPr algn="ctr">
              <a:defRPr/>
            </a:pPr>
            <a:r>
              <a:rPr lang="en-US" altLang="ko-KR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T-Way </a:t>
            </a:r>
            <a:r>
              <a:rPr lang="ko-KR" altLang="en-US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항공서비스 </a:t>
            </a:r>
            <a:r>
              <a:rPr lang="en-US" altLang="ko-KR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DB </a:t>
            </a:r>
            <a:r>
              <a:rPr lang="ko-KR" altLang="en-US" sz="5000" dirty="0">
                <a:ln w="3175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schemeClr val="bg1">
                      <a:alpha val="40000"/>
                    </a:schemeClr>
                  </a:outerShdw>
                </a:effectLst>
              </a:rPr>
              <a:t>설계</a:t>
            </a:r>
            <a:endParaRPr lang="en-US" altLang="ko-KR" sz="5000" dirty="0">
              <a:ln w="31750">
                <a:solidFill>
                  <a:schemeClr val="bg1"/>
                </a:solidFill>
              </a:ln>
              <a:effectLst>
                <a:outerShdw blurRad="50800" dist="38100" dir="8100000" algn="tr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076660" y="3919296"/>
            <a:ext cx="4748993" cy="2920406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>
            <a:normAutofit fontScale="92500" lnSpcReduction="20000"/>
          </a:bodyPr>
          <a:lstStyle/>
          <a:p>
            <a:pPr marL="114300" algn="ctr">
              <a:lnSpc>
                <a:spcPct val="100000"/>
              </a:lnSpc>
              <a:defRPr/>
            </a:pPr>
            <a:r>
              <a:rPr lang="en-US" altLang="ko-KR" sz="2200" b="1"/>
              <a:t>2</a:t>
            </a:r>
            <a:r>
              <a:rPr lang="ko-KR" altLang="en-US" sz="2200" b="1"/>
              <a:t>조</a:t>
            </a:r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조장  </a:t>
            </a:r>
            <a:r>
              <a:rPr lang="en-US" altLang="ko-KR" sz="2200" b="1"/>
              <a:t>:  </a:t>
            </a: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권순호</a:t>
            </a:r>
            <a:r>
              <a:rPr lang="en-US" altLang="ko-KR" sz="2200" b="1"/>
              <a:t> </a:t>
            </a:r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조원  </a:t>
            </a:r>
            <a:r>
              <a:rPr lang="en-US" altLang="ko-KR" sz="2200" b="1"/>
              <a:t>:       </a:t>
            </a:r>
            <a:r>
              <a:rPr lang="ko-KR" altLang="en-US" sz="2200" b="1"/>
              <a:t>기계공학과    </a:t>
            </a:r>
            <a:r>
              <a:rPr lang="en-US" altLang="ko-KR" sz="2200" b="1"/>
              <a:t>3</a:t>
            </a:r>
            <a:r>
              <a:rPr lang="ko-KR" altLang="en-US" sz="2200" b="1"/>
              <a:t>학년</a:t>
            </a:r>
            <a:r>
              <a:rPr lang="en-US" altLang="ko-KR" sz="2200" b="1"/>
              <a:t> </a:t>
            </a:r>
            <a:r>
              <a:rPr lang="ko-KR" altLang="en-US" sz="2200" b="1"/>
              <a:t>류연동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배준일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유승주</a:t>
            </a:r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정우영</a:t>
            </a:r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84826" y="5371462"/>
            <a:ext cx="2619299" cy="148662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ko-KR" dirty="0"/>
              <a:t>CONTENTS</a:t>
            </a:r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822960" y="1566848"/>
            <a:ext cx="10533888" cy="4257209"/>
            <a:chOff x="829056" y="1928074"/>
            <a:chExt cx="10533888" cy="4353906"/>
          </a:xfrm>
        </p:grpSpPr>
        <p:sp>
          <p:nvSpPr>
            <p:cNvPr id="33" name="사각형: 둥근 모서리 32"/>
            <p:cNvSpPr/>
            <p:nvPr/>
          </p:nvSpPr>
          <p:spPr>
            <a:xfrm>
              <a:off x="838200" y="2052101"/>
              <a:ext cx="10515600" cy="586347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4" name="직사각형 33"/>
            <p:cNvSpPr/>
            <p:nvPr/>
          </p:nvSpPr>
          <p:spPr>
            <a:xfrm>
              <a:off x="1115475" y="2134312"/>
              <a:ext cx="504136" cy="504136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5" name="직사각형 34"/>
            <p:cNvSpPr/>
            <p:nvPr/>
          </p:nvSpPr>
          <p:spPr>
            <a:xfrm>
              <a:off x="1896886" y="1928074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6" name="TextBox 35"/>
            <p:cNvSpPr txBox="1"/>
            <p:nvPr/>
          </p:nvSpPr>
          <p:spPr>
            <a:xfrm>
              <a:off x="1890791" y="2046845"/>
              <a:ext cx="9456913" cy="591604"/>
            </a:xfrm>
            <a:prstGeom prst="rect">
              <a:avLst/>
            </a:prstGeom>
            <a:effectLst>
              <a:outerShdw blurRad="50800" dist="50800" dir="5400000" algn="ctr" rotWithShape="0">
                <a:schemeClr val="tx2">
                  <a:lumMod val="90000"/>
                  <a:lumOff val="10000"/>
                </a:schemeClr>
              </a:outerShdw>
            </a:effectLst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lvl="0" indent="0"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1.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주제 선정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사각형: 둥근 모서리 36"/>
            <p:cNvSpPr/>
            <p:nvPr/>
          </p:nvSpPr>
          <p:spPr>
            <a:xfrm>
              <a:off x="829056" y="2735987"/>
              <a:ext cx="10515600" cy="544090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0"/>
                <a:satOff val="0"/>
                <a:lumOff val="0"/>
                <a:alphaOff val="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38" name="직사각형 37"/>
            <p:cNvSpPr/>
            <p:nvPr/>
          </p:nvSpPr>
          <p:spPr>
            <a:xfrm>
              <a:off x="1115475" y="2755964"/>
              <a:ext cx="504136" cy="50413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9" name="직사각형 38"/>
            <p:cNvSpPr/>
            <p:nvPr/>
          </p:nvSpPr>
          <p:spPr>
            <a:xfrm>
              <a:off x="1896886" y="3073839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0" name="TextBox 39"/>
            <p:cNvSpPr txBox="1"/>
            <p:nvPr/>
          </p:nvSpPr>
          <p:spPr>
            <a:xfrm>
              <a:off x="1896886" y="2735987"/>
              <a:ext cx="9456913" cy="675975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2.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요구사항 명세서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사각형: 둥근 모서리 40"/>
            <p:cNvSpPr/>
            <p:nvPr/>
          </p:nvSpPr>
          <p:spPr>
            <a:xfrm>
              <a:off x="838200" y="3356570"/>
              <a:ext cx="10515600" cy="511717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2" name="직사각형 41"/>
            <p:cNvSpPr/>
            <p:nvPr/>
          </p:nvSpPr>
          <p:spPr>
            <a:xfrm>
              <a:off x="1115475" y="3364149"/>
              <a:ext cx="504136" cy="504136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3" name="직사각형 42"/>
            <p:cNvSpPr/>
            <p:nvPr/>
          </p:nvSpPr>
          <p:spPr>
            <a:xfrm>
              <a:off x="1896886" y="4219604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4" name="TextBox 43"/>
            <p:cNvSpPr txBox="1"/>
            <p:nvPr/>
          </p:nvSpPr>
          <p:spPr>
            <a:xfrm>
              <a:off x="1896886" y="3452034"/>
              <a:ext cx="9456913" cy="380488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3. </a:t>
              </a:r>
              <a:r>
                <a:rPr lang="en-US" altLang="ko-KR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DB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모델 개념적 설계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사각형: 둥근 모서리 44"/>
            <p:cNvSpPr/>
            <p:nvPr/>
          </p:nvSpPr>
          <p:spPr>
            <a:xfrm>
              <a:off x="847344" y="3927214"/>
              <a:ext cx="10515600" cy="538947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6" name="직사각형 45"/>
            <p:cNvSpPr/>
            <p:nvPr/>
          </p:nvSpPr>
          <p:spPr>
            <a:xfrm>
              <a:off x="1115475" y="3944620"/>
              <a:ext cx="504136" cy="504136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 w="12700" cap="flat" cmpd="sng" algn="ctr">
              <a:noFill/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7" name="직사각형 46"/>
            <p:cNvSpPr/>
            <p:nvPr/>
          </p:nvSpPr>
          <p:spPr>
            <a:xfrm>
              <a:off x="1896886" y="5365369"/>
              <a:ext cx="9456913" cy="9166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</p:sp>
        <p:sp>
          <p:nvSpPr>
            <p:cNvPr id="48" name="TextBox 47"/>
            <p:cNvSpPr txBox="1"/>
            <p:nvPr/>
          </p:nvSpPr>
          <p:spPr>
            <a:xfrm>
              <a:off x="1906031" y="3967535"/>
              <a:ext cx="9456913" cy="45830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97008" tIns="97008" rIns="97008" bIns="97008" anchor="ctr" anchorCtr="0">
              <a:noAutofit/>
            </a:bodyPr>
            <a:lstStyle/>
            <a:p>
              <a:pPr lvl="0" indent="0" defTabSz="97789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4. </a:t>
              </a:r>
              <a:r>
                <a:rPr lang="en-US" altLang="ko-KR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ER </a:t>
              </a:r>
              <a:r>
                <a:rPr lang="ko-KR" altLang="en-US" sz="3200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18900000" algn="br" rotWithShape="0">
                      <a:schemeClr val="tx1">
                        <a:alpha val="40000"/>
                      </a:schemeClr>
                    </a:outerShdw>
                  </a:effectLst>
                </a:rPr>
                <a:t>다이어그램</a:t>
              </a:r>
              <a:endParaRPr lang="en-US" sz="32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3" name="사각형: 둥근 모서리 32"/>
          <p:cNvSpPr/>
          <p:nvPr/>
        </p:nvSpPr>
        <p:spPr>
          <a:xfrm>
            <a:off x="841248" y="4151336"/>
            <a:ext cx="10515600" cy="573325"/>
          </a:xfrm>
          <a:prstGeom prst="roundRect">
            <a:avLst>
              <a:gd name="adj" fmla="val 1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rgbClr r="0" g="0" b="0"/>
          </a:fontRef>
        </p:style>
      </p:sp>
      <p:sp>
        <p:nvSpPr>
          <p:cNvPr id="24" name="TextBox 23"/>
          <p:cNvSpPr txBox="1"/>
          <p:nvPr/>
        </p:nvSpPr>
        <p:spPr>
          <a:xfrm>
            <a:off x="1899935" y="4213934"/>
            <a:ext cx="9456913" cy="448127"/>
          </a:xfrm>
          <a:prstGeom prst="rect">
            <a:avLst/>
          </a:prstGeom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rgbClr r="0" g="0" b="0"/>
          </a:fontRef>
        </p:style>
        <p:txBody>
          <a:bodyPr vert="horz" wrap="square" lIns="97008" tIns="97008" rIns="97008" bIns="97008" anchor="ctr" anchorCtr="0">
            <a:noAutofit/>
          </a:bodyPr>
          <a:lstStyle/>
          <a:p>
            <a:pPr lvl="0" indent="0" defTabSz="97789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/>
            </a:pPr>
            <a:r>
              <a:rPr lang="en-US" sz="320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rPr>
              <a:t>5. </a:t>
            </a:r>
            <a:r>
              <a:rPr lang="ko-KR" altLang="en-US" sz="320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18900000" algn="br" rotWithShape="0">
                    <a:schemeClr val="tx1">
                      <a:alpha val="40000"/>
                    </a:schemeClr>
                  </a:outerShdw>
                </a:effectLst>
              </a:rPr>
              <a:t>논리적 설계</a:t>
            </a:r>
            <a:endParaRPr lang="en-US" sz="32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18900000" algn="b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168" y="2444634"/>
            <a:ext cx="3383832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주제 선정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업무 선정 과정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</a:p>
        </p:txBody>
      </p:sp>
      <p:pic>
        <p:nvPicPr>
          <p:cNvPr id="6" name="그림 5" descr="텍스트이(가) 표시된 사진  자동 생성된 설명"/>
          <p:cNvPicPr>
            <a:picLocks noChangeAspect="1"/>
          </p:cNvPicPr>
          <p:nvPr/>
        </p:nvPicPr>
        <p:blipFill rotWithShape="1">
          <a:blip r:embed="rId2"/>
          <a:srcRect t="7750"/>
          <a:stretch>
            <a:fillRect/>
          </a:stretch>
        </p:blipFill>
        <p:spPr>
          <a:xfrm>
            <a:off x="8568490" y="957890"/>
            <a:ext cx="2901820" cy="4762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/>
          <p:cNvSpPr/>
          <p:nvPr/>
        </p:nvSpPr>
        <p:spPr>
          <a:xfrm>
            <a:off x="5261905" y="2659224"/>
            <a:ext cx="1875453" cy="135956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투표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433" y="2877341"/>
            <a:ext cx="3401905" cy="129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업무 관련 내부적인 논의를 거쳐 모든 의견을 고려하여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투표를 통한 합리적인 업무 선정 </a:t>
            </a:r>
          </a:p>
        </p:txBody>
      </p:sp>
      <p:sp>
        <p:nvSpPr>
          <p:cNvPr id="10" name="화살표: 오른쪽 9"/>
          <p:cNvSpPr/>
          <p:nvPr/>
        </p:nvSpPr>
        <p:spPr>
          <a:xfrm>
            <a:off x="961054" y="5129785"/>
            <a:ext cx="1123779" cy="7095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57448" y="5075083"/>
            <a:ext cx="3777779" cy="129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항공 분야에서도 항공이 고객들에게 제공하는 서비스들을 주제로          선정하게 되었다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lang="ko-KR" altLang="en-US"/>
              <a:t>항공 서비스를 구현한 데이터베이스 설계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/>
              <a:t>(T-Way Airline)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115568" y="2252232"/>
            <a:ext cx="10311497" cy="405712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ko-KR" altLang="en-US" dirty="0"/>
              <a:t>                    선정 이유</a:t>
            </a:r>
          </a:p>
          <a:p>
            <a:pPr lvl="0">
              <a:lnSpc>
                <a:spcPct val="160000"/>
              </a:lnSpc>
              <a:defRPr/>
            </a:pPr>
            <a:r>
              <a:rPr lang="ko-KR" altLang="en-US" sz="2000" dirty="0"/>
              <a:t>타 후보군에 비해 업무의 분담이 잘 되어있다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타 업무에 비해 많은 소비자가 예상되어 경쟁력이 높다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서비스와 소속 공항</a:t>
            </a:r>
            <a:r>
              <a:rPr lang="en-US" altLang="ko-KR" sz="2000" dirty="0"/>
              <a:t>, </a:t>
            </a:r>
            <a:r>
              <a:rPr lang="ko-KR" altLang="en-US" sz="2000" dirty="0"/>
              <a:t>예약의 관리 효율을 위한 경제적인 </a:t>
            </a:r>
            <a:r>
              <a:rPr lang="en-US" altLang="ko-KR" sz="2000" dirty="0"/>
              <a:t>DBMS</a:t>
            </a:r>
            <a:r>
              <a:rPr lang="ko-KR" altLang="en-US" sz="2000" dirty="0"/>
              <a:t>가 요구된다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실세계를 </a:t>
            </a:r>
            <a:r>
              <a:rPr lang="ko-KR" altLang="en-US" sz="2000" dirty="0" err="1"/>
              <a:t>바탕으로한</a:t>
            </a:r>
            <a:r>
              <a:rPr lang="ko-KR" altLang="en-US" sz="2000" dirty="0"/>
              <a:t> 다양한 서비스들이 존재한다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lvl="0" indent="0">
              <a:buNone/>
              <a:defRPr/>
            </a:pPr>
            <a:r>
              <a:rPr lang="en-US" altLang="ko-KR" sz="2000" dirty="0"/>
              <a:t>.</a:t>
            </a:r>
            <a:endParaRPr lang="ko-KR" altLang="en-US" sz="2000" dirty="0"/>
          </a:p>
          <a:p>
            <a:pPr lvl="0">
              <a:defRPr/>
            </a:pPr>
            <a:endParaRPr lang="ko-KR" altLang="en-US" sz="2400" dirty="0"/>
          </a:p>
        </p:txBody>
      </p:sp>
      <p:sp>
        <p:nvSpPr>
          <p:cNvPr id="9" name="내용 개체 틀 3"/>
          <p:cNvSpPr txBox="1"/>
          <p:nvPr/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565" y="2205702"/>
            <a:ext cx="3962400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요구사항 명세</a:t>
            </a: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xmlns="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65250" y="2250728"/>
            <a:ext cx="9461500" cy="338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endParaRPr lang="ko-KR" altLang="en-US"/>
          </a:p>
          <a:p>
            <a:pPr marL="342900" indent="-342900">
              <a:buAutoNum type="arabicPeriod"/>
              <a:defRPr/>
            </a:pPr>
            <a:r>
              <a:rPr lang="en-US" altLang="ko-KR"/>
              <a:t>T-way </a:t>
            </a:r>
            <a:r>
              <a:rPr lang="ko-KR" altLang="en-US"/>
              <a:t>항공사가 있는 공항의 경영자</a:t>
            </a:r>
            <a:r>
              <a:rPr lang="en-US" altLang="ko-KR"/>
              <a:t>(Director)</a:t>
            </a:r>
            <a:r>
              <a:rPr lang="ko-KR" altLang="en-US"/>
              <a:t>는 각 한 명이 관리한다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부서는 한 명의 책임자</a:t>
            </a:r>
            <a:r>
              <a:rPr lang="en-US" altLang="ko-KR"/>
              <a:t>(Manager)</a:t>
            </a:r>
            <a:r>
              <a:rPr lang="ko-KR" altLang="en-US"/>
              <a:t>가 직원 및 서비스를 관리한다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공항에 위치한 각각의 </a:t>
            </a:r>
            <a:r>
              <a:rPr lang="en-US" altLang="ko-KR"/>
              <a:t>T-way </a:t>
            </a:r>
            <a:r>
              <a:rPr lang="ko-KR" altLang="en-US"/>
              <a:t>항공사가 해당하는 전체의 서비스를 관리한다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손님은 손님</a:t>
            </a:r>
            <a:r>
              <a:rPr lang="en-US" altLang="ko-KR"/>
              <a:t>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성명</a:t>
            </a:r>
            <a:r>
              <a:rPr lang="en-US" altLang="ko-KR"/>
              <a:t>,</a:t>
            </a:r>
            <a:r>
              <a:rPr lang="ko-KR" altLang="en-US"/>
              <a:t> 여권번호</a:t>
            </a:r>
            <a:r>
              <a:rPr lang="en-US" altLang="ko-KR"/>
              <a:t>,</a:t>
            </a:r>
            <a:r>
              <a:rPr lang="ko-KR" altLang="en-US"/>
              <a:t> 예약번호를 가진다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사원은 사원</a:t>
            </a:r>
            <a:r>
              <a:rPr lang="en-US" altLang="ko-KR"/>
              <a:t>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담당 업무</a:t>
            </a:r>
            <a:r>
              <a:rPr lang="en-US" altLang="ko-KR"/>
              <a:t>,</a:t>
            </a:r>
            <a:r>
              <a:rPr lang="ko-KR" altLang="en-US"/>
              <a:t> 성별</a:t>
            </a:r>
            <a:r>
              <a:rPr lang="en-US" altLang="ko-KR"/>
              <a:t>,</a:t>
            </a:r>
            <a:r>
              <a:rPr lang="ko-KR" altLang="en-US"/>
              <a:t> 성명 등을 가진다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예매권은 예매</a:t>
            </a:r>
            <a:r>
              <a:rPr lang="en-US" altLang="ko-KR"/>
              <a:t> ID</a:t>
            </a:r>
            <a:r>
              <a:rPr lang="ko-KR" altLang="en-US"/>
              <a:t>를 부여하여 식별하며</a:t>
            </a:r>
            <a:r>
              <a:rPr lang="en-US" altLang="ko-KR"/>
              <a:t>,</a:t>
            </a:r>
            <a:r>
              <a:rPr lang="ko-KR" altLang="en-US"/>
              <a:t> 담당 업무</a:t>
            </a:r>
            <a:r>
              <a:rPr lang="en-US" altLang="ko-KR"/>
              <a:t>,</a:t>
            </a:r>
            <a:r>
              <a:rPr lang="ko-KR" altLang="en-US"/>
              <a:t> 성별</a:t>
            </a:r>
            <a:r>
              <a:rPr lang="en-US" altLang="ko-KR"/>
              <a:t>,</a:t>
            </a:r>
            <a:r>
              <a:rPr lang="ko-KR" altLang="en-US"/>
              <a:t> 성명</a:t>
            </a:r>
            <a:r>
              <a:rPr lang="en-US" altLang="ko-KR"/>
              <a:t>,</a:t>
            </a:r>
            <a:r>
              <a:rPr lang="ko-KR" altLang="en-US"/>
              <a:t> 직급 등을 가진다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solidFill>
            <a:schemeClr val="lt1"/>
          </a:solidFill>
        </p:spPr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346200" y="2348441"/>
          <a:ext cx="9499600" cy="381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49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81889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endParaRPr lang="en-US" altLang="ko-KR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7. 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모든 면세 상품들은 상품번호를 부여하여 식별하며 상품 번호와 가격 등을 가진다</a:t>
                      </a: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0" indent="0">
                        <a:buNone/>
                        <a:defRPr/>
                      </a:pPr>
                      <a:endParaRPr lang="en-US" altLang="ko-KR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8.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모든 기내식은 예약번호를 부여하여 식별하며 예약 날짜와 음식 코드 등을 가진다</a:t>
                      </a: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0" indent="0">
                        <a:buNone/>
                        <a:defRPr/>
                      </a:pPr>
                      <a:endParaRPr lang="en-US" altLang="ko-KR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9.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항공기들은 </a:t>
                      </a:r>
                      <a:r>
                        <a:rPr lang="ko-KR" altLang="en-US" dirty="0" err="1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티웨이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항공사에 모두 </a:t>
                      </a:r>
                      <a:r>
                        <a:rPr lang="ko-KR" altLang="en-US" dirty="0" err="1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속해있다</a:t>
                      </a: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0" indent="0">
                        <a:buNone/>
                        <a:defRPr/>
                      </a:pPr>
                      <a:endParaRPr lang="en-US" altLang="ko-KR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10.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각 항공기는 한 명의 기장을 배치하며</a:t>
                      </a: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기장에 의해 항공기가 운행되어진다</a:t>
                      </a:r>
                      <a:r>
                        <a:rPr lang="en-US" altLang="ko-KR" dirty="0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ko-KR" altLang="en-US" dirty="0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기능 요구사항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</a:p>
        </p:txBody>
      </p:sp>
      <p:sp>
        <p:nvSpPr>
          <p:cNvPr id="5" name="직사각형 4" descr="확인 표시"/>
          <p:cNvSpPr/>
          <p:nvPr/>
        </p:nvSpPr>
        <p:spPr>
          <a:xfrm>
            <a:off x="5843932" y="3176932"/>
            <a:ext cx="504136" cy="50413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9868" y="2341982"/>
            <a:ext cx="10968712" cy="310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소비자의 예약 등 권리를 제외한 모든 권한을 갖을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42900" indent="-342900">
              <a:buAutoNum type="arabicPeriod"/>
              <a:defRPr/>
            </a:pPr>
            <a:r>
              <a:rPr lang="ko-KR" altLang="en-US" dirty="0"/>
              <a:t>각 부서의 책임자</a:t>
            </a:r>
            <a:r>
              <a:rPr lang="en-US" altLang="ko-KR" dirty="0"/>
              <a:t>(Manager)</a:t>
            </a:r>
            <a:r>
              <a:rPr lang="ko-KR" altLang="en-US" dirty="0"/>
              <a:t>는 부서의 모든 권한을 갖으며 직원의 급여를 조정할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42900" indent="-342900">
              <a:buAutoNum type="arabicPeriod"/>
              <a:defRPr/>
            </a:pPr>
            <a:r>
              <a:rPr lang="ko-KR" altLang="en-US" dirty="0"/>
              <a:t>각 부서의 직원은 재고관리</a:t>
            </a:r>
            <a:r>
              <a:rPr lang="en-US" altLang="ko-KR" dirty="0"/>
              <a:t>(</a:t>
            </a:r>
            <a:r>
              <a:rPr lang="ko-KR" altLang="en-US" dirty="0"/>
              <a:t>기내식</a:t>
            </a:r>
            <a:r>
              <a:rPr lang="en-US" altLang="ko-KR" dirty="0"/>
              <a:t>)</a:t>
            </a:r>
            <a:r>
              <a:rPr lang="ko-KR" altLang="en-US" dirty="0"/>
              <a:t>를 할 수 있으며</a:t>
            </a:r>
            <a:r>
              <a:rPr lang="en-US" altLang="ko-KR" dirty="0"/>
              <a:t>, </a:t>
            </a:r>
            <a:r>
              <a:rPr lang="ko-KR" altLang="en-US" dirty="0"/>
              <a:t>재고가 있는 경우 소비자로부터 예약 될 수 있다</a:t>
            </a:r>
            <a:r>
              <a:rPr lang="en-US" altLang="ko-KR" dirty="0"/>
              <a:t>.</a:t>
            </a:r>
            <a:r>
              <a:rPr lang="ko-KR" altLang="en-US" dirty="0"/>
              <a:t>      </a:t>
            </a:r>
            <a:endParaRPr lang="en-US" altLang="ko-KR" dirty="0"/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자신의 예약 정보 및 재고를 확인할 수 있는 권한을 갖는다</a:t>
            </a:r>
            <a:r>
              <a:rPr lang="en-US" altLang="ko-KR" dirty="0"/>
              <a:t>.</a:t>
            </a:r>
          </a:p>
          <a:p>
            <a:pPr marL="333000" indent="-3330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원하는 서비스의 정보를 확인하고 선택할 수 있다</a:t>
            </a:r>
            <a:r>
              <a:rPr lang="en-US" altLang="ko-KR" dirty="0"/>
              <a:t>.</a:t>
            </a:r>
          </a:p>
          <a:p>
            <a:pPr marL="333000" indent="-333000">
              <a:buAutoNum type="arabicPeriod"/>
              <a:defRPr/>
            </a:pPr>
            <a:endParaRPr lang="en-US" altLang="ko-KR" dirty="0"/>
          </a:p>
          <a:p>
            <a:pPr marL="333000" indent="-333000">
              <a:buAutoNum type="arabicPeriod"/>
              <a:defRPr/>
            </a:pPr>
            <a:r>
              <a:rPr lang="ko-KR" altLang="en-US" dirty="0"/>
              <a:t>소비자는 추가적인 과정</a:t>
            </a:r>
            <a:r>
              <a:rPr lang="en-US" altLang="ko-KR" dirty="0"/>
              <a:t>(</a:t>
            </a:r>
            <a:r>
              <a:rPr lang="ko-KR" altLang="en-US" dirty="0"/>
              <a:t>예약 변경</a:t>
            </a:r>
            <a:r>
              <a:rPr lang="en-US" altLang="ko-KR" dirty="0"/>
              <a:t>,</a:t>
            </a:r>
            <a:r>
              <a:rPr lang="ko-KR" altLang="en-US" dirty="0"/>
              <a:t> 추가 구매 등</a:t>
            </a:r>
            <a:r>
              <a:rPr lang="en-US" altLang="ko-KR" dirty="0"/>
              <a:t>)</a:t>
            </a:r>
            <a:r>
              <a:rPr lang="ko-KR" altLang="en-US" dirty="0"/>
              <a:t>을 통해 기능을 다시 선택할 수 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653" y="2239305"/>
            <a:ext cx="4949964" cy="1968732"/>
          </a:xfrm>
        </p:spPr>
        <p:txBody>
          <a:bodyPr>
            <a:normAutofit fontScale="90000"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관계 데이터 베이스 설계</a:t>
            </a:r>
          </a:p>
        </p:txBody>
      </p:sp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xmlns="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</a:t>
            </a:r>
            <a:r>
              <a:rPr lang="en-US" altLang="ko-KR"/>
              <a:t>System</a:t>
            </a:r>
            <a:r>
              <a:rPr lang="ko-KR" altLang="en-US"/>
              <a:t> 분석</a:t>
            </a:r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2154" y="2125296"/>
            <a:ext cx="5130468" cy="543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해당 항공사는 국내 </a:t>
            </a:r>
            <a:r>
              <a:rPr lang="en-US" altLang="ko-KR"/>
              <a:t>8</a:t>
            </a:r>
            <a:r>
              <a:rPr lang="ko-KR" altLang="en-US"/>
              <a:t>개의 주요 공항에 입주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항공사는 다양한 서비스를 소비자에게 제공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티웨이 항공사는 마일리지</a:t>
            </a:r>
            <a:r>
              <a:rPr lang="en-US" altLang="ko-KR"/>
              <a:t>/</a:t>
            </a:r>
            <a:r>
              <a:rPr lang="ko-KR" altLang="en-US"/>
              <a:t>포인트 프로그램 제공을 하지 않는다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거의 유일하게 결제시한 연장서비스를 제공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국제선의 도착지가 아시아 쪽에 한정되어있는 대신 저가항공사답게 가격이 저렴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</p:txBody>
      </p:sp>
      <p:pic>
        <p:nvPicPr>
          <p:cNvPr id="4" name="그림 3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9378" y="170228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테이블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58081" y="397934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2578" y="5155717"/>
            <a:ext cx="5130468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( T’Way </a:t>
            </a:r>
            <a:r>
              <a:rPr lang="ko-KR" altLang="en-US"/>
              <a:t>항공사 메인 페이지 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936" y="450369"/>
            <a:ext cx="10168128" cy="1179576"/>
          </a:xfrm>
        </p:spPr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보유 기체 분석</a:t>
            </a:r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3262" y="2422055"/>
            <a:ext cx="5130468" cy="283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/>
              <a:t>해당 항공사가 운행 중인 항공기는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800 Series – 24</a:t>
            </a:r>
            <a:r>
              <a:rPr lang="ko-KR" altLang="en-US" dirty="0"/>
              <a:t>대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MAX 8 Series – 3</a:t>
            </a:r>
            <a:r>
              <a:rPr lang="ko-KR" altLang="en-US" dirty="0"/>
              <a:t>대</a:t>
            </a: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dirty="0"/>
              <a:t>총 </a:t>
            </a:r>
            <a:r>
              <a:rPr lang="en-US" altLang="ko-KR" dirty="0"/>
              <a:t>27</a:t>
            </a:r>
            <a:r>
              <a:rPr lang="ko-KR" altLang="en-US" dirty="0"/>
              <a:t>대의 항공기를 보유하고 있으며</a:t>
            </a:r>
            <a:r>
              <a:rPr lang="en-US" altLang="ko-KR" dirty="0"/>
              <a:t>,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/>
              <a:t>각 항공기는 </a:t>
            </a:r>
            <a:r>
              <a:rPr lang="ko-KR" altLang="en-US" u="sng" dirty="0"/>
              <a:t>고유한 번호를 부여하여 관리한다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06748" y="153934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Entity Type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0974E84-BC1E-40DD-8E42-A3B1426E402D}"/>
              </a:ext>
            </a:extLst>
          </p:cNvPr>
          <p:cNvGrpSpPr/>
          <p:nvPr/>
        </p:nvGrpSpPr>
        <p:grpSpPr>
          <a:xfrm>
            <a:off x="133955" y="1528871"/>
            <a:ext cx="3792541" cy="1702746"/>
            <a:chOff x="159391" y="802063"/>
            <a:chExt cx="3752038" cy="201663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xmlns="" id="{79F114B0-D814-4CFA-8E00-7B01D3ECD343}"/>
                </a:ext>
              </a:extLst>
            </p:cNvPr>
            <p:cNvSpPr/>
            <p:nvPr/>
          </p:nvSpPr>
          <p:spPr>
            <a:xfrm>
              <a:off x="1261331" y="802063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Arpt_Name</a:t>
              </a:r>
              <a:endParaRPr lang="ko-KR" altLang="en-US" sz="14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A9F41AB4-C4C0-4905-924B-1A9896D8EE75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xmlns="" id="{8340E8DF-28DB-44A2-85FC-4B3079CA9F43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2068772" y="1246680"/>
              <a:ext cx="114813" cy="4688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9D8FF575-60E4-4EE1-A5E1-666D10180DCB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Contct_Num</a:t>
              </a:r>
              <a:endParaRPr lang="ko-KR" altLang="en-US" sz="1400" dirty="0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xmlns="" id="{C48574A5-6EAC-497D-A9F9-7398EEA1A057}"/>
                </a:ext>
              </a:extLst>
            </p:cNvPr>
            <p:cNvCxnSpPr>
              <a:cxnSpLocks/>
              <a:stCxn id="26" idx="1"/>
              <a:endCxn id="28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2C7EB3AF-DAFD-41DD-9269-92E020486C77}"/>
                </a:ext>
              </a:extLst>
            </p:cNvPr>
            <p:cNvSpPr/>
            <p:nvPr/>
          </p:nvSpPr>
          <p:spPr>
            <a:xfrm>
              <a:off x="2183297" y="2317768"/>
              <a:ext cx="1728132" cy="44461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Affiliation</a:t>
              </a:r>
              <a:endParaRPr lang="ko-KR" altLang="en-US" sz="1400" dirty="0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xmlns="" id="{8B42C142-A712-4B6C-A752-1E2A5D785373}"/>
                </a:ext>
              </a:extLst>
            </p:cNvPr>
            <p:cNvCxnSpPr>
              <a:cxnSpLocks/>
              <a:stCxn id="26" idx="3"/>
              <a:endCxn id="30" idx="0"/>
            </p:cNvCxnSpPr>
            <p:nvPr/>
          </p:nvCxnSpPr>
          <p:spPr>
            <a:xfrm>
              <a:off x="2642533" y="1937857"/>
              <a:ext cx="404831" cy="3799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xmlns="" id="{91EAEF58-44C2-4F9A-8154-7D78C8D098F6}"/>
                </a:ext>
              </a:extLst>
            </p:cNvPr>
            <p:cNvCxnSpPr/>
            <p:nvPr/>
          </p:nvCxnSpPr>
          <p:spPr>
            <a:xfrm>
              <a:off x="1614561" y="1138565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1597D4A3-1D15-468A-B952-B0B870A0C084}"/>
              </a:ext>
            </a:extLst>
          </p:cNvPr>
          <p:cNvGrpSpPr/>
          <p:nvPr/>
        </p:nvGrpSpPr>
        <p:grpSpPr>
          <a:xfrm>
            <a:off x="3511239" y="1579120"/>
            <a:ext cx="3231780" cy="1599841"/>
            <a:chOff x="3036812" y="415257"/>
            <a:chExt cx="3216480" cy="1671186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xmlns="" id="{AE9E3FDE-BC7B-481E-8C95-5B00965C4E18}"/>
                </a:ext>
              </a:extLst>
            </p:cNvPr>
            <p:cNvSpPr/>
            <p:nvPr/>
          </p:nvSpPr>
          <p:spPr>
            <a:xfrm>
              <a:off x="4143581" y="1398545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Airline</a:t>
              </a:r>
              <a:endParaRPr lang="ko-KR" altLang="en-US" dirty="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xmlns="" id="{5269D2FD-F9B2-40AC-9A39-480B97702BBE}"/>
                </a:ext>
              </a:extLst>
            </p:cNvPr>
            <p:cNvCxnSpPr>
              <a:cxnSpLocks/>
              <a:stCxn id="33" idx="0"/>
              <a:endCxn id="35" idx="4"/>
            </p:cNvCxnSpPr>
            <p:nvPr/>
          </p:nvCxnSpPr>
          <p:spPr>
            <a:xfrm flipH="1" flipV="1">
              <a:off x="3913463" y="859874"/>
              <a:ext cx="746741" cy="5386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FE166AF0-DBE4-4F33-AA55-3253F44C0411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Aport_Name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xmlns="" id="{82C37090-0E57-417A-B849-272CB039761F}"/>
                </a:ext>
              </a:extLst>
            </p:cNvPr>
            <p:cNvCxnSpPr>
              <a:cxnSpLocks/>
              <a:stCxn id="33" idx="0"/>
              <a:endCxn id="37" idx="4"/>
            </p:cNvCxnSpPr>
            <p:nvPr/>
          </p:nvCxnSpPr>
          <p:spPr>
            <a:xfrm flipV="1">
              <a:off x="4660204" y="889236"/>
              <a:ext cx="932105" cy="509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8CADE138-16CA-4604-B6A0-80AE954E9C17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Director</a:t>
              </a:r>
              <a:endParaRPr lang="ko-KR" altLang="en-US" sz="14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B1DD4590-BA11-44AC-AE8B-73C43645A0CA}"/>
              </a:ext>
            </a:extLst>
          </p:cNvPr>
          <p:cNvGrpSpPr/>
          <p:nvPr/>
        </p:nvGrpSpPr>
        <p:grpSpPr>
          <a:xfrm>
            <a:off x="6955429" y="1631195"/>
            <a:ext cx="5024310" cy="1358677"/>
            <a:chOff x="6765019" y="479571"/>
            <a:chExt cx="5024310" cy="172393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xmlns="" id="{5E197F15-1A6A-4D3C-8669-C7C2BA15945E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Employee</a:t>
              </a:r>
              <a:endParaRPr lang="ko-KR" altLang="en-US" dirty="0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xmlns="" id="{097C79B9-A232-48DF-B5E2-0C68547C1B5B}"/>
                </a:ext>
              </a:extLst>
            </p:cNvPr>
            <p:cNvCxnSpPr>
              <a:cxnSpLocks/>
              <a:stCxn id="39" idx="0"/>
              <a:endCxn id="41" idx="4"/>
            </p:cNvCxnSpPr>
            <p:nvPr/>
          </p:nvCxnSpPr>
          <p:spPr>
            <a:xfrm flipH="1" flipV="1">
              <a:off x="7426002" y="924188"/>
              <a:ext cx="1250749" cy="8347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xmlns="" id="{B27E26A6-E90B-4DFA-9C17-190BB7204154}"/>
                </a:ext>
              </a:extLst>
            </p:cNvPr>
            <p:cNvSpPr/>
            <p:nvPr/>
          </p:nvSpPr>
          <p:spPr>
            <a:xfrm>
              <a:off x="6765019" y="479571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Emp No</a:t>
              </a:r>
              <a:endParaRPr lang="ko-KR" altLang="en-US" sz="14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xmlns="" id="{185E9E2D-C9D0-4379-B366-C02A6050092E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xmlns="" id="{EC9E8406-F90A-4EB7-8092-BE1F1C7F91C5}"/>
                </a:ext>
              </a:extLst>
            </p:cNvPr>
            <p:cNvCxnSpPr>
              <a:cxnSpLocks/>
              <a:stCxn id="39" idx="0"/>
              <a:endCxn id="44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658105F9-C015-45B6-A9E1-B2E8B2752AFC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Salary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F9C6A8CF-DDDA-4C65-BE68-FC588A488C66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Title</a:t>
              </a:r>
              <a:endParaRPr lang="ko-KR" altLang="en-US" sz="1400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xmlns="" id="{4ADBF69A-10D4-4C5E-8F44-93AAA510A22E}"/>
                </a:ext>
              </a:extLst>
            </p:cNvPr>
            <p:cNvCxnSpPr>
              <a:cxnSpLocks/>
              <a:stCxn id="39" idx="3"/>
              <a:endCxn id="47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xmlns="" id="{10EA4DF2-CB17-466F-BED6-8B9164A12146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Manager</a:t>
              </a:r>
              <a:endParaRPr lang="ko-KR" altLang="en-US" sz="1400" dirty="0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xmlns="" id="{F518C4BB-B4BD-4A7E-8E3E-5F1BC78E9BBB}"/>
              </a:ext>
            </a:extLst>
          </p:cNvPr>
          <p:cNvGrpSpPr/>
          <p:nvPr/>
        </p:nvGrpSpPr>
        <p:grpSpPr>
          <a:xfrm>
            <a:off x="3727201" y="3064344"/>
            <a:ext cx="6232257" cy="2267291"/>
            <a:chOff x="5496315" y="4214683"/>
            <a:chExt cx="6232257" cy="226729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xmlns="" id="{48D62C02-9633-417F-B025-52139E5562E4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Boarding Pass</a:t>
              </a:r>
              <a:endParaRPr lang="ko-KR" altLang="en-US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xmlns="" id="{5F9DD09D-58B5-46A2-A726-3B70551F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xmlns="" id="{45AEE3CA-4412-48D0-80EC-EDB616550FAF}"/>
                </a:ext>
              </a:extLst>
            </p:cNvPr>
            <p:cNvCxnSpPr>
              <a:cxnSpLocks/>
              <a:stCxn id="68" idx="3"/>
              <a:endCxn id="77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xmlns="" id="{2156AA70-EF00-4624-AFC0-10E5B0318D73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9150507" y="5169159"/>
              <a:ext cx="1599666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xmlns="" id="{37760DAB-E7E5-49BD-B78B-DA8A5F4CBA6B}"/>
                </a:ext>
              </a:extLst>
            </p:cNvPr>
            <p:cNvCxnSpPr>
              <a:cxnSpLocks/>
              <a:stCxn id="68" idx="2"/>
              <a:endCxn id="79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xmlns="" id="{02C794FC-A4FC-4D87-991D-B4780881F276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6968076" y="5181300"/>
              <a:ext cx="962189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xmlns="" id="{33ACE2B4-70F7-4A2B-A019-300ACC5B5A27}"/>
                </a:ext>
              </a:extLst>
            </p:cNvPr>
            <p:cNvCxnSpPr>
              <a:cxnSpLocks/>
              <a:endCxn id="82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xmlns="" id="{E3A5BD18-F0BB-4433-BF13-A093F24B91F2}"/>
                </a:ext>
              </a:extLst>
            </p:cNvPr>
            <p:cNvCxnSpPr>
              <a:cxnSpLocks/>
              <a:stCxn id="68" idx="1"/>
              <a:endCxn id="81" idx="6"/>
            </p:cNvCxnSpPr>
            <p:nvPr/>
          </p:nvCxnSpPr>
          <p:spPr>
            <a:xfrm flipH="1">
              <a:off x="6549433" y="4890918"/>
              <a:ext cx="1364572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xmlns="" id="{ED055136-7941-4404-8C1A-7FB357FE0A2F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Arrival</a:t>
              </a:r>
              <a:endParaRPr lang="ko-KR" altLang="en-US" sz="1400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xmlns="" id="{EE389587-412B-4F13-A3EE-9EDBD78D8C30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Departure</a:t>
              </a:r>
              <a:endParaRPr lang="ko-KR" altLang="en-US" sz="1400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xmlns="" id="{DEE26CE0-F39A-4667-AD10-903BADC571CB}"/>
                </a:ext>
              </a:extLst>
            </p:cNvPr>
            <p:cNvSpPr/>
            <p:nvPr/>
          </p:nvSpPr>
          <p:spPr>
            <a:xfrm>
              <a:off x="10013996" y="5817763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Fligt_No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xmlns="" id="{6516A18F-64E9-4B8E-AEAA-C79088292069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Resrv</a:t>
              </a:r>
              <a:r>
                <a:rPr lang="en-US" altLang="ko-KR" sz="1400" dirty="0"/>
                <a:t> No</a:t>
              </a:r>
              <a:endParaRPr lang="ko-KR" altLang="en-US" sz="1400" dirty="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xmlns="" id="{92C9B5CB-BD0B-4740-89D0-BEFEF236CEE5}"/>
                </a:ext>
              </a:extLst>
            </p:cNvPr>
            <p:cNvSpPr/>
            <p:nvPr/>
          </p:nvSpPr>
          <p:spPr>
            <a:xfrm>
              <a:off x="6383082" y="5967331"/>
              <a:ext cx="1169987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Seat no</a:t>
              </a:r>
              <a:endParaRPr lang="ko-KR" altLang="en-US" sz="1400" dirty="0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xmlns="" id="{F025885F-2033-4F51-BEE5-2A020CB41F10}"/>
                </a:ext>
              </a:extLst>
            </p:cNvPr>
            <p:cNvSpPr/>
            <p:nvPr/>
          </p:nvSpPr>
          <p:spPr>
            <a:xfrm>
              <a:off x="5587244" y="5282576"/>
              <a:ext cx="962189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Class</a:t>
              </a:r>
              <a:endParaRPr lang="ko-KR" altLang="en-US" sz="1400" dirty="0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xmlns="" id="{335BB86B-65F2-4C47-9112-2ECC8F72811A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data</a:t>
              </a:r>
              <a:endParaRPr lang="ko-KR" altLang="en-US" sz="1400" dirty="0"/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xmlns="" id="{A0DC235E-7BDB-4BEE-9369-DF87B55654CE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xmlns="" id="{AD8445FF-7DA7-455D-864D-6D497CCC285F}"/>
              </a:ext>
            </a:extLst>
          </p:cNvPr>
          <p:cNvGrpSpPr/>
          <p:nvPr/>
        </p:nvGrpSpPr>
        <p:grpSpPr>
          <a:xfrm>
            <a:off x="311110" y="3586102"/>
            <a:ext cx="3274437" cy="1385581"/>
            <a:chOff x="8720026" y="2639037"/>
            <a:chExt cx="3274437" cy="138558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xmlns="" id="{A1BF5433-723B-48BE-87E0-2BB34D5A25EE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Customer</a:t>
              </a:r>
              <a:endParaRPr lang="ko-KR" altLang="en-US" dirty="0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xmlns="" id="{E6C6C485-275D-420E-80AF-2FC4820ADC0E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xmlns="" id="{6F461C83-B2C0-4785-A3B8-27223C8C80F8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PssprtNum</a:t>
                </a:r>
                <a:endParaRPr lang="ko-KR" altLang="en-US" sz="14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xmlns="" id="{7D59B485-8E73-47C6-81FC-2512B3BA7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xmlns="" id="{06F3170E-C4B3-42AC-8447-34F44737C47D}"/>
                </a:ext>
              </a:extLst>
            </p:cNvPr>
            <p:cNvCxnSpPr>
              <a:stCxn id="87" idx="4"/>
              <a:endCxn id="85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xmlns="" id="{1531A113-E34F-4E66-B96A-31B4E82331B6}"/>
                </a:ext>
              </a:extLst>
            </p:cNvPr>
            <p:cNvCxnSpPr>
              <a:cxnSpLocks/>
              <a:stCxn id="85" idx="0"/>
              <a:endCxn id="91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xmlns="" id="{4F5C2E25-1985-4344-ABFF-E9C6908C2BBF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Name</a:t>
              </a:r>
              <a:endParaRPr lang="ko-KR" altLang="en-US" sz="1400" dirty="0"/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xmlns="" id="{D9C5741C-A6D6-4FC2-BC3E-433AABD88B8A}"/>
                </a:ext>
              </a:extLst>
            </p:cNvPr>
            <p:cNvCxnSpPr>
              <a:cxnSpLocks/>
              <a:stCxn id="85" idx="3"/>
              <a:endCxn id="93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xmlns="" id="{CA259089-2A43-40E0-9BF8-A10F421BF984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73B65F02-D253-4F22-A31D-E095BE2428DC}"/>
              </a:ext>
            </a:extLst>
          </p:cNvPr>
          <p:cNvGrpSpPr/>
          <p:nvPr/>
        </p:nvGrpSpPr>
        <p:grpSpPr>
          <a:xfrm>
            <a:off x="159159" y="5718432"/>
            <a:ext cx="5502273" cy="1029234"/>
            <a:chOff x="1457878" y="5747423"/>
            <a:chExt cx="5502273" cy="102923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A47089C1-0968-4845-8AF6-004AA9B7C901}"/>
                </a:ext>
              </a:extLst>
            </p:cNvPr>
            <p:cNvGrpSpPr/>
            <p:nvPr/>
          </p:nvGrpSpPr>
          <p:grpSpPr>
            <a:xfrm>
              <a:off x="3134108" y="5747423"/>
              <a:ext cx="3826043" cy="1029234"/>
              <a:chOff x="8013860" y="3761518"/>
              <a:chExt cx="3826043" cy="102923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xmlns="" id="{E2CF42DD-B708-40DD-9E54-E2C6AAC8E8EC}"/>
                  </a:ext>
                </a:extLst>
              </p:cNvPr>
              <p:cNvSpPr/>
              <p:nvPr/>
            </p:nvSpPr>
            <p:spPr>
              <a:xfrm>
                <a:off x="8013860" y="3827517"/>
                <a:ext cx="1236502" cy="5564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Airplane</a:t>
                </a:r>
                <a:endParaRPr lang="ko-KR" altLang="en-US" dirty="0"/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xmlns="" id="{54F5137F-F63E-4E64-A77A-E5CB4ED57557}"/>
                  </a:ext>
                </a:extLst>
              </p:cNvPr>
              <p:cNvCxnSpPr>
                <a:cxnSpLocks/>
                <a:stCxn id="56" idx="3"/>
                <a:endCxn id="58" idx="2"/>
              </p:cNvCxnSpPr>
              <p:nvPr/>
            </p:nvCxnSpPr>
            <p:spPr>
              <a:xfrm flipV="1">
                <a:off x="9250362" y="3983827"/>
                <a:ext cx="1101307" cy="1219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xmlns="" id="{95A23E28-45E8-4C9A-B552-3DAC1831A049}"/>
                  </a:ext>
                </a:extLst>
              </p:cNvPr>
              <p:cNvSpPr/>
              <p:nvPr/>
            </p:nvSpPr>
            <p:spPr>
              <a:xfrm>
                <a:off x="10351669" y="3761518"/>
                <a:ext cx="1472354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Fligt_No</a:t>
                </a:r>
                <a:endParaRPr lang="ko-KR" altLang="en-US" sz="1400" dirty="0"/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xmlns="" id="{B075245D-8795-4AC1-B5BC-0AE83A3C4852}"/>
                  </a:ext>
                </a:extLst>
              </p:cNvPr>
              <p:cNvCxnSpPr/>
              <p:nvPr/>
            </p:nvCxnSpPr>
            <p:spPr>
              <a:xfrm>
                <a:off x="10691846" y="4108514"/>
                <a:ext cx="792000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xmlns="" id="{F4B4C5BF-01F7-4024-944C-2A8DA6C1DFD3}"/>
                  </a:ext>
                </a:extLst>
              </p:cNvPr>
              <p:cNvCxnSpPr>
                <a:cxnSpLocks/>
                <a:stCxn id="56" idx="3"/>
                <a:endCxn id="61" idx="6"/>
              </p:cNvCxnSpPr>
              <p:nvPr/>
            </p:nvCxnSpPr>
            <p:spPr>
              <a:xfrm>
                <a:off x="9250362" y="4105759"/>
                <a:ext cx="2589541" cy="4626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xmlns="" id="{75993BE9-1581-4D76-90DA-1F20EA69C12D}"/>
                  </a:ext>
                </a:extLst>
              </p:cNvPr>
              <p:cNvSpPr/>
              <p:nvPr/>
            </p:nvSpPr>
            <p:spPr>
              <a:xfrm>
                <a:off x="10367549" y="4346135"/>
                <a:ext cx="1472354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00B050"/>
                    </a:solidFill>
                  </a:rPr>
                  <a:t>Captain</a:t>
                </a:r>
                <a:endParaRPr lang="ko-KR" altLang="en-US" sz="14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6" name="타원 5">
              <a:extLst>
                <a:ext uri="{FF2B5EF4-FFF2-40B4-BE49-F238E27FC236}">
                  <a16:creationId xmlns:a16="http://schemas.microsoft.com/office/drawing/2014/main" xmlns="" id="{F6BCBD7D-B8C7-47CA-A05B-3837889278EB}"/>
                </a:ext>
              </a:extLst>
            </p:cNvPr>
            <p:cNvSpPr/>
            <p:nvPr/>
          </p:nvSpPr>
          <p:spPr>
            <a:xfrm>
              <a:off x="1457878" y="5882202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</a:rPr>
                <a:t>Attendant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xmlns="" id="{293D094B-6355-4737-9D18-028B223BCA80}"/>
                </a:ext>
              </a:extLst>
            </p:cNvPr>
            <p:cNvCxnSpPr>
              <a:stCxn id="56" idx="1"/>
              <a:endCxn id="6" idx="6"/>
            </p:cNvCxnSpPr>
            <p:nvPr/>
          </p:nvCxnSpPr>
          <p:spPr>
            <a:xfrm flipH="1">
              <a:off x="2930232" y="6091664"/>
              <a:ext cx="203876" cy="128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3DD83ADE-F4F9-42EB-8D6C-7B0F6546A581}"/>
              </a:ext>
            </a:extLst>
          </p:cNvPr>
          <p:cNvCxnSpPr>
            <a:stCxn id="45" idx="3"/>
            <a:endCxn id="39" idx="3"/>
          </p:cNvCxnSpPr>
          <p:nvPr/>
        </p:nvCxnSpPr>
        <p:spPr>
          <a:xfrm flipH="1">
            <a:off x="9485412" y="2021752"/>
            <a:ext cx="748056" cy="792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xmlns="" id="{2A076774-D8EF-418F-B8CF-A5F0E533792A}"/>
              </a:ext>
            </a:extLst>
          </p:cNvPr>
          <p:cNvSpPr/>
          <p:nvPr/>
        </p:nvSpPr>
        <p:spPr>
          <a:xfrm>
            <a:off x="10400459" y="3797640"/>
            <a:ext cx="1236502" cy="58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Duty free </a:t>
            </a:r>
          </a:p>
          <a:p>
            <a:pPr algn="ctr">
              <a:defRPr/>
            </a:pPr>
            <a:r>
              <a:rPr lang="en-US" altLang="ko-KR" dirty="0"/>
              <a:t>Goods</a:t>
            </a:r>
            <a:endParaRPr lang="ko-KR" altLang="en-US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xmlns="" id="{BA07EE29-2FF7-437C-B8BE-D83DE15C9540}"/>
              </a:ext>
            </a:extLst>
          </p:cNvPr>
          <p:cNvCxnSpPr>
            <a:cxnSpLocks/>
            <a:stCxn id="95" idx="2"/>
            <a:endCxn id="98" idx="0"/>
          </p:cNvCxnSpPr>
          <p:nvPr/>
        </p:nvCxnSpPr>
        <p:spPr>
          <a:xfrm>
            <a:off x="11018710" y="4384896"/>
            <a:ext cx="0" cy="208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7" name="그룹 96">
            <a:extLst>
              <a:ext uri="{FF2B5EF4-FFF2-40B4-BE49-F238E27FC236}">
                <a16:creationId xmlns:a16="http://schemas.microsoft.com/office/drawing/2014/main" xmlns="" id="{CFB58604-0629-4824-83F3-C0780027D69A}"/>
              </a:ext>
            </a:extLst>
          </p:cNvPr>
          <p:cNvGrpSpPr/>
          <p:nvPr/>
        </p:nvGrpSpPr>
        <p:grpSpPr>
          <a:xfrm>
            <a:off x="10182040" y="4593338"/>
            <a:ext cx="1673340" cy="444618"/>
            <a:chOff x="395061" y="4140377"/>
            <a:chExt cx="1396838" cy="444618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xmlns="" id="{DE67BA94-D5EB-4D7A-9B35-B7F3DD27621D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/>
                <a:t>Product No</a:t>
              </a:r>
              <a:endParaRPr lang="ko-KR" altLang="en-US" sz="14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xmlns="" id="{319E8B19-EBD1-4B11-B8B7-F48A400B7BB4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xmlns="" id="{D80C099A-DA50-46A3-8359-857472D3D105}"/>
              </a:ext>
            </a:extLst>
          </p:cNvPr>
          <p:cNvCxnSpPr>
            <a:cxnSpLocks/>
            <a:stCxn id="95" idx="0"/>
            <a:endCxn id="101" idx="4"/>
          </p:cNvCxnSpPr>
          <p:nvPr/>
        </p:nvCxnSpPr>
        <p:spPr>
          <a:xfrm flipH="1" flipV="1">
            <a:off x="11012665" y="3651953"/>
            <a:ext cx="6045" cy="145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xmlns="" id="{4B678572-0D06-40EC-BE22-A8E706480525}"/>
              </a:ext>
            </a:extLst>
          </p:cNvPr>
          <p:cNvSpPr/>
          <p:nvPr/>
        </p:nvSpPr>
        <p:spPr>
          <a:xfrm>
            <a:off x="10148599" y="3207335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Goods Name</a:t>
            </a:r>
            <a:endParaRPr lang="ko-KR" altLang="en-US" sz="14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xmlns="" id="{2A2C6C73-9857-4581-B118-3E15CF4C2E98}"/>
              </a:ext>
            </a:extLst>
          </p:cNvPr>
          <p:cNvSpPr/>
          <p:nvPr/>
        </p:nvSpPr>
        <p:spPr>
          <a:xfrm>
            <a:off x="10148599" y="5344301"/>
            <a:ext cx="1236502" cy="62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In-flight meal</a:t>
            </a:r>
            <a:endParaRPr lang="ko-KR" altLang="en-US" dirty="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xmlns="" id="{A3B4D45C-F2A6-4F76-828B-E3E8D1FF7F23}"/>
              </a:ext>
            </a:extLst>
          </p:cNvPr>
          <p:cNvCxnSpPr>
            <a:cxnSpLocks/>
            <a:stCxn id="110" idx="2"/>
            <a:endCxn id="112" idx="0"/>
          </p:cNvCxnSpPr>
          <p:nvPr/>
        </p:nvCxnSpPr>
        <p:spPr>
          <a:xfrm>
            <a:off x="10766850" y="5966315"/>
            <a:ext cx="0" cy="255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xmlns="" id="{B1F1A35C-1C83-4BFA-BBD7-5637FAC4B7FD}"/>
              </a:ext>
            </a:extLst>
          </p:cNvPr>
          <p:cNvSpPr/>
          <p:nvPr/>
        </p:nvSpPr>
        <p:spPr>
          <a:xfrm>
            <a:off x="10105867" y="622218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xmlns="" id="{B9F6B9BB-4027-4891-8986-FC02F4044450}"/>
              </a:ext>
            </a:extLst>
          </p:cNvPr>
          <p:cNvCxnSpPr/>
          <p:nvPr/>
        </p:nvCxnSpPr>
        <p:spPr>
          <a:xfrm>
            <a:off x="10204870" y="653613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xmlns="" id="{B6BF1085-6AD1-4B8A-A3B1-F1BCA8FD596B}"/>
              </a:ext>
            </a:extLst>
          </p:cNvPr>
          <p:cNvCxnSpPr>
            <a:cxnSpLocks/>
            <a:stCxn id="110" idx="1"/>
            <a:endCxn id="115" idx="0"/>
          </p:cNvCxnSpPr>
          <p:nvPr/>
        </p:nvCxnSpPr>
        <p:spPr>
          <a:xfrm flipH="1">
            <a:off x="9017842" y="5655308"/>
            <a:ext cx="1130757" cy="610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타원 114">
            <a:extLst>
              <a:ext uri="{FF2B5EF4-FFF2-40B4-BE49-F238E27FC236}">
                <a16:creationId xmlns:a16="http://schemas.microsoft.com/office/drawing/2014/main" xmlns="" id="{C27BA569-ED00-4352-8064-DEBB73850BE7}"/>
              </a:ext>
            </a:extLst>
          </p:cNvPr>
          <p:cNvSpPr/>
          <p:nvPr/>
        </p:nvSpPr>
        <p:spPr>
          <a:xfrm>
            <a:off x="8153776" y="626549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Food code</a:t>
            </a:r>
            <a:endParaRPr lang="ko-KR" altLang="en-US" sz="14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xmlns="" id="{05CF4C41-8FD7-41EE-B992-7888436C1FBE}"/>
              </a:ext>
            </a:extLst>
          </p:cNvPr>
          <p:cNvCxnSpPr>
            <a:cxnSpLocks/>
            <a:stCxn id="110" idx="1"/>
            <a:endCxn id="117" idx="6"/>
          </p:cNvCxnSpPr>
          <p:nvPr/>
        </p:nvCxnSpPr>
        <p:spPr>
          <a:xfrm flipH="1" flipV="1">
            <a:off x="9227751" y="5551229"/>
            <a:ext cx="920848" cy="104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xmlns="" id="{270922BE-F1BE-4761-ADFA-97426D324AB8}"/>
              </a:ext>
            </a:extLst>
          </p:cNvPr>
          <p:cNvSpPr/>
          <p:nvPr/>
        </p:nvSpPr>
        <p:spPr>
          <a:xfrm>
            <a:off x="7499619" y="532892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Seat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xmlns="" id="{AB4EA21B-0BB9-4A66-A175-E6A28CFA27D5}"/>
              </a:ext>
            </a:extLst>
          </p:cNvPr>
          <p:cNvSpPr/>
          <p:nvPr/>
        </p:nvSpPr>
        <p:spPr>
          <a:xfrm>
            <a:off x="7457990" y="590066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4144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Entity Type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0974E84-BC1E-40DD-8E42-A3B1426E402D}"/>
              </a:ext>
            </a:extLst>
          </p:cNvPr>
          <p:cNvGrpSpPr/>
          <p:nvPr/>
        </p:nvGrpSpPr>
        <p:grpSpPr>
          <a:xfrm>
            <a:off x="133955" y="1528871"/>
            <a:ext cx="3792541" cy="1702746"/>
            <a:chOff x="159391" y="802063"/>
            <a:chExt cx="3752038" cy="201663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xmlns="" id="{79F114B0-D814-4CFA-8E00-7B01D3ECD343}"/>
                </a:ext>
              </a:extLst>
            </p:cNvPr>
            <p:cNvSpPr/>
            <p:nvPr/>
          </p:nvSpPr>
          <p:spPr>
            <a:xfrm>
              <a:off x="1261331" y="802063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공항 이름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A9F41AB4-C4C0-4905-924B-1A9896D8EE75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xmlns="" id="{8340E8DF-28DB-44A2-85FC-4B3079CA9F43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2068772" y="1246680"/>
              <a:ext cx="114813" cy="4688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9D8FF575-60E4-4EE1-A5E1-666D10180DCB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연락처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xmlns="" id="{C48574A5-6EAC-497D-A9F9-7398EEA1A057}"/>
                </a:ext>
              </a:extLst>
            </p:cNvPr>
            <p:cNvCxnSpPr>
              <a:cxnSpLocks/>
              <a:stCxn id="26" idx="1"/>
              <a:endCxn id="28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2C7EB3AF-DAFD-41DD-9269-92E020486C77}"/>
                </a:ext>
              </a:extLst>
            </p:cNvPr>
            <p:cNvSpPr/>
            <p:nvPr/>
          </p:nvSpPr>
          <p:spPr>
            <a:xfrm>
              <a:off x="2183297" y="2317768"/>
              <a:ext cx="1728132" cy="44461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소속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xmlns="" id="{8B42C142-A712-4B6C-A752-1E2A5D785373}"/>
                </a:ext>
              </a:extLst>
            </p:cNvPr>
            <p:cNvCxnSpPr>
              <a:cxnSpLocks/>
              <a:stCxn id="26" idx="3"/>
              <a:endCxn id="30" idx="0"/>
            </p:cNvCxnSpPr>
            <p:nvPr/>
          </p:nvCxnSpPr>
          <p:spPr>
            <a:xfrm>
              <a:off x="2642533" y="1937857"/>
              <a:ext cx="404831" cy="3799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xmlns="" id="{91EAEF58-44C2-4F9A-8154-7D78C8D098F6}"/>
                </a:ext>
              </a:extLst>
            </p:cNvPr>
            <p:cNvCxnSpPr/>
            <p:nvPr/>
          </p:nvCxnSpPr>
          <p:spPr>
            <a:xfrm>
              <a:off x="1614561" y="1138565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1597D4A3-1D15-468A-B952-B0B870A0C084}"/>
              </a:ext>
            </a:extLst>
          </p:cNvPr>
          <p:cNvGrpSpPr/>
          <p:nvPr/>
        </p:nvGrpSpPr>
        <p:grpSpPr>
          <a:xfrm>
            <a:off x="3511239" y="1579120"/>
            <a:ext cx="3231780" cy="1599841"/>
            <a:chOff x="3036812" y="415257"/>
            <a:chExt cx="3216480" cy="1671186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xmlns="" id="{AE9E3FDE-BC7B-481E-8C95-5B00965C4E18}"/>
                </a:ext>
              </a:extLst>
            </p:cNvPr>
            <p:cNvSpPr/>
            <p:nvPr/>
          </p:nvSpPr>
          <p:spPr>
            <a:xfrm>
              <a:off x="4143581" y="1398545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</a:t>
              </a:r>
              <a:r>
                <a:rPr lang="ko-KR" altLang="en-US" dirty="0"/>
                <a:t>항공사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xmlns="" id="{5269D2FD-F9B2-40AC-9A39-480B97702BBE}"/>
                </a:ext>
              </a:extLst>
            </p:cNvPr>
            <p:cNvCxnSpPr>
              <a:cxnSpLocks/>
              <a:stCxn id="33" idx="0"/>
              <a:endCxn id="35" idx="4"/>
            </p:cNvCxnSpPr>
            <p:nvPr/>
          </p:nvCxnSpPr>
          <p:spPr>
            <a:xfrm flipH="1" flipV="1">
              <a:off x="3913463" y="859874"/>
              <a:ext cx="746741" cy="5386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FE166AF0-DBE4-4F33-AA55-3253F44C0411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00B050"/>
                  </a:solidFill>
                </a:rPr>
                <a:t>공항 이름</a:t>
              </a: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xmlns="" id="{82C37090-0E57-417A-B849-272CB039761F}"/>
                </a:ext>
              </a:extLst>
            </p:cNvPr>
            <p:cNvCxnSpPr>
              <a:cxnSpLocks/>
              <a:stCxn id="33" idx="0"/>
              <a:endCxn id="37" idx="4"/>
            </p:cNvCxnSpPr>
            <p:nvPr/>
          </p:nvCxnSpPr>
          <p:spPr>
            <a:xfrm flipV="1">
              <a:off x="4660204" y="889236"/>
              <a:ext cx="932105" cy="509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8CADE138-16CA-4604-B6A0-80AE954E9C17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경영자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B1DD4590-BA11-44AC-AE8B-73C43645A0CA}"/>
              </a:ext>
            </a:extLst>
          </p:cNvPr>
          <p:cNvGrpSpPr/>
          <p:nvPr/>
        </p:nvGrpSpPr>
        <p:grpSpPr>
          <a:xfrm>
            <a:off x="6955428" y="1631195"/>
            <a:ext cx="5024311" cy="1358677"/>
            <a:chOff x="6765018" y="479571"/>
            <a:chExt cx="5024311" cy="172393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xmlns="" id="{5E197F15-1A6A-4D3C-8669-C7C2BA15945E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직원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xmlns="" id="{097C79B9-A232-48DF-B5E2-0C68547C1B5B}"/>
                </a:ext>
              </a:extLst>
            </p:cNvPr>
            <p:cNvCxnSpPr>
              <a:cxnSpLocks/>
              <a:stCxn id="39" idx="0"/>
              <a:endCxn id="41" idx="4"/>
            </p:cNvCxnSpPr>
            <p:nvPr/>
          </p:nvCxnSpPr>
          <p:spPr>
            <a:xfrm flipH="1" flipV="1">
              <a:off x="7461664" y="924189"/>
              <a:ext cx="1215087" cy="8347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xmlns="" id="{B27E26A6-E90B-4DFA-9C17-190BB7204154}"/>
                </a:ext>
              </a:extLst>
            </p:cNvPr>
            <p:cNvSpPr/>
            <p:nvPr/>
          </p:nvSpPr>
          <p:spPr>
            <a:xfrm>
              <a:off x="6765018" y="479571"/>
              <a:ext cx="1393291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직원 번호</a:t>
              </a:r>
              <a:endParaRPr lang="ko-KR" altLang="en-US" sz="14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xmlns="" id="{185E9E2D-C9D0-4379-B366-C02A6050092E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xmlns="" id="{EC9E8406-F90A-4EB7-8092-BE1F1C7F91C5}"/>
                </a:ext>
              </a:extLst>
            </p:cNvPr>
            <p:cNvCxnSpPr>
              <a:cxnSpLocks/>
              <a:stCxn id="39" idx="0"/>
              <a:endCxn id="44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658105F9-C015-45B6-A9E1-B2E8B2752AFC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급여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F9C6A8CF-DDDA-4C65-BE68-FC588A488C66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직책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xmlns="" id="{4ADBF69A-10D4-4C5E-8F44-93AAA510A22E}"/>
                </a:ext>
              </a:extLst>
            </p:cNvPr>
            <p:cNvCxnSpPr>
              <a:cxnSpLocks/>
              <a:stCxn id="39" idx="3"/>
              <a:endCxn id="47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xmlns="" id="{10EA4DF2-CB17-466F-BED6-8B9164A12146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담당자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xmlns="" id="{F518C4BB-B4BD-4A7E-8E3E-5F1BC78E9BBB}"/>
              </a:ext>
            </a:extLst>
          </p:cNvPr>
          <p:cNvGrpSpPr/>
          <p:nvPr/>
        </p:nvGrpSpPr>
        <p:grpSpPr>
          <a:xfrm>
            <a:off x="3637860" y="3064344"/>
            <a:ext cx="6321598" cy="2267291"/>
            <a:chOff x="5406974" y="4214683"/>
            <a:chExt cx="6321598" cy="226729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xmlns="" id="{48D62C02-9633-417F-B025-52139E5562E4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탑승권</a:t>
              </a:r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xmlns="" id="{5F9DD09D-58B5-46A2-A726-3B70551F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xmlns="" id="{45AEE3CA-4412-48D0-80EC-EDB616550FAF}"/>
                </a:ext>
              </a:extLst>
            </p:cNvPr>
            <p:cNvCxnSpPr>
              <a:cxnSpLocks/>
              <a:stCxn id="68" idx="3"/>
              <a:endCxn id="77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xmlns="" id="{2156AA70-EF00-4624-AFC0-10E5B0318D73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9150507" y="5169159"/>
              <a:ext cx="1499173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xmlns="" id="{37760DAB-E7E5-49BD-B78B-DA8A5F4CBA6B}"/>
                </a:ext>
              </a:extLst>
            </p:cNvPr>
            <p:cNvCxnSpPr>
              <a:cxnSpLocks/>
              <a:stCxn id="68" idx="2"/>
              <a:endCxn id="79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xmlns="" id="{02C794FC-A4FC-4D87-991D-B4780881F276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6838259" y="5181300"/>
              <a:ext cx="1092008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xmlns="" id="{33ACE2B4-70F7-4A2B-A019-300ACC5B5A27}"/>
                </a:ext>
              </a:extLst>
            </p:cNvPr>
            <p:cNvCxnSpPr>
              <a:cxnSpLocks/>
              <a:endCxn id="82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xmlns="" id="{E3A5BD18-F0BB-4433-BF13-A093F24B91F2}"/>
                </a:ext>
              </a:extLst>
            </p:cNvPr>
            <p:cNvCxnSpPr>
              <a:cxnSpLocks/>
              <a:stCxn id="68" idx="1"/>
              <a:endCxn id="81" idx="6"/>
            </p:cNvCxnSpPr>
            <p:nvPr/>
          </p:nvCxnSpPr>
          <p:spPr>
            <a:xfrm flipH="1">
              <a:off x="6771937" y="4890918"/>
              <a:ext cx="1142068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xmlns="" id="{ED055136-7941-4404-8C1A-7FB357FE0A2F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도착지</a:t>
              </a: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xmlns="" id="{EE389587-412B-4F13-A3EE-9EDBD78D8C30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출발지</a:t>
              </a: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xmlns="" id="{DEE26CE0-F39A-4667-AD10-903BADC571CB}"/>
                </a:ext>
              </a:extLst>
            </p:cNvPr>
            <p:cNvSpPr/>
            <p:nvPr/>
          </p:nvSpPr>
          <p:spPr>
            <a:xfrm>
              <a:off x="9813010" y="5817763"/>
              <a:ext cx="167334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00B050"/>
                  </a:solidFill>
                </a:rPr>
                <a:t>항공기 번호</a:t>
              </a: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xmlns="" id="{6516A18F-64E9-4B8E-AEAA-C79088292069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예약 번호</a:t>
              </a: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xmlns="" id="{92C9B5CB-BD0B-4740-89D0-BEFEF236CEE5}"/>
                </a:ext>
              </a:extLst>
            </p:cNvPr>
            <p:cNvSpPr/>
            <p:nvPr/>
          </p:nvSpPr>
          <p:spPr>
            <a:xfrm>
              <a:off x="6123448" y="5967331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좌석 번호</a:t>
              </a:r>
              <a:endParaRPr lang="ko-KR" altLang="en-US" sz="1400" dirty="0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xmlns="" id="{F025885F-2033-4F51-BEE5-2A020CB41F10}"/>
                </a:ext>
              </a:extLst>
            </p:cNvPr>
            <p:cNvSpPr/>
            <p:nvPr/>
          </p:nvSpPr>
          <p:spPr>
            <a:xfrm>
              <a:off x="5406974" y="5282576"/>
              <a:ext cx="1364963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좌석 등급</a:t>
              </a: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xmlns="" id="{335BB86B-65F2-4C47-9112-2ECC8F72811A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날짜</a:t>
              </a:r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xmlns="" id="{A0DC235E-7BDB-4BEE-9369-DF87B55654CE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xmlns="" id="{AD8445FF-7DA7-455D-864D-6D497CCC285F}"/>
              </a:ext>
            </a:extLst>
          </p:cNvPr>
          <p:cNvGrpSpPr/>
          <p:nvPr/>
        </p:nvGrpSpPr>
        <p:grpSpPr>
          <a:xfrm>
            <a:off x="311110" y="3586102"/>
            <a:ext cx="3274437" cy="1385581"/>
            <a:chOff x="8720026" y="2639037"/>
            <a:chExt cx="3274437" cy="138558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xmlns="" id="{A1BF5433-723B-48BE-87E0-2BB34D5A25EE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소비자</a:t>
              </a: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xmlns="" id="{E6C6C485-275D-420E-80AF-2FC4820ADC0E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xmlns="" id="{6F461C83-B2C0-4785-A3B8-27223C8C80F8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여권 번호</a:t>
                </a:r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xmlns="" id="{7D59B485-8E73-47C6-81FC-2512B3BA7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xmlns="" id="{06F3170E-C4B3-42AC-8447-34F44737C47D}"/>
                </a:ext>
              </a:extLst>
            </p:cNvPr>
            <p:cNvCxnSpPr>
              <a:stCxn id="87" idx="4"/>
              <a:endCxn id="85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xmlns="" id="{1531A113-E34F-4E66-B96A-31B4E82331B6}"/>
                </a:ext>
              </a:extLst>
            </p:cNvPr>
            <p:cNvCxnSpPr>
              <a:cxnSpLocks/>
              <a:stCxn id="85" idx="0"/>
              <a:endCxn id="91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xmlns="" id="{4F5C2E25-1985-4344-ABFF-E9C6908C2BBF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이름</a:t>
              </a: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xmlns="" id="{D9C5741C-A6D6-4FC2-BC3E-433AABD88B8A}"/>
                </a:ext>
              </a:extLst>
            </p:cNvPr>
            <p:cNvCxnSpPr>
              <a:cxnSpLocks/>
              <a:stCxn id="85" idx="3"/>
              <a:endCxn id="93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xmlns="" id="{CA259089-2A43-40E0-9BF8-A10F421BF984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73B65F02-D253-4F22-A31D-E095BE2428DC}"/>
              </a:ext>
            </a:extLst>
          </p:cNvPr>
          <p:cNvGrpSpPr/>
          <p:nvPr/>
        </p:nvGrpSpPr>
        <p:grpSpPr>
          <a:xfrm>
            <a:off x="159159" y="5718432"/>
            <a:ext cx="5502273" cy="1029234"/>
            <a:chOff x="1457878" y="5747423"/>
            <a:chExt cx="5502273" cy="102923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A47089C1-0968-4845-8AF6-004AA9B7C901}"/>
                </a:ext>
              </a:extLst>
            </p:cNvPr>
            <p:cNvGrpSpPr/>
            <p:nvPr/>
          </p:nvGrpSpPr>
          <p:grpSpPr>
            <a:xfrm>
              <a:off x="3134108" y="5747423"/>
              <a:ext cx="3826043" cy="1029234"/>
              <a:chOff x="8013860" y="3761518"/>
              <a:chExt cx="3826043" cy="102923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xmlns="" id="{E2CF42DD-B708-40DD-9E54-E2C6AAC8E8EC}"/>
                  </a:ext>
                </a:extLst>
              </p:cNvPr>
              <p:cNvSpPr/>
              <p:nvPr/>
            </p:nvSpPr>
            <p:spPr>
              <a:xfrm>
                <a:off x="8013860" y="3827517"/>
                <a:ext cx="1236502" cy="5564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항공기</a:t>
                </a: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xmlns="" id="{54F5137F-F63E-4E64-A77A-E5CB4ED57557}"/>
                  </a:ext>
                </a:extLst>
              </p:cNvPr>
              <p:cNvCxnSpPr>
                <a:cxnSpLocks/>
                <a:stCxn id="56" idx="3"/>
                <a:endCxn id="58" idx="2"/>
              </p:cNvCxnSpPr>
              <p:nvPr/>
            </p:nvCxnSpPr>
            <p:spPr>
              <a:xfrm flipV="1">
                <a:off x="9250362" y="3983827"/>
                <a:ext cx="935814" cy="1219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xmlns="" id="{95A23E28-45E8-4C9A-B552-3DAC1831A049}"/>
                  </a:ext>
                </a:extLst>
              </p:cNvPr>
              <p:cNvSpPr/>
              <p:nvPr/>
            </p:nvSpPr>
            <p:spPr>
              <a:xfrm>
                <a:off x="10186176" y="3761518"/>
                <a:ext cx="1637847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/>
                  <a:t>항공기 번호</a:t>
                </a:r>
                <a:endParaRPr lang="ko-KR" altLang="en-US" sz="1400" dirty="0"/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xmlns="" id="{B075245D-8795-4AC1-B5BC-0AE83A3C4852}"/>
                  </a:ext>
                </a:extLst>
              </p:cNvPr>
              <p:cNvCxnSpPr/>
              <p:nvPr/>
            </p:nvCxnSpPr>
            <p:spPr>
              <a:xfrm>
                <a:off x="10570531" y="4126134"/>
                <a:ext cx="792000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xmlns="" id="{F4B4C5BF-01F7-4024-944C-2A8DA6C1DFD3}"/>
                  </a:ext>
                </a:extLst>
              </p:cNvPr>
              <p:cNvCxnSpPr>
                <a:cxnSpLocks/>
                <a:stCxn id="56" idx="3"/>
                <a:endCxn id="61" idx="6"/>
              </p:cNvCxnSpPr>
              <p:nvPr/>
            </p:nvCxnSpPr>
            <p:spPr>
              <a:xfrm>
                <a:off x="9250362" y="4105759"/>
                <a:ext cx="2589541" cy="4626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xmlns="" id="{75993BE9-1581-4D76-90DA-1F20EA69C12D}"/>
                  </a:ext>
                </a:extLst>
              </p:cNvPr>
              <p:cNvSpPr/>
              <p:nvPr/>
            </p:nvSpPr>
            <p:spPr>
              <a:xfrm>
                <a:off x="10367549" y="4346135"/>
                <a:ext cx="1472354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rgbClr val="00B050"/>
                    </a:solidFill>
                  </a:rPr>
                  <a:t>기장</a:t>
                </a:r>
              </a:p>
            </p:txBody>
          </p:sp>
        </p:grpSp>
        <p:sp>
          <p:nvSpPr>
            <p:cNvPr id="6" name="타원 5">
              <a:extLst>
                <a:ext uri="{FF2B5EF4-FFF2-40B4-BE49-F238E27FC236}">
                  <a16:creationId xmlns:a16="http://schemas.microsoft.com/office/drawing/2014/main" xmlns="" id="{F6BCBD7D-B8C7-47CA-A05B-3837889278EB}"/>
                </a:ext>
              </a:extLst>
            </p:cNvPr>
            <p:cNvSpPr/>
            <p:nvPr/>
          </p:nvSpPr>
          <p:spPr>
            <a:xfrm>
              <a:off x="1457878" y="5882202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00B050"/>
                  </a:solidFill>
                </a:rPr>
                <a:t>승무원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xmlns="" id="{293D094B-6355-4737-9D18-028B223BCA80}"/>
                </a:ext>
              </a:extLst>
            </p:cNvPr>
            <p:cNvCxnSpPr>
              <a:stCxn id="56" idx="1"/>
              <a:endCxn id="6" idx="6"/>
            </p:cNvCxnSpPr>
            <p:nvPr/>
          </p:nvCxnSpPr>
          <p:spPr>
            <a:xfrm flipH="1">
              <a:off x="2930232" y="6091664"/>
              <a:ext cx="203876" cy="128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3DD83ADE-F4F9-42EB-8D6C-7B0F6546A581}"/>
              </a:ext>
            </a:extLst>
          </p:cNvPr>
          <p:cNvCxnSpPr>
            <a:stCxn id="45" idx="3"/>
            <a:endCxn id="39" idx="3"/>
          </p:cNvCxnSpPr>
          <p:nvPr/>
        </p:nvCxnSpPr>
        <p:spPr>
          <a:xfrm flipH="1">
            <a:off x="9485412" y="2021752"/>
            <a:ext cx="748056" cy="792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xmlns="" id="{2A076774-D8EF-418F-B8CF-A5F0E533792A}"/>
              </a:ext>
            </a:extLst>
          </p:cNvPr>
          <p:cNvSpPr/>
          <p:nvPr/>
        </p:nvSpPr>
        <p:spPr>
          <a:xfrm>
            <a:off x="10400459" y="3797640"/>
            <a:ext cx="1236502" cy="58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면세 상품</a:t>
            </a: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xmlns="" id="{BA07EE29-2FF7-437C-B8BE-D83DE15C9540}"/>
              </a:ext>
            </a:extLst>
          </p:cNvPr>
          <p:cNvCxnSpPr>
            <a:cxnSpLocks/>
            <a:stCxn id="95" idx="2"/>
            <a:endCxn id="98" idx="0"/>
          </p:cNvCxnSpPr>
          <p:nvPr/>
        </p:nvCxnSpPr>
        <p:spPr>
          <a:xfrm>
            <a:off x="11018710" y="4384896"/>
            <a:ext cx="0" cy="208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7" name="그룹 96">
            <a:extLst>
              <a:ext uri="{FF2B5EF4-FFF2-40B4-BE49-F238E27FC236}">
                <a16:creationId xmlns:a16="http://schemas.microsoft.com/office/drawing/2014/main" xmlns="" id="{CFB58604-0629-4824-83F3-C0780027D69A}"/>
              </a:ext>
            </a:extLst>
          </p:cNvPr>
          <p:cNvGrpSpPr/>
          <p:nvPr/>
        </p:nvGrpSpPr>
        <p:grpSpPr>
          <a:xfrm>
            <a:off x="10182040" y="4593338"/>
            <a:ext cx="1673340" cy="444618"/>
            <a:chOff x="395061" y="4140377"/>
            <a:chExt cx="1396838" cy="444618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xmlns="" id="{DE67BA94-D5EB-4D7A-9B35-B7F3DD27621D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상품 번호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xmlns="" id="{319E8B19-EBD1-4B11-B8B7-F48A400B7BB4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xmlns="" id="{D80C099A-DA50-46A3-8359-857472D3D105}"/>
              </a:ext>
            </a:extLst>
          </p:cNvPr>
          <p:cNvCxnSpPr>
            <a:cxnSpLocks/>
            <a:stCxn id="95" idx="0"/>
            <a:endCxn id="101" idx="4"/>
          </p:cNvCxnSpPr>
          <p:nvPr/>
        </p:nvCxnSpPr>
        <p:spPr>
          <a:xfrm flipH="1" flipV="1">
            <a:off x="11012665" y="3651953"/>
            <a:ext cx="6045" cy="145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xmlns="" id="{4B678572-0D06-40EC-BE22-A8E706480525}"/>
              </a:ext>
            </a:extLst>
          </p:cNvPr>
          <p:cNvSpPr/>
          <p:nvPr/>
        </p:nvSpPr>
        <p:spPr>
          <a:xfrm>
            <a:off x="10148599" y="3207335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명칭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xmlns="" id="{2A2C6C73-9857-4581-B118-3E15CF4C2E98}"/>
              </a:ext>
            </a:extLst>
          </p:cNvPr>
          <p:cNvSpPr/>
          <p:nvPr/>
        </p:nvSpPr>
        <p:spPr>
          <a:xfrm>
            <a:off x="10148599" y="5344301"/>
            <a:ext cx="1236502" cy="62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기내식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xmlns="" id="{A3B4D45C-F2A6-4F76-828B-E3E8D1FF7F23}"/>
              </a:ext>
            </a:extLst>
          </p:cNvPr>
          <p:cNvCxnSpPr>
            <a:cxnSpLocks/>
            <a:stCxn id="110" idx="2"/>
            <a:endCxn id="112" idx="0"/>
          </p:cNvCxnSpPr>
          <p:nvPr/>
        </p:nvCxnSpPr>
        <p:spPr>
          <a:xfrm>
            <a:off x="10766850" y="5966315"/>
            <a:ext cx="0" cy="255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xmlns="" id="{B1F1A35C-1C83-4BFA-BBD7-5637FAC4B7FD}"/>
              </a:ext>
            </a:extLst>
          </p:cNvPr>
          <p:cNvSpPr/>
          <p:nvPr/>
        </p:nvSpPr>
        <p:spPr>
          <a:xfrm>
            <a:off x="10105867" y="622218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>
                <a:solidFill>
                  <a:srgbClr val="00B050"/>
                </a:solidFill>
              </a:rPr>
              <a:t>Resrv</a:t>
            </a:r>
            <a:r>
              <a:rPr lang="en-US" altLang="ko-KR" sz="1400" dirty="0">
                <a:solidFill>
                  <a:srgbClr val="00B050"/>
                </a:solidFill>
              </a:rPr>
              <a:t>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xmlns="" id="{B6BF1085-6AD1-4B8A-A3B1-F1BCA8FD596B}"/>
              </a:ext>
            </a:extLst>
          </p:cNvPr>
          <p:cNvCxnSpPr>
            <a:cxnSpLocks/>
            <a:stCxn id="110" idx="1"/>
            <a:endCxn id="115" idx="0"/>
          </p:cNvCxnSpPr>
          <p:nvPr/>
        </p:nvCxnSpPr>
        <p:spPr>
          <a:xfrm flipH="1">
            <a:off x="9017842" y="5655308"/>
            <a:ext cx="1130757" cy="610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타원 114">
            <a:extLst>
              <a:ext uri="{FF2B5EF4-FFF2-40B4-BE49-F238E27FC236}">
                <a16:creationId xmlns:a16="http://schemas.microsoft.com/office/drawing/2014/main" xmlns="" id="{C27BA569-ED00-4352-8064-DEBB73850BE7}"/>
              </a:ext>
            </a:extLst>
          </p:cNvPr>
          <p:cNvSpPr/>
          <p:nvPr/>
        </p:nvSpPr>
        <p:spPr>
          <a:xfrm>
            <a:off x="8153776" y="626549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번호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xmlns="" id="{05CF4C41-8FD7-41EE-B992-7888436C1FBE}"/>
              </a:ext>
            </a:extLst>
          </p:cNvPr>
          <p:cNvCxnSpPr>
            <a:cxnSpLocks/>
            <a:stCxn id="110" idx="1"/>
            <a:endCxn id="117" idx="6"/>
          </p:cNvCxnSpPr>
          <p:nvPr/>
        </p:nvCxnSpPr>
        <p:spPr>
          <a:xfrm flipH="1" flipV="1">
            <a:off x="9212785" y="5506353"/>
            <a:ext cx="935814" cy="148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xmlns="" id="{270922BE-F1BE-4761-ADFA-97426D324AB8}"/>
              </a:ext>
            </a:extLst>
          </p:cNvPr>
          <p:cNvSpPr/>
          <p:nvPr/>
        </p:nvSpPr>
        <p:spPr>
          <a:xfrm>
            <a:off x="7484653" y="528404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rgbClr val="00B050"/>
                </a:solidFill>
              </a:rPr>
              <a:t>좌석 번호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xmlns="" id="{AB4EA21B-0BB9-4A66-A175-E6A28CFA27D5}"/>
              </a:ext>
            </a:extLst>
          </p:cNvPr>
          <p:cNvSpPr/>
          <p:nvPr/>
        </p:nvSpPr>
        <p:spPr>
          <a:xfrm>
            <a:off x="7401690" y="5820873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날짜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F00B9615-E4BA-4E90-BF43-BB17C17B0A17}"/>
              </a:ext>
            </a:extLst>
          </p:cNvPr>
          <p:cNvCxnSpPr>
            <a:stCxn id="9" idx="7"/>
            <a:endCxn id="110" idx="1"/>
          </p:cNvCxnSpPr>
          <p:nvPr/>
        </p:nvCxnSpPr>
        <p:spPr>
          <a:xfrm flipV="1">
            <a:off x="8876743" y="5655308"/>
            <a:ext cx="1271856" cy="2306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xmlns="" id="{B9F6B9BB-4027-4891-8986-FC02F4044450}"/>
              </a:ext>
            </a:extLst>
          </p:cNvPr>
          <p:cNvCxnSpPr/>
          <p:nvPr/>
        </p:nvCxnSpPr>
        <p:spPr>
          <a:xfrm>
            <a:off x="8515900" y="6603023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1BFB5A28-DADA-4C54-A706-D0B7B479202C}"/>
              </a:ext>
            </a:extLst>
          </p:cNvPr>
          <p:cNvCxnSpPr>
            <a:cxnSpLocks/>
            <a:stCxn id="39" idx="1"/>
            <a:endCxn id="23" idx="6"/>
          </p:cNvCxnSpPr>
          <p:nvPr/>
        </p:nvCxnSpPr>
        <p:spPr>
          <a:xfrm flipH="1" flipV="1">
            <a:off x="7665180" y="2665991"/>
            <a:ext cx="583730" cy="1486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F67BA311-42D5-41F4-9AF5-C5B835D8A36B}"/>
              </a:ext>
            </a:extLst>
          </p:cNvPr>
          <p:cNvSpPr/>
          <p:nvPr/>
        </p:nvSpPr>
        <p:spPr>
          <a:xfrm>
            <a:off x="6343214" y="2490784"/>
            <a:ext cx="1321966" cy="350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부서</a:t>
            </a:r>
          </a:p>
        </p:txBody>
      </p:sp>
    </p:spTree>
    <p:extLst>
      <p:ext uri="{BB962C8B-B14F-4D97-AF65-F5344CB8AC3E}">
        <p14:creationId xmlns:p14="http://schemas.microsoft.com/office/powerpoint/2010/main" val="31858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ER </a:t>
            </a:r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다이어그램</a:t>
            </a: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xmlns="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/>
          <p:cNvSpPr/>
          <p:nvPr/>
        </p:nvSpPr>
        <p:spPr>
          <a:xfrm>
            <a:off x="4371376" y="950651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>
              <a:defRPr/>
            </a:pPr>
            <a:endParaRPr lang="en-US" altLang="ko-KR" dirty="0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ko-KR" altLang="en-US" dirty="0"/>
          </a:p>
        </p:txBody>
      </p:sp>
      <p:cxnSp>
        <p:nvCxnSpPr>
          <p:cNvPr id="255" name="직선 연결선 254"/>
          <p:cNvCxnSpPr>
            <a:cxnSpLocks/>
          </p:cNvCxnSpPr>
          <p:nvPr/>
        </p:nvCxnSpPr>
        <p:spPr>
          <a:xfrm>
            <a:off x="5230130" y="2666681"/>
            <a:ext cx="0" cy="15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xmlns="" id="{936A0F8C-0D20-4312-804C-3247F2588CA2}"/>
              </a:ext>
            </a:extLst>
          </p:cNvPr>
          <p:cNvCxnSpPr>
            <a:cxnSpLocks/>
          </p:cNvCxnSpPr>
          <p:nvPr/>
        </p:nvCxnSpPr>
        <p:spPr>
          <a:xfrm>
            <a:off x="5163234" y="2555844"/>
            <a:ext cx="1" cy="663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xmlns="" id="{73159485-7479-4A35-B991-5FE4DAC0E94F}"/>
              </a:ext>
            </a:extLst>
          </p:cNvPr>
          <p:cNvCxnSpPr>
            <a:cxnSpLocks/>
            <a:stCxn id="71" idx="2"/>
            <a:endCxn id="115" idx="0"/>
          </p:cNvCxnSpPr>
          <p:nvPr/>
        </p:nvCxnSpPr>
        <p:spPr>
          <a:xfrm flipH="1">
            <a:off x="8665254" y="1860262"/>
            <a:ext cx="12528" cy="456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 dirty="0">
                <a:solidFill>
                  <a:schemeClr val="bg2"/>
                </a:solidFill>
              </a:rPr>
              <a:t>E-R Diagram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ArptName</a:t>
            </a:r>
            <a:endParaRPr lang="ko-KR" altLang="en-US" sz="1400" dirty="0"/>
          </a:p>
        </p:txBody>
      </p:sp>
      <p:sp>
        <p:nvSpPr>
          <p:cNvPr id="5" name="다이아몬드 4"/>
          <p:cNvSpPr/>
          <p:nvPr/>
        </p:nvSpPr>
        <p:spPr>
          <a:xfrm>
            <a:off x="2787830" y="1278523"/>
            <a:ext cx="158274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/>
              <a:t>Resident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1650048" y="1420173"/>
            <a:ext cx="934533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Airport</a:t>
            </a:r>
            <a:endParaRPr lang="ko-KR" altLang="en-US" dirty="0"/>
          </a:p>
        </p:txBody>
      </p:sp>
      <p:cxnSp>
        <p:nvCxnSpPr>
          <p:cNvPr id="8" name="직선 연결선 7"/>
          <p:cNvCxnSpPr>
            <a:cxnSpLocks/>
            <a:stCxn id="4" idx="4"/>
            <a:endCxn id="6" idx="0"/>
          </p:cNvCxnSpPr>
          <p:nvPr/>
        </p:nvCxnSpPr>
        <p:spPr>
          <a:xfrm>
            <a:off x="1692478" y="859874"/>
            <a:ext cx="424837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7994" y="2374084"/>
            <a:ext cx="1906754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Contact Num</a:t>
            </a:r>
            <a:endParaRPr lang="ko-KR" altLang="en-US" sz="1400" dirty="0"/>
          </a:p>
        </p:txBody>
      </p:sp>
      <p:cxnSp>
        <p:nvCxnSpPr>
          <p:cNvPr id="17" name="직선 연결선 16"/>
          <p:cNvCxnSpPr>
            <a:cxnSpLocks/>
            <a:stCxn id="6" idx="1"/>
            <a:endCxn id="12" idx="0"/>
          </p:cNvCxnSpPr>
          <p:nvPr/>
        </p:nvCxnSpPr>
        <p:spPr>
          <a:xfrm flipH="1">
            <a:off x="981371" y="1642482"/>
            <a:ext cx="668677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22" name="직선 연결선 21"/>
          <p:cNvCxnSpPr>
            <a:cxnSpLocks/>
            <a:stCxn id="6" idx="2"/>
            <a:endCxn id="20" idx="0"/>
          </p:cNvCxnSpPr>
          <p:nvPr/>
        </p:nvCxnSpPr>
        <p:spPr>
          <a:xfrm>
            <a:off x="2117315" y="1864790"/>
            <a:ext cx="711173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cxnSpLocks/>
            <a:stCxn id="6" idx="3"/>
            <a:endCxn id="5" idx="1"/>
          </p:cNvCxnSpPr>
          <p:nvPr/>
        </p:nvCxnSpPr>
        <p:spPr>
          <a:xfrm>
            <a:off x="2584581" y="1642482"/>
            <a:ext cx="203249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err="1"/>
              <a:t>T’Way</a:t>
            </a:r>
            <a:r>
              <a:rPr lang="en-US" altLang="ko-KR" dirty="0"/>
              <a:t> Airline</a:t>
            </a:r>
            <a:endParaRPr lang="ko-KR" altLang="en-US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>
                <a:solidFill>
                  <a:srgbClr val="00B050"/>
                </a:solidFill>
              </a:rPr>
              <a:t>AportName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cxnSp>
        <p:nvCxnSpPr>
          <p:cNvPr id="59" name="직선 연결선 58"/>
          <p:cNvCxnSpPr>
            <a:cxnSpLocks/>
            <a:stCxn id="28" idx="3"/>
            <a:endCxn id="61" idx="1"/>
          </p:cNvCxnSpPr>
          <p:nvPr/>
        </p:nvCxnSpPr>
        <p:spPr>
          <a:xfrm>
            <a:off x="5695076" y="1627377"/>
            <a:ext cx="273392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5968468" y="1273684"/>
            <a:ext cx="1912285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 dirty="0"/>
              <a:t>Recruitment</a:t>
            </a:r>
            <a:endParaRPr lang="ko-KR" altLang="en-US" sz="11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39715" y="680451"/>
            <a:ext cx="1338067" cy="7351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20137" y="235834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Emp No</a:t>
            </a:r>
            <a:endParaRPr lang="ko-KR" altLang="en-US" sz="1400" dirty="0"/>
          </a:p>
        </p:txBody>
      </p:sp>
      <p:cxnSp>
        <p:nvCxnSpPr>
          <p:cNvPr id="80" name="직선 연결선 79"/>
          <p:cNvCxnSpPr/>
          <p:nvPr/>
        </p:nvCxnSpPr>
        <p:spPr>
          <a:xfrm>
            <a:off x="6959842" y="577661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679556"/>
            <a:ext cx="74748" cy="736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091547" y="23493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87" name="직선 연결선 86"/>
          <p:cNvCxnSpPr>
            <a:cxnSpLocks/>
            <a:stCxn id="71" idx="0"/>
            <a:endCxn id="89" idx="4"/>
          </p:cNvCxnSpPr>
          <p:nvPr/>
        </p:nvCxnSpPr>
        <p:spPr>
          <a:xfrm flipV="1">
            <a:off x="8677782" y="732001"/>
            <a:ext cx="1529404" cy="683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546203" y="28738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8022595" y="37513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29" name="그룹 128"/>
          <p:cNvGrpSpPr/>
          <p:nvPr/>
        </p:nvGrpSpPr>
        <p:grpSpPr>
          <a:xfrm>
            <a:off x="9608338" y="2872767"/>
            <a:ext cx="1728355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/>
                <a:t>Passport No</a:t>
              </a:r>
              <a:endParaRPr lang="ko-KR" altLang="en-US" sz="1400" dirty="0"/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cxnSpLocks/>
            <a:stCxn id="123" idx="3"/>
            <a:endCxn id="113" idx="3"/>
          </p:cNvCxnSpPr>
          <p:nvPr/>
        </p:nvCxnSpPr>
        <p:spPr>
          <a:xfrm flipH="1">
            <a:off x="9259097" y="3252271"/>
            <a:ext cx="602353" cy="721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cxnSpLocks/>
            <a:stCxn id="113" idx="3"/>
            <a:endCxn id="133" idx="6"/>
          </p:cNvCxnSpPr>
          <p:nvPr/>
        </p:nvCxnSpPr>
        <p:spPr>
          <a:xfrm>
            <a:off x="9259097" y="3973631"/>
            <a:ext cx="2205242" cy="514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10142373" y="4265573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Name</a:t>
            </a:r>
            <a:endParaRPr lang="ko-KR" altLang="en-US" sz="1400" dirty="0"/>
          </a:p>
        </p:txBody>
      </p:sp>
      <p:cxnSp>
        <p:nvCxnSpPr>
          <p:cNvPr id="141" name="직선 연결선 140"/>
          <p:cNvCxnSpPr>
            <a:cxnSpLocks/>
            <a:stCxn id="113" idx="2"/>
            <a:endCxn id="143" idx="1"/>
          </p:cNvCxnSpPr>
          <p:nvPr/>
        </p:nvCxnSpPr>
        <p:spPr>
          <a:xfrm>
            <a:off x="8640846" y="4195939"/>
            <a:ext cx="389662" cy="22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8915515" y="435670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57" name="직선 연결선 156"/>
          <p:cNvCxnSpPr>
            <a:cxnSpLocks/>
            <a:stCxn id="137" idx="2"/>
            <a:endCxn id="185" idx="0"/>
          </p:cNvCxnSpPr>
          <p:nvPr/>
        </p:nvCxnSpPr>
        <p:spPr>
          <a:xfrm flipH="1">
            <a:off x="7784944" y="5545206"/>
            <a:ext cx="593298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7759991" y="498872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8996493" y="5266965"/>
            <a:ext cx="1167306" cy="60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8378242" y="5545206"/>
            <a:ext cx="1662931" cy="43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8378242" y="5545206"/>
            <a:ext cx="1050601" cy="62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cxnSpLocks/>
            <a:stCxn id="137" idx="2"/>
            <a:endCxn id="188" idx="0"/>
          </p:cNvCxnSpPr>
          <p:nvPr/>
        </p:nvCxnSpPr>
        <p:spPr>
          <a:xfrm flipH="1">
            <a:off x="6242836" y="5545206"/>
            <a:ext cx="2135406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cxnSpLocks/>
            <a:stCxn id="137" idx="1"/>
            <a:endCxn id="195" idx="6"/>
          </p:cNvCxnSpPr>
          <p:nvPr/>
        </p:nvCxnSpPr>
        <p:spPr>
          <a:xfrm flipH="1" flipV="1">
            <a:off x="6366108" y="5238092"/>
            <a:ext cx="1393883" cy="288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>
            <a:off x="6576544" y="5266965"/>
            <a:ext cx="1183447" cy="495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10163799" y="5105615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68" name="타원 167"/>
          <p:cNvSpPr/>
          <p:nvPr/>
        </p:nvSpPr>
        <p:spPr>
          <a:xfrm>
            <a:off x="10041173" y="575555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72" name="타원 171"/>
          <p:cNvSpPr/>
          <p:nvPr/>
        </p:nvSpPr>
        <p:spPr>
          <a:xfrm>
            <a:off x="8621267" y="6165606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Flight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6987383" y="6172287"/>
            <a:ext cx="159512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Reserve No</a:t>
            </a:r>
            <a:endParaRPr lang="ko-KR" altLang="en-US" sz="1400" dirty="0"/>
          </a:p>
        </p:txBody>
      </p:sp>
      <p:sp>
        <p:nvSpPr>
          <p:cNvPr id="188" name="타원 187"/>
          <p:cNvSpPr/>
          <p:nvPr/>
        </p:nvSpPr>
        <p:spPr>
          <a:xfrm>
            <a:off x="5555361" y="6172287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92" name="타원 191"/>
          <p:cNvSpPr/>
          <p:nvPr/>
        </p:nvSpPr>
        <p:spPr>
          <a:xfrm>
            <a:off x="5224288" y="553984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95" name="타원 194"/>
          <p:cNvSpPr/>
          <p:nvPr/>
        </p:nvSpPr>
        <p:spPr>
          <a:xfrm>
            <a:off x="5470834" y="5015783"/>
            <a:ext cx="89527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Date</a:t>
            </a:r>
            <a:endParaRPr lang="ko-KR" altLang="en-US" sz="1400" dirty="0"/>
          </a:p>
        </p:txBody>
      </p:sp>
      <p:cxnSp>
        <p:nvCxnSpPr>
          <p:cNvPr id="214" name="직선 연결선 213"/>
          <p:cNvCxnSpPr/>
          <p:nvPr/>
        </p:nvCxnSpPr>
        <p:spPr>
          <a:xfrm>
            <a:off x="7388944" y="651508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Manger</a:t>
            </a:r>
            <a:endParaRPr lang="ko-KR" altLang="en-US" sz="1400" dirty="0"/>
          </a:p>
        </p:txBody>
      </p:sp>
      <p:sp>
        <p:nvSpPr>
          <p:cNvPr id="41" name="직사각형 40"/>
          <p:cNvSpPr/>
          <p:nvPr/>
        </p:nvSpPr>
        <p:spPr>
          <a:xfrm>
            <a:off x="4590297" y="2823224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Airplane</a:t>
            </a:r>
            <a:endParaRPr lang="ko-KR" altLang="en-US" dirty="0"/>
          </a:p>
        </p:txBody>
      </p:sp>
      <p:cxnSp>
        <p:nvCxnSpPr>
          <p:cNvPr id="47" name="직선 연결선 46"/>
          <p:cNvCxnSpPr>
            <a:cxnSpLocks/>
            <a:stCxn id="41" idx="3"/>
            <a:endCxn id="52" idx="3"/>
          </p:cNvCxnSpPr>
          <p:nvPr/>
        </p:nvCxnSpPr>
        <p:spPr>
          <a:xfrm flipV="1">
            <a:off x="5826799" y="2526996"/>
            <a:ext cx="575565" cy="574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6168703" y="2147492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Flight No</a:t>
            </a:r>
            <a:endParaRPr lang="ko-KR" altLang="en-US" sz="1400" dirty="0"/>
          </a:p>
        </p:txBody>
      </p:sp>
      <p:cxnSp>
        <p:nvCxnSpPr>
          <p:cNvPr id="128" name="직선 연결선 127"/>
          <p:cNvCxnSpPr/>
          <p:nvPr/>
        </p:nvCxnSpPr>
        <p:spPr>
          <a:xfrm>
            <a:off x="6570473" y="249555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다이아몬드 181"/>
          <p:cNvSpPr/>
          <p:nvPr/>
        </p:nvSpPr>
        <p:spPr>
          <a:xfrm>
            <a:off x="4304640" y="2066620"/>
            <a:ext cx="1768309" cy="66582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Possess</a:t>
            </a:r>
            <a:endParaRPr lang="ko-KR" altLang="en-US" sz="1400" dirty="0"/>
          </a:p>
        </p:txBody>
      </p:sp>
      <p:cxnSp>
        <p:nvCxnSpPr>
          <p:cNvPr id="253" name="직선 연결선 252"/>
          <p:cNvCxnSpPr>
            <a:cxnSpLocks/>
            <a:stCxn id="182" idx="0"/>
            <a:endCxn id="28" idx="2"/>
          </p:cNvCxnSpPr>
          <p:nvPr/>
        </p:nvCxnSpPr>
        <p:spPr>
          <a:xfrm flipH="1" flipV="1">
            <a:off x="5178454" y="1971326"/>
            <a:ext cx="10341" cy="9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cxnSpLocks/>
            <a:stCxn id="41" idx="1"/>
            <a:endCxn id="288" idx="6"/>
          </p:cNvCxnSpPr>
          <p:nvPr/>
        </p:nvCxnSpPr>
        <p:spPr>
          <a:xfrm flipH="1">
            <a:off x="4141426" y="3101466"/>
            <a:ext cx="448871" cy="27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2669072" y="290670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15" name="다이아몬드 114">
            <a:extLst>
              <a:ext uri="{FF2B5EF4-FFF2-40B4-BE49-F238E27FC236}">
                <a16:creationId xmlns:a16="http://schemas.microsoft.com/office/drawing/2014/main" xmlns="" id="{5B753ECD-ABBC-4333-B6DC-50C0BCC49F2C}"/>
              </a:ext>
            </a:extLst>
          </p:cNvPr>
          <p:cNvSpPr/>
          <p:nvPr/>
        </p:nvSpPr>
        <p:spPr>
          <a:xfrm>
            <a:off x="7751842" y="2316444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Service</a:t>
            </a:r>
            <a:endParaRPr lang="ko-KR" altLang="en-US" sz="1400" dirty="0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xmlns="" id="{C40A099D-12CA-4307-813D-F8C143049E28}"/>
              </a:ext>
            </a:extLst>
          </p:cNvPr>
          <p:cNvCxnSpPr>
            <a:cxnSpLocks/>
            <a:stCxn id="115" idx="2"/>
            <a:endCxn id="113" idx="0"/>
          </p:cNvCxnSpPr>
          <p:nvPr/>
        </p:nvCxnSpPr>
        <p:spPr>
          <a:xfrm flipH="1">
            <a:off x="8640846" y="3063065"/>
            <a:ext cx="24408" cy="68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xmlns="" id="{E31AEFCF-7DA2-4679-B726-233AFF642ACB}"/>
              </a:ext>
            </a:extLst>
          </p:cNvPr>
          <p:cNvCxnSpPr>
            <a:cxnSpLocks/>
            <a:stCxn id="41" idx="3"/>
            <a:endCxn id="209" idx="2"/>
          </p:cNvCxnSpPr>
          <p:nvPr/>
        </p:nvCxnSpPr>
        <p:spPr>
          <a:xfrm flipV="1">
            <a:off x="5826799" y="3078146"/>
            <a:ext cx="496996" cy="2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xmlns="" id="{D488C7B1-F429-43C1-B1CB-DC31C930EA5E}"/>
              </a:ext>
            </a:extLst>
          </p:cNvPr>
          <p:cNvSpPr/>
          <p:nvPr/>
        </p:nvSpPr>
        <p:spPr>
          <a:xfrm>
            <a:off x="6323795" y="285583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Captain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xmlns="" id="{E0764744-FBF4-4058-9FEC-57BA3FE17B11}"/>
              </a:ext>
            </a:extLst>
          </p:cNvPr>
          <p:cNvCxnSpPr>
            <a:cxnSpLocks/>
            <a:stCxn id="113" idx="1"/>
            <a:endCxn id="217" idx="0"/>
          </p:cNvCxnSpPr>
          <p:nvPr/>
        </p:nvCxnSpPr>
        <p:spPr>
          <a:xfrm flipH="1">
            <a:off x="5163235" y="3973631"/>
            <a:ext cx="2859360" cy="20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다이아몬드 216">
            <a:extLst>
              <a:ext uri="{FF2B5EF4-FFF2-40B4-BE49-F238E27FC236}">
                <a16:creationId xmlns:a16="http://schemas.microsoft.com/office/drawing/2014/main" xmlns="" id="{9BFDFA3F-21C3-4CC7-9D99-149179622721}"/>
              </a:ext>
            </a:extLst>
          </p:cNvPr>
          <p:cNvSpPr/>
          <p:nvPr/>
        </p:nvSpPr>
        <p:spPr>
          <a:xfrm>
            <a:off x="4249823" y="4175251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Buy</a:t>
            </a:r>
            <a:endParaRPr lang="ko-KR" altLang="en-US" sz="1400" dirty="0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xmlns="" id="{7EDB93CD-41AF-48D0-BDA2-7F6C15CFC812}"/>
              </a:ext>
            </a:extLst>
          </p:cNvPr>
          <p:cNvSpPr/>
          <p:nvPr/>
        </p:nvSpPr>
        <p:spPr>
          <a:xfrm>
            <a:off x="2470682" y="4281376"/>
            <a:ext cx="1236502" cy="560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Duty free Goods</a:t>
            </a:r>
            <a:endParaRPr lang="ko-KR" altLang="en-US" dirty="0"/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xmlns="" id="{2A332210-6BA5-43B4-82B4-42DC7FF10763}"/>
              </a:ext>
            </a:extLst>
          </p:cNvPr>
          <p:cNvCxnSpPr>
            <a:cxnSpLocks/>
            <a:stCxn id="217" idx="1"/>
            <a:endCxn id="223" idx="3"/>
          </p:cNvCxnSpPr>
          <p:nvPr/>
        </p:nvCxnSpPr>
        <p:spPr>
          <a:xfrm flipH="1">
            <a:off x="3707184" y="4548562"/>
            <a:ext cx="542639" cy="12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xmlns="" id="{255BB957-4424-4585-8295-570395A5D2D5}"/>
              </a:ext>
            </a:extLst>
          </p:cNvPr>
          <p:cNvCxnSpPr>
            <a:cxnSpLocks/>
            <a:stCxn id="217" idx="2"/>
            <a:endCxn id="236" idx="0"/>
          </p:cNvCxnSpPr>
          <p:nvPr/>
        </p:nvCxnSpPr>
        <p:spPr>
          <a:xfrm flipH="1">
            <a:off x="3988832" y="4921872"/>
            <a:ext cx="1174403" cy="302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xmlns="" id="{EDCC1AFC-C505-4586-A29D-6124C36D6159}"/>
              </a:ext>
            </a:extLst>
          </p:cNvPr>
          <p:cNvSpPr/>
          <p:nvPr/>
        </p:nvSpPr>
        <p:spPr>
          <a:xfrm>
            <a:off x="3370581" y="5223928"/>
            <a:ext cx="1236502" cy="619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In-flight meal</a:t>
            </a:r>
            <a:endParaRPr lang="ko-KR" altLang="en-US" dirty="0"/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xmlns="" id="{09B91E7C-D48E-46FF-B4C2-8FE71806E0E0}"/>
              </a:ext>
            </a:extLst>
          </p:cNvPr>
          <p:cNvCxnSpPr>
            <a:cxnSpLocks/>
            <a:stCxn id="236" idx="2"/>
            <a:endCxn id="247" idx="0"/>
          </p:cNvCxnSpPr>
          <p:nvPr/>
        </p:nvCxnSpPr>
        <p:spPr>
          <a:xfrm>
            <a:off x="3988832" y="5843901"/>
            <a:ext cx="690893" cy="2265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xmlns="" id="{4A1EEC17-4318-4955-93CE-A5F0A39A1E7A}"/>
              </a:ext>
            </a:extLst>
          </p:cNvPr>
          <p:cNvSpPr/>
          <p:nvPr/>
        </p:nvSpPr>
        <p:spPr>
          <a:xfrm>
            <a:off x="3878071" y="6070465"/>
            <a:ext cx="1603308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Reserve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xmlns="" id="{D7747C3E-4BBB-4717-AC5A-ADF848861528}"/>
              </a:ext>
            </a:extLst>
          </p:cNvPr>
          <p:cNvCxnSpPr>
            <a:cxnSpLocks/>
            <a:stCxn id="223" idx="1"/>
            <a:endCxn id="260" idx="6"/>
          </p:cNvCxnSpPr>
          <p:nvPr/>
        </p:nvCxnSpPr>
        <p:spPr>
          <a:xfrm flipH="1" flipV="1">
            <a:off x="1795002" y="4550339"/>
            <a:ext cx="675680" cy="11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0" name="그룹 279">
            <a:extLst>
              <a:ext uri="{FF2B5EF4-FFF2-40B4-BE49-F238E27FC236}">
                <a16:creationId xmlns:a16="http://schemas.microsoft.com/office/drawing/2014/main" xmlns="" id="{7781EBF3-4F09-46C8-AF75-AADE115FA541}"/>
              </a:ext>
            </a:extLst>
          </p:cNvPr>
          <p:cNvGrpSpPr/>
          <p:nvPr/>
        </p:nvGrpSpPr>
        <p:grpSpPr>
          <a:xfrm>
            <a:off x="169086" y="4328030"/>
            <a:ext cx="1625916" cy="444618"/>
            <a:chOff x="395061" y="4140377"/>
            <a:chExt cx="1396838" cy="444618"/>
          </a:xfrm>
        </p:grpSpPr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xmlns="" id="{7559D9E0-FC3A-4C35-90E4-0BB0FD7926A0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/>
                <a:t>Product No</a:t>
              </a:r>
              <a:endParaRPr lang="ko-KR" altLang="en-US" sz="1400" dirty="0"/>
            </a:p>
          </p:txBody>
        </p: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xmlns="" id="{21B169C1-0AC4-4BA8-9BA2-F59E4457F786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xmlns="" id="{F75059C2-106A-4381-A736-6264CFC76729}"/>
              </a:ext>
            </a:extLst>
          </p:cNvPr>
          <p:cNvCxnSpPr>
            <a:cxnSpLocks/>
            <a:stCxn id="223" idx="0"/>
            <a:endCxn id="286" idx="4"/>
          </p:cNvCxnSpPr>
          <p:nvPr/>
        </p:nvCxnSpPr>
        <p:spPr>
          <a:xfrm flipV="1">
            <a:off x="3088933" y="3964796"/>
            <a:ext cx="11611" cy="316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" name="타원 285">
            <a:extLst>
              <a:ext uri="{FF2B5EF4-FFF2-40B4-BE49-F238E27FC236}">
                <a16:creationId xmlns:a16="http://schemas.microsoft.com/office/drawing/2014/main" xmlns="" id="{51A9AD50-FF38-4EE3-A278-8BD510521DAD}"/>
              </a:ext>
            </a:extLst>
          </p:cNvPr>
          <p:cNvSpPr/>
          <p:nvPr/>
        </p:nvSpPr>
        <p:spPr>
          <a:xfrm>
            <a:off x="2236478" y="352017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Goods Name</a:t>
            </a:r>
            <a:endParaRPr lang="ko-KR" altLang="en-US" sz="1400" dirty="0"/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xmlns="" id="{3F521F79-D2CE-4A3C-8104-CF04EEF3055D}"/>
              </a:ext>
            </a:extLst>
          </p:cNvPr>
          <p:cNvCxnSpPr>
            <a:cxnSpLocks/>
            <a:stCxn id="236" idx="1"/>
            <a:endCxn id="297" idx="0"/>
          </p:cNvCxnSpPr>
          <p:nvPr/>
        </p:nvCxnSpPr>
        <p:spPr>
          <a:xfrm flipH="1">
            <a:off x="1569111" y="5533915"/>
            <a:ext cx="1801470" cy="358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타원 296">
            <a:extLst>
              <a:ext uri="{FF2B5EF4-FFF2-40B4-BE49-F238E27FC236}">
                <a16:creationId xmlns:a16="http://schemas.microsoft.com/office/drawing/2014/main" xmlns="" id="{85FF063D-BD3C-4191-A165-1B113091E5DF}"/>
              </a:ext>
            </a:extLst>
          </p:cNvPr>
          <p:cNvSpPr/>
          <p:nvPr/>
        </p:nvSpPr>
        <p:spPr>
          <a:xfrm>
            <a:off x="705045" y="589268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Food code</a:t>
            </a:r>
            <a:endParaRPr lang="ko-KR" altLang="en-US" sz="1400" dirty="0"/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xmlns="" id="{B321637E-5723-4171-B81F-61D46C79A914}"/>
              </a:ext>
            </a:extLst>
          </p:cNvPr>
          <p:cNvCxnSpPr>
            <a:cxnSpLocks/>
            <a:stCxn id="236" idx="1"/>
            <a:endCxn id="304" idx="6"/>
          </p:cNvCxnSpPr>
          <p:nvPr/>
        </p:nvCxnSpPr>
        <p:spPr>
          <a:xfrm flipH="1" flipV="1">
            <a:off x="2176711" y="5332668"/>
            <a:ext cx="1193870" cy="2012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타원 303">
            <a:extLst>
              <a:ext uri="{FF2B5EF4-FFF2-40B4-BE49-F238E27FC236}">
                <a16:creationId xmlns:a16="http://schemas.microsoft.com/office/drawing/2014/main" xmlns="" id="{EA73A0F4-FD69-422D-AA94-3C3FEA4C75AA}"/>
              </a:ext>
            </a:extLst>
          </p:cNvPr>
          <p:cNvSpPr/>
          <p:nvPr/>
        </p:nvSpPr>
        <p:spPr>
          <a:xfrm>
            <a:off x="448579" y="5110359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Date</a:t>
            </a:r>
            <a:endParaRPr lang="ko-KR" altLang="en-US" sz="14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xmlns="" id="{7FAB43B3-F845-4FDD-A493-E754BF04A014}"/>
              </a:ext>
            </a:extLst>
          </p:cNvPr>
          <p:cNvCxnSpPr>
            <a:cxnSpLocks/>
            <a:stCxn id="217" idx="3"/>
            <a:endCxn id="137" idx="0"/>
          </p:cNvCxnSpPr>
          <p:nvPr/>
        </p:nvCxnSpPr>
        <p:spPr>
          <a:xfrm>
            <a:off x="6076646" y="4548562"/>
            <a:ext cx="2301596" cy="440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xmlns="" id="{6DE2C4D2-9E91-42B9-95F9-FA5F759196AB}"/>
              </a:ext>
            </a:extLst>
          </p:cNvPr>
          <p:cNvCxnSpPr>
            <a:cxnSpLocks/>
            <a:stCxn id="217" idx="0"/>
            <a:endCxn id="120" idx="4"/>
          </p:cNvCxnSpPr>
          <p:nvPr/>
        </p:nvCxnSpPr>
        <p:spPr>
          <a:xfrm flipH="1" flipV="1">
            <a:off x="4981175" y="3955337"/>
            <a:ext cx="182060" cy="219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xmlns="" id="{5AA4442C-EE28-4A76-9C11-4154413881A8}"/>
              </a:ext>
            </a:extLst>
          </p:cNvPr>
          <p:cNvSpPr/>
          <p:nvPr/>
        </p:nvSpPr>
        <p:spPr>
          <a:xfrm>
            <a:off x="4169406" y="3510720"/>
            <a:ext cx="1623538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Reservation Status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xmlns="" id="{64BA3D99-1F89-4B1B-9563-8CD6ECF5135B}"/>
              </a:ext>
            </a:extLst>
          </p:cNvPr>
          <p:cNvCxnSpPr>
            <a:cxnSpLocks/>
            <a:stCxn id="71" idx="3"/>
            <a:endCxn id="233" idx="2"/>
          </p:cNvCxnSpPr>
          <p:nvPr/>
        </p:nvCxnSpPr>
        <p:spPr>
          <a:xfrm flipV="1">
            <a:off x="9296033" y="989326"/>
            <a:ext cx="1016339" cy="648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타원 232">
            <a:extLst>
              <a:ext uri="{FF2B5EF4-FFF2-40B4-BE49-F238E27FC236}">
                <a16:creationId xmlns:a16="http://schemas.microsoft.com/office/drawing/2014/main" xmlns="" id="{443C6B88-CC33-4743-92A7-63272E506C98}"/>
              </a:ext>
            </a:extLst>
          </p:cNvPr>
          <p:cNvSpPr/>
          <p:nvPr/>
        </p:nvSpPr>
        <p:spPr>
          <a:xfrm>
            <a:off x="10312372" y="767017"/>
            <a:ext cx="149121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In charge of work</a:t>
            </a:r>
            <a:endParaRPr lang="ko-KR" altLang="en-US" sz="1400" dirty="0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xmlns="" id="{86BBC6BD-1486-4569-BBE4-BDC4805735C6}"/>
              </a:ext>
            </a:extLst>
          </p:cNvPr>
          <p:cNvSpPr/>
          <p:nvPr/>
        </p:nvSpPr>
        <p:spPr>
          <a:xfrm>
            <a:off x="2343717" y="6221054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>
                <a:solidFill>
                  <a:srgbClr val="00B050"/>
                </a:solidFill>
              </a:rPr>
              <a:t>Seat 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xmlns="" id="{DF2264A3-C6E3-4E66-8FD5-CCBF2EDBE84D}"/>
              </a:ext>
            </a:extLst>
          </p:cNvPr>
          <p:cNvCxnSpPr>
            <a:cxnSpLocks/>
            <a:stCxn id="236" idx="2"/>
            <a:endCxn id="240" idx="0"/>
          </p:cNvCxnSpPr>
          <p:nvPr/>
        </p:nvCxnSpPr>
        <p:spPr>
          <a:xfrm flipH="1">
            <a:off x="3031192" y="5843901"/>
            <a:ext cx="957640" cy="3771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xmlns="" id="{12E4F3B1-F562-4E88-946B-F8FBDD2FE658}"/>
              </a:ext>
            </a:extLst>
          </p:cNvPr>
          <p:cNvSpPr txBox="1"/>
          <p:nvPr/>
        </p:nvSpPr>
        <p:spPr>
          <a:xfrm>
            <a:off x="3993392" y="432060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xmlns="" id="{C1FA4CF2-E8A7-4A58-945A-9381A39D23C2}"/>
              </a:ext>
            </a:extLst>
          </p:cNvPr>
          <p:cNvSpPr txBox="1"/>
          <p:nvPr/>
        </p:nvSpPr>
        <p:spPr>
          <a:xfrm>
            <a:off x="4620443" y="4751424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xmlns="" id="{03A8743B-33AD-4CE0-8DD8-59BC324B458F}"/>
              </a:ext>
            </a:extLst>
          </p:cNvPr>
          <p:cNvSpPr txBox="1"/>
          <p:nvPr/>
        </p:nvSpPr>
        <p:spPr>
          <a:xfrm>
            <a:off x="5481379" y="4105896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xmlns="" id="{BE386378-0250-4353-B826-445A3C20B534}"/>
              </a:ext>
            </a:extLst>
          </p:cNvPr>
          <p:cNvSpPr txBox="1"/>
          <p:nvPr/>
        </p:nvSpPr>
        <p:spPr>
          <a:xfrm>
            <a:off x="8653050" y="300470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xmlns="" id="{BCB2A1EF-1971-44DD-B302-876973DDDAAB}"/>
              </a:ext>
            </a:extLst>
          </p:cNvPr>
          <p:cNvSpPr txBox="1"/>
          <p:nvPr/>
        </p:nvSpPr>
        <p:spPr>
          <a:xfrm>
            <a:off x="5250732" y="2592109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xmlns="" id="{28FDEFDE-A634-4E01-B46E-AA06FE06EEA9}"/>
              </a:ext>
            </a:extLst>
          </p:cNvPr>
          <p:cNvSpPr txBox="1"/>
          <p:nvPr/>
        </p:nvSpPr>
        <p:spPr>
          <a:xfrm>
            <a:off x="5273989" y="19318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xmlns="" id="{7C3A9ACD-5F9A-4796-8762-3715C1EE2EB1}"/>
              </a:ext>
            </a:extLst>
          </p:cNvPr>
          <p:cNvSpPr txBox="1"/>
          <p:nvPr/>
        </p:nvSpPr>
        <p:spPr>
          <a:xfrm>
            <a:off x="7455019" y="12705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xmlns="" id="{BCA66DA5-D82A-45C6-B89D-555BF1916779}"/>
              </a:ext>
            </a:extLst>
          </p:cNvPr>
          <p:cNvSpPr txBox="1"/>
          <p:nvPr/>
        </p:nvSpPr>
        <p:spPr>
          <a:xfrm>
            <a:off x="6222408" y="1278523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xmlns="" id="{3FFE4643-E8BD-4FF3-A946-E2B75DF22CC9}"/>
              </a:ext>
            </a:extLst>
          </p:cNvPr>
          <p:cNvSpPr txBox="1"/>
          <p:nvPr/>
        </p:nvSpPr>
        <p:spPr>
          <a:xfrm>
            <a:off x="2910988" y="125767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xmlns="" id="{D7F316E0-533D-417E-A8DC-8020992EAB06}"/>
              </a:ext>
            </a:extLst>
          </p:cNvPr>
          <p:cNvSpPr txBox="1"/>
          <p:nvPr/>
        </p:nvSpPr>
        <p:spPr>
          <a:xfrm>
            <a:off x="3929872" y="123704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xmlns="" id="{D0605A1E-1D2B-42C4-9AF5-8B653419664D}"/>
              </a:ext>
            </a:extLst>
          </p:cNvPr>
          <p:cNvSpPr txBox="1"/>
          <p:nvPr/>
        </p:nvSpPr>
        <p:spPr>
          <a:xfrm>
            <a:off x="8677782" y="210391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</a:t>
            </a:r>
            <a:endParaRPr lang="ko-KR" altLang="en-US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xmlns="" id="{7531E2DF-20D6-4008-A211-3B9D6CF902D5}"/>
              </a:ext>
            </a:extLst>
          </p:cNvPr>
          <p:cNvCxnSpPr>
            <a:cxnSpLocks/>
            <a:endCxn id="147" idx="4"/>
          </p:cNvCxnSpPr>
          <p:nvPr/>
        </p:nvCxnSpPr>
        <p:spPr>
          <a:xfrm flipV="1">
            <a:off x="5274521" y="3922911"/>
            <a:ext cx="1295985" cy="252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타원 146">
            <a:extLst>
              <a:ext uri="{FF2B5EF4-FFF2-40B4-BE49-F238E27FC236}">
                <a16:creationId xmlns:a16="http://schemas.microsoft.com/office/drawing/2014/main" xmlns="" id="{7BF998FA-CAB8-499C-9444-0281B38FF38E}"/>
              </a:ext>
            </a:extLst>
          </p:cNvPr>
          <p:cNvSpPr/>
          <p:nvPr/>
        </p:nvSpPr>
        <p:spPr>
          <a:xfrm>
            <a:off x="5834329" y="3478294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Price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xmlns="" id="{D36DDCAC-4608-468A-9A21-DEE909296B97}"/>
              </a:ext>
            </a:extLst>
          </p:cNvPr>
          <p:cNvCxnSpPr/>
          <p:nvPr/>
        </p:nvCxnSpPr>
        <p:spPr>
          <a:xfrm>
            <a:off x="1064360" y="621623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49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직선 연결선 254"/>
          <p:cNvCxnSpPr>
            <a:cxnSpLocks/>
          </p:cNvCxnSpPr>
          <p:nvPr/>
        </p:nvCxnSpPr>
        <p:spPr>
          <a:xfrm>
            <a:off x="5230130" y="2666681"/>
            <a:ext cx="0" cy="15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xmlns="" id="{936A0F8C-0D20-4312-804C-3247F2588CA2}"/>
              </a:ext>
            </a:extLst>
          </p:cNvPr>
          <p:cNvCxnSpPr>
            <a:cxnSpLocks/>
          </p:cNvCxnSpPr>
          <p:nvPr/>
        </p:nvCxnSpPr>
        <p:spPr>
          <a:xfrm>
            <a:off x="5163234" y="2555844"/>
            <a:ext cx="1" cy="663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xmlns="" id="{73159485-7479-4A35-B991-5FE4DAC0E94F}"/>
              </a:ext>
            </a:extLst>
          </p:cNvPr>
          <p:cNvCxnSpPr>
            <a:cxnSpLocks/>
            <a:stCxn id="71" idx="2"/>
            <a:endCxn id="115" idx="0"/>
          </p:cNvCxnSpPr>
          <p:nvPr/>
        </p:nvCxnSpPr>
        <p:spPr>
          <a:xfrm flipH="1">
            <a:off x="8665254" y="1860262"/>
            <a:ext cx="12528" cy="456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 dirty="0">
                <a:solidFill>
                  <a:schemeClr val="bg2"/>
                </a:solidFill>
              </a:rPr>
              <a:t>E-R Diagram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공항이름</a:t>
            </a:r>
          </a:p>
        </p:txBody>
      </p:sp>
      <p:sp>
        <p:nvSpPr>
          <p:cNvPr id="5" name="다이아몬드 4"/>
          <p:cNvSpPr/>
          <p:nvPr/>
        </p:nvSpPr>
        <p:spPr>
          <a:xfrm>
            <a:off x="2795368" y="1278523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입주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03175" y="1420173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공항</a:t>
            </a:r>
          </a:p>
        </p:txBody>
      </p:sp>
      <p:cxnSp>
        <p:nvCxnSpPr>
          <p:cNvPr id="8" name="직선 연결선 7"/>
          <p:cNvCxnSpPr>
            <a:stCxn id="4" idx="4"/>
            <a:endCxn id="6" idx="0"/>
          </p:cNvCxnSpPr>
          <p:nvPr/>
        </p:nvCxnSpPr>
        <p:spPr>
          <a:xfrm>
            <a:off x="1692478" y="859874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59391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전화번호</a:t>
            </a:r>
          </a:p>
        </p:txBody>
      </p:sp>
      <p:cxnSp>
        <p:nvCxnSpPr>
          <p:cNvPr id="17" name="직선 연결선 16"/>
          <p:cNvCxnSpPr>
            <a:stCxn id="6" idx="1"/>
            <a:endCxn id="12" idx="0"/>
          </p:cNvCxnSpPr>
          <p:nvPr/>
        </p:nvCxnSpPr>
        <p:spPr>
          <a:xfrm flipH="1">
            <a:off x="1023457" y="1642482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소속</a:t>
            </a:r>
          </a:p>
        </p:txBody>
      </p:sp>
      <p:cxnSp>
        <p:nvCxnSpPr>
          <p:cNvPr id="22" name="직선 연결선 21"/>
          <p:cNvCxnSpPr>
            <a:stCxn id="6" idx="2"/>
            <a:endCxn id="20" idx="0"/>
          </p:cNvCxnSpPr>
          <p:nvPr/>
        </p:nvCxnSpPr>
        <p:spPr>
          <a:xfrm>
            <a:off x="2162123" y="1864790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6" idx="3"/>
            <a:endCxn id="5" idx="1"/>
          </p:cNvCxnSpPr>
          <p:nvPr/>
        </p:nvCxnSpPr>
        <p:spPr>
          <a:xfrm>
            <a:off x="2621070" y="1642482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티웨이 항공사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공항이름</a:t>
            </a: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경영자</a:t>
            </a:r>
          </a:p>
        </p:txBody>
      </p:sp>
      <p:cxnSp>
        <p:nvCxnSpPr>
          <p:cNvPr id="59" name="직선 연결선 58"/>
          <p:cNvCxnSpPr>
            <a:stCxn id="28" idx="3"/>
            <a:endCxn id="61" idx="1"/>
          </p:cNvCxnSpPr>
          <p:nvPr/>
        </p:nvCxnSpPr>
        <p:spPr>
          <a:xfrm>
            <a:off x="5695076" y="1627377"/>
            <a:ext cx="473627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6168703" y="1273684"/>
            <a:ext cx="1712050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채용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직원</a:t>
            </a:r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39715" y="680451"/>
            <a:ext cx="1338067" cy="7351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20137" y="235834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직원 번호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6959842" y="577661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679556"/>
            <a:ext cx="74748" cy="736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091547" y="23493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급여</a:t>
            </a:r>
          </a:p>
        </p:txBody>
      </p:sp>
      <p:cxnSp>
        <p:nvCxnSpPr>
          <p:cNvPr id="87" name="직선 연결선 86"/>
          <p:cNvCxnSpPr>
            <a:cxnSpLocks/>
            <a:stCxn id="71" idx="0"/>
            <a:endCxn id="89" idx="4"/>
          </p:cNvCxnSpPr>
          <p:nvPr/>
        </p:nvCxnSpPr>
        <p:spPr>
          <a:xfrm flipV="1">
            <a:off x="8677782" y="732001"/>
            <a:ext cx="1529404" cy="683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546203" y="28738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직책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8022595" y="37513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소비자</a:t>
            </a:r>
          </a:p>
        </p:txBody>
      </p:sp>
      <p:grpSp>
        <p:nvGrpSpPr>
          <p:cNvPr id="129" name="그룹 128"/>
          <p:cNvGrpSpPr/>
          <p:nvPr/>
        </p:nvGrpSpPr>
        <p:grpSpPr>
          <a:xfrm>
            <a:off x="9608339" y="2872767"/>
            <a:ext cx="1536192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여권 번호</a:t>
              </a:r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cxnSpLocks/>
            <a:stCxn id="123" idx="3"/>
            <a:endCxn id="113" idx="3"/>
          </p:cNvCxnSpPr>
          <p:nvPr/>
        </p:nvCxnSpPr>
        <p:spPr>
          <a:xfrm flipH="1">
            <a:off x="9259097" y="3252271"/>
            <a:ext cx="574212" cy="721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cxnSpLocks/>
            <a:stCxn id="113" idx="3"/>
            <a:endCxn id="133" idx="6"/>
          </p:cNvCxnSpPr>
          <p:nvPr/>
        </p:nvCxnSpPr>
        <p:spPr>
          <a:xfrm>
            <a:off x="9259097" y="3973631"/>
            <a:ext cx="2205242" cy="514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10142373" y="4265573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이름</a:t>
            </a:r>
          </a:p>
        </p:txBody>
      </p:sp>
      <p:cxnSp>
        <p:nvCxnSpPr>
          <p:cNvPr id="141" name="직선 연결선 140"/>
          <p:cNvCxnSpPr>
            <a:cxnSpLocks/>
            <a:stCxn id="113" idx="2"/>
            <a:endCxn id="143" idx="1"/>
          </p:cNvCxnSpPr>
          <p:nvPr/>
        </p:nvCxnSpPr>
        <p:spPr>
          <a:xfrm>
            <a:off x="8640846" y="4195939"/>
            <a:ext cx="389662" cy="22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8915515" y="435670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57" name="직선 연결선 156"/>
          <p:cNvCxnSpPr>
            <a:stCxn id="137" idx="2"/>
            <a:endCxn id="185" idx="0"/>
          </p:cNvCxnSpPr>
          <p:nvPr/>
        </p:nvCxnSpPr>
        <p:spPr>
          <a:xfrm flipH="1">
            <a:off x="7784944" y="5545206"/>
            <a:ext cx="593298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7759991" y="498872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항공권</a:t>
            </a:r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8996493" y="5266965"/>
            <a:ext cx="1167306" cy="60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8378242" y="5545206"/>
            <a:ext cx="1662931" cy="43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8378242" y="5545206"/>
            <a:ext cx="1050601" cy="62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cxnSpLocks/>
            <a:stCxn id="137" idx="2"/>
            <a:endCxn id="188" idx="0"/>
          </p:cNvCxnSpPr>
          <p:nvPr/>
        </p:nvCxnSpPr>
        <p:spPr>
          <a:xfrm flipH="1">
            <a:off x="6242836" y="5545206"/>
            <a:ext cx="2135406" cy="627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stCxn id="137" idx="1"/>
            <a:endCxn id="195" idx="6"/>
          </p:cNvCxnSpPr>
          <p:nvPr/>
        </p:nvCxnSpPr>
        <p:spPr>
          <a:xfrm flipH="1" flipV="1">
            <a:off x="6256054" y="5238092"/>
            <a:ext cx="1503937" cy="288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>
            <a:off x="6576544" y="5266965"/>
            <a:ext cx="1183447" cy="495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10163799" y="5105615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도착지</a:t>
            </a:r>
          </a:p>
        </p:txBody>
      </p:sp>
      <p:sp>
        <p:nvSpPr>
          <p:cNvPr id="168" name="타원 167"/>
          <p:cNvSpPr/>
          <p:nvPr/>
        </p:nvSpPr>
        <p:spPr>
          <a:xfrm>
            <a:off x="10041173" y="575555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출발지</a:t>
            </a:r>
          </a:p>
        </p:txBody>
      </p:sp>
      <p:sp>
        <p:nvSpPr>
          <p:cNvPr id="172" name="타원 171"/>
          <p:cNvSpPr/>
          <p:nvPr/>
        </p:nvSpPr>
        <p:spPr>
          <a:xfrm>
            <a:off x="8621267" y="6165606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</a:p>
        </p:txBody>
      </p:sp>
      <p:sp>
        <p:nvSpPr>
          <p:cNvPr id="185" name="타원 184"/>
          <p:cNvSpPr/>
          <p:nvPr/>
        </p:nvSpPr>
        <p:spPr>
          <a:xfrm>
            <a:off x="7070133" y="6172287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예약 번호</a:t>
            </a:r>
          </a:p>
        </p:txBody>
      </p:sp>
      <p:sp>
        <p:nvSpPr>
          <p:cNvPr id="188" name="타원 187"/>
          <p:cNvSpPr/>
          <p:nvPr/>
        </p:nvSpPr>
        <p:spPr>
          <a:xfrm>
            <a:off x="5555361" y="6172287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번호</a:t>
            </a:r>
          </a:p>
        </p:txBody>
      </p:sp>
      <p:sp>
        <p:nvSpPr>
          <p:cNvPr id="192" name="타원 191"/>
          <p:cNvSpPr/>
          <p:nvPr/>
        </p:nvSpPr>
        <p:spPr>
          <a:xfrm>
            <a:off x="5224288" y="553984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등급</a:t>
            </a:r>
          </a:p>
        </p:txBody>
      </p:sp>
      <p:sp>
        <p:nvSpPr>
          <p:cNvPr id="195" name="타원 194"/>
          <p:cNvSpPr/>
          <p:nvPr/>
        </p:nvSpPr>
        <p:spPr>
          <a:xfrm>
            <a:off x="5470834" y="5015783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날짜</a:t>
            </a:r>
          </a:p>
        </p:txBody>
      </p:sp>
      <p:cxnSp>
        <p:nvCxnSpPr>
          <p:cNvPr id="214" name="직선 연결선 213"/>
          <p:cNvCxnSpPr/>
          <p:nvPr/>
        </p:nvCxnSpPr>
        <p:spPr>
          <a:xfrm>
            <a:off x="7388944" y="651508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관리자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590297" y="2823224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항공기</a:t>
            </a:r>
          </a:p>
        </p:txBody>
      </p:sp>
      <p:cxnSp>
        <p:nvCxnSpPr>
          <p:cNvPr id="47" name="직선 연결선 46"/>
          <p:cNvCxnSpPr>
            <a:cxnSpLocks/>
            <a:stCxn id="41" idx="3"/>
            <a:endCxn id="52" idx="3"/>
          </p:cNvCxnSpPr>
          <p:nvPr/>
        </p:nvCxnSpPr>
        <p:spPr>
          <a:xfrm flipV="1">
            <a:off x="5826799" y="2526996"/>
            <a:ext cx="575565" cy="574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6168703" y="2147492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항공기 번호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6570473" y="249555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다이아몬드 181"/>
          <p:cNvSpPr/>
          <p:nvPr/>
        </p:nvSpPr>
        <p:spPr>
          <a:xfrm>
            <a:off x="4304640" y="2066620"/>
            <a:ext cx="1768309" cy="66582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보유</a:t>
            </a:r>
          </a:p>
        </p:txBody>
      </p:sp>
      <p:cxnSp>
        <p:nvCxnSpPr>
          <p:cNvPr id="253" name="직선 연결선 252"/>
          <p:cNvCxnSpPr>
            <a:cxnSpLocks/>
            <a:stCxn id="182" idx="0"/>
            <a:endCxn id="28" idx="2"/>
          </p:cNvCxnSpPr>
          <p:nvPr/>
        </p:nvCxnSpPr>
        <p:spPr>
          <a:xfrm flipH="1" flipV="1">
            <a:off x="5178454" y="1971326"/>
            <a:ext cx="10341" cy="95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cxnSpLocks/>
            <a:stCxn id="41" idx="1"/>
            <a:endCxn id="288" idx="6"/>
          </p:cNvCxnSpPr>
          <p:nvPr/>
        </p:nvCxnSpPr>
        <p:spPr>
          <a:xfrm flipH="1">
            <a:off x="4141426" y="3101466"/>
            <a:ext cx="448871" cy="27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2669072" y="290670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승무원</a:t>
            </a:r>
          </a:p>
        </p:txBody>
      </p:sp>
      <p:sp>
        <p:nvSpPr>
          <p:cNvPr id="115" name="다이아몬드 114">
            <a:extLst>
              <a:ext uri="{FF2B5EF4-FFF2-40B4-BE49-F238E27FC236}">
                <a16:creationId xmlns:a16="http://schemas.microsoft.com/office/drawing/2014/main" xmlns="" id="{5B753ECD-ABBC-4333-B6DC-50C0BCC49F2C}"/>
              </a:ext>
            </a:extLst>
          </p:cNvPr>
          <p:cNvSpPr/>
          <p:nvPr/>
        </p:nvSpPr>
        <p:spPr>
          <a:xfrm>
            <a:off x="7751842" y="2316444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서비스를 하다</a:t>
            </a:r>
            <a:endParaRPr lang="ko-KR" altLang="en-US" sz="1400" dirty="0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xmlns="" id="{C40A099D-12CA-4307-813D-F8C143049E28}"/>
              </a:ext>
            </a:extLst>
          </p:cNvPr>
          <p:cNvCxnSpPr>
            <a:cxnSpLocks/>
            <a:stCxn id="115" idx="2"/>
            <a:endCxn id="113" idx="0"/>
          </p:cNvCxnSpPr>
          <p:nvPr/>
        </p:nvCxnSpPr>
        <p:spPr>
          <a:xfrm flipH="1">
            <a:off x="8640846" y="3063065"/>
            <a:ext cx="24408" cy="68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xmlns="" id="{E31AEFCF-7DA2-4679-B726-233AFF642ACB}"/>
              </a:ext>
            </a:extLst>
          </p:cNvPr>
          <p:cNvCxnSpPr>
            <a:cxnSpLocks/>
            <a:stCxn id="41" idx="3"/>
            <a:endCxn id="209" idx="2"/>
          </p:cNvCxnSpPr>
          <p:nvPr/>
        </p:nvCxnSpPr>
        <p:spPr>
          <a:xfrm flipV="1">
            <a:off x="5826799" y="3078146"/>
            <a:ext cx="496996" cy="2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xmlns="" id="{D488C7B1-F429-43C1-B1CB-DC31C930EA5E}"/>
              </a:ext>
            </a:extLst>
          </p:cNvPr>
          <p:cNvSpPr/>
          <p:nvPr/>
        </p:nvSpPr>
        <p:spPr>
          <a:xfrm>
            <a:off x="6323795" y="285583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</a:rPr>
              <a:t>기장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xmlns="" id="{E0764744-FBF4-4058-9FEC-57BA3FE17B11}"/>
              </a:ext>
            </a:extLst>
          </p:cNvPr>
          <p:cNvCxnSpPr>
            <a:cxnSpLocks/>
            <a:stCxn id="113" idx="1"/>
            <a:endCxn id="217" idx="0"/>
          </p:cNvCxnSpPr>
          <p:nvPr/>
        </p:nvCxnSpPr>
        <p:spPr>
          <a:xfrm flipH="1">
            <a:off x="5163235" y="3973631"/>
            <a:ext cx="2859360" cy="20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다이아몬드 216">
            <a:extLst>
              <a:ext uri="{FF2B5EF4-FFF2-40B4-BE49-F238E27FC236}">
                <a16:creationId xmlns:a16="http://schemas.microsoft.com/office/drawing/2014/main" xmlns="" id="{9BFDFA3F-21C3-4CC7-9D99-149179622721}"/>
              </a:ext>
            </a:extLst>
          </p:cNvPr>
          <p:cNvSpPr/>
          <p:nvPr/>
        </p:nvSpPr>
        <p:spPr>
          <a:xfrm>
            <a:off x="4249823" y="4175251"/>
            <a:ext cx="182682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구매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xmlns="" id="{7EDB93CD-41AF-48D0-BDA2-7F6C15CFC812}"/>
              </a:ext>
            </a:extLst>
          </p:cNvPr>
          <p:cNvSpPr/>
          <p:nvPr/>
        </p:nvSpPr>
        <p:spPr>
          <a:xfrm>
            <a:off x="2470682" y="4328030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면세 상품</a:t>
            </a: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xmlns="" id="{2A332210-6BA5-43B4-82B4-42DC7FF10763}"/>
              </a:ext>
            </a:extLst>
          </p:cNvPr>
          <p:cNvCxnSpPr>
            <a:stCxn id="217" idx="1"/>
            <a:endCxn id="223" idx="3"/>
          </p:cNvCxnSpPr>
          <p:nvPr/>
        </p:nvCxnSpPr>
        <p:spPr>
          <a:xfrm flipH="1">
            <a:off x="3707184" y="4548562"/>
            <a:ext cx="542639" cy="17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xmlns="" id="{255BB957-4424-4585-8295-570395A5D2D5}"/>
              </a:ext>
            </a:extLst>
          </p:cNvPr>
          <p:cNvCxnSpPr>
            <a:cxnSpLocks/>
            <a:stCxn id="217" idx="2"/>
            <a:endCxn id="236" idx="0"/>
          </p:cNvCxnSpPr>
          <p:nvPr/>
        </p:nvCxnSpPr>
        <p:spPr>
          <a:xfrm flipH="1">
            <a:off x="3988832" y="4921872"/>
            <a:ext cx="1174403" cy="302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xmlns="" id="{EDCC1AFC-C505-4586-A29D-6124C36D6159}"/>
              </a:ext>
            </a:extLst>
          </p:cNvPr>
          <p:cNvSpPr/>
          <p:nvPr/>
        </p:nvSpPr>
        <p:spPr>
          <a:xfrm>
            <a:off x="3370581" y="5223928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기내식</a:t>
            </a:r>
            <a:endParaRPr lang="ko-KR" altLang="en-US" dirty="0"/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xmlns="" id="{09B91E7C-D48E-46FF-B4C2-8FE71806E0E0}"/>
              </a:ext>
            </a:extLst>
          </p:cNvPr>
          <p:cNvCxnSpPr>
            <a:cxnSpLocks/>
            <a:stCxn id="236" idx="2"/>
            <a:endCxn id="247" idx="0"/>
          </p:cNvCxnSpPr>
          <p:nvPr/>
        </p:nvCxnSpPr>
        <p:spPr>
          <a:xfrm>
            <a:off x="3988832" y="5668545"/>
            <a:ext cx="550223" cy="4019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xmlns="" id="{4A1EEC17-4318-4955-93CE-A5F0A39A1E7A}"/>
              </a:ext>
            </a:extLst>
          </p:cNvPr>
          <p:cNvSpPr/>
          <p:nvPr/>
        </p:nvSpPr>
        <p:spPr>
          <a:xfrm>
            <a:off x="3878072" y="607046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rgbClr val="00B050"/>
                </a:solidFill>
              </a:rPr>
              <a:t>예약번호</a:t>
            </a:r>
          </a:p>
        </p:txBody>
      </p: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xmlns="" id="{D7747C3E-4BBB-4717-AC5A-ADF848861528}"/>
              </a:ext>
            </a:extLst>
          </p:cNvPr>
          <p:cNvCxnSpPr>
            <a:cxnSpLocks/>
            <a:stCxn id="223" idx="1"/>
            <a:endCxn id="260" idx="6"/>
          </p:cNvCxnSpPr>
          <p:nvPr/>
        </p:nvCxnSpPr>
        <p:spPr>
          <a:xfrm flipH="1">
            <a:off x="1795002" y="4550339"/>
            <a:ext cx="6756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0" name="그룹 279">
            <a:extLst>
              <a:ext uri="{FF2B5EF4-FFF2-40B4-BE49-F238E27FC236}">
                <a16:creationId xmlns:a16="http://schemas.microsoft.com/office/drawing/2014/main" xmlns="" id="{7781EBF3-4F09-46C8-AF75-AADE115FA541}"/>
              </a:ext>
            </a:extLst>
          </p:cNvPr>
          <p:cNvGrpSpPr/>
          <p:nvPr/>
        </p:nvGrpSpPr>
        <p:grpSpPr>
          <a:xfrm>
            <a:off x="398164" y="4328030"/>
            <a:ext cx="1396838" cy="444618"/>
            <a:chOff x="395061" y="4140377"/>
            <a:chExt cx="1396838" cy="444618"/>
          </a:xfrm>
        </p:grpSpPr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xmlns="" id="{7559D9E0-FC3A-4C35-90E4-0BB0FD7926A0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상품 번호</a:t>
              </a:r>
              <a:endParaRPr lang="ko-KR" altLang="en-US" sz="1400" dirty="0"/>
            </a:p>
          </p:txBody>
        </p: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xmlns="" id="{21B169C1-0AC4-4BA8-9BA2-F59E4457F786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xmlns="" id="{F75059C2-106A-4381-A736-6264CFC76729}"/>
              </a:ext>
            </a:extLst>
          </p:cNvPr>
          <p:cNvCxnSpPr>
            <a:cxnSpLocks/>
            <a:stCxn id="223" idx="0"/>
            <a:endCxn id="286" idx="4"/>
          </p:cNvCxnSpPr>
          <p:nvPr/>
        </p:nvCxnSpPr>
        <p:spPr>
          <a:xfrm flipV="1">
            <a:off x="3088933" y="3964796"/>
            <a:ext cx="11611" cy="3632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" name="타원 285">
            <a:extLst>
              <a:ext uri="{FF2B5EF4-FFF2-40B4-BE49-F238E27FC236}">
                <a16:creationId xmlns:a16="http://schemas.microsoft.com/office/drawing/2014/main" xmlns="" id="{51A9AD50-FF38-4EE3-A278-8BD510521DAD}"/>
              </a:ext>
            </a:extLst>
          </p:cNvPr>
          <p:cNvSpPr/>
          <p:nvPr/>
        </p:nvSpPr>
        <p:spPr>
          <a:xfrm>
            <a:off x="2236478" y="352017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명칭</a:t>
            </a:r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xmlns="" id="{3F521F79-D2CE-4A3C-8104-CF04EEF3055D}"/>
              </a:ext>
            </a:extLst>
          </p:cNvPr>
          <p:cNvCxnSpPr>
            <a:cxnSpLocks/>
            <a:stCxn id="236" idx="1"/>
            <a:endCxn id="297" idx="0"/>
          </p:cNvCxnSpPr>
          <p:nvPr/>
        </p:nvCxnSpPr>
        <p:spPr>
          <a:xfrm flipH="1">
            <a:off x="1569111" y="5446237"/>
            <a:ext cx="1801470" cy="4464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타원 296">
            <a:extLst>
              <a:ext uri="{FF2B5EF4-FFF2-40B4-BE49-F238E27FC236}">
                <a16:creationId xmlns:a16="http://schemas.microsoft.com/office/drawing/2014/main" xmlns="" id="{85FF063D-BD3C-4191-A165-1B113091E5DF}"/>
              </a:ext>
            </a:extLst>
          </p:cNvPr>
          <p:cNvSpPr/>
          <p:nvPr/>
        </p:nvSpPr>
        <p:spPr>
          <a:xfrm>
            <a:off x="705045" y="5892688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코드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xmlns="" id="{B321637E-5723-4171-B81F-61D46C79A914}"/>
              </a:ext>
            </a:extLst>
          </p:cNvPr>
          <p:cNvCxnSpPr>
            <a:cxnSpLocks/>
            <a:stCxn id="236" idx="1"/>
            <a:endCxn id="304" idx="6"/>
          </p:cNvCxnSpPr>
          <p:nvPr/>
        </p:nvCxnSpPr>
        <p:spPr>
          <a:xfrm flipH="1" flipV="1">
            <a:off x="2176711" y="5332668"/>
            <a:ext cx="1193870" cy="1135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타원 303">
            <a:extLst>
              <a:ext uri="{FF2B5EF4-FFF2-40B4-BE49-F238E27FC236}">
                <a16:creationId xmlns:a16="http://schemas.microsoft.com/office/drawing/2014/main" xmlns="" id="{EA73A0F4-FD69-422D-AA94-3C3FEA4C75AA}"/>
              </a:ext>
            </a:extLst>
          </p:cNvPr>
          <p:cNvSpPr/>
          <p:nvPr/>
        </p:nvSpPr>
        <p:spPr>
          <a:xfrm>
            <a:off x="448579" y="5110359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날짜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xmlns="" id="{7FAB43B3-F845-4FDD-A493-E754BF04A014}"/>
              </a:ext>
            </a:extLst>
          </p:cNvPr>
          <p:cNvCxnSpPr>
            <a:cxnSpLocks/>
            <a:stCxn id="217" idx="3"/>
            <a:endCxn id="137" idx="0"/>
          </p:cNvCxnSpPr>
          <p:nvPr/>
        </p:nvCxnSpPr>
        <p:spPr>
          <a:xfrm>
            <a:off x="6076646" y="4548562"/>
            <a:ext cx="2301596" cy="440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xmlns="" id="{6DE2C4D2-9E91-42B9-95F9-FA5F759196AB}"/>
              </a:ext>
            </a:extLst>
          </p:cNvPr>
          <p:cNvCxnSpPr>
            <a:cxnSpLocks/>
            <a:stCxn id="217" idx="0"/>
            <a:endCxn id="120" idx="4"/>
          </p:cNvCxnSpPr>
          <p:nvPr/>
        </p:nvCxnSpPr>
        <p:spPr>
          <a:xfrm flipH="1" flipV="1">
            <a:off x="4905583" y="3955337"/>
            <a:ext cx="257652" cy="219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xmlns="" id="{5AA4442C-EE28-4A76-9C11-4154413881A8}"/>
              </a:ext>
            </a:extLst>
          </p:cNvPr>
          <p:cNvSpPr/>
          <p:nvPr/>
        </p:nvSpPr>
        <p:spPr>
          <a:xfrm>
            <a:off x="4169406" y="351072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예약 여부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350988" y="917656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>
              <a:defRPr/>
            </a:pPr>
            <a:endParaRPr lang="en-US" altLang="ko-KR" dirty="0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ko-KR" altLang="en-US" dirty="0"/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xmlns="" id="{64BA3D99-1F89-4B1B-9563-8CD6ECF5135B}"/>
              </a:ext>
            </a:extLst>
          </p:cNvPr>
          <p:cNvCxnSpPr>
            <a:cxnSpLocks/>
            <a:stCxn id="71" idx="3"/>
            <a:endCxn id="233" idx="2"/>
          </p:cNvCxnSpPr>
          <p:nvPr/>
        </p:nvCxnSpPr>
        <p:spPr>
          <a:xfrm flipV="1">
            <a:off x="9296033" y="989326"/>
            <a:ext cx="1016339" cy="648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타원 232">
            <a:extLst>
              <a:ext uri="{FF2B5EF4-FFF2-40B4-BE49-F238E27FC236}">
                <a16:creationId xmlns:a16="http://schemas.microsoft.com/office/drawing/2014/main" xmlns="" id="{443C6B88-CC33-4743-92A7-63272E506C98}"/>
              </a:ext>
            </a:extLst>
          </p:cNvPr>
          <p:cNvSpPr/>
          <p:nvPr/>
        </p:nvSpPr>
        <p:spPr>
          <a:xfrm>
            <a:off x="10312372" y="767017"/>
            <a:ext cx="149121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부서</a:t>
            </a:r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xmlns="" id="{86BBC6BD-1486-4569-BBE4-BDC4805735C6}"/>
              </a:ext>
            </a:extLst>
          </p:cNvPr>
          <p:cNvSpPr/>
          <p:nvPr/>
        </p:nvSpPr>
        <p:spPr>
          <a:xfrm>
            <a:off x="2343717" y="6221054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rgbClr val="00B050"/>
                </a:solidFill>
              </a:rPr>
              <a:t>좌석 번호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xmlns="" id="{DF2264A3-C6E3-4E66-8FD5-CCBF2EDBE84D}"/>
              </a:ext>
            </a:extLst>
          </p:cNvPr>
          <p:cNvCxnSpPr>
            <a:stCxn id="236" idx="2"/>
            <a:endCxn id="240" idx="0"/>
          </p:cNvCxnSpPr>
          <p:nvPr/>
        </p:nvCxnSpPr>
        <p:spPr>
          <a:xfrm flipH="1">
            <a:off x="3031192" y="5668545"/>
            <a:ext cx="957640" cy="552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xmlns="" id="{12E4F3B1-F562-4E88-946B-F8FBDD2FE658}"/>
              </a:ext>
            </a:extLst>
          </p:cNvPr>
          <p:cNvSpPr txBox="1"/>
          <p:nvPr/>
        </p:nvSpPr>
        <p:spPr>
          <a:xfrm>
            <a:off x="3993392" y="432060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xmlns="" id="{C1FA4CF2-E8A7-4A58-945A-9381A39D23C2}"/>
              </a:ext>
            </a:extLst>
          </p:cNvPr>
          <p:cNvSpPr txBox="1"/>
          <p:nvPr/>
        </p:nvSpPr>
        <p:spPr>
          <a:xfrm>
            <a:off x="4620443" y="4751424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xmlns="" id="{03A8743B-33AD-4CE0-8DD8-59BC324B458F}"/>
              </a:ext>
            </a:extLst>
          </p:cNvPr>
          <p:cNvSpPr txBox="1"/>
          <p:nvPr/>
        </p:nvSpPr>
        <p:spPr>
          <a:xfrm>
            <a:off x="5481379" y="4105896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xmlns="" id="{BE386378-0250-4353-B826-445A3C20B534}"/>
              </a:ext>
            </a:extLst>
          </p:cNvPr>
          <p:cNvSpPr txBox="1"/>
          <p:nvPr/>
        </p:nvSpPr>
        <p:spPr>
          <a:xfrm>
            <a:off x="8653050" y="300470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xmlns="" id="{BCB2A1EF-1971-44DD-B302-876973DDDAAB}"/>
              </a:ext>
            </a:extLst>
          </p:cNvPr>
          <p:cNvSpPr txBox="1"/>
          <p:nvPr/>
        </p:nvSpPr>
        <p:spPr>
          <a:xfrm>
            <a:off x="5250732" y="2592109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xmlns="" id="{28FDEFDE-A634-4E01-B46E-AA06FE06EEA9}"/>
              </a:ext>
            </a:extLst>
          </p:cNvPr>
          <p:cNvSpPr txBox="1"/>
          <p:nvPr/>
        </p:nvSpPr>
        <p:spPr>
          <a:xfrm>
            <a:off x="5273989" y="19318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xmlns="" id="{7C3A9ACD-5F9A-4796-8762-3715C1EE2EB1}"/>
              </a:ext>
            </a:extLst>
          </p:cNvPr>
          <p:cNvSpPr txBox="1"/>
          <p:nvPr/>
        </p:nvSpPr>
        <p:spPr>
          <a:xfrm>
            <a:off x="7455019" y="1270510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xmlns="" id="{BCA66DA5-D82A-45C6-B89D-555BF1916779}"/>
              </a:ext>
            </a:extLst>
          </p:cNvPr>
          <p:cNvSpPr txBox="1"/>
          <p:nvPr/>
        </p:nvSpPr>
        <p:spPr>
          <a:xfrm>
            <a:off x="6222408" y="1278523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xmlns="" id="{3FFE4643-E8BD-4FF3-A946-E2B75DF22CC9}"/>
              </a:ext>
            </a:extLst>
          </p:cNvPr>
          <p:cNvSpPr txBox="1"/>
          <p:nvPr/>
        </p:nvSpPr>
        <p:spPr>
          <a:xfrm>
            <a:off x="2910988" y="125767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xmlns="" id="{D7F316E0-533D-417E-A8DC-8020992EAB06}"/>
              </a:ext>
            </a:extLst>
          </p:cNvPr>
          <p:cNvSpPr txBox="1"/>
          <p:nvPr/>
        </p:nvSpPr>
        <p:spPr>
          <a:xfrm>
            <a:off x="3929872" y="1237047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xmlns="" id="{D0605A1E-1D2B-42C4-9AF5-8B653419664D}"/>
              </a:ext>
            </a:extLst>
          </p:cNvPr>
          <p:cNvSpPr txBox="1"/>
          <p:nvPr/>
        </p:nvSpPr>
        <p:spPr>
          <a:xfrm>
            <a:off x="8677782" y="2103911"/>
            <a:ext cx="196845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</a:t>
            </a:r>
            <a:endParaRPr lang="ko-KR" altLang="en-US" dirty="0"/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xmlns="" id="{3167FE46-E0FF-4A76-9A44-0FF52AB347A2}"/>
              </a:ext>
            </a:extLst>
          </p:cNvPr>
          <p:cNvCxnSpPr>
            <a:cxnSpLocks/>
            <a:stCxn id="217" idx="0"/>
            <a:endCxn id="298" idx="4"/>
          </p:cNvCxnSpPr>
          <p:nvPr/>
        </p:nvCxnSpPr>
        <p:spPr>
          <a:xfrm flipV="1">
            <a:off x="5163235" y="3923145"/>
            <a:ext cx="1295985" cy="252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타원 297">
            <a:extLst>
              <a:ext uri="{FF2B5EF4-FFF2-40B4-BE49-F238E27FC236}">
                <a16:creationId xmlns:a16="http://schemas.microsoft.com/office/drawing/2014/main" xmlns="" id="{4DD3D5AE-DD76-4E41-9120-D18A6A1F951D}"/>
              </a:ext>
            </a:extLst>
          </p:cNvPr>
          <p:cNvSpPr/>
          <p:nvPr/>
        </p:nvSpPr>
        <p:spPr>
          <a:xfrm>
            <a:off x="5723043" y="3478528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가격</a:t>
            </a:r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xmlns="" id="{D36DDCAC-4608-468A-9A21-DEE909296B97}"/>
              </a:ext>
            </a:extLst>
          </p:cNvPr>
          <p:cNvCxnSpPr/>
          <p:nvPr/>
        </p:nvCxnSpPr>
        <p:spPr>
          <a:xfrm>
            <a:off x="1067169" y="622105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xmlns="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ko-KR" altLang="en-US" sz="5400" dirty="0" smtClean="0">
                <a:latin typeface="휴먼편지체" panose="02030504000101010101" pitchFamily="18" charset="-127"/>
                <a:ea typeface="휴먼편지체" panose="02030504000101010101" pitchFamily="18" charset="-127"/>
              </a:rPr>
              <a:t>논리적 설계</a:t>
            </a:r>
            <a:endParaRPr lang="ko-KR" altLang="en-US" sz="54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1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707076"/>
              </p:ext>
            </p:extLst>
          </p:nvPr>
        </p:nvGraphicFramePr>
        <p:xfrm>
          <a:off x="748323" y="2346243"/>
          <a:ext cx="14937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/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항공기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5000"/>
                      </a:schemeClr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항공기 번호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기장</a:t>
                      </a:r>
                      <a:r>
                        <a:rPr lang="en-US" altLang="ko-KR" dirty="0" smtClean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승무원</a:t>
                      </a:r>
                      <a:r>
                        <a:rPr lang="en-US" altLang="ko-KR" dirty="0" smtClean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내용 개체 틀 3"/>
          <p:cNvSpPr>
            <a:spLocks noGrp="1"/>
          </p:cNvSpPr>
          <p:nvPr>
            <p:ph idx="1"/>
          </p:nvPr>
        </p:nvSpPr>
        <p:spPr>
          <a:xfrm>
            <a:off x="61546" y="78882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tx2">
              <a:lumMod val="50000"/>
              <a:lumOff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 dirty="0" err="1" smtClean="0">
                <a:solidFill>
                  <a:schemeClr val="bg1"/>
                </a:solidFill>
              </a:rPr>
              <a:t>논리적설계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67074"/>
              </p:ext>
            </p:extLst>
          </p:nvPr>
        </p:nvGraphicFramePr>
        <p:xfrm>
          <a:off x="2995247" y="609972"/>
          <a:ext cx="14937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/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공항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5000"/>
                      </a:schemeClr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공항이름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전화번호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소속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019029"/>
              </p:ext>
            </p:extLst>
          </p:nvPr>
        </p:nvGraphicFramePr>
        <p:xfrm>
          <a:off x="3132016" y="2484932"/>
          <a:ext cx="1816099" cy="111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099"/>
              </a:tblGrid>
              <a:tr h="385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T-way</a:t>
                      </a:r>
                      <a:r>
                        <a:rPr lang="ko-KR" altLang="en-US" dirty="0" smtClean="0"/>
                        <a:t> 항공사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337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경영자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337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공항이름</a:t>
                      </a:r>
                      <a:r>
                        <a:rPr lang="en-US" altLang="ko-KR" dirty="0" smtClean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07412"/>
              </p:ext>
            </p:extLst>
          </p:nvPr>
        </p:nvGraphicFramePr>
        <p:xfrm>
          <a:off x="2948842" y="3918438"/>
          <a:ext cx="14937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/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직원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직원 번호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급여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직책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부서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관리자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840133"/>
              </p:ext>
            </p:extLst>
          </p:nvPr>
        </p:nvGraphicFramePr>
        <p:xfrm>
          <a:off x="5692529" y="4309858"/>
          <a:ext cx="14937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/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소비자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여권번호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058975"/>
              </p:ext>
            </p:extLst>
          </p:nvPr>
        </p:nvGraphicFramePr>
        <p:xfrm>
          <a:off x="8185637" y="324012"/>
          <a:ext cx="180242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425"/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항공권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u="sng" dirty="0" smtClean="0"/>
                        <a:t>항공예약번호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none" dirty="0" smtClean="0"/>
                        <a:t>항공기 번호</a:t>
                      </a:r>
                      <a:r>
                        <a:rPr lang="en-US" altLang="ko-KR" u="none" dirty="0" smtClean="0"/>
                        <a:t>(FK)</a:t>
                      </a:r>
                      <a:endParaRPr lang="ko-KR" altLang="en-US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none" dirty="0" smtClean="0"/>
                        <a:t>좌석번호</a:t>
                      </a:r>
                      <a:endParaRPr lang="ko-KR" altLang="en-US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좌석등급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날짜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출발지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도착지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예약여부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가격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10704"/>
              </p:ext>
            </p:extLst>
          </p:nvPr>
        </p:nvGraphicFramePr>
        <p:xfrm>
          <a:off x="5671038" y="751270"/>
          <a:ext cx="17672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254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기내식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음식예약번호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좌석번호</a:t>
                      </a:r>
                      <a:r>
                        <a:rPr lang="en-US" altLang="ko-KR" dirty="0" smtClean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날짜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예약여부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가격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574526"/>
              </p:ext>
            </p:extLst>
          </p:nvPr>
        </p:nvGraphicFramePr>
        <p:xfrm>
          <a:off x="8100645" y="4239519"/>
          <a:ext cx="17672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254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면세품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 smtClean="0"/>
                        <a:t>상품번호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상품명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예약여부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가격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2224454" y="2785697"/>
            <a:ext cx="158262" cy="184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2233246" y="2974731"/>
            <a:ext cx="879231" cy="3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endCxn id="5" idx="3"/>
          </p:cNvCxnSpPr>
          <p:nvPr/>
        </p:nvCxnSpPr>
        <p:spPr>
          <a:xfrm flipH="1">
            <a:off x="2242038" y="2970335"/>
            <a:ext cx="140678" cy="1074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382716" y="2878016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3001109" y="2870461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2898532" y="2864827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695700" y="2045677"/>
            <a:ext cx="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606312" y="2136303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3606312" y="2174175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597520" y="2326575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3609242" y="2300198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3609242" y="3543300"/>
            <a:ext cx="8792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3511062" y="3642718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3503736" y="3621974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3515458" y="3733800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>
            <a:off x="3503736" y="3733800"/>
            <a:ext cx="109902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/>
          <p:cNvCxnSpPr>
            <a:endCxn id="10" idx="0"/>
          </p:cNvCxnSpPr>
          <p:nvPr/>
        </p:nvCxnSpPr>
        <p:spPr>
          <a:xfrm>
            <a:off x="3613638" y="3733800"/>
            <a:ext cx="82061" cy="184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endCxn id="11" idx="1"/>
          </p:cNvCxnSpPr>
          <p:nvPr/>
        </p:nvCxnSpPr>
        <p:spPr>
          <a:xfrm>
            <a:off x="4431323" y="5037992"/>
            <a:ext cx="1261206" cy="33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4431323" y="4774223"/>
            <a:ext cx="149469" cy="2637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H="1">
            <a:off x="4431323" y="5041378"/>
            <a:ext cx="149469" cy="2603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H="1">
            <a:off x="5407269" y="4967654"/>
            <a:ext cx="8793" cy="203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5407269" y="5037992"/>
            <a:ext cx="285260" cy="13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5416062" y="4906107"/>
            <a:ext cx="276467" cy="163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타원 85"/>
          <p:cNvSpPr/>
          <p:nvPr/>
        </p:nvSpPr>
        <p:spPr>
          <a:xfrm>
            <a:off x="4580792" y="4967653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직선 연결선 86"/>
          <p:cNvCxnSpPr/>
          <p:nvPr/>
        </p:nvCxnSpPr>
        <p:spPr>
          <a:xfrm>
            <a:off x="7151077" y="4961791"/>
            <a:ext cx="9466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7151077" y="4906107"/>
            <a:ext cx="181708" cy="615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endCxn id="11" idx="3"/>
          </p:cNvCxnSpPr>
          <p:nvPr/>
        </p:nvCxnSpPr>
        <p:spPr>
          <a:xfrm flipH="1">
            <a:off x="7186244" y="4967654"/>
            <a:ext cx="146541" cy="73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V="1">
            <a:off x="7904285" y="4906107"/>
            <a:ext cx="193430" cy="556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7904285" y="4967654"/>
            <a:ext cx="193430" cy="73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타원 96"/>
          <p:cNvSpPr/>
          <p:nvPr/>
        </p:nvSpPr>
        <p:spPr>
          <a:xfrm>
            <a:off x="7344508" y="4893227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ㅊ</a:t>
            </a:r>
            <a:endParaRPr lang="ko-KR" altLang="en-US" dirty="0"/>
          </a:p>
        </p:txBody>
      </p:sp>
      <p:sp>
        <p:nvSpPr>
          <p:cNvPr id="98" name="타원 97"/>
          <p:cNvSpPr/>
          <p:nvPr/>
        </p:nvSpPr>
        <p:spPr>
          <a:xfrm>
            <a:off x="7781192" y="4893227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연결선 99"/>
          <p:cNvCxnSpPr>
            <a:endCxn id="11" idx="0"/>
          </p:cNvCxnSpPr>
          <p:nvPr/>
        </p:nvCxnSpPr>
        <p:spPr>
          <a:xfrm>
            <a:off x="6400800" y="2977889"/>
            <a:ext cx="38586" cy="1331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연결선 101"/>
          <p:cNvCxnSpPr>
            <a:endCxn id="13" idx="2"/>
          </p:cNvCxnSpPr>
          <p:nvPr/>
        </p:nvCxnSpPr>
        <p:spPr>
          <a:xfrm flipV="1">
            <a:off x="6400800" y="2976310"/>
            <a:ext cx="153865" cy="188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 flipV="1">
            <a:off x="6251331" y="2977889"/>
            <a:ext cx="149470" cy="187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H="1">
            <a:off x="6326066" y="4149969"/>
            <a:ext cx="94027" cy="159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6420093" y="4149969"/>
            <a:ext cx="134572" cy="159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타원 110"/>
          <p:cNvSpPr/>
          <p:nvPr/>
        </p:nvSpPr>
        <p:spPr>
          <a:xfrm>
            <a:off x="6339254" y="3165231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/>
          <p:cNvSpPr/>
          <p:nvPr/>
        </p:nvSpPr>
        <p:spPr>
          <a:xfrm>
            <a:off x="6377839" y="4092786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4" name="직선 연결선 113"/>
          <p:cNvCxnSpPr/>
          <p:nvPr/>
        </p:nvCxnSpPr>
        <p:spPr>
          <a:xfrm flipV="1">
            <a:off x="7151077" y="3543300"/>
            <a:ext cx="1034561" cy="76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7186244" y="4229913"/>
            <a:ext cx="73270" cy="2893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6954715" y="4229913"/>
            <a:ext cx="287216" cy="79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V="1">
            <a:off x="8093319" y="3367455"/>
            <a:ext cx="92319" cy="254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8093319" y="3621974"/>
            <a:ext cx="92319" cy="111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타원 124"/>
          <p:cNvSpPr/>
          <p:nvPr/>
        </p:nvSpPr>
        <p:spPr>
          <a:xfrm>
            <a:off x="7257068" y="4149380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/>
          <p:cNvSpPr/>
          <p:nvPr/>
        </p:nvSpPr>
        <p:spPr>
          <a:xfrm>
            <a:off x="7974622" y="3575309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91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ko-KR" altLang="en-US" sz="7200"/>
              <a:t>감사합니다</a:t>
            </a:r>
            <a:r>
              <a:rPr lang="en-US" altLang="ko-KR" sz="720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822</Words>
  <Application>Microsoft Office PowerPoint</Application>
  <PresentationFormat>사용자 지정</PresentationFormat>
  <Paragraphs>333</Paragraphs>
  <Slides>20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AccentBoxVTI</vt:lpstr>
      <vt:lpstr>T-Way 항공서비스 DB 설계</vt:lpstr>
      <vt:lpstr>CONTENTS</vt:lpstr>
      <vt:lpstr>주제 선정</vt:lpstr>
      <vt:lpstr>업무 선정 과정</vt:lpstr>
      <vt:lpstr>항공 서비스를 구현한 데이터베이스 설계 (T-Way Airline)</vt:lpstr>
      <vt:lpstr>요구사항 명세</vt:lpstr>
      <vt:lpstr>데이터 요구사항</vt:lpstr>
      <vt:lpstr>데이터 요구사항</vt:lpstr>
      <vt:lpstr>기능 요구사항</vt:lpstr>
      <vt:lpstr>개념적 관계 데이터 베이스 설계</vt:lpstr>
      <vt:lpstr>T-Way 항공사 System 분석</vt:lpstr>
      <vt:lpstr>T-Way 항공사 보유 기체 분석</vt:lpstr>
      <vt:lpstr>Entity Type</vt:lpstr>
      <vt:lpstr>Entity Type</vt:lpstr>
      <vt:lpstr>ER 다이어그램</vt:lpstr>
      <vt:lpstr>PowerPoint 프레젠테이션</vt:lpstr>
      <vt:lpstr>PowerPoint 프레젠테이션</vt:lpstr>
      <vt:lpstr>논리적 설계</vt:lpstr>
      <vt:lpstr>PowerPoint 프레젠테이션</vt:lpstr>
      <vt:lpstr>감사합니다.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</dc:title>
  <dc:creator>류연동(2014110015)</dc:creator>
  <cp:lastModifiedBy>tropical7606@naver.com</cp:lastModifiedBy>
  <cp:revision>114</cp:revision>
  <dcterms:created xsi:type="dcterms:W3CDTF">2020-11-04T15:12:07Z</dcterms:created>
  <dcterms:modified xsi:type="dcterms:W3CDTF">2020-11-17T01:54:38Z</dcterms:modified>
  <cp:version/>
</cp:coreProperties>
</file>